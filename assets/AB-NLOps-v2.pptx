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5" r:id="rId5"/>
    <p:sldId id="330" r:id="rId6"/>
    <p:sldId id="331" r:id="rId7"/>
    <p:sldId id="332" r:id="rId8"/>
    <p:sldId id="333" r:id="rId9"/>
    <p:sldId id="334" r:id="rId10"/>
    <p:sldId id="335" r:id="rId11"/>
    <p:sldId id="346" r:id="rId12"/>
    <p:sldId id="337" r:id="rId13"/>
    <p:sldId id="338" r:id="rId14"/>
    <p:sldId id="336" r:id="rId15"/>
    <p:sldId id="340" r:id="rId16"/>
    <p:sldId id="345" r:id="rId17"/>
    <p:sldId id="342" r:id="rId18"/>
    <p:sldId id="344" r:id="rId19"/>
    <p:sldId id="347" r:id="rId29"/>
    <p:sldId id="300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7" autoAdjust="0"/>
    <p:restoredTop sz="90896" autoAdjust="0"/>
  </p:normalViewPr>
  <p:slideViewPr>
    <p:cSldViewPr snapToGrid="0" showGuides="1">
      <p:cViewPr varScale="1">
        <p:scale>
          <a:sx n="87" d="100"/>
          <a:sy n="87" d="100"/>
        </p:scale>
        <p:origin x="504" y="54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8/10/relationships/authors" Target="authors.xml"/><Relationship Id="rId29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快速获得系统健康全貌，不用逐个看面版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只不开电脑也能了解情况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64023-80A7-4E68-9DB1-A1BA113D6B70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BD3CDC6-B15F-44F5-AE24-7FF5DB70058C}">
      <dgm:prSet phldrT="[文本]" custT="1"/>
      <dgm:spPr/>
      <dgm:t>
        <a:bodyPr/>
        <a:lstStyle/>
        <a:p>
          <a:r>
            <a:rPr lang="zh-CN" altLang="en-US" sz="2800" dirty="0">
              <a:latin typeface="等线" panose="02010600030101010101" pitchFamily="2" charset="-122"/>
              <a:ea typeface="等线" panose="02010600030101010101" pitchFamily="2" charset="-122"/>
            </a:rPr>
            <a:t>语音实时理解</a:t>
          </a:r>
        </a:p>
      </dgm:t>
    </dgm:pt>
    <dgm:pt modelId="{D0EEFB9C-9562-4AB4-AB2C-1D77B1CFEA31}" type="par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43260A91-74D3-40A8-A993-5C3615EF1FE2}" type="sib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1722CC17-56EF-4181-85BF-5047A94B46D3}">
      <dgm:prSet phldrT="[文本]" custT="1"/>
      <dgm:spPr/>
      <dgm:t>
        <a:bodyPr/>
        <a:lstStyle/>
        <a:p>
          <a:r>
            <a:rPr lang="zh-CN" altLang="en-US" sz="1600" dirty="0">
              <a:latin typeface="等线" panose="02010600030101010101" pitchFamily="2" charset="-122"/>
              <a:ea typeface="等线" panose="02010600030101010101" pitchFamily="2" charset="-122"/>
            </a:rPr>
            <a:t>运维专业术语（服务名、指标名）、中英文混合、噪音环境准确率</a:t>
          </a:r>
        </a:p>
      </dgm:t>
    </dgm:pt>
    <dgm:pt modelId="{A4907D2C-EF27-415A-BDF2-51DDE21BA42D}" type="par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558D9B28-C2AD-49F6-864D-BBC4E6390A38}" type="sib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8406E5B3-2376-493F-B4BC-6279A5D012C7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分析报告</a:t>
          </a:r>
        </a:p>
      </dgm:t>
    </dgm:pt>
    <dgm:pt modelId="{52867A17-A36F-4530-8840-571DBEB2AA94}" type="par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95E3534D-FB43-427E-B221-8882456031A9}" type="sib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8FB56FFF-F887-4696-AE36-649E68E51CD3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多服务协同编排</a:t>
          </a:r>
        </a:p>
      </dgm:t>
    </dgm:pt>
    <dgm:pt modelId="{0E012567-3BB7-472C-B2A0-BD109DB4EA54}" type="par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1E7AA27A-25F2-43FC-84E3-74B2721F8960}" type="sib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FDF9B211-82E2-4DFF-9726-44175F4D9D64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一个问题涉及 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metrics/logs/traces/config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多数据源，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Agent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需自主判断查什么、按什么顺序</a:t>
          </a:r>
        </a:p>
      </dgm:t>
    </dgm:pt>
    <dgm:pt modelId="{CC131D7E-F1DB-4564-8E16-FC7285330122}" type="par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2D0D62C4-1907-4E2E-8F73-81FD4AF6E0B3}" type="sib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C7A441DE-9747-4B66-8D33-128B03ABF6E6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将结构化数据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+AI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分析结果转化为图文并茂的页面，不是简单图表堆砌</a:t>
          </a:r>
        </a:p>
      </dgm:t>
    </dgm:pt>
    <dgm:pt modelId="{6221EC98-724A-4857-9B4E-099D0C6D08A7}" type="par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04A28775-86F0-4576-83DE-870D8EBF9DDF}" type="sib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29E4C2DE-BCCC-4FC0-80BA-F2C8F063EF6C}" type="pres">
      <dgm:prSet presAssocID="{53464023-80A7-4E68-9DB1-A1BA113D6B70}" presName="Name0" presStyleCnt="0">
        <dgm:presLayoutVars>
          <dgm:dir/>
          <dgm:resizeHandles val="exact"/>
        </dgm:presLayoutVars>
      </dgm:prSet>
      <dgm:spPr/>
    </dgm:pt>
    <dgm:pt modelId="{8E192D2A-83B0-4049-8A1D-548C1E43CA06}" type="pres">
      <dgm:prSet presAssocID="{EBD3CDC6-B15F-44F5-AE24-7FF5DB70058C}" presName="node" presStyleLbl="node1" presStyleIdx="0" presStyleCnt="3" custLinFactNeighborX="6573">
        <dgm:presLayoutVars>
          <dgm:bulletEnabled val="1"/>
        </dgm:presLayoutVars>
      </dgm:prSet>
      <dgm:spPr/>
    </dgm:pt>
    <dgm:pt modelId="{DA742403-01F2-43C7-B8D3-AA8BAFD867BB}" type="pres">
      <dgm:prSet presAssocID="{43260A91-74D3-40A8-A993-5C3615EF1FE2}" presName="sibTrans" presStyleCnt="0"/>
      <dgm:spPr/>
    </dgm:pt>
    <dgm:pt modelId="{4761886E-7068-4136-A8D0-1BB8C4F36CE8}" type="pres">
      <dgm:prSet presAssocID="{8406E5B3-2376-493F-B4BC-6279A5D012C7}" presName="node" presStyleLbl="node1" presStyleIdx="1" presStyleCnt="3">
        <dgm:presLayoutVars>
          <dgm:bulletEnabled val="1"/>
        </dgm:presLayoutVars>
      </dgm:prSet>
      <dgm:spPr/>
    </dgm:pt>
    <dgm:pt modelId="{287000CC-9825-4CF7-96FA-2A55C752B4F1}" type="pres">
      <dgm:prSet presAssocID="{95E3534D-FB43-427E-B221-8882456031A9}" presName="sibTrans" presStyleCnt="0"/>
      <dgm:spPr/>
    </dgm:pt>
    <dgm:pt modelId="{AB3B78D9-904A-4A85-A737-0CD2BFBD226E}" type="pres">
      <dgm:prSet presAssocID="{8FB56FFF-F887-4696-AE36-649E68E51CD3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FF40B-A71D-4DC0-8056-A3784516DF7A}" srcId="{EBD3CDC6-B15F-44F5-AE24-7FF5DB70058C}" destId="{1722CC17-56EF-4181-85BF-5047A94B46D3}" srcOrd="0" destOrd="0" parTransId="{A4907D2C-EF27-415A-BDF2-51DDE21BA42D}" sibTransId="{558D9B28-C2AD-49F6-864D-BBC4E6390A38}"/>
    <dgm:cxn modelId="{CF9EC615-FB1E-4DE3-A69E-FDE88DDBD675}" type="presOf" srcId="{8FB56FFF-F887-4696-AE36-649E68E51CD3}" destId="{AB3B78D9-904A-4A85-A737-0CD2BFBD226E}" srcOrd="0" destOrd="0" presId="urn:microsoft.com/office/officeart/2005/8/layout/hList6"/>
    <dgm:cxn modelId="{330B8C21-66AF-4667-8DF0-473F947E4E05}" type="presOf" srcId="{1722CC17-56EF-4181-85BF-5047A94B46D3}" destId="{8E192D2A-83B0-4049-8A1D-548C1E43CA06}" srcOrd="0" destOrd="1" presId="urn:microsoft.com/office/officeart/2005/8/layout/hList6"/>
    <dgm:cxn modelId="{FCE2BA22-8137-4992-83F5-062E27CD3921}" type="presOf" srcId="{FDF9B211-82E2-4DFF-9726-44175F4D9D64}" destId="{AB3B78D9-904A-4A85-A737-0CD2BFBD226E}" srcOrd="0" destOrd="1" presId="urn:microsoft.com/office/officeart/2005/8/layout/hList6"/>
    <dgm:cxn modelId="{5DAA002A-89F4-4526-9780-3A75CC5A8B92}" type="presOf" srcId="{53464023-80A7-4E68-9DB1-A1BA113D6B70}" destId="{29E4C2DE-BCCC-4FC0-80BA-F2C8F063EF6C}" srcOrd="0" destOrd="0" presId="urn:microsoft.com/office/officeart/2005/8/layout/hList6"/>
    <dgm:cxn modelId="{5161FF2C-04ED-4A26-B9DB-2B4668C55326}" srcId="{53464023-80A7-4E68-9DB1-A1BA113D6B70}" destId="{8406E5B3-2376-493F-B4BC-6279A5D012C7}" srcOrd="1" destOrd="0" parTransId="{52867A17-A36F-4530-8840-571DBEB2AA94}" sibTransId="{95E3534D-FB43-427E-B221-8882456031A9}"/>
    <dgm:cxn modelId="{F8F0B45E-53F1-4506-96AB-3869D784D33D}" srcId="{8FB56FFF-F887-4696-AE36-649E68E51CD3}" destId="{FDF9B211-82E2-4DFF-9726-44175F4D9D64}" srcOrd="0" destOrd="0" parTransId="{CC131D7E-F1DB-4564-8E16-FC7285330122}" sibTransId="{2D0D62C4-1907-4E2E-8F73-81FD4AF6E0B3}"/>
    <dgm:cxn modelId="{822CD974-5B96-4FFB-A69F-A872032B9E26}" type="presOf" srcId="{EBD3CDC6-B15F-44F5-AE24-7FF5DB70058C}" destId="{8E192D2A-83B0-4049-8A1D-548C1E43CA06}" srcOrd="0" destOrd="0" presId="urn:microsoft.com/office/officeart/2005/8/layout/hList6"/>
    <dgm:cxn modelId="{31843D58-7CE7-4A66-A7DD-BB29FF25F695}" type="presOf" srcId="{8406E5B3-2376-493F-B4BC-6279A5D012C7}" destId="{4761886E-7068-4136-A8D0-1BB8C4F36CE8}" srcOrd="0" destOrd="0" presId="urn:microsoft.com/office/officeart/2005/8/layout/hList6"/>
    <dgm:cxn modelId="{3B566B83-BC27-4087-AD1D-B5CB89D44D22}" srcId="{8406E5B3-2376-493F-B4BC-6279A5D012C7}" destId="{C7A441DE-9747-4B66-8D33-128B03ABF6E6}" srcOrd="0" destOrd="0" parTransId="{6221EC98-724A-4857-9B4E-099D0C6D08A7}" sibTransId="{04A28775-86F0-4576-83DE-870D8EBF9DDF}"/>
    <dgm:cxn modelId="{C62F1CCD-C3B1-4CD2-A34A-DC472F6E0BEF}" type="presOf" srcId="{C7A441DE-9747-4B66-8D33-128B03ABF6E6}" destId="{4761886E-7068-4136-A8D0-1BB8C4F36CE8}" srcOrd="0" destOrd="1" presId="urn:microsoft.com/office/officeart/2005/8/layout/hList6"/>
    <dgm:cxn modelId="{E2BF1DED-6E8A-4434-9B46-8FB814A9B289}" srcId="{53464023-80A7-4E68-9DB1-A1BA113D6B70}" destId="{EBD3CDC6-B15F-44F5-AE24-7FF5DB70058C}" srcOrd="0" destOrd="0" parTransId="{D0EEFB9C-9562-4AB4-AB2C-1D77B1CFEA31}" sibTransId="{43260A91-74D3-40A8-A993-5C3615EF1FE2}"/>
    <dgm:cxn modelId="{651155F4-34E6-47DE-8F74-1B287BD7639C}" srcId="{53464023-80A7-4E68-9DB1-A1BA113D6B70}" destId="{8FB56FFF-F887-4696-AE36-649E68E51CD3}" srcOrd="2" destOrd="0" parTransId="{0E012567-3BB7-472C-B2A0-BD109DB4EA54}" sibTransId="{1E7AA27A-25F2-43FC-84E3-74B2721F8960}"/>
    <dgm:cxn modelId="{1E4CF32B-B4B5-4894-825A-DB95218D9094}" type="presParOf" srcId="{29E4C2DE-BCCC-4FC0-80BA-F2C8F063EF6C}" destId="{8E192D2A-83B0-4049-8A1D-548C1E43CA06}" srcOrd="0" destOrd="0" presId="urn:microsoft.com/office/officeart/2005/8/layout/hList6"/>
    <dgm:cxn modelId="{9E9811F2-92BE-49A4-AC97-F171E00928C3}" type="presParOf" srcId="{29E4C2DE-BCCC-4FC0-80BA-F2C8F063EF6C}" destId="{DA742403-01F2-43C7-B8D3-AA8BAFD867BB}" srcOrd="1" destOrd="0" presId="urn:microsoft.com/office/officeart/2005/8/layout/hList6"/>
    <dgm:cxn modelId="{290B4CD7-16C4-4CAD-BDEA-86D3F494F782}" type="presParOf" srcId="{29E4C2DE-BCCC-4FC0-80BA-F2C8F063EF6C}" destId="{4761886E-7068-4136-A8D0-1BB8C4F36CE8}" srcOrd="2" destOrd="0" presId="urn:microsoft.com/office/officeart/2005/8/layout/hList6"/>
    <dgm:cxn modelId="{805222C7-CA5D-4E1E-BD90-A9DC0516F168}" type="presParOf" srcId="{29E4C2DE-BCCC-4FC0-80BA-F2C8F063EF6C}" destId="{287000CC-9825-4CF7-96FA-2A55C752B4F1}" srcOrd="3" destOrd="0" presId="urn:microsoft.com/office/officeart/2005/8/layout/hList6"/>
    <dgm:cxn modelId="{7F6D0BCD-527E-4549-BABB-6E10CCFC1BF3}" type="presParOf" srcId="{29E4C2DE-BCCC-4FC0-80BA-F2C8F063EF6C}" destId="{AB3B78D9-904A-4A85-A737-0CD2BFBD226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464023-80A7-4E68-9DB1-A1BA113D6B70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BD3CDC6-B15F-44F5-AE24-7FF5DB70058C}">
      <dgm:prSet phldrT="[文本]" custT="1"/>
      <dgm:spPr/>
      <dgm:t>
        <a:bodyPr/>
        <a:lstStyle/>
        <a:p>
          <a:r>
            <a:rPr lang="zh-CN" altLang="en-US" sz="2800" dirty="0">
              <a:latin typeface="等线" panose="02010600030101010101" pitchFamily="2" charset="-122"/>
              <a:ea typeface="等线" panose="02010600030101010101" pitchFamily="2" charset="-122"/>
            </a:rPr>
            <a:t>上下文与下钻</a:t>
          </a:r>
        </a:p>
      </dgm:t>
    </dgm:pt>
    <dgm:pt modelId="{D0EEFB9C-9562-4AB4-AB2C-1D77B1CFEA31}" type="par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43260A91-74D3-40A8-A993-5C3615EF1FE2}" type="sibTrans" cxnId="{E2BF1DED-6E8A-4434-9B46-8FB814A9B289}">
      <dgm:prSet/>
      <dgm:spPr/>
      <dgm:t>
        <a:bodyPr/>
        <a:lstStyle/>
        <a:p>
          <a:endParaRPr lang="zh-CN" altLang="en-US"/>
        </a:p>
      </dgm:t>
    </dgm:pt>
    <dgm:pt modelId="{1722CC17-56EF-4181-85BF-5047A94B46D3}">
      <dgm:prSet phldrT="[文本]" custT="1"/>
      <dgm:spPr/>
      <dgm:t>
        <a:bodyPr/>
        <a:lstStyle/>
        <a:p>
          <a:r>
            <a:rPr lang="zh-CN" altLang="en-US" sz="1600" dirty="0">
              <a:latin typeface="等线" panose="02010600030101010101" pitchFamily="2" charset="-122"/>
              <a:ea typeface="等线" panose="02010600030101010101" pitchFamily="2" charset="-122"/>
            </a:rPr>
            <a:t>维持多轮上下文，每次追问精准深入下一层</a:t>
          </a:r>
        </a:p>
      </dgm:t>
    </dgm:pt>
    <dgm:pt modelId="{A4907D2C-EF27-415A-BDF2-51DDE21BA42D}" type="par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558D9B28-C2AD-49F6-864D-BBC4E6390A38}" type="sibTrans" cxnId="{B21FF40B-A71D-4DC0-8056-A3784516DF7A}">
      <dgm:prSet/>
      <dgm:spPr/>
      <dgm:t>
        <a:bodyPr/>
        <a:lstStyle/>
        <a:p>
          <a:endParaRPr lang="zh-CN" altLang="en-US"/>
        </a:p>
      </dgm:t>
    </dgm:pt>
    <dgm:pt modelId="{8406E5B3-2376-493F-B4BC-6279A5D012C7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经验语义匹配</a:t>
          </a:r>
        </a:p>
      </dgm:t>
    </dgm:pt>
    <dgm:pt modelId="{52867A17-A36F-4530-8840-571DBEB2AA94}" type="par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95E3534D-FB43-427E-B221-8882456031A9}" type="sibTrans" cxnId="{5161FF2C-04ED-4A26-B9DB-2B4668C55326}">
      <dgm:prSet/>
      <dgm:spPr/>
      <dgm:t>
        <a:bodyPr/>
        <a:lstStyle/>
        <a:p>
          <a:endParaRPr lang="zh-CN" altLang="en-US"/>
        </a:p>
      </dgm:t>
    </dgm:pt>
    <dgm:pt modelId="{8FB56FFF-F887-4696-AE36-649E68E51CD3}">
      <dgm:prSet phldrT="[文本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移动端体验</a:t>
          </a:r>
        </a:p>
      </dgm:t>
    </dgm:pt>
    <dgm:pt modelId="{0E012567-3BB7-472C-B2A0-BD109DB4EA54}" type="par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1E7AA27A-25F2-43FC-84E3-74B2721F8960}" type="sibTrans" cxnId="{651155F4-34E6-47DE-8F74-1B287BD7639C}">
      <dgm:prSet/>
      <dgm:spPr/>
      <dgm:t>
        <a:bodyPr/>
        <a:lstStyle/>
        <a:p>
          <a:endParaRPr lang="zh-CN" altLang="en-US"/>
        </a:p>
      </dgm:t>
    </dgm:pt>
    <dgm:pt modelId="{FDF9B211-82E2-4DFF-9726-44175F4D9D64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语音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可视化在手机端流畅交互，弱网环境降级处理</a:t>
          </a:r>
        </a:p>
      </dgm:t>
    </dgm:pt>
    <dgm:pt modelId="{CC131D7E-F1DB-4564-8E16-FC7285330122}" type="par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2D0D62C4-1907-4E2E-8F73-81FD4AF6E0B3}" type="sibTrans" cxnId="{F8F0B45E-53F1-4506-96AB-3869D784D33D}">
      <dgm:prSet/>
      <dgm:spPr/>
      <dgm:t>
        <a:bodyPr/>
        <a:lstStyle/>
        <a:p>
          <a:endParaRPr lang="zh-CN" altLang="en-US"/>
        </a:p>
      </dgm:t>
    </dgm:pt>
    <dgm:pt modelId="{C7A441DE-9747-4B66-8D33-128B03ABF6E6}">
      <dgm:prSet phldrT="[文本]" custT="1"/>
      <dgm:spPr/>
      <dgm:t>
        <a:bodyPr/>
        <a:lstStyle/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故障描述千变万化，需语义理解匹配历史案例，而非关键词匹配</a:t>
          </a:r>
        </a:p>
      </dgm:t>
    </dgm:pt>
    <dgm:pt modelId="{6221EC98-724A-4857-9B4E-099D0C6D08A7}" type="par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04A28775-86F0-4576-83DE-870D8EBF9DDF}" type="sibTrans" cxnId="{3B566B83-BC27-4087-AD1D-B5CB89D44D22}">
      <dgm:prSet/>
      <dgm:spPr/>
      <dgm:t>
        <a:bodyPr/>
        <a:lstStyle/>
        <a:p>
          <a:endParaRPr lang="zh-CN" altLang="en-US"/>
        </a:p>
      </dgm:t>
    </dgm:pt>
    <dgm:pt modelId="{29E4C2DE-BCCC-4FC0-80BA-F2C8F063EF6C}" type="pres">
      <dgm:prSet presAssocID="{53464023-80A7-4E68-9DB1-A1BA113D6B70}" presName="Name0" presStyleCnt="0">
        <dgm:presLayoutVars>
          <dgm:dir/>
          <dgm:resizeHandles val="exact"/>
        </dgm:presLayoutVars>
      </dgm:prSet>
      <dgm:spPr/>
    </dgm:pt>
    <dgm:pt modelId="{8E192D2A-83B0-4049-8A1D-548C1E43CA06}" type="pres">
      <dgm:prSet presAssocID="{EBD3CDC6-B15F-44F5-AE24-7FF5DB70058C}" presName="node" presStyleLbl="node1" presStyleIdx="0" presStyleCnt="3" custLinFactNeighborX="6573">
        <dgm:presLayoutVars>
          <dgm:bulletEnabled val="1"/>
        </dgm:presLayoutVars>
      </dgm:prSet>
      <dgm:spPr/>
    </dgm:pt>
    <dgm:pt modelId="{DA742403-01F2-43C7-B8D3-AA8BAFD867BB}" type="pres">
      <dgm:prSet presAssocID="{43260A91-74D3-40A8-A993-5C3615EF1FE2}" presName="sibTrans" presStyleCnt="0"/>
      <dgm:spPr/>
    </dgm:pt>
    <dgm:pt modelId="{4761886E-7068-4136-A8D0-1BB8C4F36CE8}" type="pres">
      <dgm:prSet presAssocID="{8406E5B3-2376-493F-B4BC-6279A5D012C7}" presName="node" presStyleLbl="node1" presStyleIdx="1" presStyleCnt="3">
        <dgm:presLayoutVars>
          <dgm:bulletEnabled val="1"/>
        </dgm:presLayoutVars>
      </dgm:prSet>
      <dgm:spPr/>
    </dgm:pt>
    <dgm:pt modelId="{287000CC-9825-4CF7-96FA-2A55C752B4F1}" type="pres">
      <dgm:prSet presAssocID="{95E3534D-FB43-427E-B221-8882456031A9}" presName="sibTrans" presStyleCnt="0"/>
      <dgm:spPr/>
    </dgm:pt>
    <dgm:pt modelId="{AB3B78D9-904A-4A85-A737-0CD2BFBD226E}" type="pres">
      <dgm:prSet presAssocID="{8FB56FFF-F887-4696-AE36-649E68E51CD3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FF40B-A71D-4DC0-8056-A3784516DF7A}" srcId="{EBD3CDC6-B15F-44F5-AE24-7FF5DB70058C}" destId="{1722CC17-56EF-4181-85BF-5047A94B46D3}" srcOrd="0" destOrd="0" parTransId="{A4907D2C-EF27-415A-BDF2-51DDE21BA42D}" sibTransId="{558D9B28-C2AD-49F6-864D-BBC4E6390A38}"/>
    <dgm:cxn modelId="{CF9EC615-FB1E-4DE3-A69E-FDE88DDBD675}" type="presOf" srcId="{8FB56FFF-F887-4696-AE36-649E68E51CD3}" destId="{AB3B78D9-904A-4A85-A737-0CD2BFBD226E}" srcOrd="0" destOrd="0" presId="urn:microsoft.com/office/officeart/2005/8/layout/hList6"/>
    <dgm:cxn modelId="{330B8C21-66AF-4667-8DF0-473F947E4E05}" type="presOf" srcId="{1722CC17-56EF-4181-85BF-5047A94B46D3}" destId="{8E192D2A-83B0-4049-8A1D-548C1E43CA06}" srcOrd="0" destOrd="1" presId="urn:microsoft.com/office/officeart/2005/8/layout/hList6"/>
    <dgm:cxn modelId="{FCE2BA22-8137-4992-83F5-062E27CD3921}" type="presOf" srcId="{FDF9B211-82E2-4DFF-9726-44175F4D9D64}" destId="{AB3B78D9-904A-4A85-A737-0CD2BFBD226E}" srcOrd="0" destOrd="1" presId="urn:microsoft.com/office/officeart/2005/8/layout/hList6"/>
    <dgm:cxn modelId="{5DAA002A-89F4-4526-9780-3A75CC5A8B92}" type="presOf" srcId="{53464023-80A7-4E68-9DB1-A1BA113D6B70}" destId="{29E4C2DE-BCCC-4FC0-80BA-F2C8F063EF6C}" srcOrd="0" destOrd="0" presId="urn:microsoft.com/office/officeart/2005/8/layout/hList6"/>
    <dgm:cxn modelId="{5161FF2C-04ED-4A26-B9DB-2B4668C55326}" srcId="{53464023-80A7-4E68-9DB1-A1BA113D6B70}" destId="{8406E5B3-2376-493F-B4BC-6279A5D012C7}" srcOrd="1" destOrd="0" parTransId="{52867A17-A36F-4530-8840-571DBEB2AA94}" sibTransId="{95E3534D-FB43-427E-B221-8882456031A9}"/>
    <dgm:cxn modelId="{F8F0B45E-53F1-4506-96AB-3869D784D33D}" srcId="{8FB56FFF-F887-4696-AE36-649E68E51CD3}" destId="{FDF9B211-82E2-4DFF-9726-44175F4D9D64}" srcOrd="0" destOrd="0" parTransId="{CC131D7E-F1DB-4564-8E16-FC7285330122}" sibTransId="{2D0D62C4-1907-4E2E-8F73-81FD4AF6E0B3}"/>
    <dgm:cxn modelId="{822CD974-5B96-4FFB-A69F-A872032B9E26}" type="presOf" srcId="{EBD3CDC6-B15F-44F5-AE24-7FF5DB70058C}" destId="{8E192D2A-83B0-4049-8A1D-548C1E43CA06}" srcOrd="0" destOrd="0" presId="urn:microsoft.com/office/officeart/2005/8/layout/hList6"/>
    <dgm:cxn modelId="{31843D58-7CE7-4A66-A7DD-BB29FF25F695}" type="presOf" srcId="{8406E5B3-2376-493F-B4BC-6279A5D012C7}" destId="{4761886E-7068-4136-A8D0-1BB8C4F36CE8}" srcOrd="0" destOrd="0" presId="urn:microsoft.com/office/officeart/2005/8/layout/hList6"/>
    <dgm:cxn modelId="{3B566B83-BC27-4087-AD1D-B5CB89D44D22}" srcId="{8406E5B3-2376-493F-B4BC-6279A5D012C7}" destId="{C7A441DE-9747-4B66-8D33-128B03ABF6E6}" srcOrd="0" destOrd="0" parTransId="{6221EC98-724A-4857-9B4E-099D0C6D08A7}" sibTransId="{04A28775-86F0-4576-83DE-870D8EBF9DDF}"/>
    <dgm:cxn modelId="{C62F1CCD-C3B1-4CD2-A34A-DC472F6E0BEF}" type="presOf" srcId="{C7A441DE-9747-4B66-8D33-128B03ABF6E6}" destId="{4761886E-7068-4136-A8D0-1BB8C4F36CE8}" srcOrd="0" destOrd="1" presId="urn:microsoft.com/office/officeart/2005/8/layout/hList6"/>
    <dgm:cxn modelId="{E2BF1DED-6E8A-4434-9B46-8FB814A9B289}" srcId="{53464023-80A7-4E68-9DB1-A1BA113D6B70}" destId="{EBD3CDC6-B15F-44F5-AE24-7FF5DB70058C}" srcOrd="0" destOrd="0" parTransId="{D0EEFB9C-9562-4AB4-AB2C-1D77B1CFEA31}" sibTransId="{43260A91-74D3-40A8-A993-5C3615EF1FE2}"/>
    <dgm:cxn modelId="{651155F4-34E6-47DE-8F74-1B287BD7639C}" srcId="{53464023-80A7-4E68-9DB1-A1BA113D6B70}" destId="{8FB56FFF-F887-4696-AE36-649E68E51CD3}" srcOrd="2" destOrd="0" parTransId="{0E012567-3BB7-472C-B2A0-BD109DB4EA54}" sibTransId="{1E7AA27A-25F2-43FC-84E3-74B2721F8960}"/>
    <dgm:cxn modelId="{1E4CF32B-B4B5-4894-825A-DB95218D9094}" type="presParOf" srcId="{29E4C2DE-BCCC-4FC0-80BA-F2C8F063EF6C}" destId="{8E192D2A-83B0-4049-8A1D-548C1E43CA06}" srcOrd="0" destOrd="0" presId="urn:microsoft.com/office/officeart/2005/8/layout/hList6"/>
    <dgm:cxn modelId="{9E9811F2-92BE-49A4-AC97-F171E00928C3}" type="presParOf" srcId="{29E4C2DE-BCCC-4FC0-80BA-F2C8F063EF6C}" destId="{DA742403-01F2-43C7-B8D3-AA8BAFD867BB}" srcOrd="1" destOrd="0" presId="urn:microsoft.com/office/officeart/2005/8/layout/hList6"/>
    <dgm:cxn modelId="{290B4CD7-16C4-4CAD-BDEA-86D3F494F782}" type="presParOf" srcId="{29E4C2DE-BCCC-4FC0-80BA-F2C8F063EF6C}" destId="{4761886E-7068-4136-A8D0-1BB8C4F36CE8}" srcOrd="2" destOrd="0" presId="urn:microsoft.com/office/officeart/2005/8/layout/hList6"/>
    <dgm:cxn modelId="{805222C7-CA5D-4E1E-BD90-A9DC0516F168}" type="presParOf" srcId="{29E4C2DE-BCCC-4FC0-80BA-F2C8F063EF6C}" destId="{287000CC-9825-4CF7-96FA-2A55C752B4F1}" srcOrd="3" destOrd="0" presId="urn:microsoft.com/office/officeart/2005/8/layout/hList6"/>
    <dgm:cxn modelId="{7F6D0BCD-527E-4549-BABB-6E10CCFC1BF3}" type="presParOf" srcId="{29E4C2DE-BCCC-4FC0-80BA-F2C8F063EF6C}" destId="{AB3B78D9-904A-4A85-A737-0CD2BFBD226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快速获得系统健康全貌，不用逐个看面版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只不开电脑也能了解情况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92D2A-83B0-4049-8A1D-548C1E43CA06}">
      <dsp:nvSpPr>
        <dsp:cNvPr id="0" name=""/>
        <dsp:cNvSpPr/>
      </dsp:nvSpPr>
      <dsp:spPr>
        <a:xfrm rot="16200000">
          <a:off x="440320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等线" panose="02010600030101010101" pitchFamily="2" charset="-122"/>
              <a:ea typeface="等线" panose="02010600030101010101" pitchFamily="2" charset="-122"/>
            </a:rPr>
            <a:t>语音实时理解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latin typeface="等线" panose="02010600030101010101" pitchFamily="2" charset="-122"/>
              <a:ea typeface="等线" panose="02010600030101010101" pitchFamily="2" charset="-122"/>
            </a:rPr>
            <a:t>运维专业术语（服务名、指标名）、中英文混合、噪音环境准确率</a:t>
          </a:r>
        </a:p>
      </dsp:txBody>
      <dsp:txXfrm rot="5400000">
        <a:off x="17285" y="481307"/>
        <a:ext cx="3252604" cy="1443920"/>
      </dsp:txXfrm>
    </dsp:sp>
    <dsp:sp modelId="{4761886E-7068-4136-A8D0-1BB8C4F36CE8}">
      <dsp:nvSpPr>
        <dsp:cNvPr id="0" name=""/>
        <dsp:cNvSpPr/>
      </dsp:nvSpPr>
      <dsp:spPr>
        <a:xfrm rot="16200000">
          <a:off x="3920836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分析报告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将结构化数据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+AI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分析结果转化为图文并茂的页面，不是简单图表堆砌</a:t>
          </a:r>
        </a:p>
      </dsp:txBody>
      <dsp:txXfrm rot="5400000">
        <a:off x="3497801" y="481307"/>
        <a:ext cx="3252604" cy="1443920"/>
      </dsp:txXfrm>
    </dsp:sp>
    <dsp:sp modelId="{AB3B78D9-904A-4A85-A737-0CD2BFBD226E}">
      <dsp:nvSpPr>
        <dsp:cNvPr id="0" name=""/>
        <dsp:cNvSpPr/>
      </dsp:nvSpPr>
      <dsp:spPr>
        <a:xfrm rot="16200000">
          <a:off x="7417385" y="-423035"/>
          <a:ext cx="2406534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多服务协同编排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一个问题涉及 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metrics/logs/traces/config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多数据源，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Agent 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需自主判断查什么、按什么顺序</a:t>
          </a:r>
        </a:p>
      </dsp:txBody>
      <dsp:txXfrm rot="5400000">
        <a:off x="6994350" y="481307"/>
        <a:ext cx="3252604" cy="1443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92D2A-83B0-4049-8A1D-548C1E43CA06}">
      <dsp:nvSpPr>
        <dsp:cNvPr id="0" name=""/>
        <dsp:cNvSpPr/>
      </dsp:nvSpPr>
      <dsp:spPr>
        <a:xfrm rot="16200000">
          <a:off x="426864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等线" panose="02010600030101010101" pitchFamily="2" charset="-122"/>
              <a:ea typeface="等线" panose="02010600030101010101" pitchFamily="2" charset="-122"/>
            </a:rPr>
            <a:t>上下文与下钻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latin typeface="等线" panose="02010600030101010101" pitchFamily="2" charset="-122"/>
              <a:ea typeface="等线" panose="02010600030101010101" pitchFamily="2" charset="-122"/>
            </a:rPr>
            <a:t>维持多轮上下文，每次追问精准深入下一层</a:t>
          </a:r>
        </a:p>
      </dsp:txBody>
      <dsp:txXfrm rot="5400000">
        <a:off x="17285" y="486689"/>
        <a:ext cx="3252604" cy="1460068"/>
      </dsp:txXfrm>
    </dsp:sp>
    <dsp:sp modelId="{4761886E-7068-4136-A8D0-1BB8C4F36CE8}">
      <dsp:nvSpPr>
        <dsp:cNvPr id="0" name=""/>
        <dsp:cNvSpPr/>
      </dsp:nvSpPr>
      <dsp:spPr>
        <a:xfrm rot="16200000">
          <a:off x="3907380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经验语义匹配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故障描述千变万化，需语义理解匹配历史案例，而非关键词匹配</a:t>
          </a:r>
        </a:p>
      </dsp:txBody>
      <dsp:txXfrm rot="5400000">
        <a:off x="3497801" y="486689"/>
        <a:ext cx="3252604" cy="1460068"/>
      </dsp:txXfrm>
    </dsp:sp>
    <dsp:sp modelId="{AB3B78D9-904A-4A85-A737-0CD2BFBD226E}">
      <dsp:nvSpPr>
        <dsp:cNvPr id="0" name=""/>
        <dsp:cNvSpPr/>
      </dsp:nvSpPr>
      <dsp:spPr>
        <a:xfrm rot="16200000">
          <a:off x="7403930" y="-409579"/>
          <a:ext cx="2433446" cy="325260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移动端体验</a:t>
          </a:r>
        </a:p>
        <a:p>
          <a:pPr marL="228600" lvl="1" indent="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  语音</a:t>
          </a:r>
          <a:r>
            <a:rPr lang="en-US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+</a:t>
          </a:r>
          <a:r>
            <a:rPr lang="zh-CN" altLang="en-US" sz="1600" kern="1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rPr>
            <a:t>可视化在手机端流畅交互，弱网环境降级处理</a:t>
          </a:r>
        </a:p>
      </dsp:txBody>
      <dsp:txXfrm rot="5400000">
        <a:off x="6994351" y="486689"/>
        <a:ext cx="3252604" cy="1460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EF22-8C61-62F4-5018-2C5A0A0F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11FB6C-0806-8E50-663B-00F8D2F63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57BDB8-12B7-CB17-39D6-E6B21A1BB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69DA1-D10C-3B67-BD17-508E7EE49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3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6026-D97D-0C77-17DF-0EC4AAB5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0FE943-8471-60CB-C273-A2FF700F3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1522D-3959-68EA-B2CA-9C85917F4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604D4-55AA-9E31-0B84-8B067186E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1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FEE9-5CF0-396E-B0B7-C71F2F40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479019-0B3B-D40F-FF01-A396352CB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F0445A-7F8D-131D-07D4-31BE6BB9C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B65A-D152-DCB1-4D6B-318654140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37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062E-9B55-9775-3CD2-841033F4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635EB-5D3F-43C8-E7AA-CE3F8AB6C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BE814B-869E-EC8A-B629-BACF4D171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67972B-337A-B80E-032D-F2519E4EB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19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73BA-EBE6-6307-AFE1-9B9F58F2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4CB51-461E-B8FE-EC33-D76273AEE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022256-751B-FA48-098D-8DEFC713F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D7712-D0BF-5162-FF50-1548A5F8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49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AC0B-5386-BCF2-ACA7-FD465823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63A561-E018-AC4B-3F31-312964B04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B6F2B0-FE5A-3295-11B1-C7D676E86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815E3-2433-55D2-0040-BE26F5D67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2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diagramData" Target="../diagrams/data3.xml"/><Relationship Id="rId9" Type="http://schemas.openxmlformats.org/officeDocument/2006/relationships/diagramLayout" Target="../diagrams/layout3.xml"/><Relationship Id="rId10" Type="http://schemas.openxmlformats.org/officeDocument/2006/relationships/diagramQuickStyle" Target="../diagrams/quickStyle3.xml"/><Relationship Id="rId11" Type="http://schemas.openxmlformats.org/officeDocument/2006/relationships/diagramColors" Target="../diagrams/colors3.xml"/><Relationship Id="rId12" Type="http://schemas.microsoft.com/office/2007/relationships/diagramDrawing" Target="../diagrams/drawing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9A7FC8-F71A-AB05-4E93-5E8BF7B0058F}"/>
              </a:ext>
            </a:extLst>
          </p:cNvPr>
          <p:cNvSpPr txBox="1"/>
          <p:nvPr/>
        </p:nvSpPr>
        <p:spPr>
          <a:xfrm>
            <a:off x="0" y="3423043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语音驱动，智能闭环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背景介绍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502632" y="998775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团队负责日常运维。团队希望降低运维复杂度，提升故障响应效率。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546967" y="188383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502632" y="3798531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故障处理依赖工程师经验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443162" y="3798531"/>
            <a:ext cx="4853536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只有图表没有解读，依赖个人经验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需求分析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768631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(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语音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/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文字</a:t>
              </a:r>
              <a:r>
                <a:rPr lang="en-US" altLang="zh-CN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)</a:t>
              </a: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7D3BB-6944-1737-6760-86E1132C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70B15-680B-4887-1493-8AF284AC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难点分析</a:t>
            </a: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819BB68D-2652-C646-7D30-8E43235172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21805"/>
              </p:ext>
            </p:extLst>
          </p:nvPr>
        </p:nvGraphicFramePr>
        <p:xfrm>
          <a:off x="953193" y="941832"/>
          <a:ext cx="10248206" cy="240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820C77CC-41F1-52BB-2D1B-CCDCCEEE7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873787"/>
              </p:ext>
            </p:extLst>
          </p:nvPr>
        </p:nvGraphicFramePr>
        <p:xfrm>
          <a:off x="953192" y="3705225"/>
          <a:ext cx="10248207" cy="243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72182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38148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AI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和运维服务，打造智能闭环运维平台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语音输入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Agent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历史经验匹配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语音驱动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7003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输入：语音</a:t>
            </a:r>
            <a:r>
              <a:rPr lang="en-US" sz="900" dirty="0">
                <a:solidFill>
                  <a:srgbClr val="8899AA"/>
                </a:solidFill>
              </a:rPr>
              <a:t>/文字 ｜ 输出：HTML分析页 + 语音回复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mazon Quick 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企微 /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Bot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编排层（后端）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入口 + 多 Agent 系统</a:t>
            </a:r>
            <a:endParaRPr lang="en-US" sz="1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0BBE616-7190-9000-7E70-47EA156426C9}"/>
              </a:ext>
            </a:extLst>
          </p:cNvPr>
          <p:cNvSpPr/>
          <p:nvPr/>
        </p:nvSpPr>
        <p:spPr>
          <a:xfrm>
            <a:off x="5365100" y="2327200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Lambda × 4  ·  Strands SDK  ·  Nova Sonic  ·  Bedrock LLM  · </a:t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Knowledge ·  </a:t>
            </a:r>
            <a:r>
              <a:rPr lang="en-US" sz="10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10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05B88313-1939-2560-A8FA-CF305FA3E012}"/>
              </a:ext>
            </a:extLst>
          </p:cNvPr>
          <p:cNvSpPr/>
          <p:nvPr/>
        </p:nvSpPr>
        <p:spPr>
          <a:xfrm>
            <a:off x="2295711" y="2803313"/>
            <a:ext cx="1400072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20BCE42-EABC-B403-01DE-4FC42AA8C5E1}"/>
              </a:ext>
            </a:extLst>
          </p:cNvPr>
          <p:cNvSpPr/>
          <p:nvPr/>
        </p:nvSpPr>
        <p:spPr>
          <a:xfrm>
            <a:off x="229571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0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781941" y="2803313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78194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5268171" y="2803312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5268171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754402" y="2803313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75440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8240632" y="2803312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824063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726861" y="2803313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726862" y="2803313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5365100" y="3889249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 (引擎)  ·  CloudWatch  ·  EventBridge  ·  SNS</a:t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S3（静态 HTML 分析页 + 事件报告）</a:t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2C0D08F-3042-DC26-C0DA-B77897B7DBB8}"/>
              </a:ext>
            </a:extLst>
          </p:cNvPr>
          <p:cNvSpPr txBox="1"/>
          <p:nvPr/>
        </p:nvSpPr>
        <p:spPr>
          <a:xfrm>
            <a:off x="2672654" y="308688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0" i="0" dirty="0">
                <a:solidFill>
                  <a:srgbClr val="8899A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意图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</a:t>
            </a:r>
            <a:endParaRPr lang="zh-CN" altLang="en-US" sz="9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941399" y="3086648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 发现</a:t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649382" y="3092595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根因分析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7128984" y="3082504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执行修复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8528048" y="3077235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经验检索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</a:t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995234" y="3077235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分析页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报告页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504B-10E9-A5CC-3E56-FEC5444E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DAFD8-4B8F-08EB-0C56-AF1389A9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语音交互 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+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移动运维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E3B891-B2D7-0BBB-1CDF-035B6C887206}"/>
              </a:ext>
            </a:extLst>
          </p:cNvPr>
          <p:cNvSpPr/>
          <p:nvPr/>
        </p:nvSpPr>
        <p:spPr>
          <a:xfrm>
            <a:off x="18479" y="1088566"/>
            <a:ext cx="12192000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Nova Sonic + Q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uick(</a:t>
            </a: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MCP)   + IM Bot</a:t>
            </a:r>
            <a:r>
              <a:rPr lang="zh-CN" alt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</a:t>
            </a:r>
            <a:r>
              <a:rPr lang="zh-CN" alt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5C6E70-2786-F67C-336C-4698D7035C6D}"/>
              </a:ext>
            </a:extLst>
          </p:cNvPr>
          <p:cNvSpPr/>
          <p:nvPr/>
        </p:nvSpPr>
        <p:spPr>
          <a:xfrm>
            <a:off x="883954" y="2010140"/>
            <a:ext cx="4096236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C02555-33F7-5C29-FD29-CF15331DBB0E}"/>
              </a:ext>
            </a:extLst>
          </p:cNvPr>
          <p:cNvSpPr/>
          <p:nvPr/>
        </p:nvSpPr>
        <p:spPr>
          <a:xfrm>
            <a:off x="1003659" y="2421208"/>
            <a:ext cx="3144849" cy="36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Speech-to-Speech 端到端模型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EDA0C1A-F9FD-74A0-3854-055E210B749D}"/>
              </a:ext>
            </a:extLst>
          </p:cNvPr>
          <p:cNvSpPr/>
          <p:nvPr/>
        </p:nvSpPr>
        <p:spPr>
          <a:xfrm>
            <a:off x="1003659" y="2833155"/>
            <a:ext cx="2753270" cy="36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支持中英文混合(</a:t>
            </a: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实测支持</a:t>
            </a:r>
            <a:r>
              <a:rPr 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12B2D56-A137-9B74-C675-D651EEA25D60}"/>
              </a:ext>
            </a:extLst>
          </p:cNvPr>
          <p:cNvSpPr/>
          <p:nvPr/>
        </p:nvSpPr>
        <p:spPr>
          <a:xfrm>
            <a:off x="911348" y="3553410"/>
            <a:ext cx="3691035" cy="125951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输出</a:t>
            </a:r>
            <a:endParaRPr lang="en-US" altLang="zh-CN" sz="14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sz="14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语音摘要 </a:t>
            </a:r>
            <a:r>
              <a:rPr lang="en-US" altLang="zh-CN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+ </a:t>
            </a:r>
            <a:r>
              <a:rPr lang="zh-CN" altLang="en-US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分析页 </a:t>
            </a:r>
            <a:r>
              <a:rPr lang="en-US" altLang="zh-CN" sz="12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URL</a:t>
            </a:r>
            <a:endParaRPr lang="en-US" sz="12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2489DCE-974A-D2EF-8814-863B7AAFE221}"/>
              </a:ext>
            </a:extLst>
          </p:cNvPr>
          <p:cNvSpPr/>
          <p:nvPr/>
        </p:nvSpPr>
        <p:spPr>
          <a:xfrm>
            <a:off x="6303239" y="1909026"/>
            <a:ext cx="5386827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语音数据流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197C2EA-7D7D-F6BC-F2C5-DA4F4E00F31E}"/>
              </a:ext>
            </a:extLst>
          </p:cNvPr>
          <p:cNvSpPr/>
          <p:nvPr/>
        </p:nvSpPr>
        <p:spPr>
          <a:xfrm>
            <a:off x="6340195" y="2333577"/>
            <a:ext cx="5267120" cy="2907739"/>
          </a:xfrm>
          <a:prstGeom prst="roundRect">
            <a:avLst>
              <a:gd name="adj" fmla="val 1667"/>
            </a:avLst>
          </a:prstGeom>
          <a:solidFill>
            <a:srgbClr val="111D2E"/>
          </a:solidFill>
          <a:ln w="1016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95CF010-E2E4-6622-8BB3-B561D588077B}"/>
              </a:ext>
            </a:extLst>
          </p:cNvPr>
          <p:cNvSpPr/>
          <p:nvPr/>
        </p:nvSpPr>
        <p:spPr>
          <a:xfrm>
            <a:off x="6639463" y="2515311"/>
            <a:ext cx="1795609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D5333CB-4EAD-53B1-1656-B14D25408CA6}"/>
              </a:ext>
            </a:extLst>
          </p:cNvPr>
          <p:cNvSpPr/>
          <p:nvPr/>
        </p:nvSpPr>
        <p:spPr>
          <a:xfrm>
            <a:off x="6639463" y="2515311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🎙 用户说话</a:t>
            </a:r>
            <a:endParaRPr lang="en-US" sz="9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CC15F32-A21F-1310-DF58-3F9F6E00B5D8}"/>
              </a:ext>
            </a:extLst>
          </p:cNvPr>
          <p:cNvSpPr/>
          <p:nvPr/>
        </p:nvSpPr>
        <p:spPr>
          <a:xfrm>
            <a:off x="8435072" y="2515311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E2B35BB-81E1-4BEE-D210-48A6C0858100}"/>
              </a:ext>
            </a:extLst>
          </p:cNvPr>
          <p:cNvSpPr/>
          <p:nvPr/>
        </p:nvSpPr>
        <p:spPr>
          <a:xfrm>
            <a:off x="8794193" y="2515311"/>
            <a:ext cx="1915316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44E39D0-2139-33F8-BD94-07E52DE4C8DC}"/>
              </a:ext>
            </a:extLst>
          </p:cNvPr>
          <p:cNvSpPr/>
          <p:nvPr/>
        </p:nvSpPr>
        <p:spPr>
          <a:xfrm>
            <a:off x="8794193" y="2515311"/>
            <a:ext cx="1915316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Quick / IM Bot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9EB0704-DD5A-1FD8-944C-32571701BB92}"/>
              </a:ext>
            </a:extLst>
          </p:cNvPr>
          <p:cNvSpPr/>
          <p:nvPr/>
        </p:nvSpPr>
        <p:spPr>
          <a:xfrm>
            <a:off x="6639463" y="2878778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EC1DE74-14B5-778F-108B-3D710B864DEC}"/>
              </a:ext>
            </a:extLst>
          </p:cNvPr>
          <p:cNvSpPr/>
          <p:nvPr/>
        </p:nvSpPr>
        <p:spPr>
          <a:xfrm>
            <a:off x="6639463" y="3181668"/>
            <a:ext cx="1795609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D0F0FA7-8934-B146-E8DC-B9D2E9F3DA3F}"/>
              </a:ext>
            </a:extLst>
          </p:cNvPr>
          <p:cNvSpPr/>
          <p:nvPr/>
        </p:nvSpPr>
        <p:spPr>
          <a:xfrm>
            <a:off x="6639463" y="3181668"/>
            <a:ext cx="1795609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3DB441D-E059-B6C0-C6ED-E617151588B3}"/>
              </a:ext>
            </a:extLst>
          </p:cNvPr>
          <p:cNvSpPr/>
          <p:nvPr/>
        </p:nvSpPr>
        <p:spPr>
          <a:xfrm>
            <a:off x="8435072" y="3181668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B799A89-FC6C-636A-2D1E-19CB255C201B}"/>
              </a:ext>
            </a:extLst>
          </p:cNvPr>
          <p:cNvSpPr/>
          <p:nvPr/>
        </p:nvSpPr>
        <p:spPr>
          <a:xfrm>
            <a:off x="8794193" y="3181668"/>
            <a:ext cx="2513853" cy="363467"/>
          </a:xfrm>
          <a:prstGeom prst="roundRect">
            <a:avLst>
              <a:gd name="adj" fmla="val 10000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15960C3-1BFD-A6E0-E91C-1586088517EE}"/>
              </a:ext>
            </a:extLst>
          </p:cNvPr>
          <p:cNvSpPr/>
          <p:nvPr/>
        </p:nvSpPr>
        <p:spPr>
          <a:xfrm>
            <a:off x="8794193" y="3181668"/>
            <a:ext cx="251385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Lambda + Nova Sonic</a:t>
            </a:r>
            <a:endParaRPr lang="en-US" sz="9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2D34CE6-F86D-6D46-A757-E5DF5F1AD970}"/>
              </a:ext>
            </a:extLst>
          </p:cNvPr>
          <p:cNvSpPr/>
          <p:nvPr/>
        </p:nvSpPr>
        <p:spPr>
          <a:xfrm>
            <a:off x="6639463" y="3545135"/>
            <a:ext cx="1795609" cy="3028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BC1E54D1-A348-EEC6-6B58-0F648276F769}"/>
              </a:ext>
            </a:extLst>
          </p:cNvPr>
          <p:cNvSpPr/>
          <p:nvPr/>
        </p:nvSpPr>
        <p:spPr>
          <a:xfrm>
            <a:off x="7896389" y="3581482"/>
            <a:ext cx="1197073" cy="2423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6A7A8A"/>
                </a:solidFill>
              </a:rPr>
              <a:t>语音→文本</a:t>
            </a:r>
            <a:endParaRPr lang="en-US" sz="8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9809D925-71CF-0B86-49B8-28795D79F5E7}"/>
              </a:ext>
            </a:extLst>
          </p:cNvPr>
          <p:cNvSpPr/>
          <p:nvPr/>
        </p:nvSpPr>
        <p:spPr>
          <a:xfrm>
            <a:off x="6639463" y="3848025"/>
            <a:ext cx="2633560" cy="363467"/>
          </a:xfrm>
          <a:prstGeom prst="roundRect">
            <a:avLst>
              <a:gd name="adj" fmla="val 10000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3CB7EE3-C65F-7189-9E55-831E19CEC23A}"/>
              </a:ext>
            </a:extLst>
          </p:cNvPr>
          <p:cNvSpPr/>
          <p:nvPr/>
        </p:nvSpPr>
        <p:spPr>
          <a:xfrm>
            <a:off x="6639463" y="3848025"/>
            <a:ext cx="2633560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Orchestrator Lambda (6 逻辑 Agent in-process)</a:t>
            </a:r>
            <a:endParaRPr lang="en-US" sz="9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9F2C542-C69E-0D55-7BFC-6D9DF4409C52}"/>
              </a:ext>
            </a:extLst>
          </p:cNvPr>
          <p:cNvSpPr/>
          <p:nvPr/>
        </p:nvSpPr>
        <p:spPr>
          <a:xfrm>
            <a:off x="9273022" y="3848025"/>
            <a:ext cx="359122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F9900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B7B074E3-7B38-735E-434A-8BC2B9647537}"/>
              </a:ext>
            </a:extLst>
          </p:cNvPr>
          <p:cNvSpPr/>
          <p:nvPr/>
        </p:nvSpPr>
        <p:spPr>
          <a:xfrm>
            <a:off x="9632144" y="3848025"/>
            <a:ext cx="1197073" cy="363467"/>
          </a:xfrm>
          <a:prstGeom prst="roundRect">
            <a:avLst>
              <a:gd name="adj" fmla="val 10000"/>
            </a:avLst>
          </a:prstGeom>
          <a:solidFill>
            <a:srgbClr val="2A3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4A84120C-354B-1564-6E88-ADD715935ADC}"/>
              </a:ext>
            </a:extLst>
          </p:cNvPr>
          <p:cNvSpPr/>
          <p:nvPr/>
        </p:nvSpPr>
        <p:spPr>
          <a:xfrm>
            <a:off x="9632144" y="3848025"/>
            <a:ext cx="119707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C0D0E0"/>
                </a:solidFill>
              </a:rPr>
              <a:t>结果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D7A39FB-45C6-7197-AB12-2B8BEBF5011D}"/>
              </a:ext>
            </a:extLst>
          </p:cNvPr>
          <p:cNvSpPr/>
          <p:nvPr/>
        </p:nvSpPr>
        <p:spPr>
          <a:xfrm>
            <a:off x="6639463" y="4211492"/>
            <a:ext cx="2633560" cy="30289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36B37E"/>
                </a:solidFill>
              </a:rPr>
              <a:t>↓</a:t>
            </a:r>
            <a:endParaRPr lang="en-US" sz="12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405018BC-B729-911E-A0B3-D8E2899B4EC6}"/>
              </a:ext>
            </a:extLst>
          </p:cNvPr>
          <p:cNvSpPr/>
          <p:nvPr/>
        </p:nvSpPr>
        <p:spPr>
          <a:xfrm>
            <a:off x="6639463" y="4514381"/>
            <a:ext cx="4668583" cy="363467"/>
          </a:xfrm>
          <a:prstGeom prst="roundRect">
            <a:avLst>
              <a:gd name="adj" fmla="val 10000"/>
            </a:avLst>
          </a:prstGeom>
          <a:solidFill>
            <a:srgbClr val="0A2A1A"/>
          </a:solidFill>
          <a:ln w="1016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BF3284D-FC5B-91E5-90EF-403FE5F32A1A}"/>
              </a:ext>
            </a:extLst>
          </p:cNvPr>
          <p:cNvSpPr/>
          <p:nvPr/>
        </p:nvSpPr>
        <p:spPr>
          <a:xfrm>
            <a:off x="6639463" y="4514381"/>
            <a:ext cx="4668583" cy="3634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36B37E"/>
                </a:solidFill>
              </a:rPr>
              <a:t>🔊 语音播报摘要 + 📄 分析页 URL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93615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智能分析页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A172C6-5801-1E75-5217-16BCD477DB46}"/>
              </a:ext>
            </a:extLst>
          </p:cNvPr>
          <p:cNvSpPr/>
          <p:nvPr/>
        </p:nvSpPr>
        <p:spPr>
          <a:xfrm>
            <a:off x="346752" y="1166844"/>
            <a:ext cx="11258256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 — Report Agent 生成完整 HTML 报告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EFE271-80C0-805E-E4E8-D87E44F82089}"/>
              </a:ext>
            </a:extLst>
          </p:cNvPr>
          <p:cNvSpPr/>
          <p:nvPr/>
        </p:nvSpPr>
        <p:spPr>
          <a:xfrm>
            <a:off x="346752" y="1590251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分析页包含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483895-CF4B-6A22-1349-9A5117D531D9}"/>
              </a:ext>
            </a:extLst>
          </p:cNvPr>
          <p:cNvSpPr/>
          <p:nvPr/>
        </p:nvSpPr>
        <p:spPr>
          <a:xfrm>
            <a:off x="471844" y="1938939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数据图表（趋势线、拓扑图、火焰图）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E4EC0C-C895-5F22-4346-7D77954590D1}"/>
              </a:ext>
            </a:extLst>
          </p:cNvPr>
          <p:cNvSpPr/>
          <p:nvPr/>
        </p:nvSpPr>
        <p:spPr>
          <a:xfrm>
            <a:off x="471844" y="2275173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AI 文字解读（"CPU 在 14:32 异常上升"）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14C7D3-F2E1-E671-6639-B046378A177B}"/>
              </a:ext>
            </a:extLst>
          </p:cNvPr>
          <p:cNvSpPr/>
          <p:nvPr/>
        </p:nvSpPr>
        <p:spPr>
          <a:xfrm>
            <a:off x="471844" y="2611408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因果分析（时间线 + 关联事件）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9F12529-F167-27BA-B28F-BA21EE466BFA}"/>
              </a:ext>
            </a:extLst>
          </p:cNvPr>
          <p:cNvSpPr/>
          <p:nvPr/>
        </p:nvSpPr>
        <p:spPr>
          <a:xfrm>
            <a:off x="471844" y="2947643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操作建议（"建议扩容至 4 实例"）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FA7007-AD5B-C1A6-F1B0-820C144AF07F}"/>
              </a:ext>
            </a:extLst>
          </p:cNvPr>
          <p:cNvSpPr/>
          <p:nvPr/>
        </p:nvSpPr>
        <p:spPr>
          <a:xfrm>
            <a:off x="471844" y="3283877"/>
            <a:ext cx="5378944" cy="31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📎 证据链（日志片段、Trace ID）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C8B15EA-B3C1-D22E-351A-72833E0481E7}"/>
              </a:ext>
            </a:extLst>
          </p:cNvPr>
          <p:cNvSpPr/>
          <p:nvPr/>
        </p:nvSpPr>
        <p:spPr>
          <a:xfrm>
            <a:off x="471842" y="3744643"/>
            <a:ext cx="5253853" cy="560391"/>
          </a:xfrm>
          <a:prstGeom prst="roundRect">
            <a:avLst>
              <a:gd name="adj" fmla="val 6667"/>
            </a:avLst>
          </a:prstGeom>
          <a:solidFill>
            <a:srgbClr val="1A2A3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B2E25C-9592-7F60-0F03-ACBF425BDFD9}"/>
              </a:ext>
            </a:extLst>
          </p:cNvPr>
          <p:cNvSpPr/>
          <p:nvPr/>
        </p:nvSpPr>
        <p:spPr>
          <a:xfrm>
            <a:off x="596935" y="3769550"/>
            <a:ext cx="5003669" cy="535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Dashboard = 体检数值表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NLOps 分析页 = 医生写的诊断书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0C9A91-E7D4-405B-5CF0-C74FA2A1173C}"/>
              </a:ext>
            </a:extLst>
          </p:cNvPr>
          <p:cNvSpPr/>
          <p:nvPr/>
        </p:nvSpPr>
        <p:spPr>
          <a:xfrm>
            <a:off x="346752" y="4491832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对话式下钻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4731F6-7356-286B-8486-0E5B1D35C179}"/>
              </a:ext>
            </a:extLst>
          </p:cNvPr>
          <p:cNvSpPr/>
          <p:nvPr/>
        </p:nvSpPr>
        <p:spPr>
          <a:xfrm>
            <a:off x="596935" y="4865426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"系统怎么样"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6A31DB-97FB-2717-4319-61E521259945}"/>
              </a:ext>
            </a:extLst>
          </p:cNvPr>
          <p:cNvSpPr/>
          <p:nvPr/>
        </p:nvSpPr>
        <p:spPr>
          <a:xfrm>
            <a:off x="3098770" y="4865426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总览分析页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2C9A82-6BE0-3DE0-D839-E9DBD7FBBAC1}"/>
              </a:ext>
            </a:extLst>
          </p:cNvPr>
          <p:cNvSpPr/>
          <p:nvPr/>
        </p:nvSpPr>
        <p:spPr>
          <a:xfrm>
            <a:off x="596935" y="5176754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"延迟为什么涨"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F92B56-0CFB-02BF-5DBB-13C51CA15247}"/>
              </a:ext>
            </a:extLst>
          </p:cNvPr>
          <p:cNvSpPr/>
          <p:nvPr/>
        </p:nvSpPr>
        <p:spPr>
          <a:xfrm>
            <a:off x="3098770" y="5176754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聚焦分析页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1DC397-D83B-BB9B-150A-39387FCE7259}"/>
              </a:ext>
            </a:extLst>
          </p:cNvPr>
          <p:cNvSpPr/>
          <p:nvPr/>
        </p:nvSpPr>
        <p:spPr>
          <a:xfrm>
            <a:off x="596935" y="5488083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"看看链路"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F8C09A-0855-7ADF-4789-768C373F1118}"/>
              </a:ext>
            </a:extLst>
          </p:cNvPr>
          <p:cNvSpPr/>
          <p:nvPr/>
        </p:nvSpPr>
        <p:spPr>
          <a:xfrm>
            <a:off x="3098770" y="5488083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Trace 分析页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86CCE5-5011-19F9-3398-6D89A6D1A737}"/>
              </a:ext>
            </a:extLst>
          </p:cNvPr>
          <p:cNvSpPr/>
          <p:nvPr/>
        </p:nvSpPr>
        <p:spPr>
          <a:xfrm>
            <a:off x="596935" y="5799411"/>
            <a:ext cx="2501835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"定位到代码"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D8640C-F421-3C98-414B-61846ED7B938}"/>
              </a:ext>
            </a:extLst>
          </p:cNvPr>
          <p:cNvSpPr/>
          <p:nvPr/>
        </p:nvSpPr>
        <p:spPr>
          <a:xfrm>
            <a:off x="3098768" y="5799410"/>
            <a:ext cx="2752018" cy="2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火焰图分析页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F993B6-52F1-B8A9-54CF-F39F984A1BA8}"/>
              </a:ext>
            </a:extLst>
          </p:cNvPr>
          <p:cNvSpPr/>
          <p:nvPr/>
        </p:nvSpPr>
        <p:spPr>
          <a:xfrm>
            <a:off x="6351155" y="1590251"/>
            <a:ext cx="5629128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2BBBEFF-EE41-F117-6AB5-B5A4839846D9}"/>
              </a:ext>
            </a:extLst>
          </p:cNvPr>
          <p:cNvSpPr/>
          <p:nvPr/>
        </p:nvSpPr>
        <p:spPr>
          <a:xfrm>
            <a:off x="6351155" y="1938939"/>
            <a:ext cx="5629128" cy="3611410"/>
          </a:xfrm>
          <a:prstGeom prst="roundRect">
            <a:avLst>
              <a:gd name="adj" fmla="val 1379"/>
            </a:avLst>
          </a:prstGeom>
          <a:solidFill>
            <a:srgbClr val="111D2E"/>
          </a:solidFill>
          <a:ln w="1016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F8CDF07-E3F0-0B7F-18CD-5209A39EF188}"/>
              </a:ext>
            </a:extLst>
          </p:cNvPr>
          <p:cNvSpPr/>
          <p:nvPr/>
        </p:nvSpPr>
        <p:spPr>
          <a:xfrm>
            <a:off x="6601339" y="2125736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B5149F6-E7EB-739A-2C66-4BD8F1617282}"/>
              </a:ext>
            </a:extLst>
          </p:cNvPr>
          <p:cNvSpPr/>
          <p:nvPr/>
        </p:nvSpPr>
        <p:spPr>
          <a:xfrm>
            <a:off x="6601339" y="2125736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Agent 分析完成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5B1B9A-7390-BFA4-8809-D5BAB3D88C5D}"/>
              </a:ext>
            </a:extLst>
          </p:cNvPr>
          <p:cNvSpPr/>
          <p:nvPr/>
        </p:nvSpPr>
        <p:spPr>
          <a:xfrm>
            <a:off x="9728632" y="2125736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结构化结果（指标+根因+建议）</a:t>
            </a:r>
            <a:endParaRPr lang="en-US" sz="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6A305AC-81C4-447C-F7E4-2EF6EB5260E9}"/>
              </a:ext>
            </a:extLst>
          </p:cNvPr>
          <p:cNvSpPr/>
          <p:nvPr/>
        </p:nvSpPr>
        <p:spPr>
          <a:xfrm>
            <a:off x="6601339" y="2437064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25CCC01-358F-D261-7BA1-636D417CB49E}"/>
              </a:ext>
            </a:extLst>
          </p:cNvPr>
          <p:cNvSpPr/>
          <p:nvPr/>
        </p:nvSpPr>
        <p:spPr>
          <a:xfrm>
            <a:off x="6601339" y="2773299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B2BC789-EEB8-8647-8D1B-EA6D4ED4BB27}"/>
              </a:ext>
            </a:extLst>
          </p:cNvPr>
          <p:cNvSpPr/>
          <p:nvPr/>
        </p:nvSpPr>
        <p:spPr>
          <a:xfrm>
            <a:off x="6601339" y="2773299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Report Agent 调 LLM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A82C9C-B541-4D93-6B36-838F765F107A}"/>
              </a:ext>
            </a:extLst>
          </p:cNvPr>
          <p:cNvSpPr/>
          <p:nvPr/>
        </p:nvSpPr>
        <p:spPr>
          <a:xfrm>
            <a:off x="9728632" y="2773299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 JSON（标题/图表/解读/建议）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4174A7A-AADC-938A-3FB5-C8CB3199896A}"/>
              </a:ext>
            </a:extLst>
          </p:cNvPr>
          <p:cNvSpPr/>
          <p:nvPr/>
        </p:nvSpPr>
        <p:spPr>
          <a:xfrm>
            <a:off x="6601339" y="3084627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A672065-A6C6-3DBD-C8E0-7D07D9136E0E}"/>
              </a:ext>
            </a:extLst>
          </p:cNvPr>
          <p:cNvSpPr/>
          <p:nvPr/>
        </p:nvSpPr>
        <p:spPr>
          <a:xfrm>
            <a:off x="6601339" y="3420862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D5F73DC-5701-1AD2-B645-69DCF858CA5E}"/>
              </a:ext>
            </a:extLst>
          </p:cNvPr>
          <p:cNvSpPr/>
          <p:nvPr/>
        </p:nvSpPr>
        <p:spPr>
          <a:xfrm>
            <a:off x="6601339" y="3420862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HTML 模板引擎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9C8A096-BB76-C629-CDE8-2E34BFB478BD}"/>
              </a:ext>
            </a:extLst>
          </p:cNvPr>
          <p:cNvSpPr/>
          <p:nvPr/>
        </p:nvSpPr>
        <p:spPr>
          <a:xfrm>
            <a:off x="9728632" y="3420862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填入预设模板（ECharts 渲染图表）</a:t>
            </a:r>
            <a:endParaRPr lang="en-US" sz="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13C982D-0FC7-1C25-E87E-8890BA8F56AA}"/>
              </a:ext>
            </a:extLst>
          </p:cNvPr>
          <p:cNvSpPr/>
          <p:nvPr/>
        </p:nvSpPr>
        <p:spPr>
          <a:xfrm>
            <a:off x="6601339" y="3732190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F74B229-8538-906F-736D-72E7FD8C3845}"/>
              </a:ext>
            </a:extLst>
          </p:cNvPr>
          <p:cNvSpPr/>
          <p:nvPr/>
        </p:nvSpPr>
        <p:spPr>
          <a:xfrm>
            <a:off x="6601339" y="4068425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2A1F0A"/>
          </a:solidFill>
          <a:ln w="889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E7FB440-7E8A-8FFB-549B-2D6C2209E9C0}"/>
              </a:ext>
            </a:extLst>
          </p:cNvPr>
          <p:cNvSpPr/>
          <p:nvPr/>
        </p:nvSpPr>
        <p:spPr>
          <a:xfrm>
            <a:off x="6601339" y="4068425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上传 S3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3CAC282-480E-E021-A6AD-819D6D5A2184}"/>
              </a:ext>
            </a:extLst>
          </p:cNvPr>
          <p:cNvSpPr/>
          <p:nvPr/>
        </p:nvSpPr>
        <p:spPr>
          <a:xfrm>
            <a:off x="9728632" y="4068425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Presigned URL（30 天有效）</a:t>
            </a:r>
            <a:endParaRPr lang="en-US" sz="8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573B42C-2B67-74A5-23D9-834EBEA93748}"/>
              </a:ext>
            </a:extLst>
          </p:cNvPr>
          <p:cNvSpPr/>
          <p:nvPr/>
        </p:nvSpPr>
        <p:spPr>
          <a:xfrm>
            <a:off x="6601339" y="4379753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B37E"/>
                </a:solidFill>
              </a:rPr>
              <a:t>↓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B40CC81-1EA8-7A5C-4779-31D531A80252}"/>
              </a:ext>
            </a:extLst>
          </p:cNvPr>
          <p:cNvSpPr/>
          <p:nvPr/>
        </p:nvSpPr>
        <p:spPr>
          <a:xfrm>
            <a:off x="6601339" y="4715988"/>
            <a:ext cx="3002202" cy="311328"/>
          </a:xfrm>
          <a:prstGeom prst="roundRect">
            <a:avLst>
              <a:gd name="adj" fmla="val 8000"/>
            </a:avLst>
          </a:prstGeom>
          <a:solidFill>
            <a:srgbClr val="0A2A1A"/>
          </a:solidFill>
          <a:ln w="889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794E64A-CE5F-531C-0AD2-F9A37C4C6D26}"/>
              </a:ext>
            </a:extLst>
          </p:cNvPr>
          <p:cNvSpPr/>
          <p:nvPr/>
        </p:nvSpPr>
        <p:spPr>
          <a:xfrm>
            <a:off x="6601339" y="4715988"/>
            <a:ext cx="3002202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返回给用户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2BFB86F-5C11-DE7D-501D-B7EF1F648251}"/>
              </a:ext>
            </a:extLst>
          </p:cNvPr>
          <p:cNvSpPr/>
          <p:nvPr/>
        </p:nvSpPr>
        <p:spPr>
          <a:xfrm>
            <a:off x="9728632" y="4715988"/>
            <a:ext cx="2126559" cy="31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Quick: HTML Artifact / IM: 卡片链接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AF99-8C5D-1350-E6D2-96C75E91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6CC3A-F32D-CBF2-B2BF-3D10EB69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智能编排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F311F2C-B48E-4E21-EEB8-EA5F1CEA7612}"/>
              </a:ext>
            </a:extLst>
          </p:cNvPr>
          <p:cNvGrpSpPr/>
          <p:nvPr/>
        </p:nvGrpSpPr>
        <p:grpSpPr>
          <a:xfrm>
            <a:off x="674028" y="1082221"/>
            <a:ext cx="10835366" cy="4995527"/>
            <a:chOff x="274320" y="868680"/>
            <a:chExt cx="8595360" cy="42062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2E4F4ADB-D37E-3A52-29E1-4A78FFD2E246}"/>
                </a:ext>
              </a:extLst>
            </p:cNvPr>
            <p:cNvSpPr/>
            <p:nvPr/>
          </p:nvSpPr>
          <p:spPr>
            <a:xfrm>
              <a:off x="274320" y="868680"/>
              <a:ext cx="4572000" cy="4023360"/>
            </a:xfrm>
            <a:prstGeom prst="roundRect">
              <a:avLst>
                <a:gd name="adj" fmla="val 1136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D5F18E5-D568-E445-0A86-3366C70F76E3}"/>
                </a:ext>
              </a:extLst>
            </p:cNvPr>
            <p:cNvSpPr/>
            <p:nvPr/>
          </p:nvSpPr>
          <p:spPr>
            <a:xfrm>
              <a:off x="457200" y="960120"/>
              <a:ext cx="4206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编排示例："支付成功率下降了"</a:t>
              </a:r>
              <a:endParaRPr lang="en-US" sz="14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F2D2EF6C-7E20-CA34-3553-E23C20D1BA39}"/>
                </a:ext>
              </a:extLst>
            </p:cNvPr>
            <p:cNvSpPr/>
            <p:nvPr/>
          </p:nvSpPr>
          <p:spPr>
            <a:xfrm>
              <a:off x="502920" y="132588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① Router Agent</a:t>
              </a:r>
              <a:endParaRPr lang="en-US" sz="105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830CCB0B-C8AA-2AF1-80BE-200EAC094B88}"/>
                </a:ext>
              </a:extLst>
            </p:cNvPr>
            <p:cNvSpPr/>
            <p:nvPr/>
          </p:nvSpPr>
          <p:spPr>
            <a:xfrm>
              <a:off x="2468880" y="132588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识别意图 → 故障排查</a:t>
              </a:r>
              <a:endParaRPr lang="en-US" sz="10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61CE6BB9-5A89-5C78-02D0-6298968B6CA7}"/>
                </a:ext>
              </a:extLst>
            </p:cNvPr>
            <p:cNvSpPr/>
            <p:nvPr/>
          </p:nvSpPr>
          <p:spPr>
            <a:xfrm>
              <a:off x="502920" y="181051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② Discovery Agent</a:t>
              </a:r>
              <a:endParaRPr lang="en-US" sz="105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AB066A47-86B3-7FB7-BE96-ED8C9C7F2072}"/>
                </a:ext>
              </a:extLst>
            </p:cNvPr>
            <p:cNvSpPr/>
            <p:nvPr/>
          </p:nvSpPr>
          <p:spPr>
            <a:xfrm>
              <a:off x="2468880" y="1810512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获取指标，确认异常</a:t>
              </a:r>
              <a:endParaRPr lang="en-US" sz="10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4881B9E-5F0E-2FA2-8B18-AC232A2AC161}"/>
                </a:ext>
              </a:extLst>
            </p:cNvPr>
            <p:cNvSpPr/>
            <p:nvPr/>
          </p:nvSpPr>
          <p:spPr>
            <a:xfrm>
              <a:off x="662940" y="2029966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· chat</a:t>
              </a:r>
              <a:endParaRPr lang="en-US" sz="9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7046326F-CB91-65D3-5AEA-65470F47F543}"/>
                </a:ext>
              </a:extLst>
            </p:cNvPr>
            <p:cNvSpPr/>
            <p:nvPr/>
          </p:nvSpPr>
          <p:spPr>
            <a:xfrm>
              <a:off x="502920" y="2295144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③ Knowledge Agent</a:t>
              </a:r>
              <a:endParaRPr lang="en-US" sz="105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69115390-C05D-751E-F8E2-601CA66CCADC}"/>
                </a:ext>
              </a:extLst>
            </p:cNvPr>
            <p:cNvSpPr/>
            <p:nvPr/>
          </p:nvSpPr>
          <p:spPr>
            <a:xfrm>
              <a:off x="2468880" y="2295144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检索历史相似案例</a:t>
              </a:r>
              <a:endParaRPr lang="en-US" sz="10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1C478D24-FDF4-1C8A-1295-B7B2D3C5AB5B}"/>
                </a:ext>
              </a:extLst>
            </p:cNvPr>
            <p:cNvSpPr/>
            <p:nvPr/>
          </p:nvSpPr>
          <p:spPr>
            <a:xfrm>
              <a:off x="662940" y="2532887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Bedrock KB</a:t>
              </a:r>
              <a:endParaRPr lang="en-US" sz="9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7D5ADDA4-CB41-FF61-64BC-C5D96E70FBD8}"/>
                </a:ext>
              </a:extLst>
            </p:cNvPr>
            <p:cNvSpPr/>
            <p:nvPr/>
          </p:nvSpPr>
          <p:spPr>
            <a:xfrm>
              <a:off x="502920" y="2779776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④ Analysis Agent</a:t>
              </a:r>
              <a:endParaRPr lang="en-US" sz="105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7A55AC1B-FBBC-D8F3-843D-AC5224B8E1DC}"/>
                </a:ext>
              </a:extLst>
            </p:cNvPr>
            <p:cNvSpPr/>
            <p:nvPr/>
          </p:nvSpPr>
          <p:spPr>
            <a:xfrm>
              <a:off x="2468880" y="2779776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分析根因（只读）</a:t>
              </a:r>
              <a:endParaRPr lang="en-US" sz="10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DD779662-7C2B-AA4D-85A5-4507F3910FDB}"/>
                </a:ext>
              </a:extLst>
            </p:cNvPr>
            <p:cNvSpPr/>
            <p:nvPr/>
          </p:nvSpPr>
          <p:spPr>
            <a:xfrm>
              <a:off x="640080" y="3017519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· investigation</a:t>
              </a:r>
              <a:endParaRPr lang="en-US" sz="9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786BB06-B9C1-BFDB-BA08-D3388DF18100}"/>
                </a:ext>
              </a:extLst>
            </p:cNvPr>
            <p:cNvSpPr/>
            <p:nvPr/>
          </p:nvSpPr>
          <p:spPr>
            <a:xfrm>
              <a:off x="502920" y="3264408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⑤ Report Agent</a:t>
              </a:r>
              <a:endParaRPr lang="en-US" sz="105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4B23D403-9DF4-8C34-CB88-9C4D2DF02ECD}"/>
                </a:ext>
              </a:extLst>
            </p:cNvPr>
            <p:cNvSpPr/>
            <p:nvPr/>
          </p:nvSpPr>
          <p:spPr>
            <a:xfrm>
              <a:off x="2468880" y="3264408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生成 HTML 分析页 + 语音播报</a:t>
              </a:r>
              <a:endParaRPr lang="en-US" sz="10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485128FC-7306-12E9-DA2B-59C77FD46FAE}"/>
                </a:ext>
              </a:extLst>
            </p:cNvPr>
            <p:cNvSpPr/>
            <p:nvPr/>
          </p:nvSpPr>
          <p:spPr>
            <a:xfrm>
              <a:off x="640080" y="3520440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S3 + SNS</a:t>
              </a:r>
              <a:endParaRPr lang="en-US" sz="9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C93312B4-4DF3-D643-E8E1-18B4C9B1AF27}"/>
                </a:ext>
              </a:extLst>
            </p:cNvPr>
            <p:cNvSpPr/>
            <p:nvPr/>
          </p:nvSpPr>
          <p:spPr>
            <a:xfrm>
              <a:off x="502920" y="37490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⑥ Execution Agent</a:t>
              </a:r>
              <a:endParaRPr lang="en-US" sz="105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58D69119-AC83-BF0E-34DA-15FE6BC22956}"/>
                </a:ext>
              </a:extLst>
            </p:cNvPr>
            <p:cNvSpPr/>
            <p:nvPr/>
          </p:nvSpPr>
          <p:spPr>
            <a:xfrm>
              <a:off x="2468880" y="374904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用户确认后执行修复</a:t>
              </a:r>
              <a:endParaRPr lang="en-US" sz="10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5CC22857-6EA1-7485-4645-3679C7E55C0D}"/>
                </a:ext>
              </a:extLst>
            </p:cNvPr>
            <p:cNvSpPr/>
            <p:nvPr/>
          </p:nvSpPr>
          <p:spPr>
            <a:xfrm>
              <a:off x="640080" y="3986784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Lambda + Confirm Token</a:t>
              </a:r>
              <a:endParaRPr lang="en-US" sz="9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2351C5C4-A630-2285-1702-AF522864432B}"/>
                </a:ext>
              </a:extLst>
            </p:cNvPr>
            <p:cNvSpPr/>
            <p:nvPr/>
          </p:nvSpPr>
          <p:spPr>
            <a:xfrm>
              <a:off x="502920" y="423367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⑦ Knowledge Agent</a:t>
              </a:r>
              <a:endParaRPr lang="en-US" sz="105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09C902FB-19D1-EDBD-2425-8AE7142AB6C7}"/>
                </a:ext>
              </a:extLst>
            </p:cNvPr>
            <p:cNvSpPr/>
            <p:nvPr/>
          </p:nvSpPr>
          <p:spPr>
            <a:xfrm>
              <a:off x="2468880" y="4233672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沉淀事件报告到 KB</a:t>
              </a:r>
              <a:endParaRPr lang="en-US" sz="10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BB467E2A-C136-3440-25FC-4E5D12AFB845}"/>
                </a:ext>
              </a:extLst>
            </p:cNvPr>
            <p:cNvSpPr/>
            <p:nvPr/>
          </p:nvSpPr>
          <p:spPr>
            <a:xfrm>
              <a:off x="685801" y="446706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Bedrock KB</a:t>
              </a:r>
              <a:endParaRPr lang="en-US" sz="900" dirty="0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D7540522-F380-3A7E-A9AB-BF962029AD9F}"/>
                </a:ext>
              </a:extLst>
            </p:cNvPr>
            <p:cNvSpPr/>
            <p:nvPr/>
          </p:nvSpPr>
          <p:spPr>
            <a:xfrm>
              <a:off x="640080" y="1600200"/>
              <a:ext cx="0" cy="301752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prstDash val="dash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98636B6C-7724-73A2-C693-81DD2954DA93}"/>
                </a:ext>
              </a:extLst>
            </p:cNvPr>
            <p:cNvSpPr/>
            <p:nvPr/>
          </p:nvSpPr>
          <p:spPr>
            <a:xfrm>
              <a:off x="5029200" y="868680"/>
              <a:ext cx="3840480" cy="4023360"/>
            </a:xfrm>
            <a:prstGeom prst="roundRect">
              <a:avLst>
                <a:gd name="adj" fmla="val 1190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F7CF5645-AE54-DF04-6075-6A8B05FDF0DE}"/>
                </a:ext>
              </a:extLst>
            </p:cNvPr>
            <p:cNvSpPr/>
            <p:nvPr/>
          </p:nvSpPr>
          <p:spPr>
            <a:xfrm>
              <a:off x="5212080" y="96012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编排机制</a:t>
              </a:r>
              <a:endParaRPr lang="en-US" sz="1400" dirty="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162B5869-7442-2638-C206-D45309B38BB3}"/>
                </a:ext>
              </a:extLst>
            </p:cNvPr>
            <p:cNvSpPr/>
            <p:nvPr/>
          </p:nvSpPr>
          <p:spPr>
            <a:xfrm>
              <a:off x="5212080" y="132588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ECB1E109-784B-5527-0B82-1F60D6982468}"/>
                </a:ext>
              </a:extLst>
            </p:cNvPr>
            <p:cNvSpPr/>
            <p:nvPr/>
          </p:nvSpPr>
          <p:spPr>
            <a:xfrm>
              <a:off x="5349240" y="137160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Tool-as-Agent (Strands SDK)</a:t>
              </a:r>
              <a:endParaRPr lang="en-US" sz="105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79CC71BC-2962-30CE-4D51-B15351B55B00}"/>
                </a:ext>
              </a:extLst>
            </p:cNvPr>
            <p:cNvSpPr/>
            <p:nvPr/>
          </p:nvSpPr>
          <p:spPr>
            <a:xfrm>
              <a:off x="5349240" y="160020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Orchestrator Lambda 内 Strands SDK 编排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5 个逻辑 Agent 作为 Tool 互相可调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例: Analysis → Knowledge → DevOps Agent Skills</a:t>
              </a:r>
              <a:endParaRPr lang="en-US" sz="1000" dirty="0"/>
            </a:p>
          </p:txBody>
        </p:sp>
        <p:sp>
          <p:nvSpPr>
            <p:cNvPr id="32" name="Shape 31">
              <a:extLst>
                <a:ext uri="{FF2B5EF4-FFF2-40B4-BE49-F238E27FC236}">
                  <a16:creationId xmlns:a16="http://schemas.microsoft.com/office/drawing/2014/main" id="{D574688B-185A-2508-DB75-A68F4F1C0462}"/>
                </a:ext>
              </a:extLst>
            </p:cNvPr>
            <p:cNvSpPr/>
            <p:nvPr/>
          </p:nvSpPr>
          <p:spPr>
            <a:xfrm>
              <a:off x="5212080" y="228600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48CF2121-74C5-8B7D-F659-26AF5B2EF537}"/>
                </a:ext>
              </a:extLst>
            </p:cNvPr>
            <p:cNvSpPr/>
            <p:nvPr/>
          </p:nvSpPr>
          <p:spPr>
            <a:xfrm>
              <a:off x="5349240" y="233172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护栏 + IAM 物理隔离</a:t>
              </a:r>
              <a:endParaRPr lang="en-US" sz="1050" dirty="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12CE6B6F-49EF-AC61-6CF6-66F7E4F344BE}"/>
                </a:ext>
              </a:extLst>
            </p:cNvPr>
            <p:cNvSpPr/>
            <p:nvPr/>
          </p:nvSpPr>
          <p:spPr>
            <a:xfrm>
              <a:off x="5349240" y="256032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Orchestrator Lambda: 只读（无写权限）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Lambda: 独立 IAM + Confirm Token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Guard + IAM 双重护栏；越权操作拦截+审计</a:t>
              </a:r>
              <a:endParaRPr lang="en-US" sz="1000" dirty="0"/>
            </a:p>
          </p:txBody>
        </p:sp>
        <p:sp>
          <p:nvSpPr>
            <p:cNvPr id="35" name="Shape 34">
              <a:extLst>
                <a:ext uri="{FF2B5EF4-FFF2-40B4-BE49-F238E27FC236}">
                  <a16:creationId xmlns:a16="http://schemas.microsoft.com/office/drawing/2014/main" id="{C5FC11FE-2F03-C11F-91CE-202FE315990C}"/>
                </a:ext>
              </a:extLst>
            </p:cNvPr>
            <p:cNvSpPr/>
            <p:nvPr/>
          </p:nvSpPr>
          <p:spPr>
            <a:xfrm>
              <a:off x="5212080" y="3246120"/>
              <a:ext cx="3474720" cy="822960"/>
            </a:xfrm>
            <a:prstGeom prst="roundRect">
              <a:avLst>
                <a:gd name="adj" fmla="val 3333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EA538244-3826-2637-30BF-E4677B71F684}"/>
                </a:ext>
              </a:extLst>
            </p:cNvPr>
            <p:cNvSpPr/>
            <p:nvPr/>
          </p:nvSpPr>
          <p:spPr>
            <a:xfrm>
              <a:off x="5349240" y="329184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引擎</a:t>
              </a:r>
              <a:endParaRPr lang="en-US" sz="1050" dirty="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D0C54300-2B82-EC7C-3697-625992958FE2}"/>
                </a:ext>
              </a:extLst>
            </p:cNvPr>
            <p:cNvSpPr/>
            <p:nvPr/>
          </p:nvSpPr>
          <p:spPr>
            <a:xfrm>
              <a:off x="5349240" y="3520440"/>
              <a:ext cx="3200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 (GA 2026-03-31)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94% 根因准确率 · 75% MTTR 下降</a:t>
              </a:r>
              <a:endParaRPr lang="en-US" sz="100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本方案直接调用，不重复造轮子</a:t>
              </a:r>
              <a:endParaRPr lang="en-US" sz="1000" dirty="0"/>
            </a:p>
          </p:txBody>
        </p:sp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EC5443B8-987A-43DA-A294-B02EAD15F2E3}"/>
                </a:ext>
              </a:extLst>
            </p:cNvPr>
            <p:cNvSpPr/>
            <p:nvPr/>
          </p:nvSpPr>
          <p:spPr>
            <a:xfrm>
              <a:off x="5212080" y="4206240"/>
              <a:ext cx="3474720" cy="594360"/>
            </a:xfrm>
            <a:prstGeom prst="roundRect">
              <a:avLst>
                <a:gd name="adj" fmla="val 4615"/>
              </a:avLst>
            </a:prstGeom>
            <a:solidFill>
              <a:srgbClr val="0F1624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Text 38">
              <a:extLst>
                <a:ext uri="{FF2B5EF4-FFF2-40B4-BE49-F238E27FC236}">
                  <a16:creationId xmlns:a16="http://schemas.microsoft.com/office/drawing/2014/main" id="{8EC82046-8ACA-5ECD-E003-0D3CCFF5AF12}"/>
                </a:ext>
              </a:extLst>
            </p:cNvPr>
            <p:cNvSpPr/>
            <p:nvPr/>
          </p:nvSpPr>
          <p:spPr>
            <a:xfrm>
              <a:off x="5349240" y="425196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为什么 6 逻辑 Agent / 4 物理 Lambda？</a:t>
              </a:r>
              <a:endParaRPr lang="en-US" sz="1050" dirty="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3F8AB60C-D971-1523-3D64-5606C310209D}"/>
                </a:ext>
              </a:extLst>
            </p:cNvPr>
            <p:cNvSpPr/>
            <p:nvPr/>
          </p:nvSpPr>
          <p:spPr>
            <a:xfrm>
              <a:off x="5349240" y="4453128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6 逻辑 Agent 在 Orchestrator Lambda 内 Strands SDK 编排，仅 Execution 因写权限独立 Lambda；DevOps Agent 作为 Discovery / Analysis / Knowledge 引擎</a:t>
              </a:r>
              <a:endParaRPr lang="en-US" sz="9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90F65E8A-C94D-DE9A-8B13-2D4172D780F9}"/>
                </a:ext>
              </a:extLst>
            </p:cNvPr>
            <p:cNvSpPr/>
            <p:nvPr/>
          </p:nvSpPr>
          <p:spPr>
            <a:xfrm>
              <a:off x="274320" y="4846320"/>
              <a:ext cx="777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A6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涉及服务：Strands SDK (编排) · AWS DevOps Agent (Discovery+Analysis+Skills) · Execution Lambda (写隔离) · Bedrock KB (双写) · S3+SNS (报告)</a:t>
              </a:r>
              <a:endParaRPr lang="en-US" sz="1100" dirty="0"/>
            </a:p>
          </p:txBody>
        </p:sp>
      </p:grpSp>
      <p:sp>
        <p:nvSpPr>
          <p:cNvPr id="42" name="Text 2">
            <a:extLst>
              <a:ext uri="{FF2B5EF4-FFF2-40B4-BE49-F238E27FC236}">
                <a16:creationId xmlns:a16="http://schemas.microsoft.com/office/drawing/2014/main" id="{84D909FC-2C8C-91D1-589A-06DC19FD34C8}"/>
              </a:ext>
            </a:extLst>
          </p:cNvPr>
          <p:cNvSpPr/>
          <p:nvPr/>
        </p:nvSpPr>
        <p:spPr>
          <a:xfrm>
            <a:off x="674028" y="77673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逻辑 Agent · Strands SDK · DevOps Agent 引擎 · Confirm Token 护栏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9252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84E1-19D3-4644-9C73-639639EE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B296C-64C8-5644-959E-5DE53687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57B9055-1B42-113D-0502-80A4124C2971}"/>
              </a:ext>
            </a:extLst>
          </p:cNvPr>
          <p:cNvGrpSpPr/>
          <p:nvPr/>
        </p:nvGrpSpPr>
        <p:grpSpPr>
          <a:xfrm>
            <a:off x="444058" y="787644"/>
            <a:ext cx="11322681" cy="5355810"/>
            <a:chOff x="274320" y="502920"/>
            <a:chExt cx="8595360" cy="4297680"/>
          </a:xfrm>
        </p:grpSpPr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8D0938A6-15A6-6F18-EA61-87611EF651DC}"/>
                </a:ext>
              </a:extLst>
            </p:cNvPr>
            <p:cNvSpPr/>
            <p:nvPr/>
          </p:nvSpPr>
          <p:spPr>
            <a:xfrm>
              <a:off x="365760" y="502920"/>
              <a:ext cx="6400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Knowledge Tool — 沉淀到 DevOps Agent Skills + Bedrock KB 双写 · 越用越聪明</a:t>
              </a:r>
              <a:endParaRPr lang="en-US" sz="1400" dirty="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DA1FE3F-0D41-E20E-8CCC-DC4AA3817A19}"/>
                </a:ext>
              </a:extLst>
            </p:cNvPr>
            <p:cNvSpPr/>
            <p:nvPr/>
          </p:nvSpPr>
          <p:spPr>
            <a:xfrm>
              <a:off x="274320" y="868680"/>
              <a:ext cx="4480560" cy="3378315"/>
            </a:xfrm>
            <a:prstGeom prst="roundRect">
              <a:avLst>
                <a:gd name="adj" fmla="val 156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3C46CCF-F7BC-091F-9060-0E2B5215A25E}"/>
                </a:ext>
              </a:extLst>
            </p:cNvPr>
            <p:cNvSpPr/>
            <p:nvPr/>
          </p:nvSpPr>
          <p:spPr>
            <a:xfrm>
              <a:off x="457200" y="96012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沉淀流程</a:t>
              </a:r>
              <a:endParaRPr lang="en-US" sz="20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CB4DBA8-837E-9410-E1E7-E594B3237F3A}"/>
                </a:ext>
              </a:extLst>
            </p:cNvPr>
            <p:cNvSpPr/>
            <p:nvPr/>
          </p:nvSpPr>
          <p:spPr>
            <a:xfrm>
              <a:off x="502920" y="128016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① 故障处理完成</a:t>
              </a:r>
              <a:endParaRPr lang="en-US" sz="14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8EA8B749-49EC-956B-C89A-8B391E4C8D00}"/>
                </a:ext>
              </a:extLst>
            </p:cNvPr>
            <p:cNvSpPr/>
            <p:nvPr/>
          </p:nvSpPr>
          <p:spPr>
            <a:xfrm>
              <a:off x="3200400" y="128016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Execution Agent</a:t>
              </a:r>
              <a:endParaRPr lang="en-US" sz="11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C79EA60-43EF-04FF-3A2B-CE2D148CE350}"/>
                </a:ext>
              </a:extLst>
            </p:cNvPr>
            <p:cNvSpPr/>
            <p:nvPr/>
          </p:nvSpPr>
          <p:spPr>
            <a:xfrm>
              <a:off x="685800" y="1508760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A6BF38FF-C500-40F7-3879-6D8DC9C50CD2}"/>
                </a:ext>
              </a:extLst>
            </p:cNvPr>
            <p:cNvSpPr/>
            <p:nvPr/>
          </p:nvSpPr>
          <p:spPr>
            <a:xfrm>
              <a:off x="502920" y="1755648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② 生成结构化事件报告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1DBDA26-51CB-6136-8BBD-F55FE4456737}"/>
                </a:ext>
              </a:extLst>
            </p:cNvPr>
            <p:cNvSpPr/>
            <p:nvPr/>
          </p:nvSpPr>
          <p:spPr>
            <a:xfrm>
              <a:off x="3200400" y="1755648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Knowledge Tool + Bedrock LLM</a:t>
              </a:r>
              <a:endParaRPr lang="en-US" sz="11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87DDD78-174E-5B6F-2502-85D4FB657F93}"/>
                </a:ext>
              </a:extLst>
            </p:cNvPr>
            <p:cNvSpPr/>
            <p:nvPr/>
          </p:nvSpPr>
          <p:spPr>
            <a:xfrm>
              <a:off x="685800" y="1984248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CBC9A62-59E7-4B81-FB41-9A780C4F5A8C}"/>
                </a:ext>
              </a:extLst>
            </p:cNvPr>
            <p:cNvSpPr/>
            <p:nvPr/>
          </p:nvSpPr>
          <p:spPr>
            <a:xfrm>
              <a:off x="502920" y="2231136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③ 注册为 DevOps Agent Custom Skill + 双写 Bedrock KB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4A94D685-16F5-3326-D131-C07B84C6963C}"/>
                </a:ext>
              </a:extLst>
            </p:cNvPr>
            <p:cNvSpPr/>
            <p:nvPr/>
          </p:nvSpPr>
          <p:spPr>
            <a:xfrm>
              <a:off x="3200400" y="2231136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KB</a:t>
              </a:r>
              <a:endParaRPr lang="en-US" sz="11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C2DBDDC-3DED-09C3-F13F-80DC7E0D8212}"/>
                </a:ext>
              </a:extLst>
            </p:cNvPr>
            <p:cNvSpPr/>
            <p:nvPr/>
          </p:nvSpPr>
          <p:spPr>
            <a:xfrm>
              <a:off x="685800" y="2459736"/>
              <a:ext cx="274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9900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63CBC055-F350-CD26-123F-C5C9A86A2BFC}"/>
                </a:ext>
              </a:extLst>
            </p:cNvPr>
            <p:cNvSpPr/>
            <p:nvPr/>
          </p:nvSpPr>
          <p:spPr>
            <a:xfrm>
              <a:off x="502920" y="2706624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④ 下次语义检索匹配</a:t>
              </a:r>
              <a:endParaRPr lang="en-US" sz="1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21BB6ECD-62A3-12BC-40A9-61BDD4F5E707}"/>
                </a:ext>
              </a:extLst>
            </p:cNvPr>
            <p:cNvSpPr/>
            <p:nvPr/>
          </p:nvSpPr>
          <p:spPr>
            <a:xfrm>
              <a:off x="3200400" y="2706624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Top-K 相似案例</a:t>
              </a:r>
              <a:endParaRPr lang="en-US" sz="11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6C9258B5-BB9E-B340-2D83-5B3B72EC8738}"/>
                </a:ext>
              </a:extLst>
            </p:cNvPr>
            <p:cNvSpPr/>
            <p:nvPr/>
          </p:nvSpPr>
          <p:spPr>
            <a:xfrm>
              <a:off x="457200" y="324612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事件报告字段</a:t>
              </a:r>
              <a:endParaRPr lang="en-US" sz="14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1F21F04-EC90-82A3-A871-236F70839638}"/>
                </a:ext>
              </a:extLst>
            </p:cNvPr>
            <p:cNvSpPr/>
            <p:nvPr/>
          </p:nvSpPr>
          <p:spPr>
            <a:xfrm>
              <a:off x="5029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时间线</a:t>
              </a:r>
              <a:endParaRPr lang="en-US" sz="12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96019A43-524C-38D0-229F-A5D4EB7F7BE3}"/>
                </a:ext>
              </a:extLst>
            </p:cNvPr>
            <p:cNvSpPr/>
            <p:nvPr/>
          </p:nvSpPr>
          <p:spPr>
            <a:xfrm>
              <a:off x="18745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</a:t>
              </a:r>
              <a:endParaRPr lang="en-US" sz="12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B07D172-5CAB-456F-7F3A-1F7CEEE37D21}"/>
                </a:ext>
              </a:extLst>
            </p:cNvPr>
            <p:cNvSpPr/>
            <p:nvPr/>
          </p:nvSpPr>
          <p:spPr>
            <a:xfrm>
              <a:off x="3246120" y="3520440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影响范围</a:t>
              </a:r>
              <a:endParaRPr lang="en-US" sz="12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23313F2E-AFBA-591E-309F-A258A06A4D9E}"/>
                </a:ext>
              </a:extLst>
            </p:cNvPr>
            <p:cNvSpPr/>
            <p:nvPr/>
          </p:nvSpPr>
          <p:spPr>
            <a:xfrm>
              <a:off x="5029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修复步骤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A6D4D5C2-D9B7-C15B-6955-2418A3DA78C4}"/>
                </a:ext>
              </a:extLst>
            </p:cNvPr>
            <p:cNvSpPr/>
            <p:nvPr/>
          </p:nvSpPr>
          <p:spPr>
            <a:xfrm>
              <a:off x="18745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验证结果</a:t>
              </a:r>
              <a:endParaRPr lang="en-US" sz="12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8901CCE-6EC7-C29F-4B92-CA97DCDC9508}"/>
                </a:ext>
              </a:extLst>
            </p:cNvPr>
            <p:cNvSpPr/>
            <p:nvPr/>
          </p:nvSpPr>
          <p:spPr>
            <a:xfrm>
              <a:off x="3246120" y="3813048"/>
              <a:ext cx="1280160" cy="228600"/>
            </a:xfrm>
            <a:prstGeom prst="roundRect">
              <a:avLst>
                <a:gd name="adj" fmla="val 8000"/>
              </a:avLst>
            </a:prstGeom>
            <a:solidFill>
              <a:srgbClr val="0F1624"/>
            </a:solidFill>
            <a:ln w="635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证据链</a:t>
              </a:r>
              <a:endParaRPr lang="en-US" sz="1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94A1DA6B-AFA9-A884-CDC3-2FE0F2CD9A32}"/>
                </a:ext>
              </a:extLst>
            </p:cNvPr>
            <p:cNvSpPr/>
            <p:nvPr/>
          </p:nvSpPr>
          <p:spPr>
            <a:xfrm>
              <a:off x="365760" y="4326067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A7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Skills 立即生效；KB 双写做兼容；1 年后转 Glacier</a:t>
              </a:r>
              <a:endParaRPr lang="en-US" sz="11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3FDEF933-5674-9EA6-E906-E76EA6330050}"/>
                </a:ext>
              </a:extLst>
            </p:cNvPr>
            <p:cNvSpPr/>
            <p:nvPr/>
          </p:nvSpPr>
          <p:spPr>
            <a:xfrm>
              <a:off x="4937760" y="868680"/>
              <a:ext cx="3931920" cy="2011680"/>
            </a:xfrm>
            <a:prstGeom prst="roundRect">
              <a:avLst>
                <a:gd name="adj" fmla="val 227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8CA83D0E-FCF0-BEF6-8859-61F1C447B6E5}"/>
                </a:ext>
              </a:extLst>
            </p:cNvPr>
            <p:cNvSpPr/>
            <p:nvPr/>
          </p:nvSpPr>
          <p:spPr>
            <a:xfrm>
              <a:off x="5120640" y="960120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自动匹配</a:t>
              </a:r>
              <a:endParaRPr lang="en-US" sz="200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E33E6932-9AB3-2D1B-B739-61D468302DA8}"/>
                </a:ext>
              </a:extLst>
            </p:cNvPr>
            <p:cNvSpPr/>
            <p:nvPr/>
          </p:nvSpPr>
          <p:spPr>
            <a:xfrm>
              <a:off x="5120640" y="1261872"/>
              <a:ext cx="3566160" cy="411480"/>
            </a:xfrm>
            <a:prstGeom prst="roundRect">
              <a:avLst>
                <a:gd name="adj" fmla="val 6667"/>
              </a:avLst>
            </a:prstGeom>
            <a:solidFill>
              <a:srgbClr val="1A1A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8A461B96-9253-BD5D-2766-A4792A4F6F60}"/>
                </a:ext>
              </a:extLst>
            </p:cNvPr>
            <p:cNvSpPr/>
            <p:nvPr/>
          </p:nvSpPr>
          <p:spPr>
            <a:xfrm>
              <a:off x="5212080" y="1280160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"与3月12日事件相似度92%，当时切换备用通道解决，是否执行？"</a:t>
              </a:r>
              <a:endParaRPr lang="en-US" sz="12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F79B689-3EBC-C6E7-30DF-9C7B3B888DD0}"/>
                </a:ext>
              </a:extLst>
            </p:cNvPr>
            <p:cNvSpPr/>
            <p:nvPr/>
          </p:nvSpPr>
          <p:spPr>
            <a:xfrm>
              <a:off x="5120640" y="1755648"/>
              <a:ext cx="3566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&gt; 85%  → 推荐历史方案，一键复用</a:t>
              </a:r>
              <a:endParaRPr lang="en-US" sz="1200" dirty="0"/>
            </a:p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60~85% → 辅助参考，仍需分析</a:t>
              </a:r>
              <a:endParaRPr lang="en-US" sz="1200" dirty="0"/>
            </a:p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score &lt; 60%  → 正常分析流程，完成后自动沉淀</a:t>
              </a:r>
              <a:endParaRPr lang="en-US" sz="1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62D108B-3086-9875-6614-B85959473B1D}"/>
                </a:ext>
              </a:extLst>
            </p:cNvPr>
            <p:cNvSpPr/>
            <p:nvPr/>
          </p:nvSpPr>
          <p:spPr>
            <a:xfrm>
              <a:off x="5120640" y="2468880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匹配失败 → 正常分析 → 处理完自动入库（永不白跑）</a:t>
              </a:r>
              <a:endParaRPr lang="en-US" sz="11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554A1A65-184E-B703-C97F-026F2CBECA58}"/>
                </a:ext>
              </a:extLst>
            </p:cNvPr>
            <p:cNvSpPr/>
            <p:nvPr/>
          </p:nvSpPr>
          <p:spPr>
            <a:xfrm>
              <a:off x="4937760" y="3017520"/>
              <a:ext cx="3931920" cy="1783080"/>
            </a:xfrm>
            <a:prstGeom prst="roundRect">
              <a:avLst>
                <a:gd name="adj" fmla="val 2564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4AEA4E42-FE61-2E70-22E1-2FCEE463616D}"/>
                </a:ext>
              </a:extLst>
            </p:cNvPr>
            <p:cNvSpPr/>
            <p:nvPr/>
          </p:nvSpPr>
          <p:spPr>
            <a:xfrm>
              <a:off x="5120640" y="3108960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成长曲线</a:t>
              </a:r>
              <a:endParaRPr lang="en-US" sz="20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8466D911-08C2-82F8-7560-68C47E938B26}"/>
                </a:ext>
              </a:extLst>
            </p:cNvPr>
            <p:cNvSpPr/>
            <p:nvPr/>
          </p:nvSpPr>
          <p:spPr>
            <a:xfrm>
              <a:off x="5166360" y="3429000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冷启动</a:t>
              </a:r>
              <a:endParaRPr lang="en-US" sz="120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08FAA29C-F30C-3243-DF50-983BF55CEC91}"/>
                </a:ext>
              </a:extLst>
            </p:cNvPr>
            <p:cNvSpPr/>
            <p:nvPr/>
          </p:nvSpPr>
          <p:spPr>
            <a:xfrm>
              <a:off x="5943600" y="342900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预置 50+ Custom Skills (DevOps Agent)</a:t>
              </a:r>
              <a:endParaRPr lang="en-US" sz="120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D63D5802-8C64-94B0-8182-FB675E26C0EB}"/>
                </a:ext>
              </a:extLst>
            </p:cNvPr>
            <p:cNvSpPr/>
            <p:nvPr/>
          </p:nvSpPr>
          <p:spPr>
            <a:xfrm>
              <a:off x="5166360" y="3813048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0A2A1A"/>
            </a:solidFill>
            <a:ln w="6350">
              <a:solidFill>
                <a:srgbClr val="36B37E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使用中</a:t>
              </a:r>
              <a:endParaRPr lang="en-US" sz="1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2DACBBA3-0544-84C4-1B6B-8E13FB6E9C7B}"/>
                </a:ext>
              </a:extLst>
            </p:cNvPr>
            <p:cNvSpPr/>
            <p:nvPr/>
          </p:nvSpPr>
          <p:spPr>
            <a:xfrm>
              <a:off x="5943600" y="3813048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团队处理经验持续积累</a:t>
              </a:r>
              <a:endParaRPr lang="en-US" sz="12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EAE8D147-FE59-BF15-0F80-811A25EEF1A7}"/>
                </a:ext>
              </a:extLst>
            </p:cNvPr>
            <p:cNvSpPr/>
            <p:nvPr/>
          </p:nvSpPr>
          <p:spPr>
            <a:xfrm>
              <a:off x="5166360" y="4197096"/>
              <a:ext cx="640080" cy="274320"/>
            </a:xfrm>
            <a:prstGeom prst="roundRect">
              <a:avLst>
                <a:gd name="adj" fmla="val 6667"/>
              </a:avLst>
            </a:prstGeom>
            <a:solidFill>
              <a:srgbClr val="0A1A2A"/>
            </a:solidFill>
            <a:ln w="6350">
              <a:solidFill>
                <a:srgbClr val="4D9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成熟期</a:t>
              </a:r>
              <a:endParaRPr lang="en-US" sz="12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C2674FF0-C8C8-11D4-35FF-E7AC3C46D1C5}"/>
                </a:ext>
              </a:extLst>
            </p:cNvPr>
            <p:cNvSpPr/>
            <p:nvPr/>
          </p:nvSpPr>
          <p:spPr>
            <a:xfrm>
              <a:off x="5943600" y="4197096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80%+ 常见问题秒级匹配</a:t>
              </a:r>
              <a:endParaRPr lang="en-US" sz="120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938A8E31-C832-2AEC-EAD2-439AE0E1E4C7}"/>
                </a:ext>
              </a:extLst>
            </p:cNvPr>
            <p:cNvSpPr/>
            <p:nvPr/>
          </p:nvSpPr>
          <p:spPr>
            <a:xfrm>
              <a:off x="5120640" y="4572000"/>
              <a:ext cx="3566160" cy="182880"/>
            </a:xfrm>
            <a:prstGeom prst="roundRect">
              <a:avLst>
                <a:gd name="adj" fmla="val 10000"/>
              </a:avLst>
            </a:prstGeom>
            <a:solidFill>
              <a:srgbClr val="0F1624"/>
            </a:solidFill>
            <a:ln w="63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1A5BC3ED-4264-58C8-517C-0ADC002D443F}"/>
                </a:ext>
              </a:extLst>
            </p:cNvPr>
            <p:cNvSpPr/>
            <p:nvPr/>
          </p:nvSpPr>
          <p:spPr>
            <a:xfrm>
              <a:off x="5166360" y="4572000"/>
              <a:ext cx="34747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效果：故障平均处理时间 30min → 2min（匹配成功时）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7716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3A78-DD31-FA6C-B04B-0ADCB171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9D7C7-9D46-B1BE-9057-E2B3428E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966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方案验证：技术实现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3DB6A9-9DF4-AC32-CB22-90F3CB00824B}"/>
              </a:ext>
            </a:extLst>
          </p:cNvPr>
          <p:cNvSpPr/>
          <p:nvPr/>
        </p:nvSpPr>
        <p:spPr>
          <a:xfrm>
            <a:off x="537141" y="870866"/>
            <a:ext cx="5518537" cy="4963998"/>
          </a:xfrm>
          <a:prstGeom prst="roundRect">
            <a:avLst>
              <a:gd name="adj" fmla="val 1099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FADA6-93BE-D486-C4D6-672CD4AC691A}"/>
              </a:ext>
            </a:extLst>
          </p:cNvPr>
          <p:cNvSpPr/>
          <p:nvPr/>
        </p:nvSpPr>
        <p:spPr>
          <a:xfrm>
            <a:off x="790542" y="1083609"/>
            <a:ext cx="5068045" cy="327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实现概况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C44625-73A0-503F-48F4-1940FE47FE12}"/>
              </a:ext>
            </a:extLst>
          </p:cNvPr>
          <p:cNvSpPr/>
          <p:nvPr/>
        </p:nvSpPr>
        <p:spPr>
          <a:xfrm>
            <a:off x="818699" y="1383631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框架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3CC783-C0AB-289E-334D-AC1C38A17990}"/>
              </a:ext>
            </a:extLst>
          </p:cNvPr>
          <p:cNvSpPr/>
          <p:nvPr/>
        </p:nvSpPr>
        <p:spPr>
          <a:xfrm>
            <a:off x="2226489" y="1383631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 + AWS DevOps Agent (引擎)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26C0D2-D531-F7C9-FEDF-97BAF04A9CE3}"/>
              </a:ext>
            </a:extLst>
          </p:cNvPr>
          <p:cNvSpPr/>
          <p:nvPr/>
        </p:nvSpPr>
        <p:spPr>
          <a:xfrm>
            <a:off x="818699" y="1765477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EC31A5-0804-C90B-AB86-D5B0FBE0BDD6}"/>
              </a:ext>
            </a:extLst>
          </p:cNvPr>
          <p:cNvSpPr/>
          <p:nvPr/>
        </p:nvSpPr>
        <p:spPr>
          <a:xfrm>
            <a:off x="818699" y="1798206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数量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EA10BF-C99B-2FE5-51CE-E6158C99ABE1}"/>
              </a:ext>
            </a:extLst>
          </p:cNvPr>
          <p:cNvSpPr/>
          <p:nvPr/>
        </p:nvSpPr>
        <p:spPr>
          <a:xfrm>
            <a:off x="2226489" y="1798206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逻辑 / 4 物理（Orchestrator + Execution + EventBridge Sub + MCP Server）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E2689EC-28E7-336D-2388-CE38B6A3C322}"/>
              </a:ext>
            </a:extLst>
          </p:cNvPr>
          <p:cNvSpPr/>
          <p:nvPr/>
        </p:nvSpPr>
        <p:spPr>
          <a:xfrm>
            <a:off x="818699" y="2180052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A6254F-FED3-E654-09E2-C6A7218BB080}"/>
              </a:ext>
            </a:extLst>
          </p:cNvPr>
          <p:cNvSpPr/>
          <p:nvPr/>
        </p:nvSpPr>
        <p:spPr>
          <a:xfrm>
            <a:off x="818699" y="2212782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5C3CC38-25EA-B367-9833-9B2FEDD494F9}"/>
              </a:ext>
            </a:extLst>
          </p:cNvPr>
          <p:cNvSpPr/>
          <p:nvPr/>
        </p:nvSpPr>
        <p:spPr>
          <a:xfrm>
            <a:off x="2226489" y="2212782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Quick (MCP) · 企微 Bot · 飞书 Bot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0FE826-92BE-E417-02A3-B412EDDF5B83}"/>
              </a:ext>
            </a:extLst>
          </p:cNvPr>
          <p:cNvSpPr/>
          <p:nvPr/>
        </p:nvSpPr>
        <p:spPr>
          <a:xfrm>
            <a:off x="818699" y="2594628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C61202-CF8E-241B-73E4-84DE510A3C76}"/>
              </a:ext>
            </a:extLst>
          </p:cNvPr>
          <p:cNvSpPr/>
          <p:nvPr/>
        </p:nvSpPr>
        <p:spPr>
          <a:xfrm>
            <a:off x="818699" y="2627358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语音引擎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29C683-B069-B578-DD28-5D27E2BCBC2C}"/>
              </a:ext>
            </a:extLst>
          </p:cNvPr>
          <p:cNvSpPr/>
          <p:nvPr/>
        </p:nvSpPr>
        <p:spPr>
          <a:xfrm>
            <a:off x="2226489" y="2627358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Sonic（中英文）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3A19E6F-5A4D-425E-6546-739B6703097E}"/>
              </a:ext>
            </a:extLst>
          </p:cNvPr>
          <p:cNvSpPr/>
          <p:nvPr/>
        </p:nvSpPr>
        <p:spPr>
          <a:xfrm>
            <a:off x="818699" y="3009204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31D0D5-A8EA-38D8-8CC2-51813AEE691C}"/>
              </a:ext>
            </a:extLst>
          </p:cNvPr>
          <p:cNvSpPr/>
          <p:nvPr/>
        </p:nvSpPr>
        <p:spPr>
          <a:xfrm>
            <a:off x="818699" y="3041933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E1B8CB-04F9-FDEB-B935-85AF4086D7EA}"/>
              </a:ext>
            </a:extLst>
          </p:cNvPr>
          <p:cNvSpPr/>
          <p:nvPr/>
        </p:nvSpPr>
        <p:spPr>
          <a:xfrm>
            <a:off x="2226489" y="3041933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模型无关（Claude / Nova 可切换）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BB7CDF3-C05A-9F6C-4263-C43931B883A9}"/>
              </a:ext>
            </a:extLst>
          </p:cNvPr>
          <p:cNvSpPr/>
          <p:nvPr/>
        </p:nvSpPr>
        <p:spPr>
          <a:xfrm>
            <a:off x="818699" y="3423779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04D3E7E-84D6-09CD-5D7E-0E4419F59BDA}"/>
              </a:ext>
            </a:extLst>
          </p:cNvPr>
          <p:cNvSpPr/>
          <p:nvPr/>
        </p:nvSpPr>
        <p:spPr>
          <a:xfrm>
            <a:off x="818699" y="3456509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服务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292D23-18D5-3749-9292-445F8E3C56B8}"/>
              </a:ext>
            </a:extLst>
          </p:cNvPr>
          <p:cNvSpPr/>
          <p:nvPr/>
        </p:nvSpPr>
        <p:spPr>
          <a:xfrm>
            <a:off x="2226489" y="3456509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个（DevOps Agent + Bedrock + Nova Sonic + KB + EventBridge + Lambda + API GW + S3 + DDB + SNS）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2F36166-9F75-7C56-7B12-4787CB605FB9}"/>
              </a:ext>
            </a:extLst>
          </p:cNvPr>
          <p:cNvSpPr/>
          <p:nvPr/>
        </p:nvSpPr>
        <p:spPr>
          <a:xfrm>
            <a:off x="818699" y="3838355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CE607D-C490-3267-E679-5F602351E5D0}"/>
              </a:ext>
            </a:extLst>
          </p:cNvPr>
          <p:cNvSpPr/>
          <p:nvPr/>
        </p:nvSpPr>
        <p:spPr>
          <a:xfrm>
            <a:off x="818699" y="3871085"/>
            <a:ext cx="1351479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2017D9-4406-38DC-AEDF-35D7BA91C47E}"/>
              </a:ext>
            </a:extLst>
          </p:cNvPr>
          <p:cNvSpPr/>
          <p:nvPr/>
        </p:nvSpPr>
        <p:spPr>
          <a:xfrm>
            <a:off x="2226489" y="3871085"/>
            <a:ext cx="3603943" cy="381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 v2 一键部署 ~15min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3D71D37-C7B0-CDC4-F165-DD62AACE25C1}"/>
              </a:ext>
            </a:extLst>
          </p:cNvPr>
          <p:cNvSpPr/>
          <p:nvPr/>
        </p:nvSpPr>
        <p:spPr>
          <a:xfrm>
            <a:off x="818699" y="4252931"/>
            <a:ext cx="4955421" cy="0"/>
          </a:xfrm>
          <a:prstGeom prst="line">
            <a:avLst/>
          </a:prstGeom>
          <a:noFill/>
          <a:ln w="381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3A8C4A9-92FB-8F40-B553-F6444BE4A034}"/>
              </a:ext>
            </a:extLst>
          </p:cNvPr>
          <p:cNvSpPr/>
          <p:nvPr/>
        </p:nvSpPr>
        <p:spPr>
          <a:xfrm>
            <a:off x="762387" y="4488619"/>
            <a:ext cx="5068045" cy="27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服务全景（10个）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133E3CE-34A0-70A6-3D53-5702007E6AC6}"/>
              </a:ext>
            </a:extLst>
          </p:cNvPr>
          <p:cNvSpPr/>
          <p:nvPr/>
        </p:nvSpPr>
        <p:spPr>
          <a:xfrm>
            <a:off x="76238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77FB056-F917-8D12-0D98-9B8778CDA5B5}"/>
              </a:ext>
            </a:extLst>
          </p:cNvPr>
          <p:cNvSpPr/>
          <p:nvPr/>
        </p:nvSpPr>
        <p:spPr>
          <a:xfrm>
            <a:off x="250804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5C2231F-9195-B51A-C130-4BF04E94674A}"/>
              </a:ext>
            </a:extLst>
          </p:cNvPr>
          <p:cNvSpPr/>
          <p:nvPr/>
        </p:nvSpPr>
        <p:spPr>
          <a:xfrm>
            <a:off x="4253707" y="4801341"/>
            <a:ext cx="163303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635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SNS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1F02CD4-A163-FA8A-398D-65147D1479AB}"/>
              </a:ext>
            </a:extLst>
          </p:cNvPr>
          <p:cNvSpPr/>
          <p:nvPr/>
        </p:nvSpPr>
        <p:spPr>
          <a:xfrm>
            <a:off x="762387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84A01A1-3170-D643-C59C-ACF1DF710E47}"/>
              </a:ext>
            </a:extLst>
          </p:cNvPr>
          <p:cNvSpPr/>
          <p:nvPr/>
        </p:nvSpPr>
        <p:spPr>
          <a:xfrm>
            <a:off x="2057554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KB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6B1C766-89D8-8E26-C391-3E08E08011B4}"/>
              </a:ext>
            </a:extLst>
          </p:cNvPr>
          <p:cNvSpPr/>
          <p:nvPr/>
        </p:nvSpPr>
        <p:spPr>
          <a:xfrm>
            <a:off x="3352721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3BFFF47-0875-8CD6-6CB9-3EDFEAC6D226}"/>
              </a:ext>
            </a:extLst>
          </p:cNvPr>
          <p:cNvSpPr/>
          <p:nvPr/>
        </p:nvSpPr>
        <p:spPr>
          <a:xfrm>
            <a:off x="4647888" y="5095908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1A2A"/>
          </a:solidFill>
          <a:ln w="6350">
            <a:solidFill>
              <a:srgbClr val="4D9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FB621E0-D21A-A4BE-8585-3F4FC94713A9}"/>
              </a:ext>
            </a:extLst>
          </p:cNvPr>
          <p:cNvSpPr/>
          <p:nvPr/>
        </p:nvSpPr>
        <p:spPr>
          <a:xfrm>
            <a:off x="762387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3DA784D-55F6-FB56-B5F6-4460965F3501}"/>
              </a:ext>
            </a:extLst>
          </p:cNvPr>
          <p:cNvSpPr/>
          <p:nvPr/>
        </p:nvSpPr>
        <p:spPr>
          <a:xfrm>
            <a:off x="2057554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Lambda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235E864-16EF-FA89-D38E-E97F8626016C}"/>
              </a:ext>
            </a:extLst>
          </p:cNvPr>
          <p:cNvSpPr/>
          <p:nvPr/>
        </p:nvSpPr>
        <p:spPr>
          <a:xfrm>
            <a:off x="3352721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541E5D7-5234-D553-72DA-529EEDCEB4B1}"/>
              </a:ext>
            </a:extLst>
          </p:cNvPr>
          <p:cNvSpPr/>
          <p:nvPr/>
        </p:nvSpPr>
        <p:spPr>
          <a:xfrm>
            <a:off x="4647888" y="5390475"/>
            <a:ext cx="1216331" cy="240017"/>
          </a:xfrm>
          <a:prstGeom prst="roundRect">
            <a:avLst>
              <a:gd name="adj" fmla="val 9091"/>
            </a:avLst>
          </a:prstGeom>
          <a:solidFill>
            <a:srgbClr val="0A2A1A"/>
          </a:solidFill>
          <a:ln w="6350">
            <a:solidFill>
              <a:srgbClr val="36B37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E8BE38E-9CD2-A2C0-1484-EB3C1C2CC056}"/>
              </a:ext>
            </a:extLst>
          </p:cNvPr>
          <p:cNvSpPr/>
          <p:nvPr/>
        </p:nvSpPr>
        <p:spPr>
          <a:xfrm>
            <a:off x="6280925" y="870866"/>
            <a:ext cx="5814342" cy="1527384"/>
          </a:xfrm>
          <a:prstGeom prst="roundRect">
            <a:avLst>
              <a:gd name="adj" fmla="val 3571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218A0C2-5931-E10A-BF6B-F8C6CEB348F5}"/>
              </a:ext>
            </a:extLst>
          </p:cNvPr>
          <p:cNvSpPr/>
          <p:nvPr/>
        </p:nvSpPr>
        <p:spPr>
          <a:xfrm>
            <a:off x="6506171" y="979965"/>
            <a:ext cx="4392305" cy="27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D908626-3E9D-CA4B-8CC6-7DB4AFEB404C}"/>
              </a:ext>
            </a:extLst>
          </p:cNvPr>
          <p:cNvSpPr/>
          <p:nvPr/>
        </p:nvSpPr>
        <p:spPr>
          <a:xfrm>
            <a:off x="6506171" y="1307261"/>
            <a:ext cx="100234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5D946A7-197B-A38E-84F9-F215022F0F2C}"/>
              </a:ext>
            </a:extLst>
          </p:cNvPr>
          <p:cNvSpPr/>
          <p:nvPr/>
        </p:nvSpPr>
        <p:spPr>
          <a:xfrm>
            <a:off x="7598616" y="1307261"/>
            <a:ext cx="1407790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9D8047A-41BD-EBF4-D1FD-9C33C5BAD815}"/>
              </a:ext>
            </a:extLst>
          </p:cNvPr>
          <p:cNvSpPr/>
          <p:nvPr/>
        </p:nvSpPr>
        <p:spPr>
          <a:xfrm>
            <a:off x="9096505" y="1307261"/>
            <a:ext cx="1509151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Strands SDK</a:t>
            </a:r>
            <a:endParaRPr lang="en-US" sz="9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62EAFAB-3228-5C01-B506-7969ED6FB039}"/>
              </a:ext>
            </a:extLst>
          </p:cNvPr>
          <p:cNvSpPr/>
          <p:nvPr/>
        </p:nvSpPr>
        <p:spPr>
          <a:xfrm>
            <a:off x="10695755" y="1307261"/>
            <a:ext cx="100234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CDK v2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410CE15-BEC4-AE4E-15FF-EE11E24E7889}"/>
              </a:ext>
            </a:extLst>
          </p:cNvPr>
          <p:cNvSpPr/>
          <p:nvPr/>
        </p:nvSpPr>
        <p:spPr>
          <a:xfrm>
            <a:off x="6506171" y="1612738"/>
            <a:ext cx="1407790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 Sonic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FCE9542-1D0B-675C-1E73-193B0044C347}"/>
              </a:ext>
            </a:extLst>
          </p:cNvPr>
          <p:cNvSpPr/>
          <p:nvPr/>
        </p:nvSpPr>
        <p:spPr>
          <a:xfrm>
            <a:off x="8004060" y="1612738"/>
            <a:ext cx="110370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22E4280-C652-B003-580F-C09F2C078DE4}"/>
              </a:ext>
            </a:extLst>
          </p:cNvPr>
          <p:cNvSpPr/>
          <p:nvPr/>
        </p:nvSpPr>
        <p:spPr>
          <a:xfrm>
            <a:off x="9197866" y="1612738"/>
            <a:ext cx="1103707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模板</a:t>
            </a:r>
            <a:endParaRPr lang="en-US" sz="9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C699BA8-DCD0-0592-026B-A6B794D2F88C}"/>
              </a:ext>
            </a:extLst>
          </p:cNvPr>
          <p:cNvSpPr/>
          <p:nvPr/>
        </p:nvSpPr>
        <p:spPr>
          <a:xfrm>
            <a:off x="10391672" y="1612738"/>
            <a:ext cx="1610512" cy="240017"/>
          </a:xfrm>
          <a:prstGeom prst="roundRect">
            <a:avLst>
              <a:gd name="adj" fmla="val 9091"/>
            </a:avLst>
          </a:prstGeom>
          <a:solidFill>
            <a:srgbClr val="2A1F0A"/>
          </a:solidFill>
          <a:ln w="5080"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Protocol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28767D3-B6AC-3292-7445-E4040779FAC1}"/>
              </a:ext>
            </a:extLst>
          </p:cNvPr>
          <p:cNvSpPr/>
          <p:nvPr/>
        </p:nvSpPr>
        <p:spPr>
          <a:xfrm>
            <a:off x="6280925" y="2561898"/>
            <a:ext cx="5814342" cy="3272966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F66D9DB-45CD-9B75-2151-F137DB97ED56}"/>
              </a:ext>
            </a:extLst>
          </p:cNvPr>
          <p:cNvSpPr/>
          <p:nvPr/>
        </p:nvSpPr>
        <p:spPr>
          <a:xfrm>
            <a:off x="6506171" y="2670997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已通过验证</a:t>
            </a:r>
            <a:endParaRPr lang="en-US" sz="14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0612C44-1FE7-0464-FE31-10D31D5869D7}"/>
              </a:ext>
            </a:extLst>
          </p:cNvPr>
          <p:cNvSpPr/>
          <p:nvPr/>
        </p:nvSpPr>
        <p:spPr>
          <a:xfrm>
            <a:off x="6506171" y="305284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CDK 部署成功（us-east-1）</a:t>
            </a: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56B6A4D-90BF-55D8-E0C6-907C6A5B5E00}"/>
              </a:ext>
            </a:extLst>
          </p:cNvPr>
          <p:cNvSpPr/>
          <p:nvPr/>
        </p:nvSpPr>
        <p:spPr>
          <a:xfrm>
            <a:off x="6506171" y="3380140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API Gateway 三路由就绪</a:t>
            </a:r>
            <a:endParaRPr lang="en-US" sz="10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164B531-F4CE-D96B-7BA9-375F7B9E66B6}"/>
              </a:ext>
            </a:extLst>
          </p:cNvPr>
          <p:cNvSpPr/>
          <p:nvPr/>
        </p:nvSpPr>
        <p:spPr>
          <a:xfrm>
            <a:off x="6506171" y="3707436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Strands SDK 6 逻辑 Agent (Tool) 注册</a:t>
            </a:r>
            <a:endParaRPr lang="en-US" sz="10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4C70C76-957B-CC99-E958-8AD3A0015CAB}"/>
              </a:ext>
            </a:extLst>
          </p:cNvPr>
          <p:cNvSpPr/>
          <p:nvPr/>
        </p:nvSpPr>
        <p:spPr>
          <a:xfrm>
            <a:off x="6506171" y="403473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Nova Sonic 语音交互可用（中英文）</a:t>
            </a:r>
            <a:endParaRPr lang="en-US" sz="10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45E9317-658D-49A8-0A90-AB1D515C2BE3}"/>
              </a:ext>
            </a:extLst>
          </p:cNvPr>
          <p:cNvSpPr/>
          <p:nvPr/>
        </p:nvSpPr>
        <p:spPr>
          <a:xfrm>
            <a:off x="6506171" y="4362030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AWS DevOps Agent on-demand chat 集成</a:t>
            </a:r>
            <a:endParaRPr lang="en-US" sz="10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86A4707-B3D9-0087-BC9F-3ACD602B007E}"/>
              </a:ext>
            </a:extLst>
          </p:cNvPr>
          <p:cNvSpPr/>
          <p:nvPr/>
        </p:nvSpPr>
        <p:spPr>
          <a:xfrm>
            <a:off x="6506171" y="4689326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HTML 分析页生成 + S3 Presigned URL</a:t>
            </a:r>
            <a:endParaRPr lang="en-US" sz="10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AB98C13-AF01-F13A-D346-AD4B88726A3A}"/>
              </a:ext>
            </a:extLst>
          </p:cNvPr>
          <p:cNvSpPr/>
          <p:nvPr/>
        </p:nvSpPr>
        <p:spPr>
          <a:xfrm>
            <a:off x="6506171" y="5016623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Custom Skill 注册 + Bedrock KB 双写</a:t>
            </a:r>
            <a:endParaRPr lang="en-US" sz="10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897E408-47A6-19B5-3A45-136EA0784FA3}"/>
              </a:ext>
            </a:extLst>
          </p:cNvPr>
          <p:cNvSpPr/>
          <p:nvPr/>
        </p:nvSpPr>
        <p:spPr>
          <a:xfrm>
            <a:off x="6506171" y="5322099"/>
            <a:ext cx="4392305" cy="305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r>
              <a:rPr lang="en-US" sz="10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DevOps Agent </a:t>
            </a:r>
            <a:r>
              <a:rPr lang="en-US" sz="10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集成</a:t>
            </a:r>
            <a:endParaRPr lang="en-US" sz="10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5" name="Text 65">
            <a:extLst>
              <a:ext uri="{FF2B5EF4-FFF2-40B4-BE49-F238E27FC236}">
                <a16:creationId xmlns:a16="http://schemas.microsoft.com/office/drawing/2014/main" id="{9535EE5C-1636-E72A-37C8-AE9D8B7360BF}"/>
              </a:ext>
            </a:extLst>
          </p:cNvPr>
          <p:cNvSpPr/>
          <p:nvPr/>
        </p:nvSpPr>
        <p:spPr>
          <a:xfrm>
            <a:off x="10447984" y="5616666"/>
            <a:ext cx="788362" cy="32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A"/>
                </a:solidFill>
              </a:rPr>
              <a:t>11/16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5193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EEC0-DC1C-1520-372B-57C31BFF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B3FAB-D325-9E1F-4EAA-32FC7471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方案验证：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效果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8B0DBD-4B17-09AC-CC4F-986D6286579F}"/>
              </a:ext>
            </a:extLst>
          </p:cNvPr>
          <p:cNvGrpSpPr/>
          <p:nvPr/>
        </p:nvGrpSpPr>
        <p:grpSpPr>
          <a:xfrm>
            <a:off x="542617" y="788190"/>
            <a:ext cx="11393862" cy="5295033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2CA6C010-5CFB-9E54-9056-C8CB4DE12BC6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9FD2D2DA-0A5B-C61C-4895-D9E39A3EAB59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演示流程</a:t>
              </a:r>
              <a:endParaRPr lang="en-US" sz="2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FEDAD29D-A7C3-A4A5-52C9-8157BD5462C4}"/>
                </a:ext>
              </a:extLst>
            </p:cNvPr>
            <p:cNvSpPr/>
            <p:nvPr/>
          </p:nvSpPr>
          <p:spPr>
            <a:xfrm>
              <a:off x="502920" y="118872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322F7B88-52B9-ED12-2F85-6D2B1C8DAA81}"/>
                </a:ext>
              </a:extLst>
            </p:cNvPr>
            <p:cNvSpPr/>
            <p:nvPr/>
          </p:nvSpPr>
          <p:spPr>
            <a:xfrm>
              <a:off x="822960" y="118872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"早上好，系统今天怎么样？"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9BFA3EB-44E7-EDFC-CA3F-A892B352D1B2}"/>
                </a:ext>
              </a:extLst>
            </p:cNvPr>
            <p:cNvSpPr/>
            <p:nvPr/>
          </p:nvSpPr>
          <p:spPr>
            <a:xfrm>
              <a:off x="822960" y="143560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Discovery Agent 巡检 → 健康总览分析页</a:t>
              </a:r>
              <a:endParaRPr lang="en-US" sz="12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4CAA982B-4557-3AD4-C048-1F1D6EC4ED66}"/>
                </a:ext>
              </a:extLst>
            </p:cNvPr>
            <p:cNvSpPr/>
            <p:nvPr/>
          </p:nvSpPr>
          <p:spPr>
            <a:xfrm>
              <a:off x="502920" y="182880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D920F1F5-D53E-7214-C85C-B2437E167002}"/>
                </a:ext>
              </a:extLst>
            </p:cNvPr>
            <p:cNvSpPr/>
            <p:nvPr/>
          </p:nvSpPr>
          <p:spPr>
            <a:xfrm>
              <a:off x="822960" y="182880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"order-service 延迟为什么涨了？"</a:t>
              </a:r>
              <a:endParaRPr lang="en-US" sz="14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BCCC4C50-F3B4-41E2-0C93-866FE1BBB9E5}"/>
                </a:ext>
              </a:extLst>
            </p:cNvPr>
            <p:cNvSpPr/>
            <p:nvPr/>
          </p:nvSpPr>
          <p:spPr>
            <a:xfrm>
              <a:off x="822960" y="207568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Analysis Agent (DevOps Agent) → 下钻分析页</a:t>
              </a:r>
              <a:endParaRPr lang="en-US" sz="12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26574830-24C0-4EB2-C777-E49335E74B6B}"/>
                </a:ext>
              </a:extLst>
            </p:cNvPr>
            <p:cNvSpPr/>
            <p:nvPr/>
          </p:nvSpPr>
          <p:spPr>
            <a:xfrm>
              <a:off x="502920" y="246888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6FF2FD1-9840-D00A-7809-176BDE2C6428}"/>
                </a:ext>
              </a:extLst>
            </p:cNvPr>
            <p:cNvSpPr/>
            <p:nvPr/>
          </p:nvSpPr>
          <p:spPr>
            <a:xfrm>
              <a:off x="822960" y="246888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"帮我扩容"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8118DDFB-F8FC-EB98-0943-2A52A21C8790}"/>
                </a:ext>
              </a:extLst>
            </p:cNvPr>
            <p:cNvSpPr/>
            <p:nvPr/>
          </p:nvSpPr>
          <p:spPr>
            <a:xfrm>
              <a:off x="822960" y="271576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Policy Guard 确认 → Execution Agent 执行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EEF1C50D-8194-A601-DE30-78108DB70D43}"/>
                </a:ext>
              </a:extLst>
            </p:cNvPr>
            <p:cNvSpPr/>
            <p:nvPr/>
          </p:nvSpPr>
          <p:spPr>
            <a:xfrm>
              <a:off x="502920" y="3108960"/>
              <a:ext cx="228600" cy="228600"/>
            </a:xfrm>
            <a:prstGeom prst="ellipse">
              <a:avLst/>
            </a:prstGeom>
            <a:solidFill>
              <a:srgbClr val="2A1F0A"/>
            </a:solidFill>
            <a:ln w="6350">
              <a:solidFill>
                <a:srgbClr val="FF990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3A952447-361C-5CE1-DF4C-8DBA4F52E2BD}"/>
                </a:ext>
              </a:extLst>
            </p:cNvPr>
            <p:cNvSpPr/>
            <p:nvPr/>
          </p:nvSpPr>
          <p:spPr>
            <a:xfrm>
              <a:off x="822960" y="3108960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自动沉淀事件报告到 KB</a:t>
              </a:r>
              <a:endParaRPr lang="en-US" sz="14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9721ED9-2C8C-E2DE-1960-984C7A9E87FC}"/>
                </a:ext>
              </a:extLst>
            </p:cNvPr>
            <p:cNvSpPr/>
            <p:nvPr/>
          </p:nvSpPr>
          <p:spPr>
            <a:xfrm>
              <a:off x="822960" y="335584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Knowledge Agent → 经验闭环</a:t>
              </a:r>
              <a:endParaRPr lang="en-US" sz="1200" dirty="0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8CF0EE0A-E855-0DB9-343C-05477FBC558C}"/>
                </a:ext>
              </a:extLst>
            </p:cNvPr>
            <p:cNvSpPr/>
            <p:nvPr/>
          </p:nvSpPr>
          <p:spPr>
            <a:xfrm>
              <a:off x="5029200" y="777240"/>
              <a:ext cx="3840480" cy="1920240"/>
            </a:xfrm>
            <a:prstGeom prst="roundRect">
              <a:avLst>
                <a:gd name="adj" fmla="val 238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46083ACE-8C84-D9CC-D320-ED566E3FA9A2}"/>
                </a:ext>
              </a:extLst>
            </p:cNvPr>
            <p:cNvSpPr/>
            <p:nvPr/>
          </p:nvSpPr>
          <p:spPr>
            <a:xfrm>
              <a:off x="5212080" y="86868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演示入口</a:t>
              </a:r>
              <a:endParaRPr lang="en-US" sz="20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F7ECF14A-C770-E3BD-435E-2EDECD2F7E97}"/>
                </a:ext>
              </a:extLst>
            </p:cNvPr>
            <p:cNvSpPr/>
            <p:nvPr/>
          </p:nvSpPr>
          <p:spPr>
            <a:xfrm>
              <a:off x="5212080" y="1143000"/>
              <a:ext cx="3474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en-US" sz="14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Amazon Quick — MCP 调用，语音/文字</a:t>
              </a:r>
              <a:endParaRPr lang="en-US" sz="1400" dirty="0"/>
            </a:p>
            <a:p>
              <a:pPr marL="0" indent="0">
                <a:lnSpc>
                  <a:spcPts val="1600"/>
                </a:lnSpc>
                <a:buNone/>
              </a:pPr>
              <a:r>
                <a:rPr lang="en-US" sz="14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企微 Bot — 语音消息，中英文</a:t>
              </a:r>
              <a:endParaRPr lang="en-US" sz="14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D09304E4-7699-A6ED-CBE0-C8C4B4D4BD50}"/>
                </a:ext>
              </a:extLst>
            </p:cNvPr>
            <p:cNvSpPr/>
            <p:nvPr/>
          </p:nvSpPr>
          <p:spPr>
            <a:xfrm>
              <a:off x="5212080" y="16459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演示亮点</a:t>
              </a:r>
              <a:endParaRPr lang="en-US" sz="20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41468E10-7DCA-2B90-B6B3-4B2A3457B87E}"/>
                </a:ext>
              </a:extLst>
            </p:cNvPr>
            <p:cNvSpPr/>
            <p:nvPr/>
          </p:nvSpPr>
          <p:spPr>
            <a:xfrm>
              <a:off x="5212080" y="1920240"/>
              <a:ext cx="34747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全程语音交互（无需打字）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每步生成独立 HTML 分析页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Policy 护栏拦截演示</a:t>
              </a:r>
              <a:endParaRPr lang="en-US" sz="12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重复问题 → 秒级匹配历史案例</a:t>
              </a:r>
              <a:endParaRPr lang="en-US" sz="1200" dirty="0"/>
            </a:p>
          </p:txBody>
        </p:sp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99E95D7E-FA9E-8CA8-D300-D68BB64DFCE4}"/>
                </a:ext>
              </a:extLst>
            </p:cNvPr>
            <p:cNvSpPr/>
            <p:nvPr/>
          </p:nvSpPr>
          <p:spPr>
            <a:xfrm>
              <a:off x="5029200" y="2834640"/>
              <a:ext cx="3840480" cy="2057400"/>
            </a:xfrm>
            <a:prstGeom prst="roundRect">
              <a:avLst>
                <a:gd name="adj" fmla="val 2222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225310E2-D416-DD83-1761-3EE922AA0D5A}"/>
                </a:ext>
              </a:extLst>
            </p:cNvPr>
            <p:cNvSpPr/>
            <p:nvPr/>
          </p:nvSpPr>
          <p:spPr>
            <a:xfrm>
              <a:off x="5212080" y="292608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关键指标（演示中展示）</a:t>
              </a:r>
              <a:endParaRPr lang="en-US" sz="20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FD5E76F4-FFAE-8A19-3E46-627D6E1DD6C4}"/>
                </a:ext>
              </a:extLst>
            </p:cNvPr>
            <p:cNvSpPr/>
            <p:nvPr/>
          </p:nvSpPr>
          <p:spPr>
            <a:xfrm>
              <a:off x="5212080" y="324612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语音响应</a:t>
              </a:r>
              <a:endParaRPr lang="en-US" sz="12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62BCC927-43A0-11DD-93DF-24A368A57322}"/>
                </a:ext>
              </a:extLst>
            </p:cNvPr>
            <p:cNvSpPr/>
            <p:nvPr/>
          </p:nvSpPr>
          <p:spPr>
            <a:xfrm>
              <a:off x="6400800" y="324612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2s</a:t>
              </a:r>
              <a:endParaRPr lang="en-US" sz="16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A48E2C7F-CADA-5D0A-5929-D5D5A24598C8}"/>
                </a:ext>
              </a:extLst>
            </p:cNvPr>
            <p:cNvSpPr/>
            <p:nvPr/>
          </p:nvSpPr>
          <p:spPr>
            <a:xfrm>
              <a:off x="7040880" y="324612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开始回复</a:t>
              </a:r>
              <a:endParaRPr lang="en-US" sz="12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9B433387-9511-8ECE-B20E-428C4A1EBF29}"/>
                </a:ext>
              </a:extLst>
            </p:cNvPr>
            <p:cNvSpPr/>
            <p:nvPr/>
          </p:nvSpPr>
          <p:spPr>
            <a:xfrm>
              <a:off x="5212080" y="361188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分析页生成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C66DEAFA-BBB7-D8EB-9FAC-158E6FB04284}"/>
                </a:ext>
              </a:extLst>
            </p:cNvPr>
            <p:cNvSpPr/>
            <p:nvPr/>
          </p:nvSpPr>
          <p:spPr>
            <a:xfrm>
              <a:off x="6400800" y="361188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5s</a:t>
              </a:r>
              <a:endParaRPr lang="en-US" sz="16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21A87693-B415-C42C-A4BC-6B17B94FF503}"/>
                </a:ext>
              </a:extLst>
            </p:cNvPr>
            <p:cNvSpPr/>
            <p:nvPr/>
          </p:nvSpPr>
          <p:spPr>
            <a:xfrm>
              <a:off x="7040880" y="361188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返回 URL</a:t>
              </a:r>
              <a:endParaRPr lang="en-US" sz="120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1E20C031-D4DF-B773-1E49-9DDFBF18EC81}"/>
                </a:ext>
              </a:extLst>
            </p:cNvPr>
            <p:cNvSpPr/>
            <p:nvPr/>
          </p:nvSpPr>
          <p:spPr>
            <a:xfrm>
              <a:off x="5212080" y="3977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经验匹配</a:t>
              </a:r>
              <a:endParaRPr lang="en-US" sz="1200" dirty="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F4A71344-8DCC-0201-24A5-BEEFA8262F60}"/>
                </a:ext>
              </a:extLst>
            </p:cNvPr>
            <p:cNvSpPr/>
            <p:nvPr/>
          </p:nvSpPr>
          <p:spPr>
            <a:xfrm>
              <a:off x="6400800" y="397764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1s</a:t>
              </a:r>
              <a:endParaRPr lang="en-US" sz="1600" dirty="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AD56C507-59AA-C29D-E81D-9CA2AA337A64}"/>
                </a:ext>
              </a:extLst>
            </p:cNvPr>
            <p:cNvSpPr/>
            <p:nvPr/>
          </p:nvSpPr>
          <p:spPr>
            <a:xfrm>
              <a:off x="7040880" y="39776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返回相似案例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6966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C0D522-E72A-BE45-A53F-262AD03138F3}"/>
              </a:ext>
            </a:extLst>
          </p:cNvPr>
          <p:cNvGrpSpPr/>
          <p:nvPr/>
        </p:nvGrpSpPr>
        <p:grpSpPr>
          <a:xfrm>
            <a:off x="591896" y="793665"/>
            <a:ext cx="11300780" cy="5333363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A337B72C-204F-7574-B51A-D84B6F9BCB7D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59169EE0-D361-19F8-C906-EFF4B2ACB6A1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核心性能指标</a:t>
              </a:r>
              <a:endParaRPr lang="en-US" sz="2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B7EF7FA6-E0CE-1C1F-1BF0-F76F34BF0ED1}"/>
                </a:ext>
              </a:extLst>
            </p:cNvPr>
            <p:cNvSpPr/>
            <p:nvPr/>
          </p:nvSpPr>
          <p:spPr>
            <a:xfrm>
              <a:off x="457200" y="118872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</a:t>
              </a:r>
              <a:endParaRPr lang="en-US" sz="12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6F538CDD-3710-52CB-1A26-7DE2DFB17628}"/>
                </a:ext>
              </a:extLst>
            </p:cNvPr>
            <p:cNvSpPr/>
            <p:nvPr/>
          </p:nvSpPr>
          <p:spPr>
            <a:xfrm>
              <a:off x="1828800" y="1188720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目标</a:t>
              </a:r>
              <a:endParaRPr lang="en-US" sz="12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92FC6C4-6D24-9DDC-0F9E-018FE58E2985}"/>
                </a:ext>
              </a:extLst>
            </p:cNvPr>
            <p:cNvSpPr/>
            <p:nvPr/>
          </p:nvSpPr>
          <p:spPr>
            <a:xfrm>
              <a:off x="2560320" y="1188720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实现方式</a:t>
              </a:r>
              <a:endParaRPr lang="en-US" sz="12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2350CBF-595E-1F97-67F1-A1947D61E6C1}"/>
                </a:ext>
              </a:extLst>
            </p:cNvPr>
            <p:cNvSpPr/>
            <p:nvPr/>
          </p:nvSpPr>
          <p:spPr>
            <a:xfrm>
              <a:off x="457200" y="1444752"/>
              <a:ext cx="4206240" cy="0"/>
            </a:xfrm>
            <a:prstGeom prst="line">
              <a:avLst/>
            </a:prstGeom>
            <a:noFill/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A42DA9EB-C73F-E955-B9B3-C2882B6C65D7}"/>
                </a:ext>
              </a:extLst>
            </p:cNvPr>
            <p:cNvSpPr/>
            <p:nvPr/>
          </p:nvSpPr>
          <p:spPr>
            <a:xfrm>
              <a:off x="457200" y="1508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语音识别延迟</a:t>
              </a:r>
              <a:endParaRPr lang="en-US" sz="12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FAC0FE61-8EBA-7136-D0CA-F7F7FB245384}"/>
                </a:ext>
              </a:extLst>
            </p:cNvPr>
            <p:cNvSpPr/>
            <p:nvPr/>
          </p:nvSpPr>
          <p:spPr>
            <a:xfrm>
              <a:off x="1828800" y="15087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500ms</a:t>
              </a:r>
              <a:endParaRPr lang="en-US" sz="12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4BE3892-8F90-D144-EE84-C74E228642EE}"/>
                </a:ext>
              </a:extLst>
            </p:cNvPr>
            <p:cNvSpPr/>
            <p:nvPr/>
          </p:nvSpPr>
          <p:spPr>
            <a:xfrm>
              <a:off x="2560320" y="150876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 端到端流式</a:t>
              </a:r>
              <a:endParaRPr lang="en-US" sz="11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3BDB8B08-A6B9-7C73-ED9F-94DAD42E3F77}"/>
                </a:ext>
              </a:extLst>
            </p:cNvPr>
            <p:cNvSpPr/>
            <p:nvPr/>
          </p:nvSpPr>
          <p:spPr>
            <a:xfrm>
              <a:off x="457200" y="18288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语音回复延迟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0C45AEE5-5359-518A-E214-66A069D86AE6}"/>
                </a:ext>
              </a:extLst>
            </p:cNvPr>
            <p:cNvSpPr/>
            <p:nvPr/>
          </p:nvSpPr>
          <p:spPr>
            <a:xfrm>
              <a:off x="1828800" y="182880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2s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6A2508B6-59D4-85DF-35B7-20F0026B0CDB}"/>
                </a:ext>
              </a:extLst>
            </p:cNvPr>
            <p:cNvSpPr/>
            <p:nvPr/>
          </p:nvSpPr>
          <p:spPr>
            <a:xfrm>
              <a:off x="2560320" y="182880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首响应 placeholder TTS；完整结果异步推送</a:t>
              </a:r>
              <a:endParaRPr lang="en-US" sz="11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C3BF7E68-8F97-571E-1D64-6EAB95D2E18C}"/>
                </a:ext>
              </a:extLst>
            </p:cNvPr>
            <p:cNvSpPr/>
            <p:nvPr/>
          </p:nvSpPr>
          <p:spPr>
            <a:xfrm>
              <a:off x="457200" y="214884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分析页生成</a:t>
              </a:r>
              <a:endParaRPr lang="en-US" sz="12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15BB78BF-F3F3-8A85-5F23-8AEEBD3CCF5F}"/>
                </a:ext>
              </a:extLst>
            </p:cNvPr>
            <p:cNvSpPr/>
            <p:nvPr/>
          </p:nvSpPr>
          <p:spPr>
            <a:xfrm>
              <a:off x="1828800" y="214884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5s</a:t>
              </a:r>
              <a:endParaRPr lang="en-US" sz="12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B7B62DA3-163B-7AB1-7872-424E6E8274E9}"/>
                </a:ext>
              </a:extLst>
            </p:cNvPr>
            <p:cNvSpPr/>
            <p:nvPr/>
          </p:nvSpPr>
          <p:spPr>
            <a:xfrm>
              <a:off x="2560320" y="214884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→ JSON → Jinja2 → S3</a:t>
              </a:r>
              <a:endParaRPr lang="en-US" sz="11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69456A7C-2A95-E78C-0DD6-268F0D1D31BE}"/>
                </a:ext>
              </a:extLst>
            </p:cNvPr>
            <p:cNvSpPr/>
            <p:nvPr/>
          </p:nvSpPr>
          <p:spPr>
            <a:xfrm>
              <a:off x="457200" y="246888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Agent 决策</a:t>
              </a:r>
              <a:endParaRPr lang="en-US" sz="12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534D98CA-D9F9-D86C-A42B-8E684062E8F4}"/>
                </a:ext>
              </a:extLst>
            </p:cNvPr>
            <p:cNvSpPr/>
            <p:nvPr/>
          </p:nvSpPr>
          <p:spPr>
            <a:xfrm>
              <a:off x="1828800" y="246888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3s</a:t>
              </a:r>
              <a:endParaRPr lang="en-US" sz="12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FD86D686-60FD-093B-F7C1-187692D6DF3D}"/>
                </a:ext>
              </a:extLst>
            </p:cNvPr>
            <p:cNvSpPr/>
            <p:nvPr/>
          </p:nvSpPr>
          <p:spPr>
            <a:xfrm>
              <a:off x="2560320" y="24688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LLM 意图识别</a:t>
              </a:r>
              <a:endParaRPr lang="en-US" sz="11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287CEA52-1205-A700-640F-862B48949A73}"/>
                </a:ext>
              </a:extLst>
            </p:cNvPr>
            <p:cNvSpPr/>
            <p:nvPr/>
          </p:nvSpPr>
          <p:spPr>
            <a:xfrm>
              <a:off x="457200" y="278892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经验匹配</a:t>
              </a:r>
              <a:endParaRPr lang="en-US" sz="12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F35048F1-79F7-D920-984E-CC0AC67DA11E}"/>
                </a:ext>
              </a:extLst>
            </p:cNvPr>
            <p:cNvSpPr/>
            <p:nvPr/>
          </p:nvSpPr>
          <p:spPr>
            <a:xfrm>
              <a:off x="1828800" y="278892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&lt; 1s</a:t>
              </a:r>
              <a:endParaRPr lang="en-US" sz="12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4595B73F-1ED8-CE1E-874B-B8F948655419}"/>
                </a:ext>
              </a:extLst>
            </p:cNvPr>
            <p:cNvSpPr/>
            <p:nvPr/>
          </p:nvSpPr>
          <p:spPr>
            <a:xfrm>
              <a:off x="2560320" y="278892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Skills + KB 向量检索</a:t>
              </a:r>
              <a:endParaRPr lang="en-US" sz="11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AFB13C32-BE9C-5F53-1865-281E8E53F387}"/>
                </a:ext>
              </a:extLst>
            </p:cNvPr>
            <p:cNvSpPr/>
            <p:nvPr/>
          </p:nvSpPr>
          <p:spPr>
            <a:xfrm>
              <a:off x="457200" y="31089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并发支持</a:t>
              </a:r>
              <a:endParaRPr lang="en-US" sz="12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51D10C86-F5A2-4CF9-57F1-A894307BB056}"/>
                </a:ext>
              </a:extLst>
            </p:cNvPr>
            <p:cNvSpPr/>
            <p:nvPr/>
          </p:nvSpPr>
          <p:spPr>
            <a:xfrm>
              <a:off x="1828800" y="31089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≥ 50 用户</a:t>
              </a:r>
              <a:endParaRPr lang="en-US" sz="12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39C9A21F-CB53-8596-BEEE-66DB26155AB0}"/>
                </a:ext>
              </a:extLst>
            </p:cNvPr>
            <p:cNvSpPr/>
            <p:nvPr/>
          </p:nvSpPr>
          <p:spPr>
            <a:xfrm>
              <a:off x="2560320" y="310896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Lambda 自动扩缩</a:t>
              </a:r>
              <a:endParaRPr lang="en-US" sz="11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470BC52C-DBB3-091D-C8F3-DE0C39EAD26F}"/>
                </a:ext>
              </a:extLst>
            </p:cNvPr>
            <p:cNvSpPr/>
            <p:nvPr/>
          </p:nvSpPr>
          <p:spPr>
            <a:xfrm>
              <a:off x="457200" y="34290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可用性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B58DA2AA-840A-E5E5-A0CB-B0EFFC77F033}"/>
                </a:ext>
              </a:extLst>
            </p:cNvPr>
            <p:cNvSpPr/>
            <p:nvPr/>
          </p:nvSpPr>
          <p:spPr>
            <a:xfrm>
              <a:off x="1828800" y="342900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99.5%</a:t>
              </a:r>
              <a:endParaRPr lang="en-US" sz="12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DA2FBB88-9018-6AA6-0B15-99A65BD01FB1}"/>
                </a:ext>
              </a:extLst>
            </p:cNvPr>
            <p:cNvSpPr/>
            <p:nvPr/>
          </p:nvSpPr>
          <p:spPr>
            <a:xfrm>
              <a:off x="2560320" y="342900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全 Serverless，无单点</a:t>
              </a:r>
              <a:endParaRPr lang="en-US" sz="1100" dirty="0"/>
            </a:p>
          </p:txBody>
        </p:sp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4CD43D2F-9A11-CB0A-166F-703EAA296047}"/>
                </a:ext>
              </a:extLst>
            </p:cNvPr>
            <p:cNvSpPr/>
            <p:nvPr/>
          </p:nvSpPr>
          <p:spPr>
            <a:xfrm>
              <a:off x="5029200" y="777240"/>
              <a:ext cx="3840480" cy="4114800"/>
            </a:xfrm>
            <a:prstGeom prst="roundRect">
              <a:avLst>
                <a:gd name="adj" fmla="val 1190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C5920053-2E3D-A96B-382D-5C4B9942C1B9}"/>
                </a:ext>
              </a:extLst>
            </p:cNvPr>
            <p:cNvSpPr/>
            <p:nvPr/>
          </p:nvSpPr>
          <p:spPr>
            <a:xfrm>
              <a:off x="5212080" y="868680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延迟分解（典型场景）</a:t>
              </a:r>
              <a:endParaRPr lang="en-US" sz="2000" dirty="0"/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C69833D1-6B8A-9A93-CA16-FF366EE9856C}"/>
                </a:ext>
              </a:extLst>
            </p:cNvPr>
            <p:cNvSpPr/>
            <p:nvPr/>
          </p:nvSpPr>
          <p:spPr>
            <a:xfrm>
              <a:off x="5212080" y="1234440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4C6BCA25-DB56-22C4-4F8E-1AE082F19FCB}"/>
                </a:ext>
              </a:extLst>
            </p:cNvPr>
            <p:cNvSpPr/>
            <p:nvPr/>
          </p:nvSpPr>
          <p:spPr>
            <a:xfrm>
              <a:off x="5303520" y="123444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用户说话</a:t>
              </a:r>
              <a:endParaRPr lang="en-US" sz="1200" dirty="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F815E20F-0246-A4E3-BFF1-7EF1BEBC5205}"/>
                </a:ext>
              </a:extLst>
            </p:cNvPr>
            <p:cNvSpPr/>
            <p:nvPr/>
          </p:nvSpPr>
          <p:spPr>
            <a:xfrm>
              <a:off x="7498080" y="12344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~2s</a:t>
              </a:r>
              <a:endParaRPr lang="en-US" sz="1200" dirty="0"/>
            </a:p>
          </p:txBody>
        </p:sp>
        <p:sp>
          <p:nvSpPr>
            <p:cNvPr id="36" name="Shape 35">
              <a:extLst>
                <a:ext uri="{FF2B5EF4-FFF2-40B4-BE49-F238E27FC236}">
                  <a16:creationId xmlns:a16="http://schemas.microsoft.com/office/drawing/2014/main" id="{6294E3A6-F03D-D14C-91F5-A0B43C46A90C}"/>
                </a:ext>
              </a:extLst>
            </p:cNvPr>
            <p:cNvSpPr/>
            <p:nvPr/>
          </p:nvSpPr>
          <p:spPr>
            <a:xfrm>
              <a:off x="5212080" y="1581912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69E55D31-230D-0677-6C48-67C3FC17F735}"/>
                </a:ext>
              </a:extLst>
            </p:cNvPr>
            <p:cNvSpPr/>
            <p:nvPr/>
          </p:nvSpPr>
          <p:spPr>
            <a:xfrm>
              <a:off x="5303520" y="158191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 ASR</a:t>
              </a:r>
              <a:endParaRPr lang="en-US" sz="1200" dirty="0"/>
            </a:p>
          </p:txBody>
        </p:sp>
        <p:sp>
          <p:nvSpPr>
            <p:cNvPr id="38" name="Text 37">
              <a:extLst>
                <a:ext uri="{FF2B5EF4-FFF2-40B4-BE49-F238E27FC236}">
                  <a16:creationId xmlns:a16="http://schemas.microsoft.com/office/drawing/2014/main" id="{575907C7-9A19-E677-1823-C36B83D21914}"/>
                </a:ext>
              </a:extLst>
            </p:cNvPr>
            <p:cNvSpPr/>
            <p:nvPr/>
          </p:nvSpPr>
          <p:spPr>
            <a:xfrm>
              <a:off x="7498080" y="15819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~0.5s</a:t>
              </a:r>
              <a:endParaRPr lang="en-US" sz="1200" dirty="0"/>
            </a:p>
          </p:txBody>
        </p:sp>
        <p:sp>
          <p:nvSpPr>
            <p:cNvPr id="39" name="Shape 38">
              <a:extLst>
                <a:ext uri="{FF2B5EF4-FFF2-40B4-BE49-F238E27FC236}">
                  <a16:creationId xmlns:a16="http://schemas.microsoft.com/office/drawing/2014/main" id="{B2DB3E51-89D6-9967-981D-00BD44917A32}"/>
                </a:ext>
              </a:extLst>
            </p:cNvPr>
            <p:cNvSpPr/>
            <p:nvPr/>
          </p:nvSpPr>
          <p:spPr>
            <a:xfrm>
              <a:off x="5212080" y="1929384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1E8E49BA-F38F-E3F1-76A3-25CE5D4A7EE4}"/>
                </a:ext>
              </a:extLst>
            </p:cNvPr>
            <p:cNvSpPr/>
            <p:nvPr/>
          </p:nvSpPr>
          <p:spPr>
            <a:xfrm>
              <a:off x="5303520" y="1929384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Router Agent</a:t>
              </a:r>
              <a:endParaRPr lang="en-US" sz="12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85E0142C-BAD4-4E53-F4B2-E986A0186D24}"/>
                </a:ext>
              </a:extLst>
            </p:cNvPr>
            <p:cNvSpPr/>
            <p:nvPr/>
          </p:nvSpPr>
          <p:spPr>
            <a:xfrm>
              <a:off x="749808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~0.5s</a:t>
              </a:r>
              <a:endParaRPr lang="en-US" sz="1200" dirty="0"/>
            </a:p>
          </p:txBody>
        </p:sp>
        <p:sp>
          <p:nvSpPr>
            <p:cNvPr id="42" name="Shape 41">
              <a:extLst>
                <a:ext uri="{FF2B5EF4-FFF2-40B4-BE49-F238E27FC236}">
                  <a16:creationId xmlns:a16="http://schemas.microsoft.com/office/drawing/2014/main" id="{0F19E7E6-7103-87D1-D5BC-BBE315A2CB7B}"/>
                </a:ext>
              </a:extLst>
            </p:cNvPr>
            <p:cNvSpPr/>
            <p:nvPr/>
          </p:nvSpPr>
          <p:spPr>
            <a:xfrm>
              <a:off x="5212080" y="2276856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3A8371AC-DF4F-114D-62C6-0FC788D438D9}"/>
                </a:ext>
              </a:extLst>
            </p:cNvPr>
            <p:cNvSpPr/>
            <p:nvPr/>
          </p:nvSpPr>
          <p:spPr>
            <a:xfrm>
              <a:off x="5303520" y="2276856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(chat)</a:t>
              </a:r>
              <a:endParaRPr lang="en-US" sz="1200" dirty="0"/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E9D2129C-7938-D31F-D8E7-EDC0264743F0}"/>
                </a:ext>
              </a:extLst>
            </p:cNvPr>
            <p:cNvSpPr/>
            <p:nvPr/>
          </p:nvSpPr>
          <p:spPr>
            <a:xfrm>
              <a:off x="7498080" y="227685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~5-10s</a:t>
              </a:r>
              <a:endParaRPr lang="en-US" sz="1200" dirty="0"/>
            </a:p>
          </p:txBody>
        </p:sp>
        <p:sp>
          <p:nvSpPr>
            <p:cNvPr id="45" name="Shape 44">
              <a:extLst>
                <a:ext uri="{FF2B5EF4-FFF2-40B4-BE49-F238E27FC236}">
                  <a16:creationId xmlns:a16="http://schemas.microsoft.com/office/drawing/2014/main" id="{96214BF8-7292-A90D-AF92-C745702D9C2A}"/>
                </a:ext>
              </a:extLst>
            </p:cNvPr>
            <p:cNvSpPr/>
            <p:nvPr/>
          </p:nvSpPr>
          <p:spPr>
            <a:xfrm>
              <a:off x="5212080" y="2624328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7F8CBF4C-9CC5-2531-E880-CD55EEC65F3C}"/>
                </a:ext>
              </a:extLst>
            </p:cNvPr>
            <p:cNvSpPr/>
            <p:nvPr/>
          </p:nvSpPr>
          <p:spPr>
            <a:xfrm>
              <a:off x="5303520" y="2624328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Report Tool (Jinja2)</a:t>
              </a:r>
              <a:endParaRPr lang="en-US" sz="1200" dirty="0"/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002ED57C-8DEC-5F9B-BAB7-13D5B3FF4110}"/>
                </a:ext>
              </a:extLst>
            </p:cNvPr>
            <p:cNvSpPr/>
            <p:nvPr/>
          </p:nvSpPr>
          <p:spPr>
            <a:xfrm>
              <a:off x="7498080" y="262432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~2-3s</a:t>
              </a:r>
              <a:endParaRPr lang="en-US" sz="1200" dirty="0"/>
            </a:p>
          </p:txBody>
        </p:sp>
        <p:sp>
          <p:nvSpPr>
            <p:cNvPr id="48" name="Shape 47">
              <a:extLst>
                <a:ext uri="{FF2B5EF4-FFF2-40B4-BE49-F238E27FC236}">
                  <a16:creationId xmlns:a16="http://schemas.microsoft.com/office/drawing/2014/main" id="{8D1C67C2-3D93-B7F8-ADF4-834D7D62926D}"/>
                </a:ext>
              </a:extLst>
            </p:cNvPr>
            <p:cNvSpPr/>
            <p:nvPr/>
          </p:nvSpPr>
          <p:spPr>
            <a:xfrm>
              <a:off x="5212080" y="2971800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5B11363E-77F8-398F-82F5-67BAA0A3D0C4}"/>
                </a:ext>
              </a:extLst>
            </p:cNvPr>
            <p:cNvSpPr/>
            <p:nvPr/>
          </p:nvSpPr>
          <p:spPr>
            <a:xfrm>
              <a:off x="5303520" y="2971800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语音回复开始</a:t>
              </a:r>
              <a:endParaRPr lang="en-US" sz="1200" dirty="0"/>
            </a:p>
          </p:txBody>
        </p:sp>
        <p:sp>
          <p:nvSpPr>
            <p:cNvPr id="50" name="Text 49">
              <a:extLst>
                <a:ext uri="{FF2B5EF4-FFF2-40B4-BE49-F238E27FC236}">
                  <a16:creationId xmlns:a16="http://schemas.microsoft.com/office/drawing/2014/main" id="{542FE4E7-C502-3FB7-57C0-3B0C228D3C82}"/>
                </a:ext>
              </a:extLst>
            </p:cNvPr>
            <p:cNvSpPr/>
            <p:nvPr/>
          </p:nvSpPr>
          <p:spPr>
            <a:xfrm>
              <a:off x="7498080" y="29718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~2s (流式)</a:t>
              </a:r>
              <a:endParaRPr lang="en-US" sz="1200" dirty="0"/>
            </a:p>
          </p:txBody>
        </p:sp>
        <p:sp>
          <p:nvSpPr>
            <p:cNvPr id="51" name="Shape 50">
              <a:extLst>
                <a:ext uri="{FF2B5EF4-FFF2-40B4-BE49-F238E27FC236}">
                  <a16:creationId xmlns:a16="http://schemas.microsoft.com/office/drawing/2014/main" id="{CBDAC75B-CD01-E872-C639-10460B5B36CB}"/>
                </a:ext>
              </a:extLst>
            </p:cNvPr>
            <p:cNvSpPr/>
            <p:nvPr/>
          </p:nvSpPr>
          <p:spPr>
            <a:xfrm>
              <a:off x="5212080" y="3319272"/>
              <a:ext cx="3291840" cy="274320"/>
            </a:xfrm>
            <a:prstGeom prst="roundRect">
              <a:avLst>
                <a:gd name="adj" fmla="val 6667"/>
              </a:avLst>
            </a:prstGeom>
            <a:solidFill>
              <a:srgbClr val="0F1624"/>
            </a:solidFill>
            <a:ln w="381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2" name="Text 51">
              <a:extLst>
                <a:ext uri="{FF2B5EF4-FFF2-40B4-BE49-F238E27FC236}">
                  <a16:creationId xmlns:a16="http://schemas.microsoft.com/office/drawing/2014/main" id="{8ABE20F4-DE36-7595-1A5C-2CB1F7B4CC24}"/>
                </a:ext>
              </a:extLst>
            </p:cNvPr>
            <p:cNvSpPr/>
            <p:nvPr/>
          </p:nvSpPr>
          <p:spPr>
            <a:xfrm>
              <a:off x="5303520" y="331927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分析页 URL 推送</a:t>
              </a:r>
              <a:endParaRPr lang="en-US" sz="1200" dirty="0"/>
            </a:p>
          </p:txBody>
        </p:sp>
        <p:sp>
          <p:nvSpPr>
            <p:cNvPr id="53" name="Text 52">
              <a:extLst>
                <a:ext uri="{FF2B5EF4-FFF2-40B4-BE49-F238E27FC236}">
                  <a16:creationId xmlns:a16="http://schemas.microsoft.com/office/drawing/2014/main" id="{CD90CA59-1022-C71F-CD82-E68B534B66D6}"/>
                </a:ext>
              </a:extLst>
            </p:cNvPr>
            <p:cNvSpPr/>
            <p:nvPr/>
          </p:nvSpPr>
          <p:spPr>
            <a:xfrm>
              <a:off x="7498080" y="331927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~5s</a:t>
              </a:r>
              <a:endParaRPr lang="en-US" sz="1200" dirty="0"/>
            </a:p>
          </p:txBody>
        </p:sp>
        <p:sp>
          <p:nvSpPr>
            <p:cNvPr id="54" name="Shape 53">
              <a:extLst>
                <a:ext uri="{FF2B5EF4-FFF2-40B4-BE49-F238E27FC236}">
                  <a16:creationId xmlns:a16="http://schemas.microsoft.com/office/drawing/2014/main" id="{CED09A73-E4DE-6704-DD60-71EAE99DFCDC}"/>
                </a:ext>
              </a:extLst>
            </p:cNvPr>
            <p:cNvSpPr/>
            <p:nvPr/>
          </p:nvSpPr>
          <p:spPr>
            <a:xfrm>
              <a:off x="5212080" y="3849624"/>
              <a:ext cx="3291840" cy="457200"/>
            </a:xfrm>
            <a:prstGeom prst="roundRect">
              <a:avLst>
                <a:gd name="adj" fmla="val 6000"/>
              </a:avLst>
            </a:prstGeom>
            <a:solidFill>
              <a:srgbClr val="2A1F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5" name="Text 54">
              <a:extLst>
                <a:ext uri="{FF2B5EF4-FFF2-40B4-BE49-F238E27FC236}">
                  <a16:creationId xmlns:a16="http://schemas.microsoft.com/office/drawing/2014/main" id="{818DDFD6-69D4-AF4D-DCDC-083D8473F86C}"/>
                </a:ext>
              </a:extLst>
            </p:cNvPr>
            <p:cNvSpPr/>
            <p:nvPr/>
          </p:nvSpPr>
          <p:spPr>
            <a:xfrm>
              <a:off x="5303520" y="3867912"/>
              <a:ext cx="31089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首响应 placeholder TTS；DevOps Agent investigation 5-15min；完成后 EventBridge 异步推送完整报告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BDC5D77-3C63-2D4F-3672-72D8CDBA4BCA}"/>
              </a:ext>
            </a:extLst>
          </p:cNvPr>
          <p:cNvGrpSpPr/>
          <p:nvPr/>
        </p:nvGrpSpPr>
        <p:grpSpPr>
          <a:xfrm>
            <a:off x="684977" y="776967"/>
            <a:ext cx="10950351" cy="5317208"/>
            <a:chOff x="274320" y="640080"/>
            <a:chExt cx="7909560" cy="3419856"/>
          </a:xfrm>
        </p:grpSpPr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22F36D87-EA2C-2BF5-3D33-2672BEDAAAE3}"/>
                </a:ext>
              </a:extLst>
            </p:cNvPr>
            <p:cNvSpPr/>
            <p:nvPr/>
          </p:nvSpPr>
          <p:spPr>
            <a:xfrm>
              <a:off x="27432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13635F76-63DF-31B8-2331-494F295360DD}"/>
                </a:ext>
              </a:extLst>
            </p:cNvPr>
            <p:cNvSpPr/>
            <p:nvPr/>
          </p:nvSpPr>
          <p:spPr>
            <a:xfrm>
              <a:off x="1508760" y="640080"/>
              <a:ext cx="1463040" cy="274320"/>
            </a:xfrm>
            <a:prstGeom prst="rect">
              <a:avLst/>
            </a:prstGeom>
            <a:solidFill>
              <a:srgbClr val="2A1F0A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NLOps</a:t>
              </a:r>
              <a:endParaRPr lang="en-US" sz="105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D59C0D1-170F-EDDB-8C96-749058A4DD01}"/>
                </a:ext>
              </a:extLst>
            </p:cNvPr>
            <p:cNvSpPr/>
            <p:nvPr/>
          </p:nvSpPr>
          <p:spPr>
            <a:xfrm>
              <a:off x="3017520" y="640080"/>
              <a:ext cx="137160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(原生) DevOps Agent</a:t>
              </a:r>
              <a:endParaRPr lang="en-US" sz="105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2EBFEA90-175A-2962-5427-6CBF08AB7369}"/>
                </a:ext>
              </a:extLst>
            </p:cNvPr>
            <p:cNvSpPr/>
            <p:nvPr/>
          </p:nvSpPr>
          <p:spPr>
            <a:xfrm>
              <a:off x="4434840" y="640080"/>
              <a:ext cx="128016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Lex/Chatbot</a:t>
              </a:r>
              <a:endParaRPr lang="en-US" sz="105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A641E72-8ABB-E74B-9086-649FE357ADE0}"/>
                </a:ext>
              </a:extLst>
            </p:cNvPr>
            <p:cNvSpPr/>
            <p:nvPr/>
          </p:nvSpPr>
          <p:spPr>
            <a:xfrm>
              <a:off x="576072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</a:t>
              </a:r>
              <a:endParaRPr lang="en-US" sz="105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3309C083-41D3-BD25-5CDA-C4D063A4E55D}"/>
                </a:ext>
              </a:extLst>
            </p:cNvPr>
            <p:cNvSpPr/>
            <p:nvPr/>
          </p:nvSpPr>
          <p:spPr>
            <a:xfrm>
              <a:off x="6995160" y="640080"/>
              <a:ext cx="1188720" cy="274320"/>
            </a:xfrm>
            <a:prstGeom prst="rect">
              <a:avLst/>
            </a:prstGeom>
            <a:solidFill>
              <a:srgbClr val="1A264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PagerDuty</a:t>
              </a:r>
              <a:endParaRPr lang="en-US" sz="105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B8D7E49-3F0F-A6F3-CA91-73096D987B2C}"/>
                </a:ext>
              </a:extLst>
            </p:cNvPr>
            <p:cNvSpPr/>
            <p:nvPr/>
          </p:nvSpPr>
          <p:spPr>
            <a:xfrm>
              <a:off x="27432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语音交互</a:t>
              </a:r>
              <a:endParaRPr lang="en-US" sz="105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6891CBB-28DD-B83B-AA8B-DB086229934A}"/>
                </a:ext>
              </a:extLst>
            </p:cNvPr>
            <p:cNvSpPr/>
            <p:nvPr/>
          </p:nvSpPr>
          <p:spPr>
            <a:xfrm>
              <a:off x="1508760" y="960120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Nova Sonic</a:t>
              </a:r>
              <a:endParaRPr lang="en-US" sz="105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FA9F2BF1-00D3-1ED2-C36B-018DECA6AFAD}"/>
                </a:ext>
              </a:extLst>
            </p:cNvPr>
            <p:cNvSpPr/>
            <p:nvPr/>
          </p:nvSpPr>
          <p:spPr>
            <a:xfrm>
              <a:off x="3017520" y="960120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</a:t>
              </a:r>
              <a:endParaRPr lang="en-US" sz="105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A93C0150-D8A7-580D-B547-48710F2F66C6}"/>
                </a:ext>
              </a:extLst>
            </p:cNvPr>
            <p:cNvSpPr/>
            <p:nvPr/>
          </p:nvSpPr>
          <p:spPr>
            <a:xfrm>
              <a:off x="4434840" y="960120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Lex ASR</a:t>
              </a:r>
              <a:endParaRPr lang="en-US" sz="10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5C905741-AE19-47BB-B5BF-60A59BEF5545}"/>
                </a:ext>
              </a:extLst>
            </p:cNvPr>
            <p:cNvSpPr/>
            <p:nvPr/>
          </p:nvSpPr>
          <p:spPr>
            <a:xfrm>
              <a:off x="576072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C3CAEFF-F678-AE7A-94C4-A86244EA90DE}"/>
                </a:ext>
              </a:extLst>
            </p:cNvPr>
            <p:cNvSpPr/>
            <p:nvPr/>
          </p:nvSpPr>
          <p:spPr>
            <a:xfrm>
              <a:off x="6995160" y="96012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7A02B85C-FEFD-1219-FD8B-4408D1691636}"/>
                </a:ext>
              </a:extLst>
            </p:cNvPr>
            <p:cNvSpPr/>
            <p:nvPr/>
          </p:nvSpPr>
          <p:spPr>
            <a:xfrm>
              <a:off x="27432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移动端入口</a:t>
              </a:r>
              <a:endParaRPr lang="en-US" sz="105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170C951B-5054-10F4-FBCB-DB6E414C6AE3}"/>
                </a:ext>
              </a:extLst>
            </p:cNvPr>
            <p:cNvSpPr/>
            <p:nvPr/>
          </p:nvSpPr>
          <p:spPr>
            <a:xfrm>
              <a:off x="1508760" y="1307592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Quick+企微+飞书</a:t>
              </a:r>
              <a:endParaRPr lang="en-US" sz="10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FCE69403-13EA-AB61-D576-E61DCD6C3922}"/>
                </a:ext>
              </a:extLst>
            </p:cNvPr>
            <p:cNvSpPr/>
            <p:nvPr/>
          </p:nvSpPr>
          <p:spPr>
            <a:xfrm>
              <a:off x="3017520" y="1307592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Console+Slack</a:t>
              </a:r>
              <a:endParaRPr lang="en-US" sz="10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C9693C9-E45B-C3EA-D12C-F27406E2D5E2}"/>
                </a:ext>
              </a:extLst>
            </p:cNvPr>
            <p:cNvSpPr/>
            <p:nvPr/>
          </p:nvSpPr>
          <p:spPr>
            <a:xfrm>
              <a:off x="4434840" y="1307592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Slack/Teams</a:t>
              </a:r>
              <a:endParaRPr lang="en-US" sz="105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C1DF5ACD-83DC-8FB0-41F9-894B2A138848}"/>
                </a:ext>
              </a:extLst>
            </p:cNvPr>
            <p:cNvSpPr/>
            <p:nvPr/>
          </p:nvSpPr>
          <p:spPr>
            <a:xfrm>
              <a:off x="576072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App</a:t>
              </a:r>
              <a:endParaRPr lang="en-US" sz="105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57024155-E97C-F06D-9C5C-E1CC594A1DF2}"/>
                </a:ext>
              </a:extLst>
            </p:cNvPr>
            <p:cNvSpPr/>
            <p:nvPr/>
          </p:nvSpPr>
          <p:spPr>
            <a:xfrm>
              <a:off x="6995160" y="130759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App</a:t>
              </a:r>
              <a:endParaRPr lang="en-US" sz="10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AE8831C-7847-0E9B-5E8F-9E111B00B61C}"/>
                </a:ext>
              </a:extLst>
            </p:cNvPr>
            <p:cNvSpPr/>
            <p:nvPr/>
          </p:nvSpPr>
          <p:spPr>
            <a:xfrm>
              <a:off x="27432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可视化报告</a:t>
              </a:r>
              <a:endParaRPr lang="en-US" sz="105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4AD55281-0B8B-2A66-B12E-C8612A3444ED}"/>
                </a:ext>
              </a:extLst>
            </p:cNvPr>
            <p:cNvSpPr/>
            <p:nvPr/>
          </p:nvSpPr>
          <p:spPr>
            <a:xfrm>
              <a:off x="1508760" y="1655064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HTML诊断书</a:t>
              </a:r>
              <a:endParaRPr lang="en-US" sz="10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C09CF602-55AD-158C-F1F2-8F4AC2777F0A}"/>
                </a:ext>
              </a:extLst>
            </p:cNvPr>
            <p:cNvSpPr/>
            <p:nvPr/>
          </p:nvSpPr>
          <p:spPr>
            <a:xfrm>
              <a:off x="3017520" y="1655064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文字</a:t>
              </a:r>
              <a:endParaRPr lang="en-US" sz="105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2836939-7308-2DCC-F045-10A76CF14013}"/>
                </a:ext>
              </a:extLst>
            </p:cNvPr>
            <p:cNvSpPr/>
            <p:nvPr/>
          </p:nvSpPr>
          <p:spPr>
            <a:xfrm>
              <a:off x="4434840" y="1655064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A2E22340-82CC-FE7A-88B1-243ED22BFA77}"/>
                </a:ext>
              </a:extLst>
            </p:cNvPr>
            <p:cNvSpPr/>
            <p:nvPr/>
          </p:nvSpPr>
          <p:spPr>
            <a:xfrm>
              <a:off x="576072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对话</a:t>
              </a:r>
              <a:endParaRPr lang="en-US" sz="10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C380544B-B9B8-6239-158D-45D436F5F289}"/>
                </a:ext>
              </a:extLst>
            </p:cNvPr>
            <p:cNvSpPr/>
            <p:nvPr/>
          </p:nvSpPr>
          <p:spPr>
            <a:xfrm>
              <a:off x="6995160" y="165506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27BFA438-C18F-3FC5-963A-1C439A67831D}"/>
                </a:ext>
              </a:extLst>
            </p:cNvPr>
            <p:cNvSpPr/>
            <p:nvPr/>
          </p:nvSpPr>
          <p:spPr>
            <a:xfrm>
              <a:off x="27432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智能程度</a:t>
              </a:r>
              <a:endParaRPr lang="en-US" sz="105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AED8597A-65C7-1A28-307C-81E07D4185E5}"/>
                </a:ext>
              </a:extLst>
            </p:cNvPr>
            <p:cNvSpPr/>
            <p:nvPr/>
          </p:nvSpPr>
          <p:spPr>
            <a:xfrm>
              <a:off x="1508760" y="2002536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多Agent协作</a:t>
              </a:r>
              <a:endParaRPr lang="en-US" sz="105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1CF87849-FE37-739D-71FC-C10B80AB4745}"/>
                </a:ext>
              </a:extLst>
            </p:cNvPr>
            <p:cNvSpPr/>
            <p:nvPr/>
          </p:nvSpPr>
          <p:spPr>
            <a:xfrm>
              <a:off x="3017520" y="2002536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036EDFE9-A13A-5E1F-DF29-E8F883DB34E4}"/>
                </a:ext>
              </a:extLst>
            </p:cNvPr>
            <p:cNvSpPr/>
            <p:nvPr/>
          </p:nvSpPr>
          <p:spPr>
            <a:xfrm>
              <a:off x="4434840" y="2002536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 规则/CLI</a:t>
              </a:r>
              <a:endParaRPr lang="en-US" sz="105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71D08BAA-9684-41A6-1FBF-41E7CAA2EDB6}"/>
                </a:ext>
              </a:extLst>
            </p:cNvPr>
            <p:cNvSpPr/>
            <p:nvPr/>
          </p:nvSpPr>
          <p:spPr>
            <a:xfrm>
              <a:off x="576072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单Agent</a:t>
              </a:r>
              <a:endParaRPr lang="en-US" sz="105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60FDF06B-24B8-881F-EEAE-D8725CB00DCB}"/>
                </a:ext>
              </a:extLst>
            </p:cNvPr>
            <p:cNvSpPr/>
            <p:nvPr/>
          </p:nvSpPr>
          <p:spPr>
            <a:xfrm>
              <a:off x="6995160" y="2002536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E5C97AF1-242A-2C34-7943-2214BD64B0EB}"/>
                </a:ext>
              </a:extLst>
            </p:cNvPr>
            <p:cNvSpPr/>
            <p:nvPr/>
          </p:nvSpPr>
          <p:spPr>
            <a:xfrm>
              <a:off x="27432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根因分析</a:t>
              </a:r>
              <a:endParaRPr lang="en-US" sz="105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BBD75920-7230-6CA3-11A6-E8F19419686D}"/>
                </a:ext>
              </a:extLst>
            </p:cNvPr>
            <p:cNvSpPr/>
            <p:nvPr/>
          </p:nvSpPr>
          <p:spPr>
            <a:xfrm>
              <a:off x="1508760" y="2350008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集成 (原生) DevOps Agent</a:t>
              </a:r>
              <a:endParaRPr lang="en-US" sz="105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02FB5278-D359-9827-9F7B-042BBB2DB539}"/>
                </a:ext>
              </a:extLst>
            </p:cNvPr>
            <p:cNvSpPr/>
            <p:nvPr/>
          </p:nvSpPr>
          <p:spPr>
            <a:xfrm>
              <a:off x="3017520" y="2350008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47F1100B-9509-C216-3365-56C937622FD0}"/>
                </a:ext>
              </a:extLst>
            </p:cNvPr>
            <p:cNvSpPr/>
            <p:nvPr/>
          </p:nvSpPr>
          <p:spPr>
            <a:xfrm>
              <a:off x="4434840" y="2350008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7D2E1991-4927-E026-E18F-3B9BD0DF81AB}"/>
                </a:ext>
              </a:extLst>
            </p:cNvPr>
            <p:cNvSpPr/>
            <p:nvPr/>
          </p:nvSpPr>
          <p:spPr>
            <a:xfrm>
              <a:off x="576072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</a:t>
              </a:r>
              <a:endParaRPr lang="en-US" sz="105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FAAB32BD-9DC3-1D25-704A-7131B86024EE}"/>
                </a:ext>
              </a:extLst>
            </p:cNvPr>
            <p:cNvSpPr/>
            <p:nvPr/>
          </p:nvSpPr>
          <p:spPr>
            <a:xfrm>
              <a:off x="6995160" y="2350008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BC4A94C-A429-A465-B1CB-F3127760DD05}"/>
                </a:ext>
              </a:extLst>
            </p:cNvPr>
            <p:cNvSpPr/>
            <p:nvPr/>
          </p:nvSpPr>
          <p:spPr>
            <a:xfrm>
              <a:off x="27432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执行修复</a:t>
              </a:r>
              <a:endParaRPr lang="en-US" sz="105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A2BC8F01-2D73-D842-502C-4E9AA3D02E05}"/>
                </a:ext>
              </a:extLst>
            </p:cNvPr>
            <p:cNvSpPr/>
            <p:nvPr/>
          </p:nvSpPr>
          <p:spPr>
            <a:xfrm>
              <a:off x="1508760" y="2697480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Policy护栏</a:t>
              </a:r>
              <a:endParaRPr lang="en-US" sz="1050" dirty="0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B681DC3B-E7C5-9B19-6445-11BEC40F0F6C}"/>
                </a:ext>
              </a:extLst>
            </p:cNvPr>
            <p:cNvSpPr/>
            <p:nvPr/>
          </p:nvSpPr>
          <p:spPr>
            <a:xfrm>
              <a:off x="3017520" y="2697480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</a:t>
              </a:r>
              <a:endParaRPr lang="en-US" sz="105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4CED4DEE-0256-3DDF-89DC-2C77ECF05FF3}"/>
                </a:ext>
              </a:extLst>
            </p:cNvPr>
            <p:cNvSpPr/>
            <p:nvPr/>
          </p:nvSpPr>
          <p:spPr>
            <a:xfrm>
              <a:off x="4434840" y="2697480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BE032F2B-5073-1E03-4BDD-56E920DBE6EA}"/>
                </a:ext>
              </a:extLst>
            </p:cNvPr>
            <p:cNvSpPr/>
            <p:nvPr/>
          </p:nvSpPr>
          <p:spPr>
            <a:xfrm>
              <a:off x="576072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45F5070A-94E0-B960-A226-EC0FEA4BF5FB}"/>
                </a:ext>
              </a:extLst>
            </p:cNvPr>
            <p:cNvSpPr/>
            <p:nvPr/>
          </p:nvSpPr>
          <p:spPr>
            <a:xfrm>
              <a:off x="6995160" y="2697480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</a:t>
              </a:r>
              <a:endParaRPr lang="en-US" sz="105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C28AE15A-7224-D8ED-D613-C3E66295EE1A}"/>
                </a:ext>
              </a:extLst>
            </p:cNvPr>
            <p:cNvSpPr/>
            <p:nvPr/>
          </p:nvSpPr>
          <p:spPr>
            <a:xfrm>
              <a:off x="27432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经验沉淀</a:t>
              </a:r>
              <a:endParaRPr lang="en-US" sz="1050" dirty="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5717B8CA-65E1-5E0D-2A66-89A2D2770040}"/>
                </a:ext>
              </a:extLst>
            </p:cNvPr>
            <p:cNvSpPr/>
            <p:nvPr/>
          </p:nvSpPr>
          <p:spPr>
            <a:xfrm>
              <a:off x="1508760" y="3044952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Bedrock KB</a:t>
              </a:r>
              <a:endParaRPr lang="en-US" sz="105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6A8FC6FE-BF1F-4F2A-FA4A-25B7A2109040}"/>
                </a:ext>
              </a:extLst>
            </p:cNvPr>
            <p:cNvSpPr/>
            <p:nvPr/>
          </p:nvSpPr>
          <p:spPr>
            <a:xfrm>
              <a:off x="3017520" y="3044952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CC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⚠️ Skills</a:t>
              </a:r>
              <a:endParaRPr lang="en-US" sz="1050" dirty="0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807141CB-3426-80EF-FFD4-CD418DC9BDF2}"/>
                </a:ext>
              </a:extLst>
            </p:cNvPr>
            <p:cNvSpPr/>
            <p:nvPr/>
          </p:nvSpPr>
          <p:spPr>
            <a:xfrm>
              <a:off x="4434840" y="3044952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9C78BAF4-6790-AF89-C458-71390E7BFDA0}"/>
                </a:ext>
              </a:extLst>
            </p:cNvPr>
            <p:cNvSpPr/>
            <p:nvPr/>
          </p:nvSpPr>
          <p:spPr>
            <a:xfrm>
              <a:off x="576072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2A195153-2D04-D092-5F09-86DFAF8C0385}"/>
                </a:ext>
              </a:extLst>
            </p:cNvPr>
            <p:cNvSpPr/>
            <p:nvPr/>
          </p:nvSpPr>
          <p:spPr>
            <a:xfrm>
              <a:off x="6995160" y="3044952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584DAE5A-3155-FD44-C8EA-1CED8BB7A64F}"/>
                </a:ext>
              </a:extLst>
            </p:cNvPr>
            <p:cNvSpPr/>
            <p:nvPr/>
          </p:nvSpPr>
          <p:spPr>
            <a:xfrm>
              <a:off x="27432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国内IM覆盖</a:t>
              </a:r>
              <a:endParaRPr lang="en-US" sz="1050" dirty="0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B7558AEF-713D-5520-977C-21A177872574}"/>
                </a:ext>
              </a:extLst>
            </p:cNvPr>
            <p:cNvSpPr/>
            <p:nvPr/>
          </p:nvSpPr>
          <p:spPr>
            <a:xfrm>
              <a:off x="1508760" y="3392424"/>
              <a:ext cx="146304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企微+飞书</a:t>
              </a:r>
              <a:endParaRPr lang="en-US" sz="105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5EBC18BD-4CE5-E400-BB08-B2820E802D20}"/>
                </a:ext>
              </a:extLst>
            </p:cNvPr>
            <p:cNvSpPr/>
            <p:nvPr/>
          </p:nvSpPr>
          <p:spPr>
            <a:xfrm>
              <a:off x="3017520" y="3392424"/>
              <a:ext cx="137160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5" name="Text 53">
              <a:extLst>
                <a:ext uri="{FF2B5EF4-FFF2-40B4-BE49-F238E27FC236}">
                  <a16:creationId xmlns:a16="http://schemas.microsoft.com/office/drawing/2014/main" id="{B75478B3-419E-EC5A-F474-418B45C1D9A9}"/>
                </a:ext>
              </a:extLst>
            </p:cNvPr>
            <p:cNvSpPr/>
            <p:nvPr/>
          </p:nvSpPr>
          <p:spPr>
            <a:xfrm>
              <a:off x="4434840" y="3392424"/>
              <a:ext cx="128016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49CFA3BE-1455-43A7-C73E-F093F48B1A4D}"/>
                </a:ext>
              </a:extLst>
            </p:cNvPr>
            <p:cNvSpPr/>
            <p:nvPr/>
          </p:nvSpPr>
          <p:spPr>
            <a:xfrm>
              <a:off x="576072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AF869E3D-299F-5A3E-397D-3C21AB5042CD}"/>
                </a:ext>
              </a:extLst>
            </p:cNvPr>
            <p:cNvSpPr/>
            <p:nvPr/>
          </p:nvSpPr>
          <p:spPr>
            <a:xfrm>
              <a:off x="6995160" y="3392424"/>
              <a:ext cx="1188720" cy="320040"/>
            </a:xfrm>
            <a:prstGeom prst="rect">
              <a:avLst/>
            </a:prstGeom>
            <a:solidFill>
              <a:srgbClr val="0F1624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666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❌</a:t>
              </a:r>
              <a:endParaRPr lang="en-US" sz="1050" dirty="0"/>
            </a:p>
          </p:txBody>
        </p:sp>
        <p:sp>
          <p:nvSpPr>
            <p:cNvPr id="58" name="Text 56">
              <a:extLst>
                <a:ext uri="{FF2B5EF4-FFF2-40B4-BE49-F238E27FC236}">
                  <a16:creationId xmlns:a16="http://schemas.microsoft.com/office/drawing/2014/main" id="{B3D04FFE-D422-2662-B663-450494F732E2}"/>
                </a:ext>
              </a:extLst>
            </p:cNvPr>
            <p:cNvSpPr/>
            <p:nvPr/>
          </p:nvSpPr>
          <p:spPr>
            <a:xfrm>
              <a:off x="27432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定位</a:t>
              </a:r>
              <a:endParaRPr lang="en-US" sz="1050" dirty="0"/>
            </a:p>
          </p:txBody>
        </p:sp>
        <p:sp>
          <p:nvSpPr>
            <p:cNvPr id="59" name="Text 57">
              <a:extLst>
                <a:ext uri="{FF2B5EF4-FFF2-40B4-BE49-F238E27FC236}">
                  <a16:creationId xmlns:a16="http://schemas.microsoft.com/office/drawing/2014/main" id="{1DC9E14E-19E3-9F18-589F-6C70BF932755}"/>
                </a:ext>
              </a:extLst>
            </p:cNvPr>
            <p:cNvSpPr/>
            <p:nvPr/>
          </p:nvSpPr>
          <p:spPr>
            <a:xfrm>
              <a:off x="1508760" y="3739896"/>
              <a:ext cx="146304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驾驶舱 (集成 DevOps Agent)</a:t>
              </a:r>
              <a:endParaRPr lang="en-US" sz="1050" dirty="0"/>
            </a:p>
          </p:txBody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111DAD86-A1AE-3F98-37F6-EB193EAEF3E4}"/>
                </a:ext>
              </a:extLst>
            </p:cNvPr>
            <p:cNvSpPr/>
            <p:nvPr/>
          </p:nvSpPr>
          <p:spPr>
            <a:xfrm>
              <a:off x="3017520" y="3739896"/>
              <a:ext cx="137160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(被 NLOps 集成的引擎)</a:t>
              </a:r>
              <a:endParaRPr lang="en-US" sz="1050" dirty="0"/>
            </a:p>
          </p:txBody>
        </p:sp>
        <p:sp>
          <p:nvSpPr>
            <p:cNvPr id="61" name="Text 59">
              <a:extLst>
                <a:ext uri="{FF2B5EF4-FFF2-40B4-BE49-F238E27FC236}">
                  <a16:creationId xmlns:a16="http://schemas.microsoft.com/office/drawing/2014/main" id="{E472C307-B067-F1D2-50F0-3F46EA314134}"/>
                </a:ext>
              </a:extLst>
            </p:cNvPr>
            <p:cNvSpPr/>
            <p:nvPr/>
          </p:nvSpPr>
          <p:spPr>
            <a:xfrm>
              <a:off x="4434840" y="3739896"/>
              <a:ext cx="128016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命令壳</a:t>
              </a:r>
              <a:endParaRPr lang="en-US" sz="1050" dirty="0"/>
            </a:p>
          </p:txBody>
        </p:sp>
        <p:sp>
          <p:nvSpPr>
            <p:cNvPr id="62" name="Text 60">
              <a:extLst>
                <a:ext uri="{FF2B5EF4-FFF2-40B4-BE49-F238E27FC236}">
                  <a16:creationId xmlns:a16="http://schemas.microsoft.com/office/drawing/2014/main" id="{42EA0170-0FB6-FB90-0D41-639DD3FAD2E3}"/>
                </a:ext>
              </a:extLst>
            </p:cNvPr>
            <p:cNvSpPr/>
            <p:nvPr/>
          </p:nvSpPr>
          <p:spPr>
            <a:xfrm>
              <a:off x="576072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问答助手</a:t>
              </a:r>
              <a:endParaRPr lang="en-US" sz="1050" dirty="0"/>
            </a:p>
          </p:txBody>
        </p:sp>
        <p:sp>
          <p:nvSpPr>
            <p:cNvPr id="63" name="Text 61">
              <a:extLst>
                <a:ext uri="{FF2B5EF4-FFF2-40B4-BE49-F238E27FC236}">
                  <a16:creationId xmlns:a16="http://schemas.microsoft.com/office/drawing/2014/main" id="{FD00C00E-45AF-95A4-4D5E-4B64FE70D485}"/>
                </a:ext>
              </a:extLst>
            </p:cNvPr>
            <p:cNvSpPr/>
            <p:nvPr/>
          </p:nvSpPr>
          <p:spPr>
            <a:xfrm>
              <a:off x="6995160" y="3739896"/>
              <a:ext cx="1188720" cy="320040"/>
            </a:xfrm>
            <a:prstGeom prst="rect">
              <a:avLst/>
            </a:prstGeom>
            <a:solidFill>
              <a:srgbClr val="1A2640"/>
            </a:solidFill>
            <a:ln w="3810">
              <a:solidFill>
                <a:srgbClr val="2A3A5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A0B0C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事件管理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0D6DCB-D587-35FF-26A2-987C4AA9ACDD}"/>
              </a:ext>
            </a:extLst>
          </p:cNvPr>
          <p:cNvGrpSpPr/>
          <p:nvPr/>
        </p:nvGrpSpPr>
        <p:grpSpPr>
          <a:xfrm>
            <a:off x="684979" y="1018489"/>
            <a:ext cx="10550644" cy="5184018"/>
            <a:chOff x="274320" y="777240"/>
            <a:chExt cx="8595360" cy="41148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7F872C31-740F-1B48-0359-4ABAF9D53BEE}"/>
                </a:ext>
              </a:extLst>
            </p:cNvPr>
            <p:cNvSpPr/>
            <p:nvPr/>
          </p:nvSpPr>
          <p:spPr>
            <a:xfrm>
              <a:off x="274320" y="777240"/>
              <a:ext cx="4572000" cy="4114800"/>
            </a:xfrm>
            <a:prstGeom prst="roundRect">
              <a:avLst>
                <a:gd name="adj" fmla="val 111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3071A31C-68BA-93F9-2190-4F58BFDE7711}"/>
                </a:ext>
              </a:extLst>
            </p:cNvPr>
            <p:cNvSpPr/>
            <p:nvPr/>
          </p:nvSpPr>
          <p:spPr>
            <a:xfrm>
              <a:off x="457200" y="868680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月度成本明细</a:t>
              </a:r>
              <a:endParaRPr lang="en-US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0F563732-55DF-4590-EB13-C1540E235A09}"/>
                </a:ext>
              </a:extLst>
            </p:cNvPr>
            <p:cNvSpPr/>
            <p:nvPr/>
          </p:nvSpPr>
          <p:spPr>
            <a:xfrm>
              <a:off x="457200" y="1188720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服务</a:t>
              </a:r>
              <a:endParaRPr lang="en-US" sz="11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E456773D-AA9B-6B52-60DE-0352412633C3}"/>
                </a:ext>
              </a:extLst>
            </p:cNvPr>
            <p:cNvSpPr/>
            <p:nvPr/>
          </p:nvSpPr>
          <p:spPr>
            <a:xfrm>
              <a:off x="2468880" y="1188720"/>
              <a:ext cx="731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月均</a:t>
              </a:r>
              <a:endParaRPr lang="en-US" sz="11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C539D3F3-EAE4-0B08-0189-723265BF17E7}"/>
                </a:ext>
              </a:extLst>
            </p:cNvPr>
            <p:cNvSpPr/>
            <p:nvPr/>
          </p:nvSpPr>
          <p:spPr>
            <a:xfrm>
              <a:off x="3200400" y="1188720"/>
              <a:ext cx="1463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计费模式</a:t>
              </a:r>
              <a:endParaRPr lang="en-US" sz="11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D4161913-19AD-6962-1E85-3314EE393AE7}"/>
                </a:ext>
              </a:extLst>
            </p:cNvPr>
            <p:cNvSpPr/>
            <p:nvPr/>
          </p:nvSpPr>
          <p:spPr>
            <a:xfrm>
              <a:off x="457200" y="1417320"/>
              <a:ext cx="4206240" cy="0"/>
            </a:xfrm>
            <a:prstGeom prst="line">
              <a:avLst/>
            </a:prstGeom>
            <a:noFill/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6D1F51A9-3CFF-25C8-FEA3-247586EF5FD2}"/>
                </a:ext>
              </a:extLst>
            </p:cNvPr>
            <p:cNvSpPr/>
            <p:nvPr/>
          </p:nvSpPr>
          <p:spPr>
            <a:xfrm>
              <a:off x="457200" y="1481328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(Claude/Nova)</a:t>
              </a:r>
              <a:endParaRPr lang="en-US" sz="11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14FD5A19-AA09-B446-780D-1EF2BD0D5FE8}"/>
                </a:ext>
              </a:extLst>
            </p:cNvPr>
            <p:cNvSpPr/>
            <p:nvPr/>
          </p:nvSpPr>
          <p:spPr>
            <a:xfrm>
              <a:off x="2468880" y="1481328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~$248</a:t>
              </a:r>
              <a:endParaRPr lang="en-US" sz="11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DB23D33-97EE-F8FD-57C2-F5A78049BDD8}"/>
                </a:ext>
              </a:extLst>
            </p:cNvPr>
            <p:cNvSpPr/>
            <p:nvPr/>
          </p:nvSpPr>
          <p:spPr>
            <a:xfrm>
              <a:off x="3200400" y="1481328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Token</a:t>
              </a:r>
              <a:endParaRPr lang="en-US" sz="105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A02BCC0-DBAC-9B9C-0514-968C40673F1F}"/>
                </a:ext>
              </a:extLst>
            </p:cNvPr>
            <p:cNvSpPr/>
            <p:nvPr/>
          </p:nvSpPr>
          <p:spPr>
            <a:xfrm>
              <a:off x="457200" y="177393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Nova Sonic</a:t>
              </a:r>
              <a:endParaRPr lang="en-US" sz="11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01A74E5F-779E-B3BC-4089-381C9D26DDA2}"/>
                </a:ext>
              </a:extLst>
            </p:cNvPr>
            <p:cNvSpPr/>
            <p:nvPr/>
          </p:nvSpPr>
          <p:spPr>
            <a:xfrm>
              <a:off x="2468880" y="1773936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~$79</a:t>
              </a:r>
              <a:endParaRPr lang="en-US" sz="11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31324260-5E7C-1D4E-1769-14D0B4FC393C}"/>
                </a:ext>
              </a:extLst>
            </p:cNvPr>
            <p:cNvSpPr/>
            <p:nvPr/>
          </p:nvSpPr>
          <p:spPr>
            <a:xfrm>
              <a:off x="3200400" y="1773936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语音时长</a:t>
              </a:r>
              <a:endParaRPr lang="en-US" sz="105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B1551845-CC67-6A2B-FAD2-57A7BF299171}"/>
                </a:ext>
              </a:extLst>
            </p:cNvPr>
            <p:cNvSpPr/>
            <p:nvPr/>
          </p:nvSpPr>
          <p:spPr>
            <a:xfrm>
              <a:off x="457200" y="2066544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</a:t>
              </a:r>
              <a:endParaRPr lang="en-US" sz="11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10B8BA8-B576-C327-B6FF-56EC68728B62}"/>
                </a:ext>
              </a:extLst>
            </p:cNvPr>
            <p:cNvSpPr/>
            <p:nvPr/>
          </p:nvSpPr>
          <p:spPr>
            <a:xfrm>
              <a:off x="2468880" y="206654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~$1,581</a:t>
              </a:r>
              <a:endParaRPr lang="en-US" sz="11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9EE5A615-5A11-9A63-F5CB-38AD2E2CD028}"/>
                </a:ext>
              </a:extLst>
            </p:cNvPr>
            <p:cNvSpPr/>
            <p:nvPr/>
          </p:nvSpPr>
          <p:spPr>
            <a:xfrm>
              <a:off x="3200400" y="2066544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agent-second</a:t>
              </a:r>
              <a:endParaRPr lang="en-US" sz="105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989AF7B8-B9AB-0F29-0E20-DEE62601022E}"/>
                </a:ext>
              </a:extLst>
            </p:cNvPr>
            <p:cNvSpPr/>
            <p:nvPr/>
          </p:nvSpPr>
          <p:spPr>
            <a:xfrm>
              <a:off x="457200" y="2359152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 (双写)</a:t>
              </a:r>
              <a:endParaRPr lang="en-US" sz="11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3D4BD527-5E74-0878-20F8-1719B21614F2}"/>
                </a:ext>
              </a:extLst>
            </p:cNvPr>
            <p:cNvSpPr/>
            <p:nvPr/>
          </p:nvSpPr>
          <p:spPr>
            <a:xfrm>
              <a:off x="2468880" y="235915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52573592-04DB-75CE-6B5D-47DED3BCEE94}"/>
                </a:ext>
              </a:extLst>
            </p:cNvPr>
            <p:cNvSpPr/>
            <p:nvPr/>
          </p:nvSpPr>
          <p:spPr>
            <a:xfrm>
              <a:off x="3200400" y="2359152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存储+ingest</a:t>
              </a:r>
              <a:endParaRPr lang="en-US" sz="105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B400807A-F9BA-270A-D281-D6DDCADD830E}"/>
                </a:ext>
              </a:extLst>
            </p:cNvPr>
            <p:cNvSpPr/>
            <p:nvPr/>
          </p:nvSpPr>
          <p:spPr>
            <a:xfrm>
              <a:off x="457200" y="265176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EventBridge + DDB</a:t>
              </a:r>
              <a:endParaRPr lang="en-US" sz="11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31F96422-8865-418F-E9C3-9AE8A56990AA}"/>
                </a:ext>
              </a:extLst>
            </p:cNvPr>
            <p:cNvSpPr/>
            <p:nvPr/>
          </p:nvSpPr>
          <p:spPr>
            <a:xfrm>
              <a:off x="2468880" y="2651760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7F4559D8-BCE2-4559-E402-2E50DA87F183}"/>
                </a:ext>
              </a:extLst>
            </p:cNvPr>
            <p:cNvSpPr/>
            <p:nvPr/>
          </p:nvSpPr>
          <p:spPr>
            <a:xfrm>
              <a:off x="3200400" y="265176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事件+会话</a:t>
              </a:r>
              <a:endParaRPr lang="en-US" sz="105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097A173E-CB36-D04F-7DFB-3383D246E649}"/>
                </a:ext>
              </a:extLst>
            </p:cNvPr>
            <p:cNvSpPr/>
            <p:nvPr/>
          </p:nvSpPr>
          <p:spPr>
            <a:xfrm>
              <a:off x="457200" y="2944368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Lambda + API Gateway</a:t>
              </a:r>
              <a:endParaRPr lang="en-US" sz="1100" dirty="0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3E0D46C5-C3D6-5A55-6717-F4697313A80F}"/>
                </a:ext>
              </a:extLst>
            </p:cNvPr>
            <p:cNvSpPr/>
            <p:nvPr/>
          </p:nvSpPr>
          <p:spPr>
            <a:xfrm>
              <a:off x="2468880" y="2944368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~$10</a:t>
              </a:r>
              <a:endParaRPr lang="en-US" sz="1100" dirty="0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AD1409D5-4ABD-7A03-B604-C3238247565B}"/>
                </a:ext>
              </a:extLst>
            </p:cNvPr>
            <p:cNvSpPr/>
            <p:nvPr/>
          </p:nvSpPr>
          <p:spPr>
            <a:xfrm>
              <a:off x="3200400" y="2944368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请求数</a:t>
              </a:r>
              <a:endParaRPr lang="en-US" sz="105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C7CCE9FD-1130-37D6-FF96-C74E72C12721}"/>
                </a:ext>
              </a:extLst>
            </p:cNvPr>
            <p:cNvSpPr/>
            <p:nvPr/>
          </p:nvSpPr>
          <p:spPr>
            <a:xfrm>
              <a:off x="457200" y="323697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S3</a:t>
              </a:r>
              <a:endParaRPr lang="en-US" sz="11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A0863E83-8989-40CB-83E6-BE86C110AC68}"/>
                </a:ext>
              </a:extLst>
            </p:cNvPr>
            <p:cNvSpPr/>
            <p:nvPr/>
          </p:nvSpPr>
          <p:spPr>
            <a:xfrm>
              <a:off x="2468880" y="3236976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~$2</a:t>
              </a:r>
              <a:endParaRPr lang="en-US" sz="1100" dirty="0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51DEA9C7-374C-9C52-AD5C-565CF4B6ED72}"/>
                </a:ext>
              </a:extLst>
            </p:cNvPr>
            <p:cNvSpPr/>
            <p:nvPr/>
          </p:nvSpPr>
          <p:spPr>
            <a:xfrm>
              <a:off x="3200400" y="3236976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报告 + KB sink</a:t>
              </a:r>
              <a:endParaRPr lang="en-US" sz="1050" dirty="0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E8A3315C-840A-3C54-5851-8582C1C78B2C}"/>
                </a:ext>
              </a:extLst>
            </p:cNvPr>
            <p:cNvSpPr/>
            <p:nvPr/>
          </p:nvSpPr>
          <p:spPr>
            <a:xfrm>
              <a:off x="457200" y="3529584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SNS</a:t>
              </a:r>
              <a:endParaRPr lang="en-US" sz="1100" dirty="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97B4AEAF-4B4E-1FB5-03E4-7C2786E65DC4}"/>
                </a:ext>
              </a:extLst>
            </p:cNvPr>
            <p:cNvSpPr/>
            <p:nvPr/>
          </p:nvSpPr>
          <p:spPr>
            <a:xfrm>
              <a:off x="2468880" y="352958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~$5</a:t>
              </a:r>
              <a:endParaRPr lang="en-US" sz="1100" dirty="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EAFE929E-F138-04DF-248F-993D56046D0E}"/>
                </a:ext>
              </a:extLst>
            </p:cNvPr>
            <p:cNvSpPr/>
            <p:nvPr/>
          </p:nvSpPr>
          <p:spPr>
            <a:xfrm>
              <a:off x="3200400" y="3529584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推送条数</a:t>
              </a:r>
              <a:endParaRPr lang="en-US" sz="1050" dirty="0"/>
            </a:p>
          </p:txBody>
        </p:sp>
        <p:sp>
          <p:nvSpPr>
            <p:cNvPr id="34" name="Shape 33">
              <a:extLst>
                <a:ext uri="{FF2B5EF4-FFF2-40B4-BE49-F238E27FC236}">
                  <a16:creationId xmlns:a16="http://schemas.microsoft.com/office/drawing/2014/main" id="{6311B3C4-8DCE-178A-CD42-071E0B98B1FB}"/>
                </a:ext>
              </a:extLst>
            </p:cNvPr>
            <p:cNvSpPr/>
            <p:nvPr/>
          </p:nvSpPr>
          <p:spPr>
            <a:xfrm>
              <a:off x="457200" y="3867912"/>
              <a:ext cx="4206240" cy="0"/>
            </a:xfrm>
            <a:prstGeom prst="line">
              <a:avLst/>
            </a:prstGeom>
            <a:noFill/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AAE0AB8D-E0CF-EC61-06FE-9C02AEE464FE}"/>
                </a:ext>
              </a:extLst>
            </p:cNvPr>
            <p:cNvSpPr/>
            <p:nvPr/>
          </p:nvSpPr>
          <p:spPr>
            <a:xfrm>
              <a:off x="457200" y="391363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合计</a:t>
              </a:r>
              <a:endParaRPr lang="en-US" sz="1200" dirty="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2F79D7ED-923B-B870-98C1-5F5AABCD32AF}"/>
                </a:ext>
              </a:extLst>
            </p:cNvPr>
            <p:cNvSpPr/>
            <p:nvPr/>
          </p:nvSpPr>
          <p:spPr>
            <a:xfrm>
              <a:off x="2468880" y="3913632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~$1,930/月 (无抵扣)</a:t>
              </a:r>
              <a:endParaRPr lang="en-US" sz="1200" dirty="0"/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8C5EC1AA-C042-2022-743A-CD85826592BA}"/>
                </a:ext>
              </a:extLst>
            </p:cNvPr>
            <p:cNvSpPr/>
            <p:nvPr/>
          </p:nvSpPr>
          <p:spPr>
            <a:xfrm>
              <a:off x="3200400" y="3913632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~$39/用户 (裸价) | ~$15/用户 (Enterprise Support 75% 抵扣)</a:t>
              </a:r>
              <a:endParaRPr lang="en-US" sz="1200" dirty="0"/>
            </a:p>
          </p:txBody>
        </p:sp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59BB3065-EA2E-31C2-F9F5-5E193AAA28F4}"/>
                </a:ext>
              </a:extLst>
            </p:cNvPr>
            <p:cNvSpPr/>
            <p:nvPr/>
          </p:nvSpPr>
          <p:spPr>
            <a:xfrm>
              <a:off x="5029200" y="777240"/>
              <a:ext cx="3840480" cy="2011680"/>
            </a:xfrm>
            <a:prstGeom prst="roundRect">
              <a:avLst>
                <a:gd name="adj" fmla="val 2273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9" name="Text 38">
              <a:extLst>
                <a:ext uri="{FF2B5EF4-FFF2-40B4-BE49-F238E27FC236}">
                  <a16:creationId xmlns:a16="http://schemas.microsoft.com/office/drawing/2014/main" id="{FFFD753B-B025-31FB-0675-E8556B434499}"/>
                </a:ext>
              </a:extLst>
            </p:cNvPr>
            <p:cNvSpPr/>
            <p:nvPr/>
          </p:nvSpPr>
          <p:spPr>
            <a:xfrm>
              <a:off x="5212080" y="868680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竞品成本对比</a:t>
              </a:r>
              <a:endParaRPr lang="en-US" dirty="0"/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45D0B6F3-F030-CB81-CD14-792D702FDBD4}"/>
                </a:ext>
              </a:extLst>
            </p:cNvPr>
            <p:cNvSpPr/>
            <p:nvPr/>
          </p:nvSpPr>
          <p:spPr>
            <a:xfrm>
              <a:off x="5212080" y="11887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 + PagerDuty</a:t>
              </a:r>
              <a:endParaRPr lang="en-US" sz="1100" dirty="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04791863-1167-77C7-506F-43555A0B25DC}"/>
                </a:ext>
              </a:extLst>
            </p:cNvPr>
            <p:cNvSpPr/>
            <p:nvPr/>
          </p:nvSpPr>
          <p:spPr>
            <a:xfrm>
              <a:off x="7132320" y="118872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$44-118 /host/月</a:t>
              </a:r>
              <a:endParaRPr lang="en-US" sz="1100" dirty="0"/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F11648A5-6405-1823-4AD0-68598EB6B917}"/>
                </a:ext>
              </a:extLst>
            </p:cNvPr>
            <p:cNvSpPr/>
            <p:nvPr/>
          </p:nvSpPr>
          <p:spPr>
            <a:xfrm>
              <a:off x="5212080" y="150876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Dynatrace</a:t>
              </a:r>
              <a:endParaRPr lang="en-US" sz="1100" dirty="0"/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0E564FCB-2B22-186B-B984-9C0B84CFA18C}"/>
                </a:ext>
              </a:extLst>
            </p:cNvPr>
            <p:cNvSpPr/>
            <p:nvPr/>
          </p:nvSpPr>
          <p:spPr>
            <a:xfrm>
              <a:off x="7132320" y="150876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$69+ /host/月</a:t>
              </a:r>
              <a:endParaRPr lang="en-US" sz="1100" dirty="0"/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2A555F2D-83D2-4F6F-CA86-28158B0F9B4B}"/>
                </a:ext>
              </a:extLst>
            </p:cNvPr>
            <p:cNvSpPr/>
            <p:nvPr/>
          </p:nvSpPr>
          <p:spPr>
            <a:xfrm>
              <a:off x="5212080" y="18288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New Relic + Opsgenie</a:t>
              </a:r>
              <a:endParaRPr lang="en-US" sz="1100" dirty="0"/>
            </a:p>
          </p:txBody>
        </p:sp>
        <p:sp>
          <p:nvSpPr>
            <p:cNvPr id="45" name="Text 44">
              <a:extLst>
                <a:ext uri="{FF2B5EF4-FFF2-40B4-BE49-F238E27FC236}">
                  <a16:creationId xmlns:a16="http://schemas.microsoft.com/office/drawing/2014/main" id="{5F6C39EF-05B5-6796-336C-AB339BFBF58D}"/>
                </a:ext>
              </a:extLst>
            </p:cNvPr>
            <p:cNvSpPr/>
            <p:nvPr/>
          </p:nvSpPr>
          <p:spPr>
            <a:xfrm>
              <a:off x="7132320" y="182880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$50-90 /user/月</a:t>
              </a:r>
              <a:endParaRPr lang="en-US" sz="1100" dirty="0"/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D44A3E3C-7EAC-AB0F-C735-7F4F8202BE8D}"/>
                </a:ext>
              </a:extLst>
            </p:cNvPr>
            <p:cNvSpPr/>
            <p:nvPr/>
          </p:nvSpPr>
          <p:spPr>
            <a:xfrm>
              <a:off x="5212080" y="214884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NLOps</a:t>
              </a:r>
              <a:endParaRPr lang="en-US" sz="1100" dirty="0"/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C91E91CD-78A1-7ADD-CE64-DFBD36B26893}"/>
                </a:ext>
              </a:extLst>
            </p:cNvPr>
            <p:cNvSpPr/>
            <p:nvPr/>
          </p:nvSpPr>
          <p:spPr>
            <a:xfrm>
              <a:off x="7132320" y="2148840"/>
              <a:ext cx="1554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~$15-39 /user/月</a:t>
              </a:r>
              <a:endParaRPr lang="en-US" sz="1100" dirty="0"/>
            </a:p>
          </p:txBody>
        </p:sp>
        <p:sp>
          <p:nvSpPr>
            <p:cNvPr id="48" name="Shape 47">
              <a:extLst>
                <a:ext uri="{FF2B5EF4-FFF2-40B4-BE49-F238E27FC236}">
                  <a16:creationId xmlns:a16="http://schemas.microsoft.com/office/drawing/2014/main" id="{9761BED3-974E-5A34-1B85-B9911E1A6B26}"/>
                </a:ext>
              </a:extLst>
            </p:cNvPr>
            <p:cNvSpPr/>
            <p:nvPr/>
          </p:nvSpPr>
          <p:spPr>
            <a:xfrm>
              <a:off x="5029200" y="2926080"/>
              <a:ext cx="3840480" cy="548640"/>
            </a:xfrm>
            <a:prstGeom prst="roundRect">
              <a:avLst>
                <a:gd name="adj" fmla="val 5000"/>
              </a:avLst>
            </a:prstGeom>
            <a:solidFill>
              <a:srgbClr val="2A1F0A"/>
            </a:solidFill>
            <a:ln w="1016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A71FDCE0-BB2F-04EC-DFDE-405E7C0FC4AB}"/>
                </a:ext>
              </a:extLst>
            </p:cNvPr>
            <p:cNvSpPr/>
            <p:nvPr/>
          </p:nvSpPr>
          <p:spPr>
            <a:xfrm>
              <a:off x="5120640" y="2944368"/>
              <a:ext cx="3657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Enterprise Support 客户净成本 ~$15/用户；含 DevOps Agent 全功能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Unified Operations 客户 100% 抵扣 → 仅 Bedrock+Nova Sonic 成本</a:t>
              </a:r>
              <a:endParaRPr lang="en-US" sz="1100" dirty="0"/>
            </a:p>
          </p:txBody>
        </p:sp>
        <p:sp>
          <p:nvSpPr>
            <p:cNvPr id="50" name="Shape 49">
              <a:extLst>
                <a:ext uri="{FF2B5EF4-FFF2-40B4-BE49-F238E27FC236}">
                  <a16:creationId xmlns:a16="http://schemas.microsoft.com/office/drawing/2014/main" id="{2C3A2981-61C5-3C54-1FA9-C88EC3EDECD9}"/>
                </a:ext>
              </a:extLst>
            </p:cNvPr>
            <p:cNvSpPr/>
            <p:nvPr/>
          </p:nvSpPr>
          <p:spPr>
            <a:xfrm>
              <a:off x="5029200" y="3611880"/>
              <a:ext cx="3840480" cy="1280160"/>
            </a:xfrm>
            <a:prstGeom prst="roundRect">
              <a:avLst>
                <a:gd name="adj" fmla="val 3571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1" name="Text 50">
              <a:extLst>
                <a:ext uri="{FF2B5EF4-FFF2-40B4-BE49-F238E27FC236}">
                  <a16:creationId xmlns:a16="http://schemas.microsoft.com/office/drawing/2014/main" id="{C2CFF38E-1FD3-D0DB-EB62-B1DBC6F5AA34}"/>
                </a:ext>
              </a:extLst>
            </p:cNvPr>
            <p:cNvSpPr/>
            <p:nvPr/>
          </p:nvSpPr>
          <p:spPr>
            <a:xfrm>
              <a:off x="5212080" y="37033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成本特点</a:t>
              </a:r>
              <a:endParaRPr lang="en-US" dirty="0"/>
            </a:p>
          </p:txBody>
        </p:sp>
        <p:sp>
          <p:nvSpPr>
            <p:cNvPr id="52" name="Text 51">
              <a:extLst>
                <a:ext uri="{FF2B5EF4-FFF2-40B4-BE49-F238E27FC236}">
                  <a16:creationId xmlns:a16="http://schemas.microsoft.com/office/drawing/2014/main" id="{3A8CE5DD-D208-05BE-B0B0-1E2B3CD18D53}"/>
                </a:ext>
              </a:extLst>
            </p:cNvPr>
            <p:cNvSpPr/>
            <p:nvPr/>
          </p:nvSpPr>
          <p:spPr>
            <a:xfrm>
              <a:off x="5212080" y="3977640"/>
              <a:ext cx="3474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DevOps Agent 按 agent-second 计费 ($0.0083/s)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Support credit 可抵扣大部分 DevOps Agent 费用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主要成本在 DevOps Agent on-demand chat 累积</a:t>
              </a:r>
              <a:endParaRPr lang="en-US" sz="1100" dirty="0"/>
            </a:p>
            <a:p>
              <a:pPr marL="342900" indent="-342900">
                <a:lnSpc>
                  <a:spcPts val="1400"/>
                </a:lnSpc>
                <a:buSzPct val="100000"/>
                <a:buChar char="•"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Region: us-east-1（DevOps Agent GA 6 region 之一，无中国区）</a:t>
              </a:r>
              <a:endParaRPr lang="en-US" sz="1100" dirty="0"/>
            </a:p>
          </p:txBody>
        </p:sp>
      </p:grpSp>
      <p:sp>
        <p:nvSpPr>
          <p:cNvPr id="53" name="Text 2">
            <a:extLst>
              <a:ext uri="{FF2B5EF4-FFF2-40B4-BE49-F238E27FC236}">
                <a16:creationId xmlns:a16="http://schemas.microsoft.com/office/drawing/2014/main" id="{97F9395D-3448-0A95-18BF-CADF5D3C5BBB}"/>
              </a:ext>
            </a:extLst>
          </p:cNvPr>
          <p:cNvSpPr/>
          <p:nvPr/>
        </p:nvSpPr>
        <p:spPr>
          <a:xfrm>
            <a:off x="738091" y="732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Serverless 按需付费 · 50 用户场景估算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DevOps Agent 集成（v2 增补）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AWS DevOps Agent — 是什么</a:t>
            </a:r>
          </a:p>
          <a:p>
            <a:r>
              <a:rPr sz="1300" b="0"/>
              <a:t>• 自治型 SRE 智能体；preview 2025-12，GA 2026-03-31</a:t>
            </a:r>
          </a:p>
          <a:p>
            <a:r>
              <a:rPr sz="1300" b="0"/>
              <a:t>• 6 个 region：us-east-1 / us-west-2 / eu-central-1 /</a:t>
            </a:r>
          </a:p>
          <a:p>
            <a:r>
              <a:rPr sz="1300" b="0"/>
              <a:t>  eu-west-1 / ap-southeast-2 / ap-northeast-1（无中国区）</a:t>
            </a:r>
          </a:p>
          <a:p>
            <a:r>
              <a:rPr sz="1300" b="0"/>
              <a:t>• 定价：$0.0083 / agent-second（约 $0.5/分钟）</a:t>
            </a:r>
          </a:p>
          <a:p>
            <a:r>
              <a:rPr sz="1300" b="0"/>
              <a:t>• 内置集成：CloudWatch / Datadog / Dynatrace /</a:t>
            </a:r>
          </a:p>
          <a:p>
            <a:r>
              <a:rPr sz="1300" b="0"/>
              <a:t>  NewRelic / Splunk / Grafana / GitHub / GitLab /</a:t>
            </a:r>
          </a:p>
          <a:p>
            <a:r>
              <a:rPr sz="1300" b="0"/>
              <a:t>  ServiceNow / PagerDuty / Slack / Azure DevOps</a:t>
            </a:r>
          </a:p>
          <a:p>
            <a:r>
              <a:rPr sz="1300" b="0"/>
              <a:t>• 自带 Operator Portal、Custom Skills、Code Indexing</a:t>
            </a:r>
          </a:p>
          <a:p/>
          <a:p>
            <a:r>
              <a:rPr sz="1600" b="1"/>
              <a:t>NLOps 与 DevOps Agent 的 4 个集成路径</a:t>
            </a:r>
          </a:p>
          <a:p>
            <a:r>
              <a:rPr sz="1300" b="0"/>
              <a:t>① call-down  NLOps Orchestrator → DevOps Agent on-demand chat</a:t>
            </a:r>
          </a:p>
          <a:p>
            <a:r>
              <a:rPr sz="1300" b="0"/>
              <a:t>② event-up   DevOps Agent → EventBridge → NLOps 渲染 HTML</a:t>
            </a:r>
          </a:p>
          <a:p>
            <a:r>
              <a:rPr sz="1300" b="0"/>
              <a:t>③ mcp-out    DevOps Agent → NLOps MCP Server (客户私有工具)</a:t>
            </a:r>
          </a:p>
          <a:p>
            <a:r>
              <a:rPr sz="1300" b="0"/>
              <a:t>④ mcp-in     NLOps → AWS 官方 MCP (CloudWatch/X-Ray fallback)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0000" y="137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NLOps 真正的差异化 (vs DevOps Agent)</a:t>
            </a:r>
          </a:p>
          <a:p>
            <a:r>
              <a:rPr sz="1300" b="0"/>
              <a:t>① 语音入口  Nova Sonic（DevOps Agent 没有）</a:t>
            </a:r>
          </a:p>
          <a:p>
            <a:r>
              <a:rPr sz="1300" b="0"/>
              <a:t>② 国内 IM   Quick / 企微 / 飞书（DevOps Agent 仅 Slack/ServiceNow）</a:t>
            </a:r>
          </a:p>
          <a:p>
            <a:r>
              <a:rPr sz="1300" b="0"/>
              <a:t>③ HTML 诊断书 — 面向非技术干系人的可视化</a:t>
            </a:r>
          </a:p>
          <a:p>
            <a:r>
              <a:rPr sz="1300" b="0"/>
              <a:t>④ 写操作护栏  Confirm Token + Policy + IAM 三重</a:t>
            </a:r>
          </a:p>
          <a:p>
            <a:r>
              <a:rPr sz="1300" b="0"/>
              <a:t>⑤ 客户专属 MCP — 把客户内部工具暴露给 DevOps Agent</a:t>
            </a:r>
          </a:p>
          <a:p/>
          <a:p>
            <a:r>
              <a:rPr sz="1600" b="1"/>
              <a:t>成本（50 用户）</a:t>
            </a:r>
          </a:p>
          <a:p>
            <a:r>
              <a:rPr sz="1300" b="0"/>
              <a:t>• 月度合计 (无抵扣)         ~$1,930</a:t>
            </a:r>
          </a:p>
          <a:p>
            <a:r>
              <a:rPr sz="1300" b="0"/>
              <a:t>• Enterprise Support 抵扣后  ~$744 (~$15/用户)</a:t>
            </a:r>
          </a:p>
          <a:p>
            <a:r>
              <a:rPr sz="1300" b="0"/>
              <a:t>• Unified Operations 抵扣后  ~$370 (仅 Bedrock+Sonic)</a:t>
            </a:r>
          </a:p>
          <a:p/>
          <a:p>
            <a:r>
              <a:rPr sz="1600" b="1"/>
              <a:t>中国区策略</a:t>
            </a:r>
          </a:p>
          <a:p>
            <a:r>
              <a:rPr sz="1300" b="0"/>
              <a:t>• v1: 全球区部署 (us-east-1)，中国客户走专线/VPN 出境</a:t>
            </a:r>
          </a:p>
          <a:p>
            <a:r>
              <a:rPr sz="1300" b="0"/>
              <a:t>• v3 路径: 待 DevOps Agent 入华，或 SageMaker 自建替代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854933-773D-432F-AA20-17551E849917}">
  <ds:schemaRefs/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05B35A6-8B52-46A5-AE45-B98C6459DC1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10693</TotalTime>
  <Words>1671</Words>
  <Application>Microsoft Office PowerPoint</Application>
  <PresentationFormat>宽屏</PresentationFormat>
  <Paragraphs>467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微软雅黑</vt:lpstr>
      <vt:lpstr>Arial</vt:lpstr>
      <vt:lpstr>Calibri</vt:lpstr>
      <vt:lpstr>Wingdings</vt:lpstr>
      <vt:lpstr>地图集</vt:lpstr>
      <vt:lpstr>PowerPoint 演示文稿</vt:lpstr>
      <vt:lpstr>    背景介绍</vt:lpstr>
      <vt:lpstr>    需求分析</vt:lpstr>
      <vt:lpstr>    难点分析</vt:lpstr>
      <vt:lpstr>    解决方案</vt:lpstr>
      <vt:lpstr>    整体架构</vt:lpstr>
      <vt:lpstr>    核心能力：语音交互 + 移动运维</vt:lpstr>
      <vt:lpstr>    核心能力： 智能分析页</vt:lpstr>
      <vt:lpstr>    核心能力： 智能编排</vt:lpstr>
      <vt:lpstr>    核心能力： 经验闭环</vt:lpstr>
      <vt:lpstr>    方案验证：技术实现</vt:lpstr>
      <vt:lpstr>    方案验证：Demo效果</vt:lpstr>
      <vt:lpstr>    性能分析</vt:lpstr>
      <vt:lpstr>    竞品分析</vt:lpstr>
      <vt:lpstr>    成本分析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1658</cp:revision>
  <dcterms:created xsi:type="dcterms:W3CDTF">2026-02-01T15:24:35Z</dcterms:created>
  <dcterms:modified xsi:type="dcterms:W3CDTF">2026-05-17T13:13:31Z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