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NLOps v4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9900"/>
                </a:solidFill>
              </a:rPr>
              <a:t>基于 AWS DevOps Agent 的自然语言驱动 AI 运维平台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西云数据 · 解决方案架构师 陈朋辉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演示日期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36576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 客户问题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</a:rPr>
              <a:t>某客户迁移 100+ 微服务到 AWS，SRE 团队 AWS 运维经验不足，希望快速完成问题定界定位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39496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73152" cy="2194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DC2626"/>
                </a:solidFill>
              </a:rPr>
              <a:t>🔍 信息分散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指标、日志、事件分散在多个 AWS 控制台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切换上下文耗时,关联难度大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39496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73152" cy="2194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DC2626"/>
                </a:solidFill>
              </a:rPr>
              <a:t>🧠 经验难传承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资深工程师离职即失去关键经验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新成员需数月才能独立处理生产问题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539496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73152" cy="2194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DC2626"/>
                </a:solidFill>
              </a:rPr>
              <a:t>⏱️ 定位耗时长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1772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人工排障平均 1-2 小时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夜间告警尤其依赖随时在场的工程师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114800"/>
            <a:ext cx="539496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160520"/>
            <a:ext cx="73152" cy="2194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DC2626"/>
                </a:solidFill>
              </a:rPr>
              <a:t>📱 移动端缺位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61772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AWS 控制台不适合手机操作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值班工程师离开电脑就无法处理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36576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2. 客户要什么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94960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" cy="2286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A34A"/>
                </a:solidFill>
              </a:rPr>
              <a:t>💬 自然语言交互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120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不学新工具,一句话完成排障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中文/英文都行,IM/语音/桌面都行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394960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73152" cy="2286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A34A"/>
                </a:solidFill>
              </a:rPr>
              <a:t>📊 给结论不给数字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5120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不要 Dashboard 数字罗列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要 AI 解读 + 修复建议 + 证据链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23360"/>
            <a:ext cx="5394960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069080"/>
            <a:ext cx="73152" cy="2286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A34A"/>
                </a:solidFill>
              </a:rPr>
              <a:t>🌙 夜间无人值守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26280"/>
            <a:ext cx="5120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凌晨告警自动调查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醒来时已经知道根因,而不是被叫醒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023360"/>
            <a:ext cx="5394960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069080"/>
            <a:ext cx="73152" cy="2286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1148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A34A"/>
                </a:solidFill>
              </a:rPr>
              <a:t>🧬 经验自动沉淀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526280"/>
            <a:ext cx="5120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处理过的问题下次自动复用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团队经验越积越多,新成员快速上手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36576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3. AWS DevOps Agent 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6EB4"/>
                </a:solidFill>
              </a:rPr>
              <a:t>实现卓越运营的前沿代理 — 2026-03 GA · 自主 AI · 24/7 · 多云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39496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73152" cy="219456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6EB4"/>
                </a:solidFill>
              </a:rPr>
              <a:t>🔔 告别频繁报警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持续进行事件分诊,提供引导式解决方案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39496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73152" cy="219456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6EB4"/>
                </a:solidFill>
              </a:rPr>
              <a:t>🚀 主动卓越运营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从被动应对转向主动实现卓越运营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539496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73152" cy="219456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6EB4"/>
                </a:solidFill>
              </a:rPr>
              <a:t>🔌 多源观测集成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1772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Dynatrace · New Relic · Datadog · Splunk · CloudWatch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114800"/>
            <a:ext cx="539496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160520"/>
            <a:ext cx="73152" cy="219456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6EB4"/>
                </a:solidFill>
              </a:rPr>
              <a:t>🗺️ 智能资源映射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61772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自动映射资源拓扑,提高 MTTR 和应用程序可靠性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36576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4. DevOps Agent 6 大原生能力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721608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" cy="228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447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9900"/>
                </a:solidFill>
              </a:rPr>
              <a:t>🔍 调查问题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4472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完整问题调查生命周期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创建/查看/指导/缓解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280160"/>
            <a:ext cx="3721608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325880"/>
            <a:ext cx="73152" cy="228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371600"/>
            <a:ext cx="3447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9900"/>
                </a:solidFill>
              </a:rPr>
              <a:t>🏗️ 探索基础设施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783080"/>
            <a:ext cx="34472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全维度资源感知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资源/拓扑/指标/日志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6175" y="1280160"/>
            <a:ext cx="3721608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66175" y="1325880"/>
            <a:ext cx="73152" cy="228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5" y="1371600"/>
            <a:ext cx="3447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9900"/>
                </a:solidFill>
              </a:rPr>
              <a:t>💡 处理建议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5" y="1783080"/>
            <a:ext cx="34472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聚合优化建议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成本/性能/安全/可靠性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86200"/>
            <a:ext cx="3721608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73152" cy="228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77639"/>
            <a:ext cx="3447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9900"/>
                </a:solidFill>
              </a:rPr>
              <a:t>📈 可视化报告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389120"/>
            <a:ext cx="34472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图表/表格/拓扑图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服务依赖+健康状态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3886200"/>
            <a:ext cx="3721608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1688" y="3931920"/>
            <a:ext cx="73152" cy="228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3977639"/>
            <a:ext cx="3447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9900"/>
                </a:solidFill>
              </a:rPr>
              <a:t>🔀 代码变更分析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389120"/>
            <a:ext cx="34472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GitHub PR 深度分析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影响/风险/上下文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66175" y="3886200"/>
            <a:ext cx="3721608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66175" y="3931920"/>
            <a:ext cx="73152" cy="228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49055" y="3977639"/>
            <a:ext cx="3447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9900"/>
                </a:solidFill>
              </a:rPr>
              <a:t>⚙️ Skills 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5" y="4389120"/>
            <a:ext cx="34472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封装团队经验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创建/配置/共享技能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36576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5. 业界方案对比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229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方案类型</a:t>
                      </a:r>
                    </a:p>
                  </a:txBody>
                  <a:tcPr marT="50800" marB="50800" marL="101600" marR="1016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代表产品</a:t>
                      </a:r>
                    </a:p>
                  </a:txBody>
                  <a:tcPr marT="50800" marB="50800" marL="101600" marR="1016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做法</a:t>
                      </a:r>
                    </a:p>
                  </a:txBody>
                  <a:tcPr marT="50800" marB="50800" marL="101600" marR="1016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弊端</a:t>
                      </a:r>
                    </a:p>
                  </a:txBody>
                  <a:tcPr marT="50800" marB="50800" marL="101600" marR="101600">
                    <a:solidFill>
                      <a:srgbClr val="232F3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传统监控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CloudWatch / Grafana / Zabbix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Dashboard 展示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给数字不给结论</a:t>
                      </a:r>
                    </a:p>
                  </a:txBody>
                  <a:tcPr marT="50800" marB="50800" marL="101600" marR="101600"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AIOps 平台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Datadog Bits AI / Dynatrace Davis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AI 根因分析 + 修复建议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绑定自有生态,$44-118/host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AWS 原生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AWS DevOps Agent (2026-03 GA)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自主调查 + 跨平台关联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可视化偏控制台,缺中国 IM</a:t>
                      </a:r>
                    </a:p>
                  </a:txBody>
                  <a:tcPr marT="50800" marB="50800" marL="101600" marR="101600"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NLOps v4 (我们)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AWS DOA + 飞书/Quick + HTML诊断书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DOA 引擎 + 中国化体验 + 经验沉淀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9900"/>
                </a:solidFill>
              </a:rPr>
              <a:t>核心差异化: 不是替代 DOA,而是给 DOA 配一个中国化驾驶舱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36576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6. 整体架构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</a:rPr>
              <a:t>基于 DOA 原生能力,仅自建 1 个 Lambda + 5 个 MCP 工具,~800 行代码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32F3E"/>
                </a:solidFill>
                <a:latin typeface="Courier New"/>
              </a:rPr>
              <a:t>┌─ 交互层 ─────────────────────────────────────────────┐</a:t>
            </a:r>
          </a:p>
          <a:p>
            <a:r>
              <a:rPr sz="1200" b="0">
                <a:solidFill>
                  <a:srgbClr val="232F3E"/>
                </a:solidFill>
                <a:latin typeface="Courier New"/>
              </a:rPr>
              <a:t>│  飞书 @机器人 · Quick Desktop · CW Alarm · DOA EB    │</a:t>
            </a:r>
          </a:p>
          <a:p>
            <a:r>
              <a:rPr sz="1200" b="0">
                <a:solidFill>
                  <a:srgbClr val="232F3E"/>
                </a:solidFill>
                <a:latin typeface="Courier New"/>
              </a:rPr>
              <a:t>└──────────────┬───────────────────────────────────────┘</a:t>
            </a:r>
          </a:p>
          <a:p>
            <a:r>
              <a:rPr sz="1200" b="0">
                <a:solidFill>
                  <a:srgbClr val="232F3E"/>
                </a:solidFill>
                <a:latin typeface="Courier New"/>
              </a:rPr>
              <a:t>               ↓  API Gateway (REST) / SNS</a:t>
            </a:r>
          </a:p>
          <a:p>
            <a:r>
              <a:rPr sz="1200" b="0">
                <a:solidFill>
                  <a:srgbClr val="232F3E"/>
                </a:solidFill>
                <a:latin typeface="Courier New"/>
              </a:rPr>
              <a:t>┌─ 编排层 (Orchestrator Lambda 1024MB) ───────────────┐</a:t>
            </a:r>
          </a:p>
          <a:p>
            <a:r>
              <a:rPr sz="1200" b="0">
                <a:solidFill>
                  <a:srgbClr val="232F3E"/>
                </a:solidFill>
                <a:latin typeface="Courier New"/>
              </a:rPr>
              <a:t>│  /chat /lark-event /mcp-quick /webhook-incoming      │</a:t>
            </a:r>
          </a:p>
          <a:p>
            <a:r>
              <a:rPr sz="1200" b="0">
                <a:solidFill>
                  <a:srgbClr val="232F3E"/>
                </a:solidFill>
                <a:latin typeface="Courier New"/>
              </a:rPr>
              <a:t>│  5 MCP 工具 + EB Handler                              │</a:t>
            </a:r>
          </a:p>
          <a:p>
            <a:r>
              <a:rPr sz="1200" b="0">
                <a:solidFill>
                  <a:srgbClr val="232F3E"/>
                </a:solidFill>
                <a:latin typeface="Courier New"/>
              </a:rPr>
              <a:t>└────┬───────────┬───────────┬─────────────────────────┘</a:t>
            </a:r>
          </a:p>
          <a:p>
            <a:r>
              <a:rPr sz="1200" b="0">
                <a:solidFill>
                  <a:srgbClr val="232F3E"/>
                </a:solidFill>
                <a:latin typeface="Courier New"/>
              </a:rPr>
              <a:t>     ↓           ↓           ↓</a:t>
            </a:r>
          </a:p>
          <a:p>
            <a:r>
              <a:rPr sz="1200" b="0">
                <a:solidFill>
                  <a:srgbClr val="232F3E"/>
                </a:solidFill>
                <a:latin typeface="Courier New"/>
              </a:rPr>
              <a:t>   DOA      Bedrock     S3 / DDB / SSM Runbook</a:t>
            </a:r>
          </a:p>
          <a:p>
            <a:r>
              <a:rPr sz="1200" b="0">
                <a:solidFill>
                  <a:srgbClr val="232F3E"/>
                </a:solidFill>
                <a:latin typeface="Courier New"/>
              </a:rPr>
              <a:t> (核心引擎)  Nova Pro    (报告 / 会话 / 自动修复)</a:t>
            </a:r>
          </a:p>
          <a:p>
            <a:r>
              <a:rPr sz="1200" b="0">
                <a:solidFill>
                  <a:srgbClr val="232F3E"/>
                </a:solidFill>
                <a:latin typeface="Courier New"/>
              </a:rPr>
              <a:t> (3 Skills) (AI 增强)</a:t>
            </a:r>
          </a:p>
          <a:p>
            <a:r>
              <a:rPr sz="1200" b="0">
                <a:solidFill>
                  <a:srgbClr val="232F3E"/>
                </a:solidFill>
                <a:latin typeface="Courier New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36576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7. 6 个核心能力(已实现)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721608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" cy="228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447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9900"/>
                </a:solidFill>
              </a:rPr>
              <a:t>🔍 智能诊断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4472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飞书 @机器人 → DOA 自主跨源关联 → 5-15 分钟出根因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280160"/>
            <a:ext cx="3721608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325880"/>
            <a:ext cx="73152" cy="228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371600"/>
            <a:ext cx="3447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9900"/>
                </a:solidFill>
              </a:rPr>
              <a:t>📊 HTML 诊断书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783080"/>
            <a:ext cx="34472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AI 解读 + ECharts 趋势图 + Mermaid 拓扑 + 7 Tabs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6175" y="1280160"/>
            <a:ext cx="3721608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66175" y="1325880"/>
            <a:ext cx="73152" cy="228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5" y="1371600"/>
            <a:ext cx="3447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9900"/>
                </a:solidFill>
              </a:rPr>
              <a:t>🚨 告警自动闭环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5" y="1783080"/>
            <a:ext cx="34472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CW Alarm → DOA → 飞书+邮件双通道,凌晨告警无人值守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86200"/>
            <a:ext cx="3721608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73152" cy="228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77639"/>
            <a:ext cx="3447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9900"/>
                </a:solidFill>
              </a:rPr>
              <a:t>🧬 经验自动沉淀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389120"/>
            <a:ext cx="34472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Nova Pro 提取根因步骤 → 自动生成 Skill,下次秒级匹配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3886200"/>
            <a:ext cx="3721608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1688" y="3931920"/>
            <a:ext cx="73152" cy="228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3977639"/>
            <a:ext cx="3447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9900"/>
                </a:solidFill>
              </a:rPr>
              <a:t>📣 故障公告自动化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389120"/>
            <a:ext cx="34472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AI 自动生成中文用户公告 + SRE 内部摘要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66175" y="3886200"/>
            <a:ext cx="3721608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66175" y="3931920"/>
            <a:ext cx="73152" cy="228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49055" y="3977639"/>
            <a:ext cx="3447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9900"/>
                </a:solidFill>
              </a:rPr>
              <a:t>⚙️ MCP 工具盒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5" y="4389120"/>
            <a:ext cx="34472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5 个标准 MCP 工具,任何 MCP-aware AI 都可调用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36576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8. 核心能力 1: 智能诊断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9900"/>
                </a:solidFill>
              </a:rPr>
              <a:t>"用户说一句话 → DOA 跨源关联分析 → HTML 诊断书 → 邮件/IM 通知"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82880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飞书 @机器人提问 / 凌晨告警自动触发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69748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DOA 自主决定调用工具: CloudWatch · Logs Insights · X-Ray · GitHub deployments · Skills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5-15 分钟 AI 自主跨源关联,识别根因 + 时间线 + 因果链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43484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34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EventBridge 通知 NLOps Lambda → 渲染 HTML 诊断书 → 推送 IM/邮件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36576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9. 核心能力 2: HTML 诊断书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9900"/>
                </a:solidFill>
              </a:rPr>
              <a:t>不是 Dashboard,是 AI 诊断书 — 7 Tabs 仪表盘式报告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721608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73152" cy="2011679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3447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6EB4"/>
                </a:solidFill>
              </a:rPr>
              <a:t>📊 数据图表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344728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ECharts 趋势线 + 阈值标记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554480"/>
            <a:ext cx="3721608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600200"/>
            <a:ext cx="73152" cy="2011679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645920"/>
            <a:ext cx="3447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6EB4"/>
                </a:solidFill>
              </a:rPr>
              <a:t>📝 AI 文字解读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057400"/>
            <a:ext cx="344728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"CPU 14:32 异常上升"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5" y="1554480"/>
            <a:ext cx="3721608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5" y="1600200"/>
            <a:ext cx="73152" cy="2011679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5" y="1645920"/>
            <a:ext cx="3447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6EB4"/>
                </a:solidFill>
              </a:rPr>
              <a:t>🔗 因果分析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5" y="2057400"/>
            <a:ext cx="344728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时间线 + 关联事件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40480"/>
            <a:ext cx="3721608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86200"/>
            <a:ext cx="73152" cy="2011679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3447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6EB4"/>
                </a:solidFill>
              </a:rPr>
              <a:t>💡 操作建议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43400"/>
            <a:ext cx="344728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扩容 RDS Proxy 200→400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1688" y="3840480"/>
            <a:ext cx="3721608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61688" y="3886200"/>
            <a:ext cx="73152" cy="2011679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931920"/>
            <a:ext cx="3447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6EB4"/>
                </a:solidFill>
              </a:rPr>
              <a:t>📎 证据链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343400"/>
            <a:ext cx="344728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日志 + Trace + 部署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66175" y="3840480"/>
            <a:ext cx="3721608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66175" y="3886200"/>
            <a:ext cx="73152" cy="2011679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5" y="3931920"/>
            <a:ext cx="3447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6EB4"/>
                </a:solidFill>
              </a:rPr>
              <a:t>📣 故障公告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9055" y="4343400"/>
            <a:ext cx="344728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AI 自动生成中文公告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36576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10. 核心能力 3: 告警自动闭环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C2626"/>
                </a:solidFill>
              </a:rPr>
              <a:t>凌晨告警 → DOA 自动调查 → 飞书+邮件 + HTML 诊断书 + 自动 Skill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CW Alarm 触发 (CloudWatch 进入 ALARM 状态)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SNS Topic → Lambda Webhook Forwarder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6324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DOA 自动调查 (Investigation 5-15 min,自动应用 Skills)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749039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490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EventBridge 回调 (source=aws.devopsagent · Investigation Completed)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43484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34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渲染诊断书: GetBacklogTask + ListJournalRecords → Jinja2 → S3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512064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双通道通知: 飞书群消息卡片(红/橙) + SES HTML 邮件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36576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11. 核心能力 4: 经验自动沉淀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6A34A"/>
                </a:solidFill>
              </a:rPr>
              <a:t>每次故障处理完,Nova Pro 自动生成新 Skill,下次秒级匹配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故障处理完成,DOA 有完整 markdown 报告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Nova Pro 自动提取: 根因 + 修复步骤 + 时间线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88036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0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生成 Skill markdown (含 frontmatter)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47472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上传到 S3: skills/auto/&lt;name&gt;-&lt;ts&gt;.md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06908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下次相似问题: DOA 自动匹配,应用历史经验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9900"/>
                </a:solidFill>
              </a:rPr>
              <a:t>MTTR 改进效果:  无经验匹配 30 min  →  经验匹配 2 min  (减少 93%)</a:t>
            </a:r>
          </a:p>
          <a:p>
            <a:pPr algn="ctr"/>
            <a:r>
              <a:rPr sz="1400" b="1">
                <a:solidFill>
                  <a:srgbClr val="FF9900"/>
                </a:solidFill>
              </a:rPr>
              <a:t/>
            </a:r>
          </a:p>
          <a:p>
            <a:pPr algn="ctr"/>
            <a:r>
              <a:rPr sz="1400" b="1">
                <a:solidFill>
                  <a:srgbClr val="FF9900"/>
                </a:solidFill>
              </a:rPr>
              <a:t>"每次故障处理完,团队的 AWS 运维经验自动增长一点"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36576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12. Demo 1: 飞书 @机器人智能问诊 (主动场景)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背景: SRE 在飞书群发现 demo-api 慢请求,直接 @机器人发起调查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55448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用户: "@NLOps 帮我调查一下 demo-api 服务为什么慢"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42316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机器人 3 秒回复: "🔍 已启动深度调查 任务 ID: 39a8dd51-... 预计 5-15 分钟完成"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291839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918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DOA 自动应用 ECS Skill,跨源关联 CW + GitHub + RDS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16052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调查完成 → 飞书群自动收到红色卡片(根因+诊断书按钮)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502920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点击按钮 → 浏览器打开图文并茂 HTML 诊断书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36576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13. Demo 2: 凌晨告警自动闭环 (被动场景)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背景: 凌晨 2 点 demo-api 高 CPU,SRE 在睡觉,完整 AI 自主响应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554480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02:00 CW Alarm 触发 (demo-api-high-cpu · CPU &gt; 80%)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423160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SNS → Lambda → DOA start_investigation (priority=HIGH)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291839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918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DOA 应用 Skills (ECS + RDS) 自动跨源关联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160520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5-15 分钟完成,EventBridge 通知 Lambda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5029200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Nova Pro 增强: 故障公告 + SRE 摘要 + 自动 Skill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5897880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飞书群红色卡片 + SES HTML 邮件 + 自动 Skill 上传 S3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36576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14. Demo 3: HTML 诊断书走查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背景: 点击邮件/飞书的诊断书按钮,展开诊断书 7 Tabs 各模块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554480"/>
            <a:ext cx="365760" cy="365760"/>
          </a:xfrm>
          <a:prstGeom prst="ellipse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📊 概览 Tab: ECharts 趋势 + Mermaid 拓扑 + 时间线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423160"/>
            <a:ext cx="365760" cy="365760"/>
          </a:xfrm>
          <a:prstGeom prst="ellipse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🔬 根因 Tab: 根因分析 + SRE 摘要 + 自动 Skill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291839"/>
            <a:ext cx="365760" cy="365760"/>
          </a:xfrm>
          <a:prstGeom prst="ellipse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918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🤖 完整报告 Tab: AI 完整 markdown (marked.js 渲染)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160520"/>
            <a:ext cx="365760" cy="365760"/>
          </a:xfrm>
          <a:prstGeom prst="ellipse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📣 通报 Tab: 中文公告(可一键复制)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5029200"/>
            <a:ext cx="365760" cy="365760"/>
          </a:xfrm>
          <a:prstGeom prst="ellipse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🛠️ 行动 Tab: SSM Runbook 推荐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5897880"/>
            <a:ext cx="365760" cy="365760"/>
          </a:xfrm>
          <a:prstGeom prst="ellipse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📎 证据 Tab: Trace IDs + 日志片段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36576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15. Demo 4: 经验沉淀闭环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背景: 第 1 次故障 vs 第 N 次相似故障,Skill 自动匹配前后对比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554480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第 1 次: 用户问 demo-api 慢 → DOA 全量探索 → ~15 分钟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423160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处理完成 → Nova Pro 自动生成 Skill → 上传 S3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291839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918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第 N 次: 类似告警再次触发 → DOA 加载 Skill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160520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按 Skill 步骤直奔关键路径 → ~2 分钟 (减少 87%)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5029200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F2937"/>
                </a:solidFill>
              </a:rPr>
              <a:t>修复建议直接来自历史经验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16. 性能分析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32F3E"/>
                </a:solidFill>
              </a:rPr>
              <a:t>🎯 用户感知性能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69748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2697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9900"/>
                </a:solidFill>
              </a:rPr>
              <a:t>&lt; 1 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71116"/>
            <a:ext cx="2697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1F2937"/>
                </a:solidFill>
              </a:rPr>
              <a:t>飞书 @机器人 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17320"/>
            <a:ext cx="269748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600200"/>
            <a:ext cx="2697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46EB4"/>
                </a:solidFill>
              </a:rPr>
              <a:t>~12 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071116"/>
            <a:ext cx="2697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1F2937"/>
                </a:solidFill>
              </a:rPr>
              <a:t>告警 → SRE 通知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269748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600200"/>
            <a:ext cx="2697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6A34A"/>
                </a:solidFill>
              </a:rPr>
              <a:t>95-97%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71116"/>
            <a:ext cx="2697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1F2937"/>
                </a:solidFill>
              </a:rPr>
              <a:t>MTTR 改进 (Skill 复用)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417320"/>
            <a:ext cx="269748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600200"/>
            <a:ext cx="2697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DC2626"/>
                </a:solidFill>
              </a:rPr>
              <a:t>&lt; 0.1%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071116"/>
            <a:ext cx="2697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1F2937"/>
                </a:solidFill>
              </a:rPr>
              <a:t>Lambda 错误率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88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32F3E"/>
                </a:solidFill>
              </a:rPr>
              <a:t>⏱️ 告警闭环关键路径耗时分解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3200400"/>
          <a:ext cx="11247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0044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阶段</a:t>
                      </a:r>
                    </a:p>
                  </a:txBody>
                  <a:tcPr marT="38100" marB="381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耗时</a:t>
                      </a:r>
                    </a:p>
                  </a:txBody>
                  <a:tcPr marT="38100" marB="381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占比</a:t>
                      </a:r>
                    </a:p>
                  </a:txBody>
                  <a:tcPr marT="38100" marB="381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瓶颈?</a:t>
                      </a:r>
                    </a:p>
                  </a:txBody>
                  <a:tcPr marT="38100" marB="381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说明</a:t>
                      </a:r>
                    </a:p>
                  </a:txBody>
                  <a:tcPr marT="38100" marB="38100">
                    <a:solidFill>
                      <a:srgbClr val="232F3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CW Alarm → SNS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&lt; 1s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&lt;1%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❌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AWS 内部</a:t>
                      </a:r>
                    </a:p>
                  </a:txBody>
                  <a:tcPr marT="38100" marB="38100"/>
                </a:tc>
              </a:tr>
              <a:tr h="3004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SNS → Lambda</a:t>
                      </a:r>
                    </a:p>
                  </a:txBody>
                  <a:tcPr marT="38100" marB="381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&lt; 100ms</a:t>
                      </a:r>
                    </a:p>
                  </a:txBody>
                  <a:tcPr marT="38100" marB="381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&lt;1%</a:t>
                      </a:r>
                    </a:p>
                  </a:txBody>
                  <a:tcPr marT="38100" marB="381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❌</a:t>
                      </a:r>
                    </a:p>
                  </a:txBody>
                  <a:tcPr marT="38100" marB="381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事件触发</a:t>
                      </a:r>
                    </a:p>
                  </a:txBody>
                  <a:tcPr marT="38100" marB="38100">
                    <a:solidFill>
                      <a:srgbClr val="F7F8FA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Lambda → DOA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~2s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&lt;1%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❌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boto3 调用</a:t>
                      </a:r>
                    </a:p>
                  </a:txBody>
                  <a:tcPr marT="38100" marB="38100"/>
                </a:tc>
              </a:tr>
              <a:tr h="30044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</a:rPr>
                        <a:t>DOA Investigation</a:t>
                      </a:r>
                    </a:p>
                  </a:txBody>
                  <a:tcPr marT="38100" marB="38100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</a:rPr>
                        <a:t>5-15 min</a:t>
                      </a:r>
                    </a:p>
                  </a:txBody>
                  <a:tcPr marT="38100" marB="38100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</a:rPr>
                        <a:t>~99%</a:t>
                      </a:r>
                    </a:p>
                  </a:txBody>
                  <a:tcPr marT="38100" marB="38100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</a:rPr>
                        <a:t>⭐ 主要</a:t>
                      </a:r>
                    </a:p>
                  </a:txBody>
                  <a:tcPr marT="38100" marB="38100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</a:rPr>
                        <a:t>AI 跨源关联调查</a:t>
                      </a:r>
                    </a:p>
                  </a:txBody>
                  <a:tcPr marT="38100" marB="38100">
                    <a:solidFill>
                      <a:srgbClr val="FFF7ED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EB → Lambda 渲染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5-10s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&lt;1%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❌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Nova Pro 并行增强</a:t>
                      </a:r>
                    </a:p>
                  </a:txBody>
                  <a:tcPr marT="38100" marB="38100"/>
                </a:tc>
              </a:tr>
              <a:tr h="3004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飞书 + 邮件推送</a:t>
                      </a:r>
                    </a:p>
                  </a:txBody>
                  <a:tcPr marT="38100" marB="381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1-2s</a:t>
                      </a:r>
                    </a:p>
                  </a:txBody>
                  <a:tcPr marT="38100" marB="381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&lt;1%</a:t>
                      </a:r>
                    </a:p>
                  </a:txBody>
                  <a:tcPr marT="38100" marB="381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❌</a:t>
                      </a:r>
                    </a:p>
                  </a:txBody>
                  <a:tcPr marT="38100" marB="381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双通道并行</a:t>
                      </a:r>
                    </a:p>
                  </a:txBody>
                  <a:tcPr marT="38100" marB="3810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5486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F3E"/>
                </a:solidFill>
              </a:rPr>
              <a:t>🛠️ 5 个 MCP 工具耗时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585216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1524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工具</a:t>
                      </a:r>
                    </a:p>
                  </a:txBody>
                  <a:tcPr marT="25400" marB="254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耗时</a:t>
                      </a:r>
                    </a:p>
                  </a:txBody>
                  <a:tcPr marT="25400" marB="254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类型</a:t>
                      </a:r>
                    </a:p>
                  </a:txBody>
                  <a:tcPr marT="25400" marB="25400">
                    <a:solidFill>
                      <a:srgbClr val="232F3E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query_doa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5-30s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同步</a:t>
                      </a:r>
                    </a:p>
                  </a:txBody>
                  <a:tcPr marT="25400" marB="25400"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start_investigation</a:t>
                      </a:r>
                    </a:p>
                  </a:txBody>
                  <a:tcPr marT="25400" marB="254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~2s</a:t>
                      </a:r>
                    </a:p>
                  </a:txBody>
                  <a:tcPr marT="25400" marB="254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异步</a:t>
                      </a:r>
                    </a:p>
                  </a:txBody>
                  <a:tcPr marT="25400" marB="25400">
                    <a:solidFill>
                      <a:srgbClr val="F7F8FA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get_html_report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3-5s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同步</a:t>
                      </a:r>
                    </a:p>
                  </a:txBody>
                  <a:tcPr marT="25400" marB="25400"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trigger_runbook</a:t>
                      </a:r>
                    </a:p>
                  </a:txBody>
                  <a:tcPr marT="25400" marB="254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1-3s</a:t>
                      </a:r>
                    </a:p>
                  </a:txBody>
                  <a:tcPr marT="25400" marB="254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同步</a:t>
                      </a:r>
                    </a:p>
                  </a:txBody>
                  <a:tcPr marT="25400" marB="25400">
                    <a:solidFill>
                      <a:srgbClr val="F7F8FA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notify_im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1-2s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同步</a:t>
                      </a:r>
                    </a:p>
                  </a:txBody>
                  <a:tcPr marT="25400" marB="25400"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400800" y="5486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F3E"/>
                </a:solidFill>
              </a:rPr>
              <a:t>📊 系统扩展性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400800" y="5852160"/>
          <a:ext cx="530352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1524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维度</a:t>
                      </a:r>
                    </a:p>
                  </a:txBody>
                  <a:tcPr marT="25400" marB="254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当前</a:t>
                      </a:r>
                    </a:p>
                  </a:txBody>
                  <a:tcPr marT="25400" marB="254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上限</a:t>
                      </a:r>
                    </a:p>
                  </a:txBody>
                  <a:tcPr marT="25400" marB="254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余量</a:t>
                      </a:r>
                    </a:p>
                  </a:txBody>
                  <a:tcPr marT="25400" marB="25400">
                    <a:solidFill>
                      <a:srgbClr val="232F3E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Lambda 并发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实测 1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1000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1000x</a:t>
                      </a:r>
                    </a:p>
                  </a:txBody>
                  <a:tcPr marT="25400" marB="25400"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API GW 限流</a:t>
                      </a:r>
                    </a:p>
                  </a:txBody>
                  <a:tcPr marT="25400" marB="254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实测 &lt; 1 RPS</a:t>
                      </a:r>
                    </a:p>
                  </a:txBody>
                  <a:tcPr marT="25400" marB="254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25 RPS</a:t>
                      </a:r>
                    </a:p>
                  </a:txBody>
                  <a:tcPr marT="25400" marB="254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25x</a:t>
                      </a:r>
                    </a:p>
                  </a:txBody>
                  <a:tcPr marT="25400" marB="25400">
                    <a:solidFill>
                      <a:srgbClr val="F7F8FA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DOA 并发调查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1-5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100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20x</a:t>
                      </a:r>
                    </a:p>
                  </a:txBody>
                  <a:tcPr marT="25400" marB="25400"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DDB 容量</a:t>
                      </a:r>
                    </a:p>
                  </a:txBody>
                  <a:tcPr marT="25400" marB="254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&lt;1MB</a:t>
                      </a:r>
                    </a:p>
                  </a:txBody>
                  <a:tcPr marT="25400" marB="254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PAY_PER_REQ</a:t>
                      </a:r>
                    </a:p>
                  </a:txBody>
                  <a:tcPr marT="25400" marB="254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无限</a:t>
                      </a:r>
                    </a:p>
                  </a:txBody>
                  <a:tcPr marT="25400" marB="25400">
                    <a:solidFill>
                      <a:srgbClr val="F7F8FA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调用量/月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~1000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~25,000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937"/>
                          </a:solidFill>
                        </a:rPr>
                        <a:t>25x</a:t>
                      </a:r>
                    </a:p>
                  </a:txBody>
                  <a:tcPr marT="25400" marB="25400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36576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17. 竞品分析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维度</a:t>
                      </a:r>
                    </a:p>
                  </a:txBody>
                  <a:tcPr marT="50800" marB="50800" marL="101600" marR="1016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NLOps v4 (我们)</a:t>
                      </a:r>
                    </a:p>
                  </a:txBody>
                  <a:tcPr marT="50800" marB="50800" marL="101600" marR="1016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Datadog Bits AI</a:t>
                      </a:r>
                    </a:p>
                  </a:txBody>
                  <a:tcPr marT="50800" marB="50800" marL="101600" marR="1016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Dynatrace Davis</a:t>
                      </a:r>
                    </a:p>
                  </a:txBody>
                  <a:tcPr marT="50800" marB="50800" marL="101600" marR="101600">
                    <a:solidFill>
                      <a:srgbClr val="232F3E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定位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AWS 运维驾驶舱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Always-on SRE Agent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Causal AI AIOps</a:t>
                      </a:r>
                    </a:p>
                  </a:txBody>
                  <a:tcPr marT="50800" marB="50800" marL="101600" marR="101600"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入口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中文飞书/Quick/Web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仅 Datadog Chat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仅 DT App / Chat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诊断输出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HTML 诊断书 + 公告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文本摘要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问题卡片</a:t>
                      </a:r>
                    </a:p>
                  </a:txBody>
                  <a:tcPr marT="50800" marB="50800" marL="101600" marR="101600"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经验沉淀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DOA Skills + 自动生成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❌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❌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观测平台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无绑定 (DOA 多源)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Datadog Only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Dynatrace Only</a:t>
                      </a:r>
                    </a:p>
                  </a:txBody>
                  <a:tcPr marT="50800" marB="50800" marL="101600" marR="101600"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月成本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~$9/人 (50 人团队)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$44-118/host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$69-99/host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AWS 深度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DOA 原生 + 5 工具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通用 APM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通用 APM</a:t>
                      </a:r>
                    </a:p>
                  </a:txBody>
                  <a:tcPr marT="50800" marB="50800" marL="101600" marR="101600"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中国市场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飞书原生集成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无中国 IM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无中国 IM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36576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18. 成本估算 (50 用户/月)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9901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服务</a:t>
                      </a:r>
                    </a:p>
                  </a:txBody>
                  <a:tcPr marT="50800" marB="50800" marL="101600" marR="1016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规格</a:t>
                      </a:r>
                    </a:p>
                  </a:txBody>
                  <a:tcPr marT="50800" marB="50800" marL="101600" marR="1016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月费用 (USD)</a:t>
                      </a:r>
                    </a:p>
                  </a:txBody>
                  <a:tcPr marT="50800" marB="50800" marL="101600" marR="101600">
                    <a:solidFill>
                      <a:srgbClr val="232F3E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AWS DevOps Agent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Chat + Investigation (~30h)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$900</a:t>
                      </a:r>
                    </a:p>
                  </a:txBody>
                  <a:tcPr marT="50800" marB="50800" marL="101600" marR="101600"/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Bedrock Nova Pro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Chat router + 报告增强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$60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Lambda × 1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1024MB · ~50K invocations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$5</a:t>
                      </a:r>
                    </a:p>
                  </a:txBody>
                  <a:tcPr marT="50800" marB="50800" marL="101600" marR="101600"/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DynamoDB × 2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Sessions + Audit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$5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API Gateway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REST API · ~50K calls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$3</a:t>
                      </a:r>
                    </a:p>
                  </a:txBody>
                  <a:tcPr marT="50800" marB="50800" marL="101600" marR="101600"/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S3 (诊断书)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HTML + 自动 Skill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$2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SNS + SES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告警路由 + 邮件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$2</a:t>
                      </a:r>
                    </a:p>
                  </a:txBody>
                  <a:tcPr marT="50800" marB="50800" marL="101600" marR="101600"/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合计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/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$977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Enterprise Support 抵扣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DOA 75% 抵扣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-$525</a:t>
                      </a:r>
                    </a:p>
                  </a:txBody>
                  <a:tcPr marT="50800" marB="50800" marL="101600" marR="101600"/>
                </a:tc>
              </a:tr>
              <a:tr h="3990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净成本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50 用户场景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$452 (~$9/用户)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36576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19. 路线图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73152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A34A"/>
                </a:solidFill>
              </a:rPr>
              <a:t>Phase 1 · 核心闭环 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DOA Space + Webhook + 3 Skills + HTML诊断书 + 邮件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1124712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73152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A34A"/>
                </a:solidFill>
              </a:rPr>
              <a:t>Phase 2 · 体验层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1097280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飞书 @机器人 + Quick Desktop + ECharts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1124712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73152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A34A"/>
                </a:solidFill>
              </a:rPr>
              <a:t>Phase 2.5 · AI 增强 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29000"/>
            <a:ext cx="1097280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故障公告 + SRE 摘要 + 经验自动沉淀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94759"/>
            <a:ext cx="1124712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40479"/>
            <a:ext cx="73152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86199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9900"/>
                </a:solidFill>
              </a:rPr>
              <a:t>Phase 3 · 自动修复 (Q3)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97679"/>
            <a:ext cx="1097280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SSM Runbook 扩充 + Kiro 集成代码级修复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63440"/>
            <a:ext cx="1124712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709159"/>
            <a:ext cx="73152" cy="68580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754879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6EB4"/>
                </a:solidFill>
              </a:rPr>
              <a:t>Phase 4 · 智能进阶 (Q4)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66359"/>
            <a:ext cx="1097280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Nova Sonic 语音 + 多模态 + 故障预测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532120"/>
            <a:ext cx="1124712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577840"/>
            <a:ext cx="73152" cy="68580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623559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6EB4"/>
                </a:solidFill>
              </a:rPr>
              <a:t>Phase 5 · 中国区 (2027)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035040"/>
            <a:ext cx="1097280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1F2937"/>
                </a:solidFill>
              </a:rPr>
              <a:t>CloudWatch Investigations 降级 + Bedrock KB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36576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20. 部署架构 (us-east-1)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</a:rPr>
              <a:t>最小化 Serverless 部署: 1 Lambda + 2 DDB + 1 S3 + 1 API GW + 2 SSM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32F3E"/>
                </a:solidFill>
                <a:latin typeface="Courier New"/>
              </a:rPr>
              <a:t>┌─────────────────────────────────────────────────────────────────────┐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sz="1000" b="0">
                <a:solidFill>
                  <a:srgbClr val="232F3E"/>
                </a:solidFill>
                <a:latin typeface="Courier New"/>
              </a:rPr>
              <a:t>│  入口: 飞书 @机器人 · Quick Desktop · CW Alarm · DOA EventBridge   │</a:t>
            </a:r>
          </a:p>
          <a:p>
            <a:r>
              <a:rPr sz="1000" b="0">
                <a:solidFill>
                  <a:srgbClr val="232F3E"/>
                </a:solidFill>
                <a:latin typeface="Courier New"/>
              </a:rPr>
              <a:t>└────────────────────────────┬────────────────────────────────────────┘</a:t>
            </a:r>
          </a:p>
          <a:p>
            <a:r>
              <a:rPr sz="1000" b="0">
                <a:solidFill>
                  <a:srgbClr val="232F3E"/>
                </a:solidFill>
                <a:latin typeface="Courier New"/>
              </a:rPr>
              <a:t>                             ↓  API Gateway (REST)</a:t>
            </a:r>
          </a:p>
          <a:p>
            <a:r>
              <a:rPr sz="1000" b="0">
                <a:solidFill>
                  <a:srgbClr val="232F3E"/>
                </a:solidFill>
                <a:latin typeface="Courier New"/>
              </a:rPr>
              <a:t>   ┌─────────────────────────────────────────────────────────────┐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sz="1000" b="0">
                <a:solidFill>
                  <a:srgbClr val="232F3E"/>
                </a:solidFill>
                <a:latin typeface="Courier New"/>
              </a:rPr>
              <a:t>   │  Orchestrator Lambda  (1024MB · Python 3.12 · 4 路由)        │</a:t>
            </a:r>
          </a:p>
          <a:p>
            <a:r>
              <a:rPr sz="1000" b="0">
                <a:solidFill>
                  <a:srgbClr val="232F3E"/>
                </a:solidFill>
                <a:latin typeface="Courier New"/>
              </a:rPr>
              <a:t>   │  ├── api_handler.py     主路由 + EB Handler                  │</a:t>
            </a:r>
          </a:p>
          <a:p>
            <a:r>
              <a:rPr sz="1000" b="0">
                <a:solidFill>
                  <a:srgbClr val="232F3E"/>
                </a:solidFill>
                <a:latin typeface="Courier New"/>
              </a:rPr>
              <a:t>   │  ├── lark_handler.py    飞书事件 (异步两段式)                 │</a:t>
            </a:r>
          </a:p>
          <a:p>
            <a:r>
              <a:rPr sz="1000" b="0">
                <a:solidFill>
                  <a:srgbClr val="232F3E"/>
                </a:solidFill>
                <a:latin typeface="Courier New"/>
              </a:rPr>
              <a:t>   │  ├── v4_tools.py        5 个 MCP 工具                         │</a:t>
            </a:r>
          </a:p>
          <a:p>
            <a:r>
              <a:rPr sz="1000" b="0">
                <a:solidFill>
                  <a:srgbClr val="232F3E"/>
                </a:solidFill>
                <a:latin typeface="Courier New"/>
              </a:rPr>
              <a:t>   │  ├── ai_enhance.py      Nova Pro 增强                         │</a:t>
            </a:r>
          </a:p>
          <a:p>
            <a:r>
              <a:rPr sz="1000" b="0">
                <a:solidFill>
                  <a:srgbClr val="232F3E"/>
                </a:solidFill>
                <a:latin typeface="Courier New"/>
              </a:rPr>
              <a:t>   │  └── report/            Jinja2 + 模板                         │</a:t>
            </a:r>
          </a:p>
          <a:p>
            <a:r>
              <a:rPr sz="1000" b="0">
                <a:solidFill>
                  <a:srgbClr val="232F3E"/>
                </a:solidFill>
                <a:latin typeface="Courier New"/>
              </a:rPr>
              <a:t>   └─────────┬─────────┬───────────┬──────────────┬───────────────┘</a:t>
            </a:r>
          </a:p>
          <a:p>
            <a:r>
              <a:rPr sz="1000" b="0">
                <a:solidFill>
                  <a:srgbClr val="232F3E"/>
                </a:solidFill>
                <a:latin typeface="Courier New"/>
              </a:rPr>
              <a:t>             ↓         ↓           ↓              ↓</a:t>
            </a:r>
          </a:p>
          <a:p>
            <a:r>
              <a:rPr sz="1000" b="0">
                <a:solidFill>
                  <a:srgbClr val="232F3E"/>
                </a:solidFill>
                <a:latin typeface="Courier New"/>
              </a:rPr>
              <a:t>        ┌────────┐ ┌────────┐ ┌─────────┐  ┌──────────────┐</a:t>
            </a:r>
          </a:p>
          <a:p>
            <a:r>
              <a:rPr sz="1000" b="0">
                <a:solidFill>
                  <a:srgbClr val="232F3E"/>
                </a:solidFill>
                <a:latin typeface="Courier New"/>
              </a:rPr>
              <a:t>        │ DOA    │ │ Bedrock│ │ S3      │  │ SSM Runbook  │</a:t>
            </a:r>
          </a:p>
          <a:p>
            <a:r>
              <a:rPr sz="1000" b="0">
                <a:solidFill>
                  <a:srgbClr val="232F3E"/>
                </a:solidFill>
                <a:latin typeface="Courier New"/>
              </a:rPr>
              <a:t>        │ 3 Skills│ │ Nova Pro│ │ Reports │  │ ECS / RDS    │</a:t>
            </a:r>
          </a:p>
          <a:p>
            <a:r>
              <a:rPr sz="1000" b="0">
                <a:solidFill>
                  <a:srgbClr val="232F3E"/>
                </a:solidFill>
                <a:latin typeface="Courier New"/>
              </a:rPr>
              <a:t>        └────────┘ └────────┘ └─────────┘  └──────────────┘</a:t>
            </a:r>
          </a:p>
          <a:p>
            <a:r>
              <a:rPr sz="1000" b="0">
                <a:solidFill>
                  <a:srgbClr val="232F3E"/>
                </a:solidFill>
                <a:latin typeface="Courier New"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36576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21. 核心差异化 (vs DOA 原生)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5314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维度</a:t>
                      </a:r>
                    </a:p>
                  </a:txBody>
                  <a:tcPr marT="50800" marB="50800" marL="101600" marR="1016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DOA 原生</a:t>
                      </a:r>
                    </a:p>
                  </a:txBody>
                  <a:tcPr marT="50800" marB="50800" marL="101600" marR="1016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NLOps v4 增量</a:t>
                      </a:r>
                    </a:p>
                  </a:txBody>
                  <a:tcPr marT="50800" marB="50800" marL="101600" marR="101600">
                    <a:solidFill>
                      <a:srgbClr val="232F3E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入口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Operator Console / Slack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+ 飞书 @机器人 / Quick Desktop / 邮件</a:t>
                      </a:r>
                    </a:p>
                  </a:txBody>
                  <a:tcPr marT="50800" marB="50800" marL="101600" marR="101600"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输出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文本 + Slack 消息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+ HTML 诊断书 (图表 + AI 解读 + 证据链)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经验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Skills (手动创建)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+ 自动从 Investigation 生成 Skill</a:t>
                      </a:r>
                    </a:p>
                  </a:txBody>
                  <a:tcPr marT="50800" marB="50800" marL="101600" marR="101600"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故障通报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❌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+ 自动生成中文公告 + SRE 摘要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修复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Mitigation Plan (建议)</a:t>
                      </a:r>
                    </a:p>
                  </a:txBody>
                  <a:tcPr marT="50800" marB="50800" marL="101600" marR="1016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+ SSM 自动执行 (Kiro 代码修复 Roadmap)</a:t>
                      </a:r>
                    </a:p>
                  </a:txBody>
                  <a:tcPr marT="50800" marB="50800" marL="101600" marR="101600"/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中国 IM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❌ 仅 Slack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</a:rPr>
                        <a:t>+ 飞书原生集成</a:t>
                      </a:r>
                    </a:p>
                  </a:txBody>
                  <a:tcPr marT="50800" marB="50800" marL="101600" marR="10160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9900"/>
                </a:solidFill>
              </a:rPr>
              <a:t>一句话定位: NLOps v4 = DOA 的中国化体验层 + 可视化诊断书 + 自动经验沉淀 + 故障公告自动化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谢谢!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9900"/>
                </a:solidFill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035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GitHub: github.com/penghui1234/nlops · 西云数据 · 陈朋辉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