
<file path=[Content_Types].xml><?xml version="1.0" encoding="utf-8"?>
<Types xmlns="http://schemas.openxmlformats.org/package/2006/content-types">
  <Default Extension="emf" ContentType="image/x-em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85" r:id="rId5"/>
    <p:sldId id="330" r:id="rId6"/>
    <p:sldId id="351" r:id="rId7"/>
    <p:sldId id="350" r:id="rId8"/>
    <p:sldId id="331" r:id="rId9"/>
    <p:sldId id="362" r:id="rId10"/>
    <p:sldId id="363" r:id="rId11"/>
    <p:sldId id="333" r:id="rId12"/>
    <p:sldId id="334" r:id="rId13"/>
    <p:sldId id="346" r:id="rId14"/>
    <p:sldId id="355" r:id="rId15"/>
    <p:sldId id="356" r:id="rId16"/>
    <p:sldId id="357" r:id="rId17"/>
    <p:sldId id="358" r:id="rId18"/>
    <p:sldId id="359" r:id="rId19"/>
    <p:sldId id="360" r:id="rId20"/>
    <p:sldId id="345" r:id="rId21"/>
    <p:sldId id="342" r:id="rId22"/>
    <p:sldId id="344" r:id="rId23"/>
    <p:sldId id="361" r:id="rId24"/>
    <p:sldId id="300" r:id="rId25"/>
    <p:sldId id="353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8850" autoAdjust="0"/>
  </p:normalViewPr>
  <p:slideViewPr>
    <p:cSldViewPr snapToGrid="0" showGuides="1">
      <p:cViewPr varScale="1">
        <p:scale>
          <a:sx n="85" d="100"/>
          <a:sy n="85" d="100"/>
        </p:scale>
        <p:origin x="552" y="54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tags" Target="tags/tag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E9EE-7D3E-5F9C-884B-E4E8433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06D079-CD37-05A1-AAD4-498773E1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A2B97-4991-030C-C9A1-A778557A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7353F-9595-6386-C974-E7D0EA647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F5EB-71EC-5FBE-65E6-F8F5D677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B3DAD-1762-08F2-B166-769E0B14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F0026B-B116-3FF6-CDDE-551DABCB2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6D0A-6AED-353D-FF0E-0E5E072A6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7E89F-2819-AAAB-4557-95E8639A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32D784-5411-0EE0-6C60-130061F7B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0756D2-C2A9-7A9B-5617-C7625967D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1200" dirty="0"/>
              <a:t>MTTR</a:t>
            </a:r>
            <a:r>
              <a:rPr lang="zh-CN" altLang="en-US" sz="1200" dirty="0"/>
              <a:t>（</a:t>
            </a:r>
            <a:r>
              <a:rPr lang="en-US" altLang="zh-CN" sz="1200" dirty="0"/>
              <a:t>Mean Time To Recovery / </a:t>
            </a:r>
            <a:r>
              <a:rPr lang="zh-CN" altLang="en-US" sz="1200" dirty="0"/>
              <a:t>平均恢复时间），从故障发生到服务恢复正常的平均时间。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E54FC-C758-645F-44E2-B4E3DE9F2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0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F835-D23A-2694-202C-7532B484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5DAFE8-83F8-9D30-F533-659057623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F9AD12-5369-010C-8DFE-679F6FEDB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1200" dirty="0"/>
              <a:t>MTTR</a:t>
            </a:r>
            <a:r>
              <a:rPr lang="zh-CN" altLang="en-US" sz="1200" dirty="0"/>
              <a:t>（</a:t>
            </a:r>
            <a:r>
              <a:rPr lang="en-US" altLang="zh-CN" sz="1200" dirty="0"/>
              <a:t>Mean Time To Recovery / </a:t>
            </a:r>
            <a:r>
              <a:rPr lang="zh-CN" altLang="en-US" sz="1200" dirty="0"/>
              <a:t>平均恢复时间），从故障发生到服务恢复正常的平均时间。</a:t>
            </a: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E188D6-7C27-B6A2-2A62-15DB520F9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3B2D-1028-530E-4CD0-749C7240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6B6C8B-3DDB-68DF-A452-73B38B852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365B0-61CA-66A2-A2F9-43D6B62C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59189-4A52-FA4E-8449-B73BEBAB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495-11E4-46A5-A48F-0F4D59A4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0AA51-F56E-423C-73B3-98AD8491C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89FCE-D1C7-F62B-5F2C-6943DE14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B385E-BFDF-FA61-1ADE-BF9212D1F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2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607-2877-BF8A-A381-1303E58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6E600D-1EEA-74FD-2CC3-FAC2FB2F1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172F9-DF4C-A4F4-5FFD-0076E76AC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B0382-263A-1B6A-08D7-2552A4A57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8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8420-E1F3-1556-9E7A-0565BA10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52A26-203C-F280-E5DC-B1474CAFB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2CC30-5C70-5793-D7C7-437295E8D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394D3-C4AF-45DB-08A3-66A7166B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26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83FA-0A08-9675-64D9-B19B1525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9A6DA-C1E7-B0B8-8B26-15AA18715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80E66-ECAA-EF83-45E0-8296E2DC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C71C-753C-DD97-30A3-56F04213E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5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8AC-2D40-4733-FE52-273ED539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0DCA45-A10E-A7D5-3BC0-9982D2B1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8C0890-EC5D-29E0-EB09-8775091B7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D8E28-D109-0C72-DF07-08BC9DB3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97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6DA0-9171-9331-7BB9-F431E7D0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946629-5E1E-5C3E-2001-ACDB9128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FFA58D-BD8F-1005-3EEC-87203501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6BCC28-6495-F205-FBCF-164FFAE28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61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79A0-9482-636D-462E-0E932D89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E6114-2AF7-099A-A9D9-665B7E8D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4CE707-007E-F741-56C5-B6FE97CE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加一张数据的来源，以前这个前置条件，要开什么服务？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EDAD3-8BD5-3446-483D-7C05473FB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65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1.mp4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../media/media2.mp4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客户的问题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607736" y="1019796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，大量使用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ECS/ ALB/ Lambda/ RDS/ ElastiCache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等托管服务。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团队当前对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服务运维经验不足，希望能快速完成问题定界定位，并逐步积累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运维经验。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607736" y="210929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607736" y="3819552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故障处理依赖对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熟悉的工程师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518383" y="3819552"/>
            <a:ext cx="6190141" cy="2392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指标多但看不懂，缺乏解读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定位耗时长，小时级别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值班不在电脑旁时无法操作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25B7-2A3C-BFA3-CA18-E50DEEF0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F1831-D4EA-9EDF-81E9-97EEEB86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226"/>
            <a:ext cx="12192000" cy="74980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问题的挑战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34895E2-7F07-D17D-BD46-9482CCD0B521}"/>
              </a:ext>
            </a:extLst>
          </p:cNvPr>
          <p:cNvGrpSpPr/>
          <p:nvPr/>
        </p:nvGrpSpPr>
        <p:grpSpPr>
          <a:xfrm>
            <a:off x="1250294" y="1272032"/>
            <a:ext cx="10224156" cy="4407408"/>
            <a:chOff x="1555094" y="1170432"/>
            <a:chExt cx="6217920" cy="4407408"/>
          </a:xfrm>
        </p:grpSpPr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D8AFE664-278A-474E-28D5-27896B540271}"/>
                </a:ext>
              </a:extLst>
            </p:cNvPr>
            <p:cNvSpPr/>
            <p:nvPr/>
          </p:nvSpPr>
          <p:spPr>
            <a:xfrm>
              <a:off x="1555094" y="11704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1AE7899E-22A3-ECDD-B2C4-FB8B72FD9AB2}"/>
                </a:ext>
              </a:extLst>
            </p:cNvPr>
            <p:cNvSpPr/>
            <p:nvPr/>
          </p:nvSpPr>
          <p:spPr>
            <a:xfrm>
              <a:off x="1760833" y="1258316"/>
              <a:ext cx="365761" cy="585216"/>
            </a:xfrm>
            <a:prstGeom prst="ellipse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6DA22DC3-CC1D-66E8-994E-ED34D4322740}"/>
                </a:ext>
              </a:extLst>
            </p:cNvPr>
            <p:cNvSpPr/>
            <p:nvPr/>
          </p:nvSpPr>
          <p:spPr>
            <a:xfrm>
              <a:off x="1737974" y="133502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13A40"/>
                  </a:solidFill>
                </a:rPr>
                <a:t>1</a:t>
              </a:r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ABAA6C85-BFDB-58C2-14E7-00F177C9D2D7}"/>
                </a:ext>
              </a:extLst>
            </p:cNvPr>
            <p:cNvSpPr/>
            <p:nvPr/>
          </p:nvSpPr>
          <p:spPr>
            <a:xfrm>
              <a:off x="2286614" y="12435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多源数据关联</a:t>
              </a:r>
              <a:endParaRPr lang="en-US" dirty="0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32973696-CC1F-601C-BA5C-BB2A3633E517}"/>
                </a:ext>
              </a:extLst>
            </p:cNvPr>
            <p:cNvSpPr/>
            <p:nvPr/>
          </p:nvSpPr>
          <p:spPr>
            <a:xfrm>
              <a:off x="2286614" y="15361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变更，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类数据散落在不同服务</a:t>
              </a:r>
              <a:endParaRPr lang="en-US" sz="14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4D0B5CA3-620B-41B8-E2AA-C3AFC8F243B5}"/>
                </a:ext>
              </a:extLst>
            </p:cNvPr>
            <p:cNvSpPr/>
            <p:nvPr/>
          </p:nvSpPr>
          <p:spPr>
            <a:xfrm>
              <a:off x="1555094" y="20848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5686F45E-0A75-6B4B-D4D1-84A271EDABE5}"/>
                </a:ext>
              </a:extLst>
            </p:cNvPr>
            <p:cNvSpPr/>
            <p:nvPr/>
          </p:nvSpPr>
          <p:spPr>
            <a:xfrm>
              <a:off x="2286614" y="21579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指标体系庞大</a:t>
              </a:r>
              <a:endParaRPr lang="en-US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AD520001-D4EC-4DE0-342A-92562E56655C}"/>
                </a:ext>
              </a:extLst>
            </p:cNvPr>
            <p:cNvSpPr/>
            <p:nvPr/>
          </p:nvSpPr>
          <p:spPr>
            <a:xfrm>
              <a:off x="2286614" y="24505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ECS 就有 CPU/内存/网络/</a:t>
              </a:r>
              <a:r>
                <a:rPr lang="en-US" sz="1400" dirty="0" err="1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任务数等几十个指标，不知道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要看哪个</a:t>
              </a:r>
              <a:endParaRPr lang="en-US" sz="1400" dirty="0"/>
            </a:p>
          </p:txBody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F7C32D88-AC4A-121F-983D-896B341C44A9}"/>
                </a:ext>
              </a:extLst>
            </p:cNvPr>
            <p:cNvSpPr/>
            <p:nvPr/>
          </p:nvSpPr>
          <p:spPr>
            <a:xfrm>
              <a:off x="1555094" y="29992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3A6AF86F-D4FA-9D32-800C-4C6AD1464352}"/>
                </a:ext>
              </a:extLst>
            </p:cNvPr>
            <p:cNvSpPr/>
            <p:nvPr/>
          </p:nvSpPr>
          <p:spPr>
            <a:xfrm>
              <a:off x="2286614" y="30723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根因跨服务</a:t>
              </a:r>
              <a:endParaRPr lang="en-US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EF71124A-A67F-CA31-6F52-C59EA53655F5}"/>
                </a:ext>
              </a:extLst>
            </p:cNvPr>
            <p:cNvSpPr/>
            <p:nvPr/>
          </p:nvSpPr>
          <p:spPr>
            <a:xfrm>
              <a:off x="2286614" y="33649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慢不一定是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的问题，可能是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导致的</a:t>
              </a:r>
              <a:endParaRPr lang="en-US" sz="1400" dirty="0"/>
            </a:p>
          </p:txBody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E72A6386-1EF0-589D-DDDA-FD840699996C}"/>
                </a:ext>
              </a:extLst>
            </p:cNvPr>
            <p:cNvSpPr/>
            <p:nvPr/>
          </p:nvSpPr>
          <p:spPr>
            <a:xfrm>
              <a:off x="1555094" y="39136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56544341-E96D-2A08-92EC-C5E43780BE34}"/>
                </a:ext>
              </a:extLst>
            </p:cNvPr>
            <p:cNvSpPr/>
            <p:nvPr/>
          </p:nvSpPr>
          <p:spPr>
            <a:xfrm>
              <a:off x="2286614" y="39867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统一入口缺失</a:t>
              </a:r>
              <a:endParaRPr lang="en-US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0568801F-443D-2BEA-F148-A3FDED957B7F}"/>
                </a:ext>
              </a:extLst>
            </p:cNvPr>
            <p:cNvSpPr/>
            <p:nvPr/>
          </p:nvSpPr>
          <p:spPr>
            <a:xfrm>
              <a:off x="2286614" y="42793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</a:rPr>
                <a:t>入口不统一，排障要跳转多个页面</a:t>
              </a:r>
              <a:endParaRPr lang="en-US" sz="1400" dirty="0"/>
            </a:p>
          </p:txBody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BE6DA93A-DF4F-31FA-BC76-3AA95C40C057}"/>
                </a:ext>
              </a:extLst>
            </p:cNvPr>
            <p:cNvSpPr/>
            <p:nvPr/>
          </p:nvSpPr>
          <p:spPr>
            <a:xfrm>
              <a:off x="1555094" y="48280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E069C663-02DB-1E48-8A78-9192E697BB1C}"/>
                </a:ext>
              </a:extLst>
            </p:cNvPr>
            <p:cNvSpPr/>
            <p:nvPr/>
          </p:nvSpPr>
          <p:spPr>
            <a:xfrm>
              <a:off x="2286614" y="49011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知识自动沉淀</a:t>
              </a:r>
              <a:endParaRPr lang="en-US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8F0FBC7A-7950-88FB-FDDC-BAE52E8A8C5A}"/>
                </a:ext>
              </a:extLst>
            </p:cNvPr>
            <p:cNvSpPr/>
            <p:nvPr/>
          </p:nvSpPr>
          <p:spPr>
            <a:xfrm>
              <a:off x="2286614" y="51937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非结构化经验如何变成可检索的结构化知识</a:t>
              </a:r>
              <a:endParaRPr lang="en-US" sz="1400" dirty="0"/>
            </a:p>
          </p:txBody>
        </p:sp>
      </p:grpSp>
      <p:sp>
        <p:nvSpPr>
          <p:cNvPr id="64" name="Shape 31">
            <a:extLst>
              <a:ext uri="{FF2B5EF4-FFF2-40B4-BE49-F238E27FC236}">
                <a16:creationId xmlns:a16="http://schemas.microsoft.com/office/drawing/2014/main" id="{503AB057-F25B-90FA-B35D-5326DF15FB70}"/>
              </a:ext>
            </a:extLst>
          </p:cNvPr>
          <p:cNvSpPr/>
          <p:nvPr/>
        </p:nvSpPr>
        <p:spPr>
          <a:xfrm>
            <a:off x="1588592" y="230352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2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FC965A71-5E2B-C5F7-4383-09560F2B4BA4}"/>
              </a:ext>
            </a:extLst>
          </p:cNvPr>
          <p:cNvSpPr/>
          <p:nvPr/>
        </p:nvSpPr>
        <p:spPr>
          <a:xfrm>
            <a:off x="1588591" y="321284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3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DDDF00FE-26CA-2853-812C-FFBEFB093D58}"/>
              </a:ext>
            </a:extLst>
          </p:cNvPr>
          <p:cNvSpPr/>
          <p:nvPr/>
        </p:nvSpPr>
        <p:spPr>
          <a:xfrm>
            <a:off x="1626180" y="40975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4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6FC40EB4-D53C-E093-613E-1AE3C4FAF803}"/>
              </a:ext>
            </a:extLst>
          </p:cNvPr>
          <p:cNvSpPr/>
          <p:nvPr/>
        </p:nvSpPr>
        <p:spPr>
          <a:xfrm>
            <a:off x="1626179" y="50119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5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144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9900"/>
                </a:solidFill>
              </a:rPr>
              <a:t>🔍 信息分散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指标、日志、事件分散在多个 AWS 控制台</a:t>
            </a:r>
          </a:p>
          <a:p>
            <a:r>
              <a:rPr sz="1400" b="0"/>
              <a:t>切换上下文耗时,关联难度大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9900"/>
                </a:solidFill>
              </a:rPr>
              <a:t>🧠 经验难传承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资深工程师离职即失去关键经验</a:t>
            </a:r>
          </a:p>
          <a:p>
            <a:r>
              <a:rPr sz="1400" b="0"/>
              <a:t>新成员需要数月才能独立处理生产问题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9900"/>
                </a:solidFill>
              </a:rPr>
              <a:t>⏱️ 定位耗时长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人工排障平均 1-2 小时</a:t>
            </a:r>
          </a:p>
          <a:p>
            <a:r>
              <a:rPr sz="1400" b="0"/>
              <a:t>夜间告警尤其依赖随时在场的工程师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9900"/>
                </a:solidFill>
              </a:rPr>
              <a:t>📱 移动端缺位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AWS 控制台不适合手机操作</a:t>
            </a:r>
          </a:p>
          <a:p>
            <a:r>
              <a:rPr sz="1400" b="0"/>
              <a:t>值班工程师离开电脑就无法处理</a:t>
            </a:r>
          </a:p>
        </p:txBody>
      </p:sp>
    </p:spTree>
    <p:extLst>
      <p:ext uri="{BB962C8B-B14F-4D97-AF65-F5344CB8AC3E}">
        <p14:creationId xmlns:p14="http://schemas.microsoft.com/office/powerpoint/2010/main" val="318102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5C66-DBE9-5AE2-AEF3-D11808A5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9B939-2245-B586-5047-043F3B1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业界方案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A8CA03-1788-E1A7-712D-3BC3A2C1F065}"/>
              </a:ext>
            </a:extLst>
          </p:cNvPr>
          <p:cNvSpPr/>
          <p:nvPr/>
        </p:nvSpPr>
        <p:spPr>
          <a:xfrm>
            <a:off x="812481" y="1609978"/>
            <a:ext cx="10789032" cy="474427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4B0BB5-9B07-BD58-219C-EF81460D9F07}"/>
              </a:ext>
            </a:extLst>
          </p:cNvPr>
          <p:cNvSpPr/>
          <p:nvPr/>
        </p:nvSpPr>
        <p:spPr>
          <a:xfrm>
            <a:off x="941639" y="1609978"/>
            <a:ext cx="1894323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方案类型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63E6B5-941A-9398-A8C9-FFB0001A6B3C}"/>
              </a:ext>
            </a:extLst>
          </p:cNvPr>
          <p:cNvSpPr/>
          <p:nvPr/>
        </p:nvSpPr>
        <p:spPr>
          <a:xfrm>
            <a:off x="2835963" y="1609978"/>
            <a:ext cx="2583168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49B218-A4F5-B8AF-D13C-2DC678A9B2A0}"/>
              </a:ext>
            </a:extLst>
          </p:cNvPr>
          <p:cNvSpPr/>
          <p:nvPr/>
        </p:nvSpPr>
        <p:spPr>
          <a:xfrm>
            <a:off x="5419131" y="1609978"/>
            <a:ext cx="3099802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7221BB-D7A4-0619-7571-2D1253583E69}"/>
              </a:ext>
            </a:extLst>
          </p:cNvPr>
          <p:cNvSpPr/>
          <p:nvPr/>
        </p:nvSpPr>
        <p:spPr>
          <a:xfrm>
            <a:off x="8518932" y="1609978"/>
            <a:ext cx="3211739" cy="474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弊端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4D578D3-0895-7D96-09AD-7486EF8B957E}"/>
              </a:ext>
            </a:extLst>
          </p:cNvPr>
          <p:cNvSpPr/>
          <p:nvPr/>
        </p:nvSpPr>
        <p:spPr>
          <a:xfrm>
            <a:off x="812481" y="2136160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A2640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B072DAF-34CF-AD8B-824B-C72BD3C0BBB3}"/>
              </a:ext>
            </a:extLst>
          </p:cNvPr>
          <p:cNvSpPr/>
          <p:nvPr/>
        </p:nvSpPr>
        <p:spPr>
          <a:xfrm>
            <a:off x="812481" y="2136160"/>
            <a:ext cx="51663" cy="90572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2B67CD-B15A-301E-1994-89BA26F5B05D}"/>
              </a:ext>
            </a:extLst>
          </p:cNvPr>
          <p:cNvSpPr/>
          <p:nvPr/>
        </p:nvSpPr>
        <p:spPr>
          <a:xfrm>
            <a:off x="984692" y="2136160"/>
            <a:ext cx="1722112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传统监控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956F3A0-680D-64F6-50AD-D1C59015FFD7}"/>
              </a:ext>
            </a:extLst>
          </p:cNvPr>
          <p:cNvSpPr/>
          <p:nvPr/>
        </p:nvSpPr>
        <p:spPr>
          <a:xfrm>
            <a:off x="2835963" y="2136160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/ Zabbix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F28DC4-D1A2-753A-08EA-EF78E4ADC79B}"/>
              </a:ext>
            </a:extLst>
          </p:cNvPr>
          <p:cNvSpPr/>
          <p:nvPr/>
        </p:nvSpPr>
        <p:spPr>
          <a:xfrm>
            <a:off x="5419131" y="2136160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3B97C8-2D6C-2808-26EA-6D7C4745848E}"/>
              </a:ext>
            </a:extLst>
          </p:cNvPr>
          <p:cNvSpPr/>
          <p:nvPr/>
        </p:nvSpPr>
        <p:spPr>
          <a:xfrm>
            <a:off x="8518932" y="2136160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给数字不给结论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4BA41A-1953-FF95-4D13-CCE9A24CCEA0}"/>
              </a:ext>
            </a:extLst>
          </p:cNvPr>
          <p:cNvSpPr/>
          <p:nvPr/>
        </p:nvSpPr>
        <p:spPr>
          <a:xfrm>
            <a:off x="812480" y="3093639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A2640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ED42202-8294-60F0-FD9C-3ECA78FDB7CE}"/>
              </a:ext>
            </a:extLst>
          </p:cNvPr>
          <p:cNvSpPr/>
          <p:nvPr/>
        </p:nvSpPr>
        <p:spPr>
          <a:xfrm>
            <a:off x="812480" y="3093639"/>
            <a:ext cx="51663" cy="905724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BB932E-FE72-7793-B912-32862BD5FF0D}"/>
              </a:ext>
            </a:extLst>
          </p:cNvPr>
          <p:cNvSpPr/>
          <p:nvPr/>
        </p:nvSpPr>
        <p:spPr>
          <a:xfrm>
            <a:off x="984691" y="3093639"/>
            <a:ext cx="1722112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平台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256E710-F64A-3C8F-CC6E-4785F1100096}"/>
              </a:ext>
            </a:extLst>
          </p:cNvPr>
          <p:cNvSpPr/>
          <p:nvPr/>
        </p:nvSpPr>
        <p:spPr>
          <a:xfrm>
            <a:off x="2835962" y="3093639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Datadog Bits AI (2025-12)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Dynatrace Davis AI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9D17B65-0999-A310-9AE2-CC081D2DDC46}"/>
              </a:ext>
            </a:extLst>
          </p:cNvPr>
          <p:cNvSpPr/>
          <p:nvPr/>
        </p:nvSpPr>
        <p:spPr>
          <a:xfrm>
            <a:off x="5419130" y="3093639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根因分析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修复建议 / 自动修复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FD88C7-51D0-A3C8-245C-179E6DFDAEA4}"/>
              </a:ext>
            </a:extLst>
          </p:cNvPr>
          <p:cNvSpPr/>
          <p:nvPr/>
        </p:nvSpPr>
        <p:spPr>
          <a:xfrm>
            <a:off x="8518931" y="3093639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绑定自有生态</a:t>
            </a:r>
            <a:r>
              <a:rPr 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F7122C2-93B1-85F0-BB29-138A0C20C63D}"/>
              </a:ext>
            </a:extLst>
          </p:cNvPr>
          <p:cNvSpPr/>
          <p:nvPr/>
        </p:nvSpPr>
        <p:spPr>
          <a:xfrm>
            <a:off x="812480" y="4051119"/>
            <a:ext cx="10789032" cy="905724"/>
          </a:xfrm>
          <a:prstGeom prst="roundRect">
            <a:avLst>
              <a:gd name="adj" fmla="val 2857"/>
            </a:avLst>
          </a:prstGeom>
          <a:solidFill>
            <a:srgbClr val="162035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93B4C4B-EA43-F179-E6B7-BEBA9646A980}"/>
              </a:ext>
            </a:extLst>
          </p:cNvPr>
          <p:cNvSpPr/>
          <p:nvPr/>
        </p:nvSpPr>
        <p:spPr>
          <a:xfrm>
            <a:off x="812480" y="4051119"/>
            <a:ext cx="51663" cy="905724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308F69-B0A4-4AD4-FFE9-0E13A354A714}"/>
              </a:ext>
            </a:extLst>
          </p:cNvPr>
          <p:cNvSpPr/>
          <p:nvPr/>
        </p:nvSpPr>
        <p:spPr>
          <a:xfrm>
            <a:off x="984691" y="4051119"/>
            <a:ext cx="185127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</a:t>
            </a:r>
            <a:r>
              <a:rPr lang="en-US" altLang="zh-CN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evOps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Agent</a:t>
            </a:r>
            <a:endParaRPr lang="en-US" sz="13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D35A88A-9EFC-ADA5-A2E8-C5EDEB28C6BD}"/>
              </a:ext>
            </a:extLst>
          </p:cNvPr>
          <p:cNvSpPr/>
          <p:nvPr/>
        </p:nvSpPr>
        <p:spPr>
          <a:xfrm>
            <a:off x="2835962" y="4051119"/>
            <a:ext cx="245401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(2026-03 GA)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0D94BC4-EBFD-AD3C-2ABE-02636806DB3B}"/>
              </a:ext>
            </a:extLst>
          </p:cNvPr>
          <p:cNvSpPr/>
          <p:nvPr/>
        </p:nvSpPr>
        <p:spPr>
          <a:xfrm>
            <a:off x="5419130" y="4051119"/>
            <a:ext cx="2970643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自主调查 + 跨平台关联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详细修复计划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96E23B5-33C5-7550-2620-78D339ECD77E}"/>
              </a:ext>
            </a:extLst>
          </p:cNvPr>
          <p:cNvSpPr/>
          <p:nvPr/>
        </p:nvSpPr>
        <p:spPr>
          <a:xfrm>
            <a:off x="8518931" y="4051119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599843C-050C-2A14-9B18-AB6CBA1415AA}"/>
              </a:ext>
            </a:extLst>
          </p:cNvPr>
          <p:cNvSpPr/>
          <p:nvPr/>
        </p:nvSpPr>
        <p:spPr>
          <a:xfrm>
            <a:off x="8518931" y="4102874"/>
            <a:ext cx="3082580" cy="905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可视化输出偏技术视角</a:t>
            </a:r>
            <a:r>
              <a:rPr lang="en-US" sz="1100" dirty="0">
                <a:solidFill>
                  <a:srgbClr val="FF88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4090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客户要什么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72996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144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90C8"/>
                </a:solidFill>
              </a:rPr>
              <a:t>💬 自然语言交互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不学新工具,一句话就能完成排障</a:t>
            </a:r>
          </a:p>
          <a:p>
            <a:r>
              <a:rPr sz="1400" b="0"/>
              <a:t>中文/英文都行,IM/语音/桌面都行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90C8"/>
                </a:solidFill>
              </a:rPr>
              <a:t>📊 给结论不给数字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不要 Dashboard 数字罗列</a:t>
            </a:r>
          </a:p>
          <a:p>
            <a:r>
              <a:rPr sz="1400" b="0"/>
              <a:t>要 AI 解读 + 修复建议 + 证据链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90C8"/>
                </a:solidFill>
              </a:rPr>
              <a:t>🌙 夜间无人值守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凌晨告警自动调查</a:t>
            </a:r>
          </a:p>
          <a:p>
            <a:r>
              <a:rPr sz="1400" b="0"/>
              <a:t>醒来时已经知道根因,而不是被叫醒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490C8"/>
                </a:solidFill>
              </a:rPr>
              <a:t>🧬 经验自动沉淀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处理过的问题下次自动复用</a:t>
            </a:r>
          </a:p>
          <a:p>
            <a:r>
              <a:rPr sz="1400" b="0"/>
              <a:t>团队经验越积越多,新成员快速上手</a:t>
            </a:r>
          </a:p>
        </p:txBody>
      </p: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73F7-092E-1BF7-246D-21B0AC6D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0788B-C7B0-9916-91F0-08B78A05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AWS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DevOps Agent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04BEA3F-6B38-528D-D9AF-AB74BFDF38DB}"/>
              </a:ext>
            </a:extLst>
          </p:cNvPr>
          <p:cNvSpPr/>
          <p:nvPr/>
        </p:nvSpPr>
        <p:spPr>
          <a:xfrm>
            <a:off x="731520" y="1765832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31BFF5-E225-7E6B-73F8-E670BC2B609E}"/>
              </a:ext>
            </a:extLst>
          </p:cNvPr>
          <p:cNvSpPr/>
          <p:nvPr/>
        </p:nvSpPr>
        <p:spPr>
          <a:xfrm>
            <a:off x="731520" y="295455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实现卓越运营的前沿代理</a:t>
            </a:r>
            <a:endParaRPr lang="en-US" altLang="zh-CN" sz="1400" dirty="0">
              <a:solidFill>
                <a:schemeClr val="bg1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</a:rPr>
              <a:t>告别频繁报警，团队高枕无忧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797FB25-7A83-52F3-EA13-913475A1AA17}"/>
              </a:ext>
            </a:extLst>
          </p:cNvPr>
          <p:cNvSpPr/>
          <p:nvPr/>
        </p:nvSpPr>
        <p:spPr>
          <a:xfrm>
            <a:off x="5591528" y="1491512"/>
            <a:ext cx="18288" cy="41148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1E3A051-B8AE-C2AC-E1CE-7D7F64D0F592}"/>
              </a:ext>
            </a:extLst>
          </p:cNvPr>
          <p:cNvSpPr/>
          <p:nvPr/>
        </p:nvSpPr>
        <p:spPr>
          <a:xfrm>
            <a:off x="6400800" y="19258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持续进行事件分诊，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提供引导式解决方案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DF84486-3E1F-D67C-58A3-FE5B26CCAA33}"/>
              </a:ext>
            </a:extLst>
          </p:cNvPr>
          <p:cNvSpPr/>
          <p:nvPr/>
        </p:nvSpPr>
        <p:spPr>
          <a:xfrm>
            <a:off x="6400800" y="26345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从被动应对转向为主动实现卓越运营</a:t>
            </a:r>
            <a:endParaRPr lang="en-US" sz="16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EE69D7F-82F2-1A7B-0FC7-933F58CCB68E}"/>
              </a:ext>
            </a:extLst>
          </p:cNvPr>
          <p:cNvSpPr/>
          <p:nvPr/>
        </p:nvSpPr>
        <p:spPr>
          <a:xfrm>
            <a:off x="6400800" y="3275632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通过您使用的可观测性工具获取洞察（支持</a:t>
            </a:r>
          </a:p>
          <a:p>
            <a:r>
              <a:rPr lang="en-US" sz="16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Dynatrace、New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Relic、Datadog、Splunk</a:t>
            </a: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</a:t>
            </a:r>
          </a:p>
          <a:p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CloudWatch）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D505D46-EBD9-924E-302F-3FE44815C747}"/>
              </a:ext>
            </a:extLst>
          </p:cNvPr>
          <p:cNvSpPr/>
          <p:nvPr/>
        </p:nvSpPr>
        <p:spPr>
          <a:xfrm>
            <a:off x="6400800" y="4465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智能映射资源，提高 </a:t>
            </a:r>
            <a:r>
              <a:rPr lang="en-US" altLang="zh-CN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MTTR </a:t>
            </a: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和应用程序可靠性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514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35B5-C8A4-CADB-6136-076112246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F496F-6B5B-A276-7ED2-D5F85761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AWS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DevOps Agent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D5C43BA-A04C-907A-B477-A002055552CC}"/>
              </a:ext>
            </a:extLst>
          </p:cNvPr>
          <p:cNvSpPr/>
          <p:nvPr/>
        </p:nvSpPr>
        <p:spPr>
          <a:xfrm>
            <a:off x="0" y="851606"/>
            <a:ext cx="12192000" cy="554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</a:t>
            </a:r>
            <a:r>
              <a:rPr lang="en-US" sz="14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原生的智能运维助手，通过自然语言交互，帮助工程师快速调查生产问题、探索基础设施、处理优化建议、生成可视化报告</a:t>
            </a:r>
            <a:r>
              <a:rPr lang="en-US" sz="14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C96BE261-1FCA-AA20-CB7C-9F46E11687CE}"/>
              </a:ext>
            </a:extLst>
          </p:cNvPr>
          <p:cNvSpPr/>
          <p:nvPr/>
        </p:nvSpPr>
        <p:spPr>
          <a:xfrm>
            <a:off x="112338" y="1766006"/>
            <a:ext cx="3865724" cy="1932301"/>
          </a:xfrm>
          <a:prstGeom prst="roundRect">
            <a:avLst>
              <a:gd name="adj" fmla="val 1316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004405CA-8A5D-5E4E-121F-ED9BD737B7B3}"/>
              </a:ext>
            </a:extLst>
          </p:cNvPr>
          <p:cNvSpPr/>
          <p:nvPr/>
        </p:nvSpPr>
        <p:spPr>
          <a:xfrm>
            <a:off x="295218" y="1857446"/>
            <a:ext cx="34079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调查问题</a:t>
            </a:r>
            <a:endParaRPr lang="en-US" sz="16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1BC741CB-E100-2196-A0A1-1676A8EB32BB}"/>
              </a:ext>
            </a:extLst>
          </p:cNvPr>
          <p:cNvSpPr/>
          <p:nvPr/>
        </p:nvSpPr>
        <p:spPr>
          <a:xfrm>
            <a:off x="295218" y="2177485"/>
            <a:ext cx="3565037" cy="236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完整的问题调查生命周期管理</a:t>
            </a:r>
            <a:endParaRPr lang="en-US" sz="12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6CE1513D-4E08-7C57-0DBE-59C97BF1A635}"/>
              </a:ext>
            </a:extLst>
          </p:cNvPr>
          <p:cNvSpPr/>
          <p:nvPr/>
        </p:nvSpPr>
        <p:spPr>
          <a:xfrm>
            <a:off x="295218" y="2497526"/>
            <a:ext cx="3565037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创建调查 — 针对告警/异常快速发起结构化调查任务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查看状态 — 实时跟踪进度，获取摘要与关键发现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发送指导 — 注入上下文/指令，引导聚焦关键方向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处理缓解计划 — 自动生成缓解建议，支持审核执行</a:t>
            </a:r>
            <a:endParaRPr lang="en-US" sz="1100" dirty="0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E2BDB966-17EF-34D2-58A5-E2D8FB41B8AB}"/>
              </a:ext>
            </a:extLst>
          </p:cNvPr>
          <p:cNvSpPr/>
          <p:nvPr/>
        </p:nvSpPr>
        <p:spPr>
          <a:xfrm>
            <a:off x="4101389" y="1766006"/>
            <a:ext cx="4136677" cy="1932301"/>
          </a:xfrm>
          <a:prstGeom prst="roundRect">
            <a:avLst>
              <a:gd name="adj" fmla="val 1316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C4E6F7B1-CC00-DCF9-14BB-FE89B052820A}"/>
              </a:ext>
            </a:extLst>
          </p:cNvPr>
          <p:cNvSpPr/>
          <p:nvPr/>
        </p:nvSpPr>
        <p:spPr>
          <a:xfrm>
            <a:off x="4284269" y="1857446"/>
            <a:ext cx="35829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探索基础设施</a:t>
            </a:r>
            <a:endParaRPr lang="en-US" sz="16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8B20583C-DF83-D58A-82E5-8CC9AFD97821}"/>
              </a:ext>
            </a:extLst>
          </p:cNvPr>
          <p:cNvSpPr/>
          <p:nvPr/>
        </p:nvSpPr>
        <p:spPr>
          <a:xfrm>
            <a:off x="4284269" y="2219670"/>
            <a:ext cx="3768114" cy="277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全维度资源感知与系统认知</a:t>
            </a:r>
            <a:endParaRPr lang="en-US" sz="12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DFFA765-8C32-6085-36D5-384F395A20BD}"/>
              </a:ext>
            </a:extLst>
          </p:cNvPr>
          <p:cNvSpPr/>
          <p:nvPr/>
        </p:nvSpPr>
        <p:spPr>
          <a:xfrm>
            <a:off x="4213163" y="2628541"/>
            <a:ext cx="3865724" cy="1284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资源发现 — 枚举 EC2/Lambda/RDS/ECS，按标签过滤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拓扑分析 — 服务间依赖关系与调用链路可视化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指标分析 — CloudWatch 趋势分析与异常检测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日志搜索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跨服务全文检索，时间过滤+关键词高</a:t>
            </a:r>
            <a:endParaRPr lang="en-US" sz="1100" dirty="0"/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116F82D9-F6E2-9A9B-A357-6810BC424D73}"/>
              </a:ext>
            </a:extLst>
          </p:cNvPr>
          <p:cNvSpPr/>
          <p:nvPr/>
        </p:nvSpPr>
        <p:spPr>
          <a:xfrm>
            <a:off x="8315288" y="1766006"/>
            <a:ext cx="3749040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7056EDAE-A329-4A27-AD67-0EF68B53A2BA}"/>
              </a:ext>
            </a:extLst>
          </p:cNvPr>
          <p:cNvSpPr/>
          <p:nvPr/>
        </p:nvSpPr>
        <p:spPr>
          <a:xfrm>
            <a:off x="8498168" y="185744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处理建议</a:t>
            </a:r>
            <a:endParaRPr lang="en-US" sz="16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C189D6A8-EACB-598E-39B2-921BFAF4B4F8}"/>
              </a:ext>
            </a:extLst>
          </p:cNvPr>
          <p:cNvSpPr/>
          <p:nvPr/>
        </p:nvSpPr>
        <p:spPr>
          <a:xfrm>
            <a:off x="8571096" y="2129997"/>
            <a:ext cx="265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优化建议，按类别分类呈现</a:t>
            </a: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0A3F3D4D-7C5D-9ED9-FCB6-F511E7DB355C}"/>
              </a:ext>
            </a:extLst>
          </p:cNvPr>
          <p:cNvSpPr/>
          <p:nvPr/>
        </p:nvSpPr>
        <p:spPr>
          <a:xfrm>
            <a:off x="8498168" y="2628541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浏览建议 — 成本/性能/安全/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可靠性分类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分析建议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评估影响范围与优先级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接受建议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一键触发自动化执行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• 拒绝建议 —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记录原因，标记不适用</a:t>
            </a:r>
            <a:endParaRPr lang="en-US" sz="1100" dirty="0">
              <a:solidFill>
                <a:srgbClr val="C0D0E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4EF16BDE-ED36-30A8-3B3D-E3B00315C822}"/>
              </a:ext>
            </a:extLst>
          </p:cNvPr>
          <p:cNvSpPr/>
          <p:nvPr/>
        </p:nvSpPr>
        <p:spPr>
          <a:xfrm>
            <a:off x="111214" y="4011054"/>
            <a:ext cx="3865724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CD8E1D96-0B66-8152-E0E0-7AE87873E427}"/>
              </a:ext>
            </a:extLst>
          </p:cNvPr>
          <p:cNvSpPr/>
          <p:nvPr/>
        </p:nvSpPr>
        <p:spPr>
          <a:xfrm>
            <a:off x="294095" y="410249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可视化报告</a:t>
            </a:r>
            <a:endParaRPr lang="en-US" sz="160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8AABFDFC-6CC6-E446-D220-1C9F558BD185}"/>
              </a:ext>
            </a:extLst>
          </p:cNvPr>
          <p:cNvSpPr/>
          <p:nvPr/>
        </p:nvSpPr>
        <p:spPr>
          <a:xfrm>
            <a:off x="294095" y="4468254"/>
            <a:ext cx="3919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将调查结果生成结构化可视化报告</a:t>
            </a:r>
            <a:endParaRPr lang="en-US" sz="1200" dirty="0">
              <a:solidFill>
                <a:srgbClr val="8899A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F5B7709B-027A-0307-5CC4-C590AC840B43}"/>
              </a:ext>
            </a:extLst>
          </p:cNvPr>
          <p:cNvSpPr/>
          <p:nvPr/>
        </p:nvSpPr>
        <p:spPr>
          <a:xfrm>
            <a:off x="294095" y="5016894"/>
            <a:ext cx="3383280" cy="81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图表 — 折线图(趋势) + 柱状图(对比)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表格 — 资源清单/错误汇总/配置差异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拓扑图 — 服务依赖 + 健康状态展示</a:t>
            </a:r>
            <a:endParaRPr lang="en-US" sz="1100" dirty="0"/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427ABFA3-A93B-225B-B2A8-A2E8E105924F}"/>
              </a:ext>
            </a:extLst>
          </p:cNvPr>
          <p:cNvSpPr/>
          <p:nvPr/>
        </p:nvSpPr>
        <p:spPr>
          <a:xfrm>
            <a:off x="4096655" y="4011054"/>
            <a:ext cx="4136677" cy="1932301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DA21ADA2-741A-56C6-11ED-53C214A0160C}"/>
              </a:ext>
            </a:extLst>
          </p:cNvPr>
          <p:cNvSpPr/>
          <p:nvPr/>
        </p:nvSpPr>
        <p:spPr>
          <a:xfrm>
            <a:off x="4279536" y="4102494"/>
            <a:ext cx="3592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代码变更分析</a:t>
            </a:r>
            <a:endParaRPr lang="en-US" sz="1600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773FE6A1-E36F-8BF1-75A2-5D01B3BE252F}"/>
              </a:ext>
            </a:extLst>
          </p:cNvPr>
          <p:cNvSpPr/>
          <p:nvPr/>
        </p:nvSpPr>
        <p:spPr>
          <a:xfrm>
            <a:off x="4279535" y="4468254"/>
            <a:ext cx="3695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GitHub PR </a:t>
            </a: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发布前后深度分析代码变更</a:t>
            </a:r>
            <a:endParaRPr lang="en-US" sz="120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78A1D908-B132-3ECE-99F1-6A39E04F874F}"/>
              </a:ext>
            </a:extLst>
          </p:cNvPr>
          <p:cNvSpPr/>
          <p:nvPr/>
        </p:nvSpPr>
        <p:spPr>
          <a:xfrm>
            <a:off x="4213163" y="4960347"/>
            <a:ext cx="3695295" cy="81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发布影响分析 — 识别涉及的服务与配置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风险识别 — DB Schema/权限/依赖升级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关联上下文 — 变更 + 指标 + 告警全链路</a:t>
            </a:r>
            <a:endParaRPr lang="en-US" sz="1100" dirty="0"/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A7A3384C-59FE-0525-480C-170B06CB72E4}"/>
              </a:ext>
            </a:extLst>
          </p:cNvPr>
          <p:cNvSpPr/>
          <p:nvPr/>
        </p:nvSpPr>
        <p:spPr>
          <a:xfrm>
            <a:off x="8353049" y="4011054"/>
            <a:ext cx="3739239" cy="1920240"/>
          </a:xfrm>
          <a:prstGeom prst="roundRect">
            <a:avLst>
              <a:gd name="adj" fmla="val 2000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2B52814F-F356-F30D-C9BD-B1D843DA18B2}"/>
              </a:ext>
            </a:extLst>
          </p:cNvPr>
          <p:cNvSpPr/>
          <p:nvPr/>
        </p:nvSpPr>
        <p:spPr>
          <a:xfrm>
            <a:off x="8498168" y="4104407"/>
            <a:ext cx="27328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</a:t>
            </a:r>
            <a:r>
              <a:rPr lang="en-US" sz="1600" b="1" dirty="0" err="1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管理技能和配置</a:t>
            </a:r>
            <a:endParaRPr lang="en-US" sz="1600" dirty="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53D618F9-F80D-BF7C-A349-A6060B56020E}"/>
              </a:ext>
            </a:extLst>
          </p:cNvPr>
          <p:cNvSpPr/>
          <p:nvPr/>
        </p:nvSpPr>
        <p:spPr>
          <a:xfrm>
            <a:off x="8535929" y="4559693"/>
            <a:ext cx="3276509" cy="301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</a:rPr>
              <a:t>自定义技能（Skills</a:t>
            </a: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</a:rPr>
              <a:t>）</a:t>
            </a:r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F0EA565B-A6C3-089D-9E07-5CED8E2D8432}"/>
              </a:ext>
            </a:extLst>
          </p:cNvPr>
          <p:cNvSpPr/>
          <p:nvPr/>
        </p:nvSpPr>
        <p:spPr>
          <a:xfrm>
            <a:off x="8492416" y="4958185"/>
            <a:ext cx="3599872" cy="876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创建技能 — 将调查流程/操作集封装为可复用技能包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配置技能 — 设置触发条件、参数默认值、执行策略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共享技能 — 团队内共享，标准化跨成员操作流程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912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22974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 AWS DevOps Agent (2026-03 GA) 打造的智能闭环运维平台 · v4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自然语言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DOA 原生分析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DOA Skills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自动匹配历史经验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/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8610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输入：文字</a:t>
            </a:r>
            <a:r>
              <a:rPr lang="en-US" sz="900" dirty="0">
                <a:solidFill>
                  <a:srgbClr val="8899AA"/>
                </a:solidFill>
              </a:rPr>
              <a:t> ｜ </a:t>
            </a:r>
            <a:r>
              <a:rPr lang="en-US" sz="900" dirty="0" err="1">
                <a:solidFill>
                  <a:srgbClr val="8899AA"/>
                </a:solidFill>
              </a:rPr>
              <a:t>输出：HTML</a:t>
            </a:r>
            <a:r>
              <a:rPr lang="zh-CN" altLang="en-US" sz="900" dirty="0">
                <a:solidFill>
                  <a:srgbClr val="8899AA"/>
                </a:solidFill>
              </a:rPr>
              <a:t>诊断书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Desktop · 企微/飞书 Bot · Nova Sonic 语音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编排层 (v4 单 Lambda · 4 路由)</a:t>
            </a:r>
            <a:r>
              <a:rPr lang="en-US" sz="1200" b="1" dirty="0" err="1">
                <a:solidFill>
                  <a:srgbClr val="FF9900"/>
                </a:solidFill>
              </a:rPr>
              <a:t/>
            </a:r>
            <a:r>
              <a:rPr lang="en-US" sz="1200" b="1" dirty="0">
                <a:solidFill>
                  <a:srgbClr val="FF9900"/>
                </a:solidFill>
              </a:rPr>
              <a:t/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</a:t>
            </a:r>
            <a:r>
              <a:rPr lang="en-US" sz="900" dirty="0" err="1">
                <a:solidFill>
                  <a:srgbClr val="8899AA"/>
                </a:solidFill>
              </a:rPr>
              <a:t>入口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178834" y="2662036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17883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Router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4665064" y="2662035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466506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Webhook Forwarder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151295" y="2662036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15129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7637525" y="2662035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763752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 Handler Gen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123754" y="2662036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12375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 Handler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4251003" y="3911392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(跨源关联+Skills) · CloudWatch · SES · SSM Runbook</a:t>
            </a:r>
            <a:r>
              <a:rPr lang="en-US" altLang="zh-CN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 err="1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(HTML诊断书) + DynamoDB (Sessions/Audit)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338292" y="2945371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聊天问诊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046275" y="2951318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告警 webhook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6525877" y="294122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工具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7924941" y="2935958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诊断书生成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392127" y="2935958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EB 事件处理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sz="9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BB876-CC44-D5DF-E063-4689A9648288}"/>
              </a:ext>
            </a:extLst>
          </p:cNvPr>
          <p:cNvSpPr txBox="1"/>
          <p:nvPr/>
        </p:nvSpPr>
        <p:spPr>
          <a:xfrm>
            <a:off x="5365099" y="232790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zh-CN" alt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DOA 原生分析 + 5 MCP 工具 · Bedrock Nova Pro</a:t>
            </a:r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智能诊断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90EED7A-6DE0-36EC-6063-EEF01CD650A8}"/>
              </a:ext>
            </a:extLst>
          </p:cNvPr>
          <p:cNvGrpSpPr/>
          <p:nvPr/>
        </p:nvGrpSpPr>
        <p:grpSpPr>
          <a:xfrm>
            <a:off x="1943100" y="738632"/>
            <a:ext cx="8483600" cy="5154168"/>
            <a:chOff x="1403350" y="814832"/>
            <a:chExt cx="6858000" cy="509320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6776353-139D-B23B-4CC6-574DC093583A}"/>
                </a:ext>
              </a:extLst>
            </p:cNvPr>
            <p:cNvSpPr/>
            <p:nvPr/>
          </p:nvSpPr>
          <p:spPr>
            <a:xfrm>
              <a:off x="1403350" y="814832"/>
              <a:ext cx="6858000" cy="502920"/>
            </a:xfrm>
            <a:prstGeom prst="roundRect">
              <a:avLst>
                <a:gd name="adj" fmla="val 9091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8BEFEC63-7444-3A80-E433-6DF2B95648E2}"/>
                </a:ext>
              </a:extLst>
            </p:cNvPr>
            <p:cNvSpPr/>
            <p:nvPr/>
          </p:nvSpPr>
          <p:spPr>
            <a:xfrm>
              <a:off x="1586230" y="814832"/>
              <a:ext cx="6583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：“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订单服务超时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帮我分析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下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3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4785FCE9-B0CD-BAEB-F643-22DA003EF82D}"/>
                </a:ext>
              </a:extLst>
            </p:cNvPr>
            <p:cNvSpPr/>
            <p:nvPr/>
          </p:nvSpPr>
          <p:spPr>
            <a:xfrm>
              <a:off x="4420870" y="13177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5B360A1A-D17F-02B8-0E72-6C3D2158A815}"/>
                </a:ext>
              </a:extLst>
            </p:cNvPr>
            <p:cNvSpPr/>
            <p:nvPr/>
          </p:nvSpPr>
          <p:spPr>
            <a:xfrm>
              <a:off x="1403350" y="1637792"/>
              <a:ext cx="6858000" cy="411480"/>
            </a:xfrm>
            <a:prstGeom prst="roundRect">
              <a:avLst>
                <a:gd name="adj" fmla="val 8889"/>
              </a:avLst>
            </a:prstGeom>
            <a:solidFill>
              <a:srgbClr val="0A1A2A"/>
            </a:solidFill>
            <a:ln w="6350">
              <a:solidFill>
                <a:srgbClr val="8899A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53E44A3F-EE3F-FB8A-0AA7-186D56EFFDB6}"/>
                </a:ext>
              </a:extLst>
            </p:cNvPr>
            <p:cNvSpPr/>
            <p:nvPr/>
          </p:nvSpPr>
          <p:spPr>
            <a:xfrm>
              <a:off x="1586230" y="1637792"/>
              <a:ext cx="6583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→ 选择 smart_diagnose MCP 工具</a:t>
              </a:r>
              <a:endParaRPr lang="en-US" sz="11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4D5F9A33-D186-072C-92F6-AE2C5F395034}"/>
                </a:ext>
              </a:extLst>
            </p:cNvPr>
            <p:cNvSpPr/>
            <p:nvPr/>
          </p:nvSpPr>
          <p:spPr>
            <a:xfrm>
              <a:off x="4420870" y="204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8" name="Shape 9">
              <a:extLst>
                <a:ext uri="{FF2B5EF4-FFF2-40B4-BE49-F238E27FC236}">
                  <a16:creationId xmlns:a16="http://schemas.microsoft.com/office/drawing/2014/main" id="{392BA977-C98C-1D2E-BEC0-E518BBE0819F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C5BC73B4-A45E-FB96-1197-A4C5B59DDED0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(Nova Pro 自动编排)</a:t>
              </a:r>
              <a:endParaRPr lang="en-US" sz="1300" dirty="0"/>
            </a:p>
          </p:txBody>
        </p:sp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C2BBEE05-AAED-1C50-8851-C0F94071298A}"/>
                </a:ext>
              </a:extLst>
            </p:cNvPr>
            <p:cNvSpPr/>
            <p:nvPr/>
          </p:nvSpPr>
          <p:spPr>
            <a:xfrm>
              <a:off x="1677670" y="3009392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4DB80C22-CFDF-56E2-CF54-7178664FA879}"/>
                </a:ext>
              </a:extLst>
            </p:cNvPr>
            <p:cNvSpPr/>
            <p:nvPr/>
          </p:nvSpPr>
          <p:spPr>
            <a:xfrm>
              <a:off x="1769110" y="3009392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①</a:t>
              </a:r>
              <a:endParaRPr lang="en-US" sz="1300" dirty="0"/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B4074308-C595-42A9-B1FA-F628631B9734}"/>
                </a:ext>
              </a:extLst>
            </p:cNvPr>
            <p:cNvSpPr/>
            <p:nvPr/>
          </p:nvSpPr>
          <p:spPr>
            <a:xfrm>
              <a:off x="2226310" y="300939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discover_service</a:t>
              </a:r>
              <a:endParaRPr lang="en-US" sz="1100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46AEBE68-8F22-1B13-AAEA-E32CAD8ABBB2}"/>
                </a:ext>
              </a:extLst>
            </p:cNvPr>
            <p:cNvSpPr/>
            <p:nvPr/>
          </p:nvSpPr>
          <p:spPr>
            <a:xfrm>
              <a:off x="4329430" y="3009392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4058CBD9-189F-989D-A382-852AA55692C7}"/>
                </a:ext>
              </a:extLst>
            </p:cNvPr>
            <p:cNvSpPr/>
            <p:nvPr/>
          </p:nvSpPr>
          <p:spPr>
            <a:xfrm>
              <a:off x="4695190" y="3009392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chat</a:t>
              </a:r>
              <a:endParaRPr lang="en-US" sz="11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2E78166A-7A43-8DEA-14BE-19398379AE3F}"/>
                </a:ext>
              </a:extLst>
            </p:cNvPr>
            <p:cNvSpPr/>
            <p:nvPr/>
          </p:nvSpPr>
          <p:spPr>
            <a:xfrm>
              <a:off x="6798310" y="3009392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5-30s</a:t>
              </a:r>
              <a:endParaRPr lang="en-US" sz="1000" dirty="0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7DD0DAD2-1E54-8761-A760-00DBBB9BC215}"/>
                </a:ext>
              </a:extLst>
            </p:cNvPr>
            <p:cNvSpPr/>
            <p:nvPr/>
          </p:nvSpPr>
          <p:spPr>
            <a:xfrm>
              <a:off x="1677670" y="3585464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86EF1E67-76A0-B711-0D10-5F8235EE22CC}"/>
                </a:ext>
              </a:extLst>
            </p:cNvPr>
            <p:cNvSpPr/>
            <p:nvPr/>
          </p:nvSpPr>
          <p:spPr>
            <a:xfrm>
              <a:off x="1769110" y="3585464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②</a:t>
              </a:r>
              <a:endParaRPr lang="en-US" sz="1300" dirty="0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158E5490-4351-49CF-35B7-D1539C9C3997}"/>
                </a:ext>
              </a:extLst>
            </p:cNvPr>
            <p:cNvSpPr/>
            <p:nvPr/>
          </p:nvSpPr>
          <p:spPr>
            <a:xfrm>
              <a:off x="2226310" y="3585464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deep_investigate</a:t>
              </a:r>
              <a:endParaRPr lang="en-US" sz="1100" dirty="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204CCC01-B5F4-D17F-B337-728FAD73669C}"/>
                </a:ext>
              </a:extLst>
            </p:cNvPr>
            <p:cNvSpPr/>
            <p:nvPr/>
          </p:nvSpPr>
          <p:spPr>
            <a:xfrm>
              <a:off x="4329430" y="3585464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0" name="Text 21">
              <a:extLst>
                <a:ext uri="{FF2B5EF4-FFF2-40B4-BE49-F238E27FC236}">
                  <a16:creationId xmlns:a16="http://schemas.microsoft.com/office/drawing/2014/main" id="{9055D65C-08A6-6021-3D14-B34224FFAB73}"/>
                </a:ext>
              </a:extLst>
            </p:cNvPr>
            <p:cNvSpPr/>
            <p:nvPr/>
          </p:nvSpPr>
          <p:spPr>
            <a:xfrm>
              <a:off x="4695190" y="3585464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Investigation</a:t>
              </a:r>
              <a:endParaRPr lang="en-US" sz="1100" dirty="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BB2215B-A74A-8613-B83E-27991747319D}"/>
                </a:ext>
              </a:extLst>
            </p:cNvPr>
            <p:cNvSpPr/>
            <p:nvPr/>
          </p:nvSpPr>
          <p:spPr>
            <a:xfrm>
              <a:off x="6798310" y="3585464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5-15min</a:t>
              </a:r>
              <a:endParaRPr lang="en-US" sz="1000" dirty="0"/>
            </a:p>
          </p:txBody>
        </p:sp>
        <p:sp>
          <p:nvSpPr>
            <p:cNvPr id="62" name="Shape 23">
              <a:extLst>
                <a:ext uri="{FF2B5EF4-FFF2-40B4-BE49-F238E27FC236}">
                  <a16:creationId xmlns:a16="http://schemas.microsoft.com/office/drawing/2014/main" id="{7330D4BA-FBF2-09EB-2FB3-A002636F4C09}"/>
                </a:ext>
              </a:extLst>
            </p:cNvPr>
            <p:cNvSpPr/>
            <p:nvPr/>
          </p:nvSpPr>
          <p:spPr>
            <a:xfrm>
              <a:off x="1677670" y="4161536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4A149107-2FDA-1935-089C-5B30C2B90EFF}"/>
                </a:ext>
              </a:extLst>
            </p:cNvPr>
            <p:cNvSpPr/>
            <p:nvPr/>
          </p:nvSpPr>
          <p:spPr>
            <a:xfrm>
              <a:off x="1769110" y="4161536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③</a:t>
              </a:r>
              <a:endParaRPr lang="en-US" sz="1300" dirty="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D2B6AE91-F151-A3D6-DCA9-23D860F1E0F6}"/>
                </a:ext>
              </a:extLst>
            </p:cNvPr>
            <p:cNvSpPr/>
            <p:nvPr/>
          </p:nvSpPr>
          <p:spPr>
            <a:xfrm>
              <a:off x="2226310" y="4161536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search_knowledge</a:t>
              </a:r>
              <a:endParaRPr lang="en-US" sz="1100" dirty="0"/>
            </a:p>
          </p:txBody>
        </p:sp>
        <p:sp>
          <p:nvSpPr>
            <p:cNvPr id="65" name="Text 26">
              <a:extLst>
                <a:ext uri="{FF2B5EF4-FFF2-40B4-BE49-F238E27FC236}">
                  <a16:creationId xmlns:a16="http://schemas.microsoft.com/office/drawing/2014/main" id="{7D2FEC2B-E572-1F8E-59D6-F1E4B83AEB51}"/>
                </a:ext>
              </a:extLst>
            </p:cNvPr>
            <p:cNvSpPr/>
            <p:nvPr/>
          </p:nvSpPr>
          <p:spPr>
            <a:xfrm>
              <a:off x="4329430" y="4161536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6" name="Text 27">
              <a:extLst>
                <a:ext uri="{FF2B5EF4-FFF2-40B4-BE49-F238E27FC236}">
                  <a16:creationId xmlns:a16="http://schemas.microsoft.com/office/drawing/2014/main" id="{C4B2DA62-8FE1-8047-3EEE-737BB3F78052}"/>
                </a:ext>
              </a:extLst>
            </p:cNvPr>
            <p:cNvSpPr/>
            <p:nvPr/>
          </p:nvSpPr>
          <p:spPr>
            <a:xfrm>
              <a:off x="4695190" y="4161536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</a:t>
              </a:r>
              <a:endParaRPr lang="en-US" sz="1100" dirty="0"/>
            </a:p>
          </p:txBody>
        </p:sp>
        <p:sp>
          <p:nvSpPr>
            <p:cNvPr id="67" name="Text 28">
              <a:extLst>
                <a:ext uri="{FF2B5EF4-FFF2-40B4-BE49-F238E27FC236}">
                  <a16:creationId xmlns:a16="http://schemas.microsoft.com/office/drawing/2014/main" id="{7E363A3F-4802-66B4-08CA-E5C51065CFC6}"/>
                </a:ext>
              </a:extLst>
            </p:cNvPr>
            <p:cNvSpPr/>
            <p:nvPr/>
          </p:nvSpPr>
          <p:spPr>
            <a:xfrm>
              <a:off x="6798310" y="4161536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&lt;3s</a:t>
              </a:r>
              <a:endParaRPr lang="en-US" sz="1000" dirty="0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D5C1AE68-797F-D5F1-E6EA-137D011B0B7F}"/>
                </a:ext>
              </a:extLst>
            </p:cNvPr>
            <p:cNvSpPr/>
            <p:nvPr/>
          </p:nvSpPr>
          <p:spPr>
            <a:xfrm>
              <a:off x="1677670" y="4737608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C2A117C3-E69D-3C77-9F99-1F0588C74105}"/>
                </a:ext>
              </a:extLst>
            </p:cNvPr>
            <p:cNvSpPr/>
            <p:nvPr/>
          </p:nvSpPr>
          <p:spPr>
            <a:xfrm>
              <a:off x="1769110" y="4737608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④</a:t>
              </a:r>
              <a:endParaRPr lang="en-US" sz="1300" dirty="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E2370C41-AE57-0CA9-EBC4-8B4F088AB537}"/>
                </a:ext>
              </a:extLst>
            </p:cNvPr>
            <p:cNvSpPr/>
            <p:nvPr/>
          </p:nvSpPr>
          <p:spPr>
            <a:xfrm>
              <a:off x="2226310" y="4737608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render_report</a:t>
              </a:r>
              <a:endParaRPr lang="en-US" sz="1100" dirty="0"/>
            </a:p>
          </p:txBody>
        </p:sp>
        <p:sp>
          <p:nvSpPr>
            <p:cNvPr id="71" name="Text 32">
              <a:extLst>
                <a:ext uri="{FF2B5EF4-FFF2-40B4-BE49-F238E27FC236}">
                  <a16:creationId xmlns:a16="http://schemas.microsoft.com/office/drawing/2014/main" id="{E3C7131E-CA64-47EA-9D44-68437FCBB9F4}"/>
                </a:ext>
              </a:extLst>
            </p:cNvPr>
            <p:cNvSpPr/>
            <p:nvPr/>
          </p:nvSpPr>
          <p:spPr>
            <a:xfrm>
              <a:off x="4329430" y="4737608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72" name="Text 33">
              <a:extLst>
                <a:ext uri="{FF2B5EF4-FFF2-40B4-BE49-F238E27FC236}">
                  <a16:creationId xmlns:a16="http://schemas.microsoft.com/office/drawing/2014/main" id="{08D1E2A8-A059-1AC4-C28B-19AB81E2D49C}"/>
                </a:ext>
              </a:extLst>
            </p:cNvPr>
            <p:cNvSpPr/>
            <p:nvPr/>
          </p:nvSpPr>
          <p:spPr>
            <a:xfrm>
              <a:off x="4695190" y="4737608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Jinja2 → S3</a:t>
              </a:r>
              <a:endParaRPr lang="en-US" sz="1100" dirty="0"/>
            </a:p>
          </p:txBody>
        </p:sp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0AD84D9F-2264-20C3-5130-1C8298CDBD5F}"/>
                </a:ext>
              </a:extLst>
            </p:cNvPr>
            <p:cNvSpPr/>
            <p:nvPr/>
          </p:nvSpPr>
          <p:spPr>
            <a:xfrm>
              <a:off x="6798310" y="4737608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&lt;5s</a:t>
              </a:r>
              <a:endParaRPr lang="en-US" sz="1000" dirty="0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C7413A37-B413-38AD-4F30-C3772604A4C1}"/>
                </a:ext>
              </a:extLst>
            </p:cNvPr>
            <p:cNvSpPr/>
            <p:nvPr/>
          </p:nvSpPr>
          <p:spPr>
            <a:xfrm>
              <a:off x="1403350" y="5450840"/>
              <a:ext cx="6858000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 w="1905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36">
              <a:extLst>
                <a:ext uri="{FF2B5EF4-FFF2-40B4-BE49-F238E27FC236}">
                  <a16:creationId xmlns:a16="http://schemas.microsoft.com/office/drawing/2014/main" id="{3824D517-8030-D5AE-F055-73BB68A2B7DB}"/>
                </a:ext>
              </a:extLst>
            </p:cNvPr>
            <p:cNvSpPr/>
            <p:nvPr/>
          </p:nvSpPr>
          <p:spPr>
            <a:xfrm>
              <a:off x="1586230" y="5450840"/>
              <a:ext cx="6583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输出：中文摘要 + HTML 诊断书 URL  ·  总耗时 ~35s</a:t>
              </a:r>
              <a:endParaRPr lang="en-US" sz="1200" dirty="0"/>
            </a:p>
          </p:txBody>
        </p:sp>
      </p:grpSp>
      <p:sp>
        <p:nvSpPr>
          <p:cNvPr id="89" name="Text 50">
            <a:extLst>
              <a:ext uri="{FF2B5EF4-FFF2-40B4-BE49-F238E27FC236}">
                <a16:creationId xmlns:a16="http://schemas.microsoft.com/office/drawing/2014/main" id="{48590A30-4F38-5189-FAB5-094C0E878A1E}"/>
              </a:ext>
            </a:extLst>
          </p:cNvPr>
          <p:cNvSpPr/>
          <p:nvPr/>
        </p:nvSpPr>
        <p:spPr>
          <a:xfrm>
            <a:off x="438150" y="60624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“用户说一句话 → DOA 跨源关联分析 → HTML 诊断书 → 邮件/IM 通知”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FCCE-7057-1812-4EBC-EBB7D9EA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3BB3D-E5DA-53A8-567A-DAE963A3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HTML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诊断书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C957161-1AC5-1343-DC17-45EC4C63B3D2}"/>
              </a:ext>
            </a:extLst>
          </p:cNvPr>
          <p:cNvSpPr/>
          <p:nvPr/>
        </p:nvSpPr>
        <p:spPr>
          <a:xfrm>
            <a:off x="457200" y="912428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D870124-7EC5-1B44-F5D5-6D5FF86A4BCA}"/>
              </a:ext>
            </a:extLst>
          </p:cNvPr>
          <p:cNvSpPr/>
          <p:nvPr/>
        </p:nvSpPr>
        <p:spPr>
          <a:xfrm>
            <a:off x="640080" y="10038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FE1AA75-88B9-9344-D97C-335D4D728531}"/>
              </a:ext>
            </a:extLst>
          </p:cNvPr>
          <p:cNvSpPr/>
          <p:nvPr/>
        </p:nvSpPr>
        <p:spPr>
          <a:xfrm>
            <a:off x="731520" y="14610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B3EA2CA-8DCF-6F8D-1437-E9D0853F2E38}"/>
              </a:ext>
            </a:extLst>
          </p:cNvPr>
          <p:cNvSpPr/>
          <p:nvPr/>
        </p:nvSpPr>
        <p:spPr>
          <a:xfrm>
            <a:off x="1188720" y="14610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数据图表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734A69-6F10-3428-AFE4-B0ECACE8C33C}"/>
              </a:ext>
            </a:extLst>
          </p:cNvPr>
          <p:cNvSpPr/>
          <p:nvPr/>
        </p:nvSpPr>
        <p:spPr>
          <a:xfrm>
            <a:off x="2651760" y="14610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趋势线、拓扑图、火焰图</a:t>
            </a:r>
            <a:endParaRPr lang="en-US" sz="1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2F9DC5-765C-A43C-2E9E-A4BA9E229533}"/>
              </a:ext>
            </a:extLst>
          </p:cNvPr>
          <p:cNvSpPr/>
          <p:nvPr/>
        </p:nvSpPr>
        <p:spPr>
          <a:xfrm>
            <a:off x="731520" y="19914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F0EBAE2-ED42-5D14-8656-D972BCF99EA3}"/>
              </a:ext>
            </a:extLst>
          </p:cNvPr>
          <p:cNvSpPr/>
          <p:nvPr/>
        </p:nvSpPr>
        <p:spPr>
          <a:xfrm>
            <a:off x="1188720" y="19914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文字解读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8670AC-C2AB-E1E3-1063-A0A6EC1DD39B}"/>
              </a:ext>
            </a:extLst>
          </p:cNvPr>
          <p:cNvSpPr/>
          <p:nvPr/>
        </p:nvSpPr>
        <p:spPr>
          <a:xfrm>
            <a:off x="2651760" y="19914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"CPU 在 14:32 异常上升，与部署时间关联"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C033358-5D6E-E962-EFD4-FAD6C01C009F}"/>
              </a:ext>
            </a:extLst>
          </p:cNvPr>
          <p:cNvSpPr/>
          <p:nvPr/>
        </p:nvSpPr>
        <p:spPr>
          <a:xfrm>
            <a:off x="731520" y="25217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B49CEC4-73E5-0E91-33C3-FB99B1002B7F}"/>
              </a:ext>
            </a:extLst>
          </p:cNvPr>
          <p:cNvSpPr/>
          <p:nvPr/>
        </p:nvSpPr>
        <p:spPr>
          <a:xfrm>
            <a:off x="1188720" y="25217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因果分析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B01A787-6901-D18B-DF98-76A96E06AB02}"/>
              </a:ext>
            </a:extLst>
          </p:cNvPr>
          <p:cNvSpPr/>
          <p:nvPr/>
        </p:nvSpPr>
        <p:spPr>
          <a:xfrm>
            <a:off x="2651760" y="25217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+ 关联事件 + 依赖链路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353D954-AACE-F48B-13A0-B0B0A2F248B4}"/>
              </a:ext>
            </a:extLst>
          </p:cNvPr>
          <p:cNvSpPr/>
          <p:nvPr/>
        </p:nvSpPr>
        <p:spPr>
          <a:xfrm>
            <a:off x="731520" y="30521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A4302AA-A177-1F43-F644-18BC345A119E}"/>
              </a:ext>
            </a:extLst>
          </p:cNvPr>
          <p:cNvSpPr/>
          <p:nvPr/>
        </p:nvSpPr>
        <p:spPr>
          <a:xfrm>
            <a:off x="1188720" y="30521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操作建议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87FC1A7A-4DFE-E13F-DBF5-157778003AA5}"/>
              </a:ext>
            </a:extLst>
          </p:cNvPr>
          <p:cNvSpPr/>
          <p:nvPr/>
        </p:nvSpPr>
        <p:spPr>
          <a:xfrm>
            <a:off x="2651760" y="30521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"建议扩容 RDS Proxy 连接池 200→400 (调用 SSM Runbook)"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B14AE6E-66F2-31EE-F9E3-6A9B79C6D70B}"/>
              </a:ext>
            </a:extLst>
          </p:cNvPr>
          <p:cNvSpPr/>
          <p:nvPr/>
        </p:nvSpPr>
        <p:spPr>
          <a:xfrm>
            <a:off x="731520" y="35824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6BE3FD2-DE0A-6042-BDB3-D75ED7B00ACF}"/>
              </a:ext>
            </a:extLst>
          </p:cNvPr>
          <p:cNvSpPr/>
          <p:nvPr/>
        </p:nvSpPr>
        <p:spPr>
          <a:xfrm>
            <a:off x="1188720" y="35824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BB424F5-74A5-CEC2-3C0D-654B44EC1187}"/>
              </a:ext>
            </a:extLst>
          </p:cNvPr>
          <p:cNvSpPr/>
          <p:nvPr/>
        </p:nvSpPr>
        <p:spPr>
          <a:xfrm>
            <a:off x="2651760" y="35824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日志片段 + Trace ID + 部署记录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ACFB9698-22A2-2021-287C-B43B08831594}"/>
              </a:ext>
            </a:extLst>
          </p:cNvPr>
          <p:cNvSpPr/>
          <p:nvPr/>
        </p:nvSpPr>
        <p:spPr>
          <a:xfrm>
            <a:off x="640080" y="4286564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E5B2DE-16B3-47FB-B0A5-298D574E125D}"/>
              </a:ext>
            </a:extLst>
          </p:cNvPr>
          <p:cNvSpPr/>
          <p:nvPr/>
        </p:nvSpPr>
        <p:spPr>
          <a:xfrm>
            <a:off x="731520" y="42865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类比：传统 Dashboard = 体检数值表；NLOps 诊断书 = 医生写的诊断报告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7C536B-F384-EC26-7674-6567A7F0AEE1}"/>
              </a:ext>
            </a:extLst>
          </p:cNvPr>
          <p:cNvSpPr/>
          <p:nvPr/>
        </p:nvSpPr>
        <p:spPr>
          <a:xfrm>
            <a:off x="6133338" y="1387916"/>
            <a:ext cx="5605272" cy="2377440"/>
          </a:xfrm>
          <a:prstGeom prst="roundRect">
            <a:avLst>
              <a:gd name="adj" fmla="val 2308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D347AF-227A-C1F0-F3D3-689356EDFD09}"/>
              </a:ext>
            </a:extLst>
          </p:cNvPr>
          <p:cNvSpPr/>
          <p:nvPr/>
        </p:nvSpPr>
        <p:spPr>
          <a:xfrm>
            <a:off x="6316218" y="14793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9A5CE87-30F2-1B79-D4A4-B693F22D9A4B}"/>
              </a:ext>
            </a:extLst>
          </p:cNvPr>
          <p:cNvSpPr/>
          <p:nvPr/>
        </p:nvSpPr>
        <p:spPr>
          <a:xfrm>
            <a:off x="6316218" y="18908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①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AEC9F5A-9F60-A3D5-4950-98D08005F5D2}"/>
              </a:ext>
            </a:extLst>
          </p:cNvPr>
          <p:cNvSpPr/>
          <p:nvPr/>
        </p:nvSpPr>
        <p:spPr>
          <a:xfrm>
            <a:off x="6727698" y="18908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分析完成 → 结构化结果 (JSON)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572CA-4DB6-36FF-60F3-06370A5998C5}"/>
              </a:ext>
            </a:extLst>
          </p:cNvPr>
          <p:cNvSpPr/>
          <p:nvPr/>
        </p:nvSpPr>
        <p:spPr>
          <a:xfrm>
            <a:off x="6407658" y="219258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45E85A-52D8-DDB3-831F-EC033ACD907C}"/>
              </a:ext>
            </a:extLst>
          </p:cNvPr>
          <p:cNvSpPr/>
          <p:nvPr/>
        </p:nvSpPr>
        <p:spPr>
          <a:xfrm>
            <a:off x="6316218" y="22748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②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E06CFEE-0F6C-4AD2-E559-793C1A3F7C14}"/>
              </a:ext>
            </a:extLst>
          </p:cNvPr>
          <p:cNvSpPr/>
          <p:nvPr/>
        </p:nvSpPr>
        <p:spPr>
          <a:xfrm>
            <a:off x="6727698" y="22748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模板引擎渲染 (ECharts 图表)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55F025-08D1-73F2-1D9C-3AB63703ED48}"/>
              </a:ext>
            </a:extLst>
          </p:cNvPr>
          <p:cNvSpPr/>
          <p:nvPr/>
        </p:nvSpPr>
        <p:spPr>
          <a:xfrm>
            <a:off x="6407658" y="257663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925E7F-7BAC-1543-5292-3B212A2A3EAD}"/>
              </a:ext>
            </a:extLst>
          </p:cNvPr>
          <p:cNvSpPr/>
          <p:nvPr/>
        </p:nvSpPr>
        <p:spPr>
          <a:xfrm>
            <a:off x="6316218" y="26589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③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4D7780-D160-2E98-BA4B-19BC54824293}"/>
              </a:ext>
            </a:extLst>
          </p:cNvPr>
          <p:cNvSpPr/>
          <p:nvPr/>
        </p:nvSpPr>
        <p:spPr>
          <a:xfrm>
            <a:off x="6727698" y="26589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S3 → Presigned URL (30 天有效)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78201C-9FBE-95B6-5600-0CD74EF22709}"/>
              </a:ext>
            </a:extLst>
          </p:cNvPr>
          <p:cNvSpPr/>
          <p:nvPr/>
        </p:nvSpPr>
        <p:spPr>
          <a:xfrm>
            <a:off x="6407658" y="296068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89607F7-4EB6-F362-FFE1-667EEBC1B6A8}"/>
              </a:ext>
            </a:extLst>
          </p:cNvPr>
          <p:cNvSpPr/>
          <p:nvPr/>
        </p:nvSpPr>
        <p:spPr>
          <a:xfrm>
            <a:off x="6316218" y="30429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④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8AE5E4-2C2B-461E-D0CE-39378C500422}"/>
              </a:ext>
            </a:extLst>
          </p:cNvPr>
          <p:cNvSpPr/>
          <p:nvPr/>
        </p:nvSpPr>
        <p:spPr>
          <a:xfrm>
            <a:off x="6727698" y="30429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返回给用户 (Quick: 链接 / IM: 卡片)</a:t>
            </a:r>
            <a:endParaRPr lang="en-US" sz="1100" dirty="0"/>
          </a:p>
        </p:txBody>
      </p:sp>
      <p:sp>
        <p:nvSpPr>
          <p:cNvPr id="85" name="Shape 51">
            <a:extLst>
              <a:ext uri="{FF2B5EF4-FFF2-40B4-BE49-F238E27FC236}">
                <a16:creationId xmlns:a16="http://schemas.microsoft.com/office/drawing/2014/main" id="{AB734619-814E-FD0A-A63D-1738B9AE3BFC}"/>
              </a:ext>
            </a:extLst>
          </p:cNvPr>
          <p:cNvSpPr/>
          <p:nvPr/>
        </p:nvSpPr>
        <p:spPr>
          <a:xfrm>
            <a:off x="457200" y="5164388"/>
            <a:ext cx="11274552" cy="502920"/>
          </a:xfrm>
          <a:prstGeom prst="roundRect">
            <a:avLst>
              <a:gd name="adj" fmla="val 7273"/>
            </a:avLst>
          </a:prstGeom>
          <a:solidFill>
            <a:srgbClr val="0A1A2A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52">
            <a:extLst>
              <a:ext uri="{FF2B5EF4-FFF2-40B4-BE49-F238E27FC236}">
                <a16:creationId xmlns:a16="http://schemas.microsoft.com/office/drawing/2014/main" id="{90B49A4F-6067-5DE4-525F-109AE8B2C39C}"/>
              </a:ext>
            </a:extLst>
          </p:cNvPr>
          <p:cNvSpPr/>
          <p:nvPr/>
        </p:nvSpPr>
        <p:spPr>
          <a:xfrm>
            <a:off x="640080" y="51643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30天有效  ·  每次追问生成新页面  ·  支持 ECharts 交互图表  ·  手机/电脑双端友好</a:t>
            </a:r>
            <a:endParaRPr lang="en-US" sz="1100" dirty="0"/>
          </a:p>
        </p:txBody>
      </p:sp>
      <p:sp>
        <p:nvSpPr>
          <p:cNvPr id="87" name="Text 53">
            <a:extLst>
              <a:ext uri="{FF2B5EF4-FFF2-40B4-BE49-F238E27FC236}">
                <a16:creationId xmlns:a16="http://schemas.microsoft.com/office/drawing/2014/main" id="{CCD68D4A-3C16-3828-0CBC-D0795A4E4AD4}"/>
              </a:ext>
            </a:extLst>
          </p:cNvPr>
          <p:cNvSpPr/>
          <p:nvPr/>
        </p:nvSpPr>
        <p:spPr>
          <a:xfrm>
            <a:off x="457200" y="58959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“不给数字给结论，不给图表给解读”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055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06CD-107D-2450-7553-A2BFB56D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5F664-CC1C-7FD4-F10C-5DCD5829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告警自动闭环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C4D9F58-C8B4-B66C-A278-04FCD95ADE9B}"/>
              </a:ext>
            </a:extLst>
          </p:cNvPr>
          <p:cNvSpPr/>
          <p:nvPr/>
        </p:nvSpPr>
        <p:spPr>
          <a:xfrm>
            <a:off x="994410" y="90681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凌晨告警 → Webhook + HMAC → DOA 自动调查 → 诊断书 + 邮件</a:t>
            </a:r>
            <a:r>
              <a:rPr lang="en-US" sz="1300" i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084B369-300C-B22A-123D-538E7A45645E}"/>
              </a:ext>
            </a:extLst>
          </p:cNvPr>
          <p:cNvSpPr/>
          <p:nvPr/>
        </p:nvSpPr>
        <p:spPr>
          <a:xfrm>
            <a:off x="737870" y="155016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5A17448-C1E4-9298-1690-0CBA4877497C}"/>
              </a:ext>
            </a:extLst>
          </p:cNvPr>
          <p:cNvSpPr/>
          <p:nvPr/>
        </p:nvSpPr>
        <p:spPr>
          <a:xfrm>
            <a:off x="737870" y="1550162"/>
            <a:ext cx="54864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F3710D9-861B-989D-4477-1A2B1767F6BC}"/>
              </a:ext>
            </a:extLst>
          </p:cNvPr>
          <p:cNvSpPr/>
          <p:nvPr/>
        </p:nvSpPr>
        <p:spPr>
          <a:xfrm>
            <a:off x="920750" y="155016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①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F517CC1D-227E-24D3-3B42-D44B194441BB}"/>
              </a:ext>
            </a:extLst>
          </p:cNvPr>
          <p:cNvSpPr/>
          <p:nvPr/>
        </p:nvSpPr>
        <p:spPr>
          <a:xfrm>
            <a:off x="1377950" y="159588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Alarm 触发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ADDDD9A0-8AD9-4D02-1A7A-38FFCC167825}"/>
              </a:ext>
            </a:extLst>
          </p:cNvPr>
          <p:cNvSpPr/>
          <p:nvPr/>
        </p:nvSpPr>
        <p:spPr>
          <a:xfrm>
            <a:off x="1377950" y="187020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告警进入 ALARM 状态</a:t>
            </a:r>
            <a:endParaRPr lang="en-US" sz="10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EEBE71C3-E179-BB33-BDE3-A02DAAAAE151}"/>
              </a:ext>
            </a:extLst>
          </p:cNvPr>
          <p:cNvSpPr/>
          <p:nvPr/>
        </p:nvSpPr>
        <p:spPr>
          <a:xfrm>
            <a:off x="6297932" y="154502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40FA9B50-9724-D747-F50B-C0208E9977E4}"/>
              </a:ext>
            </a:extLst>
          </p:cNvPr>
          <p:cNvSpPr/>
          <p:nvPr/>
        </p:nvSpPr>
        <p:spPr>
          <a:xfrm>
            <a:off x="6297932" y="1545022"/>
            <a:ext cx="54864" cy="640080"/>
          </a:xfrm>
          <a:prstGeom prst="rect">
            <a:avLst/>
          </a:prstGeom>
          <a:solidFill>
            <a:srgbClr val="4D9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6F9B06F3-AE6E-DF4E-C937-DBBD7C9374DC}"/>
              </a:ext>
            </a:extLst>
          </p:cNvPr>
          <p:cNvSpPr/>
          <p:nvPr/>
        </p:nvSpPr>
        <p:spPr>
          <a:xfrm>
            <a:off x="6480812" y="154502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9FFF"/>
                </a:solidFill>
              </a:rPr>
              <a:t>②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55305400-F2EC-0B65-872E-6481C8CEA98E}"/>
              </a:ext>
            </a:extLst>
          </p:cNvPr>
          <p:cNvSpPr/>
          <p:nvPr/>
        </p:nvSpPr>
        <p:spPr>
          <a:xfrm>
            <a:off x="6938012" y="159074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自动调查</a:t>
            </a:r>
            <a:endParaRPr lang="en-US" sz="12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822D2731-3C67-152D-6FED-01627257D857}"/>
              </a:ext>
            </a:extLst>
          </p:cNvPr>
          <p:cNvSpPr/>
          <p:nvPr/>
        </p:nvSpPr>
        <p:spPr>
          <a:xfrm>
            <a:off x="6938012" y="186506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启动 Investigation (5-15min)</a:t>
            </a:r>
            <a:endParaRPr lang="en-US" sz="10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291DF86D-BF10-331A-B3A0-91F7B1ABA57F}"/>
              </a:ext>
            </a:extLst>
          </p:cNvPr>
          <p:cNvSpPr/>
          <p:nvPr/>
        </p:nvSpPr>
        <p:spPr>
          <a:xfrm>
            <a:off x="737870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FE174C43-3A40-300C-260E-D6BB6CAF01D2}"/>
              </a:ext>
            </a:extLst>
          </p:cNvPr>
          <p:cNvSpPr/>
          <p:nvPr/>
        </p:nvSpPr>
        <p:spPr>
          <a:xfrm>
            <a:off x="737870" y="2569718"/>
            <a:ext cx="54864" cy="640080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12D88841-BFEC-976A-DA5B-FB733E1E2F37}"/>
              </a:ext>
            </a:extLst>
          </p:cNvPr>
          <p:cNvSpPr/>
          <p:nvPr/>
        </p:nvSpPr>
        <p:spPr>
          <a:xfrm>
            <a:off x="920750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B37E"/>
                </a:solidFill>
              </a:rPr>
              <a:t>③</a:t>
            </a:r>
            <a:endParaRPr lang="en-US" sz="14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1587DBD-0D31-7417-F15E-7615C9595E71}"/>
              </a:ext>
            </a:extLst>
          </p:cNvPr>
          <p:cNvSpPr/>
          <p:nvPr/>
        </p:nvSpPr>
        <p:spPr>
          <a:xfrm>
            <a:off x="1377950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 回调 (aws.devopsagent)</a:t>
            </a:r>
            <a:endParaRPr lang="en-US" sz="12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3797C76-8AEE-2F4C-3C00-E391655E6DB6}"/>
              </a:ext>
            </a:extLst>
          </p:cNvPr>
          <p:cNvSpPr/>
          <p:nvPr/>
        </p:nvSpPr>
        <p:spPr>
          <a:xfrm>
            <a:off x="1377950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source=aws.devopsagent → Lambda EB Handler</a:t>
            </a:r>
            <a:endParaRPr lang="en-US" sz="10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9EE2DBA4-03BE-652A-8E03-8C90A16DE18C}"/>
              </a:ext>
            </a:extLst>
          </p:cNvPr>
          <p:cNvSpPr/>
          <p:nvPr/>
        </p:nvSpPr>
        <p:spPr>
          <a:xfrm>
            <a:off x="6297932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094795A-179F-4700-3A2F-D4EE4388833D}"/>
              </a:ext>
            </a:extLst>
          </p:cNvPr>
          <p:cNvSpPr/>
          <p:nvPr/>
        </p:nvSpPr>
        <p:spPr>
          <a:xfrm>
            <a:off x="6297932" y="2569718"/>
            <a:ext cx="54864" cy="640080"/>
          </a:xfrm>
          <a:prstGeom prst="rect">
            <a:avLst/>
          </a:prstGeom>
          <a:solidFill>
            <a:srgbClr val="FFCC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C589F65-C624-ACDC-D7E9-6C42D01A2A57}"/>
              </a:ext>
            </a:extLst>
          </p:cNvPr>
          <p:cNvSpPr/>
          <p:nvPr/>
        </p:nvSpPr>
        <p:spPr>
          <a:xfrm>
            <a:off x="6480812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66"/>
                </a:solidFill>
              </a:rPr>
              <a:t>④</a:t>
            </a:r>
            <a:endParaRPr lang="en-US" sz="14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61BE89CB-433A-50C7-7B20-486B44D013E1}"/>
              </a:ext>
            </a:extLst>
          </p:cNvPr>
          <p:cNvSpPr/>
          <p:nvPr/>
        </p:nvSpPr>
        <p:spPr>
          <a:xfrm>
            <a:off x="6938012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HTML 诊断书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7119A551-7C3B-2AE0-FB8F-EFA36C545FE3}"/>
              </a:ext>
            </a:extLst>
          </p:cNvPr>
          <p:cNvSpPr/>
          <p:nvPr/>
        </p:nvSpPr>
        <p:spPr>
          <a:xfrm>
            <a:off x="6938012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GetBacklogTask → Jinja2 → S3 Presigned URL (30 天)</a:t>
            </a:r>
            <a:endParaRPr lang="en-US" sz="1000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BFBBBB72-AB52-1E89-1355-EAFA45F23904}"/>
              </a:ext>
            </a:extLst>
          </p:cNvPr>
          <p:cNvSpPr/>
          <p:nvPr/>
        </p:nvSpPr>
        <p:spPr>
          <a:xfrm>
            <a:off x="73787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B4F3C75F-F64D-26DC-6C91-E147408FA5C4}"/>
              </a:ext>
            </a:extLst>
          </p:cNvPr>
          <p:cNvSpPr/>
          <p:nvPr/>
        </p:nvSpPr>
        <p:spPr>
          <a:xfrm>
            <a:off x="737870" y="3644198"/>
            <a:ext cx="54864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CF5EE554-A93E-CE25-54E3-3CCE1A36C5BB}"/>
              </a:ext>
            </a:extLst>
          </p:cNvPr>
          <p:cNvSpPr/>
          <p:nvPr/>
        </p:nvSpPr>
        <p:spPr>
          <a:xfrm>
            <a:off x="92075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</a:rPr>
              <a:t>⑤</a:t>
            </a:r>
            <a:endParaRPr lang="en-US" sz="14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65ABD48A-3C68-5F0A-74E2-0AB995EA32B2}"/>
              </a:ext>
            </a:extLst>
          </p:cNvPr>
          <p:cNvSpPr/>
          <p:nvPr/>
        </p:nvSpPr>
        <p:spPr>
          <a:xfrm>
            <a:off x="137795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 邮件推送</a:t>
            </a:r>
            <a:endParaRPr lang="en-US" sz="1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4F1D5DD1-B0EC-C888-DFB1-E3561780A5CB}"/>
              </a:ext>
            </a:extLst>
          </p:cNvPr>
          <p:cNvSpPr/>
          <p:nvPr/>
        </p:nvSpPr>
        <p:spPr>
          <a:xfrm>
            <a:off x="1377950" y="396423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告警邮件 + 诊断书链接</a:t>
            </a:r>
            <a:endParaRPr lang="en-US" sz="10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746C415F-4464-57FF-1417-16B8039CB708}"/>
              </a:ext>
            </a:extLst>
          </p:cNvPr>
          <p:cNvSpPr/>
          <p:nvPr/>
        </p:nvSpPr>
        <p:spPr>
          <a:xfrm>
            <a:off x="629793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AA9935B5-A2BE-0551-10AB-32F6E2BF7AE3}"/>
              </a:ext>
            </a:extLst>
          </p:cNvPr>
          <p:cNvSpPr/>
          <p:nvPr/>
        </p:nvSpPr>
        <p:spPr>
          <a:xfrm>
            <a:off x="6297930" y="3644198"/>
            <a:ext cx="54864" cy="6400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9CE984C8-2140-1168-7AD8-B31D9D9B4606}"/>
              </a:ext>
            </a:extLst>
          </p:cNvPr>
          <p:cNvSpPr/>
          <p:nvPr/>
        </p:nvSpPr>
        <p:spPr>
          <a:xfrm>
            <a:off x="648081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⑥</a:t>
            </a:r>
            <a:endParaRPr lang="en-US" sz="1400" dirty="0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AD4AD214-3796-C184-DE8A-B5B67A985651}"/>
              </a:ext>
            </a:extLst>
          </p:cNvPr>
          <p:cNvSpPr/>
          <p:nvPr/>
        </p:nvSpPr>
        <p:spPr>
          <a:xfrm>
            <a:off x="693801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Skills 自动匹配</a:t>
            </a:r>
            <a:endParaRPr lang="en-US" sz="1200" dirty="0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DD0F1DA5-B712-5FB3-3A2C-E08F65FB999B}"/>
              </a:ext>
            </a:extLst>
          </p:cNvPr>
          <p:cNvSpPr/>
          <p:nvPr/>
        </p:nvSpPr>
        <p:spPr>
          <a:xfrm>
            <a:off x="3295650" y="4770822"/>
            <a:ext cx="5330952" cy="1280160"/>
          </a:xfrm>
          <a:prstGeom prst="roundRect">
            <a:avLst>
              <a:gd name="adj" fmla="val 4286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757F0381-DECF-DDB6-A426-99596DA4D805}"/>
              </a:ext>
            </a:extLst>
          </p:cNvPr>
          <p:cNvSpPr/>
          <p:nvPr/>
        </p:nvSpPr>
        <p:spPr>
          <a:xfrm>
            <a:off x="3478530" y="486226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SRE 收到的邮件包含</a:t>
            </a:r>
            <a:endParaRPr lang="en-US" sz="1100" dirty="0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050EED70-A2CC-966F-A56F-8DBC10733F9D}"/>
              </a:ext>
            </a:extLst>
          </p:cNvPr>
          <p:cNvSpPr/>
          <p:nvPr/>
        </p:nvSpPr>
        <p:spPr>
          <a:xfrm>
            <a:off x="3569970" y="518230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告警标题 + 严重度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根因摘要（中文）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诊断书链接（点击查看完整报告）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修复建议 + 证据链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418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87D1-16C8-DAE9-1CD1-5B8E3C4C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CB1C1-D97F-7F5D-86B9-8FDA161B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经验沉淀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3A757EC-4FF4-52A8-7272-FD2C978EED12}"/>
              </a:ext>
            </a:extLst>
          </p:cNvPr>
          <p:cNvSpPr/>
          <p:nvPr/>
        </p:nvSpPr>
        <p:spPr>
          <a:xfrm>
            <a:off x="516964" y="836109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1C26AA-6822-26E9-F745-F0791052ACA4}"/>
              </a:ext>
            </a:extLst>
          </p:cNvPr>
          <p:cNvSpPr/>
          <p:nvPr/>
        </p:nvSpPr>
        <p:spPr>
          <a:xfrm>
            <a:off x="699844" y="92754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经验闭环流程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1BB472B-4548-AF7A-F86C-5C09D6E5E6BD}"/>
              </a:ext>
            </a:extLst>
          </p:cNvPr>
          <p:cNvSpPr/>
          <p:nvPr/>
        </p:nvSpPr>
        <p:spPr>
          <a:xfrm>
            <a:off x="882724" y="127502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65ECA4-78B7-7218-B4E8-BF43AA11E587}"/>
              </a:ext>
            </a:extLst>
          </p:cNvPr>
          <p:cNvSpPr/>
          <p:nvPr/>
        </p:nvSpPr>
        <p:spPr>
          <a:xfrm>
            <a:off x="974164" y="127502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415B59-6C19-4DEA-F29D-CE5157D0E98F}"/>
              </a:ext>
            </a:extLst>
          </p:cNvPr>
          <p:cNvSpPr/>
          <p:nvPr/>
        </p:nvSpPr>
        <p:spPr>
          <a:xfrm>
            <a:off x="1431364" y="132074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故障处理完成 (DOA Investigation 完成)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B6D10F1-24E3-E0E2-F44B-4ED5F00A7F6E}"/>
              </a:ext>
            </a:extLst>
          </p:cNvPr>
          <p:cNvSpPr/>
          <p:nvPr/>
        </p:nvSpPr>
        <p:spPr>
          <a:xfrm>
            <a:off x="1431364" y="161334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生成结构化事件报告 (JSON)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EA4E9C3-BA8D-D7C5-6519-04EA4C04B098}"/>
              </a:ext>
            </a:extLst>
          </p:cNvPr>
          <p:cNvSpPr/>
          <p:nvPr/>
        </p:nvSpPr>
        <p:spPr>
          <a:xfrm>
            <a:off x="3077284" y="189681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7E0E164-B2FE-C457-B2B2-28CB5ED44FB0}"/>
              </a:ext>
            </a:extLst>
          </p:cNvPr>
          <p:cNvSpPr/>
          <p:nvPr/>
        </p:nvSpPr>
        <p:spPr>
          <a:xfrm>
            <a:off x="882724" y="200654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5E660A8-3464-AF82-8173-DCF94C7D0C3C}"/>
              </a:ext>
            </a:extLst>
          </p:cNvPr>
          <p:cNvSpPr/>
          <p:nvPr/>
        </p:nvSpPr>
        <p:spPr>
          <a:xfrm>
            <a:off x="974164" y="200654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805161D-5BE7-543D-0B8B-11B0654FC7A1}"/>
              </a:ext>
            </a:extLst>
          </p:cNvPr>
          <p:cNvSpPr/>
          <p:nvPr/>
        </p:nvSpPr>
        <p:spPr>
          <a:xfrm>
            <a:off x="1431364" y="205226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自动双写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93907E-75CA-203B-3A71-147FAD901C21}"/>
              </a:ext>
            </a:extLst>
          </p:cNvPr>
          <p:cNvSpPr/>
          <p:nvPr/>
        </p:nvSpPr>
        <p:spPr>
          <a:xfrm>
            <a:off x="1431364" y="234486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提取根因 + 修复步骤 + 时间线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A227553-D3D5-ABD0-5A60-1942E2810569}"/>
              </a:ext>
            </a:extLst>
          </p:cNvPr>
          <p:cNvSpPr/>
          <p:nvPr/>
        </p:nvSpPr>
        <p:spPr>
          <a:xfrm>
            <a:off x="3077284" y="262833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5B98BC43-5BEC-29A2-3B34-42727BC97DF3}"/>
              </a:ext>
            </a:extLst>
          </p:cNvPr>
          <p:cNvSpPr/>
          <p:nvPr/>
        </p:nvSpPr>
        <p:spPr>
          <a:xfrm>
            <a:off x="882724" y="273806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00DE41-BB56-8DEC-058A-07A5C7112EA8}"/>
              </a:ext>
            </a:extLst>
          </p:cNvPr>
          <p:cNvSpPr/>
          <p:nvPr/>
        </p:nvSpPr>
        <p:spPr>
          <a:xfrm>
            <a:off x="974164" y="273806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DA417FA-4FED-AD31-AE9B-3192AF8E6753}"/>
              </a:ext>
            </a:extLst>
          </p:cNvPr>
          <p:cNvSpPr/>
          <p:nvPr/>
        </p:nvSpPr>
        <p:spPr>
          <a:xfrm>
            <a:off x="1431364" y="278378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DOA Skill (Markdown)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8EBBA51-2207-CA1C-14A8-93794F54B6CA}"/>
              </a:ext>
            </a:extLst>
          </p:cNvPr>
          <p:cNvSpPr/>
          <p:nvPr/>
        </p:nvSpPr>
        <p:spPr>
          <a:xfrm>
            <a:off x="1431364" y="307638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上传到 DOA Agent Space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C70D822-7329-6C53-50EB-2060DBF18E36}"/>
              </a:ext>
            </a:extLst>
          </p:cNvPr>
          <p:cNvSpPr/>
          <p:nvPr/>
        </p:nvSpPr>
        <p:spPr>
          <a:xfrm>
            <a:off x="3077284" y="335985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2C07ED8-5F94-BC1A-4A53-6B2C216BFF71}"/>
              </a:ext>
            </a:extLst>
          </p:cNvPr>
          <p:cNvSpPr/>
          <p:nvPr/>
        </p:nvSpPr>
        <p:spPr>
          <a:xfrm>
            <a:off x="882724" y="346958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195BAB-AF0B-9881-65A5-2F24030A21BA}"/>
              </a:ext>
            </a:extLst>
          </p:cNvPr>
          <p:cNvSpPr/>
          <p:nvPr/>
        </p:nvSpPr>
        <p:spPr>
          <a:xfrm>
            <a:off x="974164" y="346958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BEBD82-5BE0-B4BB-B318-AD0E5113D015}"/>
              </a:ext>
            </a:extLst>
          </p:cNvPr>
          <p:cNvSpPr/>
          <p:nvPr/>
        </p:nvSpPr>
        <p:spPr>
          <a:xfrm>
            <a:off x="1431364" y="351530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下次相似问题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000461-F0B1-7D7A-5DC5-FC225E18792F}"/>
              </a:ext>
            </a:extLst>
          </p:cNvPr>
          <p:cNvSpPr/>
          <p:nvPr/>
        </p:nvSpPr>
        <p:spPr>
          <a:xfrm>
            <a:off x="1431364" y="380790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用户问“上次类似问题怎么解决的”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DC1175C-0F49-5BFE-2198-7FAFEC4516D8}"/>
              </a:ext>
            </a:extLst>
          </p:cNvPr>
          <p:cNvSpPr/>
          <p:nvPr/>
        </p:nvSpPr>
        <p:spPr>
          <a:xfrm>
            <a:off x="3077284" y="409137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E1E050-88B9-6B95-B814-7151D0CE977A}"/>
              </a:ext>
            </a:extLst>
          </p:cNvPr>
          <p:cNvSpPr/>
          <p:nvPr/>
        </p:nvSpPr>
        <p:spPr>
          <a:xfrm>
            <a:off x="882724" y="420110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245CB25-189D-E0AD-7991-BB88F2BD97C5}"/>
              </a:ext>
            </a:extLst>
          </p:cNvPr>
          <p:cNvSpPr/>
          <p:nvPr/>
        </p:nvSpPr>
        <p:spPr>
          <a:xfrm>
            <a:off x="974164" y="420110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⑤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1C84BC-4EBB-E672-9AC1-0B2F9EDC79E6}"/>
              </a:ext>
            </a:extLst>
          </p:cNvPr>
          <p:cNvSpPr/>
          <p:nvPr/>
        </p:nvSpPr>
        <p:spPr>
          <a:xfrm>
            <a:off x="1431364" y="424682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调查时自动匹配 Skills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1F73C98-E0DE-4EFB-B20D-84B493512BA7}"/>
              </a:ext>
            </a:extLst>
          </p:cNvPr>
          <p:cNvSpPr/>
          <p:nvPr/>
        </p:nvSpPr>
        <p:spPr>
          <a:xfrm>
            <a:off x="1431364" y="453942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触发条件命中 → DOA 应用 Skill → 秒级出方案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FC57FC3-A129-6109-54E2-B2A04E1EA6E2}"/>
              </a:ext>
            </a:extLst>
          </p:cNvPr>
          <p:cNvSpPr/>
          <p:nvPr/>
        </p:nvSpPr>
        <p:spPr>
          <a:xfrm>
            <a:off x="6437258" y="3259269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↩️ 闭环：沉淀 → 下次匹配 → 秒级出方案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184E34-C2B3-1198-3DE1-9207B2A25234}"/>
              </a:ext>
            </a:extLst>
          </p:cNvPr>
          <p:cNvSpPr/>
          <p:nvPr/>
        </p:nvSpPr>
        <p:spPr>
          <a:xfrm>
            <a:off x="6526306" y="1704789"/>
            <a:ext cx="5330952" cy="1371600"/>
          </a:xfrm>
          <a:prstGeom prst="roundRect">
            <a:avLst>
              <a:gd name="adj" fmla="val 4000"/>
            </a:avLst>
          </a:prstGeom>
          <a:solidFill>
            <a:srgbClr val="1A26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0323B5D-C2B2-6E83-36FA-88AA78F7FD6C}"/>
              </a:ext>
            </a:extLst>
          </p:cNvPr>
          <p:cNvSpPr/>
          <p:nvPr/>
        </p:nvSpPr>
        <p:spPr>
          <a:xfrm>
            <a:off x="6709186" y="1796229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效果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43573E6-77E2-C0A6-663E-8F9C972B2333}"/>
              </a:ext>
            </a:extLst>
          </p:cNvPr>
          <p:cNvSpPr/>
          <p:nvPr/>
        </p:nvSpPr>
        <p:spPr>
          <a:xfrm>
            <a:off x="680062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04CF92B-9EAE-E27A-D447-4586579305EE}"/>
              </a:ext>
            </a:extLst>
          </p:cNvPr>
          <p:cNvSpPr/>
          <p:nvPr/>
        </p:nvSpPr>
        <p:spPr>
          <a:xfrm>
            <a:off x="680062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无经验匹配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F76014C-9CBD-2E07-ED51-A7A0F0651AEB}"/>
              </a:ext>
            </a:extLst>
          </p:cNvPr>
          <p:cNvSpPr/>
          <p:nvPr/>
        </p:nvSpPr>
        <p:spPr>
          <a:xfrm>
            <a:off x="680062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30min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B9B22F9-5A56-DE48-40C7-06DB05F8575F}"/>
              </a:ext>
            </a:extLst>
          </p:cNvPr>
          <p:cNvSpPr/>
          <p:nvPr/>
        </p:nvSpPr>
        <p:spPr>
          <a:xfrm>
            <a:off x="8995186" y="22991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B37E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10FC4D2-3ED2-6824-8C6F-3778D369B990}"/>
              </a:ext>
            </a:extLst>
          </p:cNvPr>
          <p:cNvSpPr/>
          <p:nvPr/>
        </p:nvSpPr>
        <p:spPr>
          <a:xfrm>
            <a:off x="945238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DAE80E2-8136-70AE-35AF-C67490A6B784}"/>
              </a:ext>
            </a:extLst>
          </p:cNvPr>
          <p:cNvSpPr/>
          <p:nvPr/>
        </p:nvSpPr>
        <p:spPr>
          <a:xfrm>
            <a:off x="945238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经验匹配成功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940BF7-1CDF-F9B3-B808-D19E572F32EB}"/>
              </a:ext>
            </a:extLst>
          </p:cNvPr>
          <p:cNvSpPr/>
          <p:nvPr/>
        </p:nvSpPr>
        <p:spPr>
          <a:xfrm>
            <a:off x="945238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B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2min</a:t>
            </a:r>
            <a:endParaRPr lang="en-US" sz="1600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4853FE6B-BF69-369F-08AC-A260BDB33E19}"/>
              </a:ext>
            </a:extLst>
          </p:cNvPr>
          <p:cNvSpPr/>
          <p:nvPr/>
        </p:nvSpPr>
        <p:spPr>
          <a:xfrm>
            <a:off x="516964" y="5408109"/>
            <a:ext cx="11274552" cy="548640"/>
          </a:xfrm>
          <a:prstGeom prst="roundRect">
            <a:avLst>
              <a:gd name="adj" fmla="val 6667"/>
            </a:avLst>
          </a:prstGeom>
          <a:solidFill>
            <a:srgbClr val="0A1A2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D2016D59-DF02-3DA1-5056-A33E7CD66F28}"/>
              </a:ext>
            </a:extLst>
          </p:cNvPr>
          <p:cNvSpPr/>
          <p:nvPr/>
        </p:nvSpPr>
        <p:spPr>
          <a:xfrm>
            <a:off x="699844" y="540810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“每次故障处理完，团队的 AWS </a:t>
            </a:r>
            <a:r>
              <a:rPr lang="en-US" sz="1200" b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运维经验自动增长一点</a:t>
            </a: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12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E3D7-7697-A06B-CD69-E51B7795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C43B3-8269-AF51-B90B-7D438ABF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：资源盘点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A3A3A2D-E0D8-A11B-F370-78322E63EB6B}"/>
              </a:ext>
            </a:extLst>
          </p:cNvPr>
          <p:cNvGrpSpPr/>
          <p:nvPr/>
        </p:nvGrpSpPr>
        <p:grpSpPr>
          <a:xfrm>
            <a:off x="337670" y="941832"/>
            <a:ext cx="11621247" cy="4750215"/>
            <a:chOff x="457200" y="1143000"/>
            <a:chExt cx="11274552" cy="4069080"/>
          </a:xfrm>
        </p:grpSpPr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CC4DC76C-6CB9-0B23-3557-F6054B215DCA}"/>
                </a:ext>
              </a:extLst>
            </p:cNvPr>
            <p:cNvSpPr/>
            <p:nvPr/>
          </p:nvSpPr>
          <p:spPr>
            <a:xfrm>
              <a:off x="457200" y="2743200"/>
              <a:ext cx="73152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2A3A5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🎬 视频占位</a:t>
              </a:r>
              <a:endParaRPr lang="en-US" sz="2400" dirty="0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624C414D-04C9-D88C-0211-ECFECB0CB080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C8C1665-BCDE-E7B4-260E-93C55809611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F0942EBE-875C-4453-1B9F-C1EEC9AD8BF3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“看一下当前账号下所有的 AWS 资源”</a:t>
              </a:r>
              <a:endParaRPr lang="en-US" sz="1100" dirty="0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74C6CFF7-D50A-C6CA-255B-734B9015719A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E4AB85A5-CAE9-CB38-2568-A80662011D7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89482337-AC85-C5B5-8AE9-521979CBC3B8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自动选择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discover_resources MCP 工具</a:t>
              </a:r>
              <a:endParaRPr lang="en-US" sz="1000" dirty="0"/>
            </a:p>
          </p:txBody>
        </p:sp>
        <p:sp>
          <p:nvSpPr>
            <p:cNvPr id="42" name="Shape 13">
              <a:extLst>
                <a:ext uri="{FF2B5EF4-FFF2-40B4-BE49-F238E27FC236}">
                  <a16:creationId xmlns:a16="http://schemas.microsoft.com/office/drawing/2014/main" id="{6CD7CDA9-EF80-5C6F-0D59-C23D750AE15E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14">
              <a:extLst>
                <a:ext uri="{FF2B5EF4-FFF2-40B4-BE49-F238E27FC236}">
                  <a16:creationId xmlns:a16="http://schemas.microsoft.com/office/drawing/2014/main" id="{45C7C1C0-5753-904E-788C-A1B306209820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08C4C7A9-90A1-DE37-1187-6020FB44237C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真实数据：18 个资源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(1 EC2 + 2 Lambda + 9 S3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+ 3 DDB + 1 SNS + 2 APIGW)</a:t>
              </a:r>
              <a:endParaRPr lang="en-US" sz="1000" dirty="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093D60F6-1205-D98B-31E3-A2BEE59C5807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46E15230-5D59-6842-F101-2E5AF616F09D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耗时：~5s</a:t>
              </a:r>
              <a:endParaRPr lang="en-US" sz="1200" dirty="0"/>
            </a:p>
          </p:txBody>
        </p:sp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D4DC7BED-B1B2-7A0C-79D1-DF42F444C770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86F1A525-2DDD-AB01-B596-50E3AF704ADD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证明能力：MCP 协议 — 工具盒自由组合</a:t>
              </a:r>
              <a:endParaRPr lang="en-US" sz="1000" dirty="0"/>
            </a:p>
          </p:txBody>
        </p:sp>
      </p:grpSp>
      <p:pic>
        <p:nvPicPr>
          <p:cNvPr id="4" name="meeting_01_final">
            <a:hlinkClick r:id="" action="ppaction://media"/>
            <a:extLst>
              <a:ext uri="{FF2B5EF4-FFF2-40B4-BE49-F238E27FC236}">
                <a16:creationId xmlns:a16="http://schemas.microsoft.com/office/drawing/2014/main" id="{3A746A4F-DE5D-83ED-43D1-6E20404D71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237" end="7938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341" y="995205"/>
            <a:ext cx="8019228" cy="451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1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A48C-AA01-826C-DC81-28D94B9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D4F07-BC06-8BD9-0E15-D3956F85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智能诊断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AB9B050-B6FD-D068-3F72-5B1AAAEC4E80}"/>
              </a:ext>
            </a:extLst>
          </p:cNvPr>
          <p:cNvSpPr/>
          <p:nvPr/>
        </p:nvSpPr>
        <p:spPr>
          <a:xfrm>
            <a:off x="337670" y="941832"/>
            <a:ext cx="7540144" cy="4245921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1899D39-81AE-5CB3-B7B2-C5EAB219DF40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79F25A-EA21-2F77-1613-2541D32C7BCC}"/>
              </a:ext>
            </a:extLst>
          </p:cNvPr>
          <p:cNvGrpSpPr/>
          <p:nvPr/>
        </p:nvGrpSpPr>
        <p:grpSpPr>
          <a:xfrm>
            <a:off x="8048512" y="941832"/>
            <a:ext cx="4053841" cy="4803588"/>
            <a:chOff x="8138160" y="1143000"/>
            <a:chExt cx="3593592" cy="4069080"/>
          </a:xfrm>
        </p:grpSpPr>
        <p:sp>
          <p:nvSpPr>
            <p:cNvPr id="3" name="Shape 7">
              <a:extLst>
                <a:ext uri="{FF2B5EF4-FFF2-40B4-BE49-F238E27FC236}">
                  <a16:creationId xmlns:a16="http://schemas.microsoft.com/office/drawing/2014/main" id="{4AB6ADD0-1602-DDDD-220D-7ADE994F653E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 8">
              <a:extLst>
                <a:ext uri="{FF2B5EF4-FFF2-40B4-BE49-F238E27FC236}">
                  <a16:creationId xmlns:a16="http://schemas.microsoft.com/office/drawing/2014/main" id="{B1D5F160-5554-7E6D-5E7F-6B806A9E7C4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E9C2DFF9-C420-B9E4-5180-C717A7647B9B}"/>
                </a:ext>
              </a:extLst>
            </p:cNvPr>
            <p:cNvSpPr/>
            <p:nvPr/>
          </p:nvSpPr>
          <p:spPr>
            <a:xfrm>
              <a:off x="8275320" y="141732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订单服务超时</a:t>
              </a:r>
              <a:r>
                <a:rPr lang="en-US" altLang="zh-CN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altLang="zh-CN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帮我分析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下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帮我深度分析原因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100" dirty="0"/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3AFAB2FD-4E6B-F886-1790-F95E46B514FE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716A77A7-1B75-0326-8657-4C35F1C3E483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F3FE81B8-4BD0-B63C-B2D2-B18641EBF7B5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多工具协作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DOA chat + investigate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KB 检索 → HTML 诊断书</a:t>
              </a:r>
              <a:endParaRPr lang="en-US" sz="1000" dirty="0"/>
            </a:p>
          </p:txBody>
        </p:sp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B23DE75A-9034-FB78-C810-A294AA9C1840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66419437-6F26-0C87-B44E-52F4D379680F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393DA03B-ABD1-8D48-8A2A-D89832A24834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中文摘要 + HTML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(含图表 + AI解读 + 建议)</a:t>
              </a:r>
              <a:endParaRPr lang="en-US" sz="1000" dirty="0"/>
            </a:p>
          </p:txBody>
        </p:sp>
        <p:sp>
          <p:nvSpPr>
            <p:cNvPr id="12" name="Shape 16">
              <a:extLst>
                <a:ext uri="{FF2B5EF4-FFF2-40B4-BE49-F238E27FC236}">
                  <a16:creationId xmlns:a16="http://schemas.microsoft.com/office/drawing/2014/main" id="{299F7882-9461-B492-9090-E78210E46EC3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7">
              <a:extLst>
                <a:ext uri="{FF2B5EF4-FFF2-40B4-BE49-F238E27FC236}">
                  <a16:creationId xmlns:a16="http://schemas.microsoft.com/office/drawing/2014/main" id="{9250254B-F9CA-DE4A-7E12-90716112CD75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耗时：~35s</a:t>
              </a:r>
              <a:endParaRPr lang="en-US" sz="1200" dirty="0"/>
            </a:p>
          </p:txBody>
        </p:sp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8F2C7E88-7F9E-BDC1-E03C-682C21A6E429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DBDF39CD-F933-E927-2288-B44E156110AE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证明能力：核心闭环 — 1句话→完整诊断书</a:t>
              </a:r>
              <a:endParaRPr lang="en-US" sz="1000" dirty="0"/>
            </a:p>
          </p:txBody>
        </p:sp>
      </p:grpSp>
      <p:pic>
        <p:nvPicPr>
          <p:cNvPr id="17" name="meeting_01">
            <a:hlinkClick r:id="" action="ppaction://media"/>
            <a:extLst>
              <a:ext uri="{FF2B5EF4-FFF2-40B4-BE49-F238E27FC236}">
                <a16:creationId xmlns:a16="http://schemas.microsoft.com/office/drawing/2014/main" id="{061B2B05-F1B4-D014-3CEF-3AED80C1999E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399" end="1740.99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245" y="888868"/>
            <a:ext cx="8010828" cy="45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9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52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7339-7CB0-54D2-FB5B-4008FDF0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92FA-4D70-A6C5-836A-28552BCF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告警自动闭环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3BD0689-E9AB-E658-2DB0-1BDE3DFA50E9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E585AE5-13A6-E5CC-4BAA-5F9BA5D72BAD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4659734-8D7A-F02F-C43D-B0232A969565}"/>
              </a:ext>
            </a:extLst>
          </p:cNvPr>
          <p:cNvGrpSpPr/>
          <p:nvPr/>
        </p:nvGrpSpPr>
        <p:grpSpPr>
          <a:xfrm>
            <a:off x="8026400" y="941832"/>
            <a:ext cx="4111812" cy="4803588"/>
            <a:chOff x="8138160" y="1143000"/>
            <a:chExt cx="3593592" cy="4069080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E810FB45-2050-D690-C18A-CAE8AC5EA56D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DB137274-2AAF-59DC-A22D-7461FA56D927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D7FE072C-0D9E-0EF8-AB00-788B06D66F04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无用户操作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自动触发全流程</a:t>
              </a:r>
              <a:endParaRPr lang="en-US" sz="110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9E3794F-58C1-08E4-3798-65CA6567C218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7744166-4453-8F62-FBFC-46D846455E8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70FC3B7-3431-9845-28B6-3C04B909CACE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DOA Investigation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EventBridge → L1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HTML + SES 邮件 + KB</a:t>
              </a:r>
              <a:endParaRPr lang="en-US" sz="1000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04C4A1F8-86FD-A6CD-34FF-B86F5DB3835B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29575F74-59EA-86C9-B4A1-979C05940AB9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4C2B77D0-4C9D-296C-6521-F16E774F7905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手机邮箱收到 HTML 邮件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可继续跟问 list_investigations</a:t>
              </a:r>
              <a:endParaRPr lang="en-US" sz="1000" dirty="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5FD463CF-921B-B255-947B-C1145B425398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58F81878-5418-FFDC-3D03-14DE2C67A2CF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耗时：5-15min (无人值守)</a:t>
              </a:r>
              <a:endParaRPr lang="en-US" sz="1200" dirty="0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0B62C180-A416-C255-FDAC-D53A8A207A0D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83B30B4-BDA2-7037-2137-9E71A052CB42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证明能力：夜间 on-call — 醒来时方案已在邮箱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42875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BF56922-4A6D-043C-F260-017B784E52B2}"/>
              </a:ext>
            </a:extLst>
          </p:cNvPr>
          <p:cNvSpPr/>
          <p:nvPr/>
        </p:nvSpPr>
        <p:spPr>
          <a:xfrm>
            <a:off x="340061" y="13343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v4 MCP 工具 (5 个)</a:t>
            </a:r>
            <a:endParaRPr lang="en-US" sz="1200" dirty="0"/>
          </a:p>
        </p:txBody>
      </p:sp>
      <p:graphicFrame>
        <p:nvGraphicFramePr>
          <p:cNvPr id="57" name="Table 0">
            <a:extLst>
              <a:ext uri="{FF2B5EF4-FFF2-40B4-BE49-F238E27FC236}">
                <a16:creationId xmlns:a16="http://schemas.microsoft.com/office/drawing/2014/main" id="{092C11C9-0945-7C38-3C02-3AB6D8E27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147702"/>
              </p:ext>
            </p:extLst>
          </p:nvPr>
        </p:nvGraphicFramePr>
        <p:xfrm>
          <a:off x="340061" y="1706880"/>
          <a:ext cx="56692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query_doa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5-30s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受 DOA Chat 响应时间影响, 受 API GW 29s 限制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start_investigation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~2s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异步, 立即返回 task_id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get_html_report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3-5s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GetBacklogTask + Jinja2 + S3 上传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trigger_runbook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1-3s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SSM StartAutomationExecution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notify_im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1-2s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SES SendEmail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8" name="Text 4">
            <a:extLst>
              <a:ext uri="{FF2B5EF4-FFF2-40B4-BE49-F238E27FC236}">
                <a16:creationId xmlns:a16="http://schemas.microsoft.com/office/drawing/2014/main" id="{02BBA18E-7111-6943-A3E9-711546C35E3F}"/>
              </a:ext>
            </a:extLst>
          </p:cNvPr>
          <p:cNvSpPr/>
          <p:nvPr/>
        </p:nvSpPr>
        <p:spPr>
          <a:xfrm>
            <a:off x="6182661" y="1422044"/>
            <a:ext cx="5703836" cy="278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核心能力实现状态</a:t>
            </a:r>
            <a:endParaRPr lang="en-US" sz="1200" dirty="0"/>
          </a:p>
        </p:txBody>
      </p:sp>
      <p:graphicFrame>
        <p:nvGraphicFramePr>
          <p:cNvPr id="59" name="Table 1">
            <a:extLst>
              <a:ext uri="{FF2B5EF4-FFF2-40B4-BE49-F238E27FC236}">
                <a16:creationId xmlns:a16="http://schemas.microsoft.com/office/drawing/2014/main" id="{04829FF3-AC67-FF3F-6D04-C2A731AA8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91609"/>
              </p:ext>
            </p:extLst>
          </p:nvPr>
        </p:nvGraphicFramePr>
        <p:xfrm>
          <a:off x="6161740" y="1706880"/>
          <a:ext cx="5731435" cy="3026854"/>
        </p:xfrm>
        <a:graphic>
          <a:graphicData uri="http://schemas.openxmlformats.org/drawingml/2006/table">
            <a:tbl>
              <a:tblPr/>
              <a:tblGrid>
                <a:gridCol w="239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核心能力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实现状态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依赖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智能诊断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✅ DOA Investigation 异步调查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AWS DOA + Skills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HTML 诊断书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✅ Jinja2 + S3 (30 天 URL)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S3 + Bedrock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告警自动闭环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✅ CW Alarm → SNS → Lambda → DOA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EventBridge + SES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代码级修复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🔮 Roadmap (Phase 3)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Kiro Agent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多模态分析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🔮 Roadmap (Phase 4)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Nova Pro Vision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语音运维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🔮 Roadmap (Phase 4)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Nova Sonic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/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aphicFrame>
        <p:nvGraphicFramePr>
          <p:cNvPr id="64" name="Table 0">
            <a:extLst>
              <a:ext uri="{FF2B5EF4-FFF2-40B4-BE49-F238E27FC236}">
                <a16:creationId xmlns:a16="http://schemas.microsoft.com/office/drawing/2014/main" id="{FC18D300-35E1-DAA4-B48B-3557ACAD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71149"/>
              </p:ext>
            </p:extLst>
          </p:nvPr>
        </p:nvGraphicFramePr>
        <p:xfrm>
          <a:off x="800249" y="818327"/>
          <a:ext cx="10937541" cy="4576011"/>
        </p:xfrm>
        <a:graphic>
          <a:graphicData uri="http://schemas.openxmlformats.org/drawingml/2006/table">
            <a:tbl>
              <a:tblPr/>
              <a:tblGrid>
                <a:gridCol w="1968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NLOps (Ours)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Bits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Davis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运维驾驶舱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体验层+安全层+经验层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Always-on SRE Agent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(2025-12 发布)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Causal AI AIOps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Forrester Leader Q2 2025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IM / Web / MCP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多入口自由选择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 App /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 诊断书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图表 + AI 解读 + 邮件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文本摘要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问题卡片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Bedrock KB 自动沉淀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历史案例可检索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观测平台绑定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(DOA 支持多源)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/>
                        <a:t>~$9-10/人 (50 人团队)
详见成本页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$44-118/host/月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$69-99/host/月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0"/>
                        <a:t>DOA 原生 + 5 MCP 工具
基于 AWS 官方架构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07D02F9-9FD6-3871-0B07-87EB914DF43D}"/>
              </a:ext>
            </a:extLst>
          </p:cNvPr>
          <p:cNvSpPr/>
          <p:nvPr/>
        </p:nvSpPr>
        <p:spPr>
          <a:xfrm>
            <a:off x="465567" y="751831"/>
            <a:ext cx="10548630" cy="480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月成本明细</a:t>
            </a:r>
            <a:endParaRPr lang="en-US" dirty="0"/>
          </a:p>
        </p:txBody>
      </p:sp>
      <p:graphicFrame>
        <p:nvGraphicFramePr>
          <p:cNvPr id="55" name="Table 0">
            <a:extLst>
              <a:ext uri="{FF2B5EF4-FFF2-40B4-BE49-F238E27FC236}">
                <a16:creationId xmlns:a16="http://schemas.microsoft.com/office/drawing/2014/main" id="{E3DEABF4-D615-DC4E-9BD4-4D731261B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54915"/>
              </p:ext>
            </p:extLst>
          </p:nvPr>
        </p:nvGraphicFramePr>
        <p:xfrm>
          <a:off x="525331" y="1232349"/>
          <a:ext cx="11302104" cy="4393301"/>
        </p:xfrm>
        <a:graphic>
          <a:graphicData uri="http://schemas.openxmlformats.org/drawingml/2006/table">
            <a:tbl>
              <a:tblPr/>
              <a:tblGrid>
                <a:gridCol w="3315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服务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规格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月费用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DevOps Agent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Chat + Investigation (~30h/月)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$900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70%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Bedrock Nova Pro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Chat router + 报告增强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$60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5%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Lambda × 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1024MB · ~50K invocations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DynamoDB × 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Sessions + Audit (PAY_PER_REQUEST)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API Gateway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REST API · ~50K calls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S3 (诊断书)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HTML + KB 沉淀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SNS + SES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告警路由 + 邮件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SSM Runbook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Automation 执行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$0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/>
                        <a:t>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/>
                        <a:t>合计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/>
                        <a:t/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/>
                        <a:t>~$977/月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/>
                        <a:t>100%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DEC1-DA28-0B44-E519-8C3F224A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F07D3-6532-4F5F-6E0F-C264E72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下一步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16D015F-D5D5-4A1A-A237-2B2B5F88A597}"/>
              </a:ext>
            </a:extLst>
          </p:cNvPr>
          <p:cNvGrpSpPr/>
          <p:nvPr/>
        </p:nvGrpSpPr>
        <p:grpSpPr>
          <a:xfrm>
            <a:off x="2173743" y="721324"/>
            <a:ext cx="8031804" cy="5161584"/>
            <a:chOff x="2590203" y="993887"/>
            <a:chExt cx="5696712" cy="4572000"/>
          </a:xfrm>
        </p:grpSpPr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C13C1EAB-3A2E-A252-FABC-7EB5C3DDFC57}"/>
                </a:ext>
              </a:extLst>
            </p:cNvPr>
            <p:cNvSpPr/>
            <p:nvPr/>
          </p:nvSpPr>
          <p:spPr>
            <a:xfrm>
              <a:off x="2590203" y="993887"/>
              <a:ext cx="5696712" cy="4572000"/>
            </a:xfrm>
            <a:prstGeom prst="roundRect">
              <a:avLst>
                <a:gd name="adj" fmla="val 1200"/>
              </a:avLst>
            </a:prstGeom>
            <a:solidFill>
              <a:srgbClr val="1A2640"/>
            </a:solidFill>
            <a:ln w="190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Text 31">
              <a:extLst>
                <a:ext uri="{FF2B5EF4-FFF2-40B4-BE49-F238E27FC236}">
                  <a16:creationId xmlns:a16="http://schemas.microsoft.com/office/drawing/2014/main" id="{881DA627-D78F-367B-D921-E1934492DAE9}"/>
                </a:ext>
              </a:extLst>
            </p:cNvPr>
            <p:cNvSpPr/>
            <p:nvPr/>
          </p:nvSpPr>
          <p:spPr>
            <a:xfrm>
              <a:off x="2773083" y="1085327"/>
              <a:ext cx="53035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🔥 进一步下钻</a:t>
              </a:r>
              <a:endParaRPr lang="en-US" sz="2400" dirty="0"/>
            </a:p>
          </p:txBody>
        </p:sp>
        <p:sp>
          <p:nvSpPr>
            <p:cNvPr id="33" name="Shape 33">
              <a:extLst>
                <a:ext uri="{FF2B5EF4-FFF2-40B4-BE49-F238E27FC236}">
                  <a16:creationId xmlns:a16="http://schemas.microsoft.com/office/drawing/2014/main" id="{04B24D37-BF3A-B96E-038E-A4747418A948}"/>
                </a:ext>
              </a:extLst>
            </p:cNvPr>
            <p:cNvSpPr/>
            <p:nvPr/>
          </p:nvSpPr>
          <p:spPr>
            <a:xfrm>
              <a:off x="2955963" y="1908287"/>
              <a:ext cx="493776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19A018AA-0A02-83FB-F684-AC84EA0DE167}"/>
                </a:ext>
              </a:extLst>
            </p:cNvPr>
            <p:cNvSpPr/>
            <p:nvPr/>
          </p:nvSpPr>
          <p:spPr>
            <a:xfrm>
              <a:off x="3093123" y="19082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告警摘要</a:t>
              </a:r>
              <a:endParaRPr lang="en-US" sz="1600" dirty="0"/>
            </a:p>
          </p:txBody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C7A7B703-8AAE-8E52-4559-C21A8891AADA}"/>
                </a:ext>
              </a:extLst>
            </p:cNvPr>
            <p:cNvSpPr/>
            <p:nvPr/>
          </p:nvSpPr>
          <p:spPr>
            <a:xfrm>
              <a:off x="4146127" y="1908287"/>
              <a:ext cx="3564717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一句话定位</a:t>
              </a:r>
              <a:endParaRPr lang="en-US" sz="1200" dirty="0"/>
            </a:p>
          </p:txBody>
        </p:sp>
        <p:sp>
          <p:nvSpPr>
            <p:cNvPr id="36" name="Text 36">
              <a:extLst>
                <a:ext uri="{FF2B5EF4-FFF2-40B4-BE49-F238E27FC236}">
                  <a16:creationId xmlns:a16="http://schemas.microsoft.com/office/drawing/2014/main" id="{BB6092B3-1453-B514-28B6-9D45052B8B54}"/>
                </a:ext>
              </a:extLst>
            </p:cNvPr>
            <p:cNvSpPr/>
            <p:nvPr/>
          </p:nvSpPr>
          <p:spPr>
            <a:xfrm>
              <a:off x="2955963" y="229233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37" name="Shape 37">
              <a:extLst>
                <a:ext uri="{FF2B5EF4-FFF2-40B4-BE49-F238E27FC236}">
                  <a16:creationId xmlns:a16="http://schemas.microsoft.com/office/drawing/2014/main" id="{DD63B6CF-2E39-AC1D-AF28-84A9D1762D17}"/>
                </a:ext>
              </a:extLst>
            </p:cNvPr>
            <p:cNvSpPr/>
            <p:nvPr/>
          </p:nvSpPr>
          <p:spPr>
            <a:xfrm>
              <a:off x="3230283" y="2456927"/>
              <a:ext cx="438912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Text 38">
              <a:extLst>
                <a:ext uri="{FF2B5EF4-FFF2-40B4-BE49-F238E27FC236}">
                  <a16:creationId xmlns:a16="http://schemas.microsoft.com/office/drawing/2014/main" id="{996A5B5B-5DC2-D6A3-9B67-685B0D6900F3}"/>
                </a:ext>
              </a:extLst>
            </p:cNvPr>
            <p:cNvSpPr/>
            <p:nvPr/>
          </p:nvSpPr>
          <p:spPr>
            <a:xfrm>
              <a:off x="3367443" y="245692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指标趋势</a:t>
              </a:r>
              <a:endParaRPr lang="en-US" sz="1600" dirty="0"/>
            </a:p>
          </p:txBody>
        </p:sp>
        <p:sp>
          <p:nvSpPr>
            <p:cNvPr id="39" name="Text 39">
              <a:extLst>
                <a:ext uri="{FF2B5EF4-FFF2-40B4-BE49-F238E27FC236}">
                  <a16:creationId xmlns:a16="http://schemas.microsoft.com/office/drawing/2014/main" id="{F2190A38-05C0-CB9A-2907-C58C22D726A8}"/>
                </a:ext>
              </a:extLst>
            </p:cNvPr>
            <p:cNvSpPr/>
            <p:nvPr/>
          </p:nvSpPr>
          <p:spPr>
            <a:xfrm>
              <a:off x="4367081" y="2456927"/>
              <a:ext cx="306944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Metrics 时序图 + 异常标注</a:t>
              </a:r>
              <a:endParaRPr lang="en-US" sz="1200" dirty="0"/>
            </a:p>
          </p:txBody>
        </p:sp>
        <p:sp>
          <p:nvSpPr>
            <p:cNvPr id="40" name="Text 40">
              <a:extLst>
                <a:ext uri="{FF2B5EF4-FFF2-40B4-BE49-F238E27FC236}">
                  <a16:creationId xmlns:a16="http://schemas.microsoft.com/office/drawing/2014/main" id="{6DA9F248-CC28-D25D-6808-17F9D751F199}"/>
                </a:ext>
              </a:extLst>
            </p:cNvPr>
            <p:cNvSpPr/>
            <p:nvPr/>
          </p:nvSpPr>
          <p:spPr>
            <a:xfrm>
              <a:off x="2955963" y="284097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4FC8E15B-3404-5D50-17E5-2DCD584B17AD}"/>
                </a:ext>
              </a:extLst>
            </p:cNvPr>
            <p:cNvSpPr/>
            <p:nvPr/>
          </p:nvSpPr>
          <p:spPr>
            <a:xfrm>
              <a:off x="3504603" y="3005567"/>
              <a:ext cx="384048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Text 42">
              <a:extLst>
                <a:ext uri="{FF2B5EF4-FFF2-40B4-BE49-F238E27FC236}">
                  <a16:creationId xmlns:a16="http://schemas.microsoft.com/office/drawing/2014/main" id="{12B6CB69-6444-3685-460D-11DDF05E7F57}"/>
                </a:ext>
              </a:extLst>
            </p:cNvPr>
            <p:cNvSpPr/>
            <p:nvPr/>
          </p:nvSpPr>
          <p:spPr>
            <a:xfrm>
              <a:off x="3641763" y="300556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日志分析</a:t>
              </a:r>
              <a:endParaRPr lang="en-US" sz="1600" dirty="0"/>
            </a:p>
          </p:txBody>
        </p:sp>
        <p:sp>
          <p:nvSpPr>
            <p:cNvPr id="43" name="Text 43">
              <a:extLst>
                <a:ext uri="{FF2B5EF4-FFF2-40B4-BE49-F238E27FC236}">
                  <a16:creationId xmlns:a16="http://schemas.microsoft.com/office/drawing/2014/main" id="{033215EA-E11C-8AD3-5AEF-DE89BF7D4206}"/>
                </a:ext>
              </a:extLst>
            </p:cNvPr>
            <p:cNvSpPr/>
            <p:nvPr/>
          </p:nvSpPr>
          <p:spPr>
            <a:xfrm>
              <a:off x="4615168" y="3005567"/>
              <a:ext cx="254703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Logs Insights → 关键错误行</a:t>
              </a:r>
              <a:endParaRPr lang="en-US" sz="1200" dirty="0"/>
            </a:p>
          </p:txBody>
        </p:sp>
        <p:sp>
          <p:nvSpPr>
            <p:cNvPr id="44" name="Text 44">
              <a:extLst>
                <a:ext uri="{FF2B5EF4-FFF2-40B4-BE49-F238E27FC236}">
                  <a16:creationId xmlns:a16="http://schemas.microsoft.com/office/drawing/2014/main" id="{77333296-5445-B74F-274B-2D8A5DED51D4}"/>
                </a:ext>
              </a:extLst>
            </p:cNvPr>
            <p:cNvSpPr/>
            <p:nvPr/>
          </p:nvSpPr>
          <p:spPr>
            <a:xfrm>
              <a:off x="2955963" y="338961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5" name="Shape 45">
              <a:extLst>
                <a:ext uri="{FF2B5EF4-FFF2-40B4-BE49-F238E27FC236}">
                  <a16:creationId xmlns:a16="http://schemas.microsoft.com/office/drawing/2014/main" id="{6823C2D4-4A28-B00B-C943-0ABDCE276FDB}"/>
                </a:ext>
              </a:extLst>
            </p:cNvPr>
            <p:cNvSpPr/>
            <p:nvPr/>
          </p:nvSpPr>
          <p:spPr>
            <a:xfrm>
              <a:off x="3778923" y="3554207"/>
              <a:ext cx="329184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Text 46">
              <a:extLst>
                <a:ext uri="{FF2B5EF4-FFF2-40B4-BE49-F238E27FC236}">
                  <a16:creationId xmlns:a16="http://schemas.microsoft.com/office/drawing/2014/main" id="{8D1BAA21-F816-75E4-22CE-D8998667139E}"/>
                </a:ext>
              </a:extLst>
            </p:cNvPr>
            <p:cNvSpPr/>
            <p:nvPr/>
          </p:nvSpPr>
          <p:spPr>
            <a:xfrm>
              <a:off x="3916083" y="355420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链路追踪</a:t>
              </a:r>
              <a:endParaRPr lang="en-US" sz="1600" dirty="0"/>
            </a:p>
          </p:txBody>
        </p:sp>
        <p:sp>
          <p:nvSpPr>
            <p:cNvPr id="47" name="Text 47">
              <a:extLst>
                <a:ext uri="{FF2B5EF4-FFF2-40B4-BE49-F238E27FC236}">
                  <a16:creationId xmlns:a16="http://schemas.microsoft.com/office/drawing/2014/main" id="{CAC8A887-8FF0-3D76-525B-478793714BEB}"/>
                </a:ext>
              </a:extLst>
            </p:cNvPr>
            <p:cNvSpPr/>
            <p:nvPr/>
          </p:nvSpPr>
          <p:spPr>
            <a:xfrm>
              <a:off x="4847750" y="3554207"/>
              <a:ext cx="204013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X-Ray traces → 慢 span 定位</a:t>
              </a:r>
              <a:endParaRPr lang="en-US" sz="1200" dirty="0"/>
            </a:p>
          </p:txBody>
        </p:sp>
        <p:sp>
          <p:nvSpPr>
            <p:cNvPr id="48" name="Text 48">
              <a:extLst>
                <a:ext uri="{FF2B5EF4-FFF2-40B4-BE49-F238E27FC236}">
                  <a16:creationId xmlns:a16="http://schemas.microsoft.com/office/drawing/2014/main" id="{F8A1D74A-B7DF-EFE8-7DD4-835C0ACE84A8}"/>
                </a:ext>
              </a:extLst>
            </p:cNvPr>
            <p:cNvSpPr/>
            <p:nvPr/>
          </p:nvSpPr>
          <p:spPr>
            <a:xfrm>
              <a:off x="2955963" y="393825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9" name="Shape 49">
              <a:extLst>
                <a:ext uri="{FF2B5EF4-FFF2-40B4-BE49-F238E27FC236}">
                  <a16:creationId xmlns:a16="http://schemas.microsoft.com/office/drawing/2014/main" id="{D0B4EB48-609F-E0B7-FE66-F3CBD5A6D3B2}"/>
                </a:ext>
              </a:extLst>
            </p:cNvPr>
            <p:cNvSpPr/>
            <p:nvPr/>
          </p:nvSpPr>
          <p:spPr>
            <a:xfrm>
              <a:off x="4053243" y="4102847"/>
              <a:ext cx="2743200" cy="411480"/>
            </a:xfrm>
            <a:prstGeom prst="roundRect">
              <a:avLst>
                <a:gd name="adj" fmla="val 8889"/>
              </a:avLst>
            </a:prstGeom>
            <a:solidFill>
              <a:srgbClr val="FFDD88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Text 50">
              <a:extLst>
                <a:ext uri="{FF2B5EF4-FFF2-40B4-BE49-F238E27FC236}">
                  <a16:creationId xmlns:a16="http://schemas.microsoft.com/office/drawing/2014/main" id="{8CEE27E6-333F-509E-748F-829174489A2C}"/>
                </a:ext>
              </a:extLst>
            </p:cNvPr>
            <p:cNvSpPr/>
            <p:nvPr/>
          </p:nvSpPr>
          <p:spPr>
            <a:xfrm>
              <a:off x="4190403" y="410284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火焰图</a:t>
              </a:r>
              <a:endParaRPr lang="en-US" sz="1600" dirty="0"/>
            </a:p>
          </p:txBody>
        </p:sp>
        <p:sp>
          <p:nvSpPr>
            <p:cNvPr id="51" name="Text 51">
              <a:extLst>
                <a:ext uri="{FF2B5EF4-FFF2-40B4-BE49-F238E27FC236}">
                  <a16:creationId xmlns:a16="http://schemas.microsoft.com/office/drawing/2014/main" id="{D98BD7B7-7F2E-D5A2-C86D-ED42926EAB13}"/>
                </a:ext>
              </a:extLst>
            </p:cNvPr>
            <p:cNvSpPr/>
            <p:nvPr/>
          </p:nvSpPr>
          <p:spPr>
            <a:xfrm>
              <a:off x="5084208" y="4111991"/>
              <a:ext cx="1791885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函数级耗时可视化</a:t>
              </a:r>
              <a:endParaRPr lang="en-US" sz="1200" dirty="0"/>
            </a:p>
          </p:txBody>
        </p:sp>
        <p:sp>
          <p:nvSpPr>
            <p:cNvPr id="52" name="Text 52">
              <a:extLst>
                <a:ext uri="{FF2B5EF4-FFF2-40B4-BE49-F238E27FC236}">
                  <a16:creationId xmlns:a16="http://schemas.microsoft.com/office/drawing/2014/main" id="{52EDF637-8FE5-2D7A-7875-0873E2631E53}"/>
                </a:ext>
              </a:extLst>
            </p:cNvPr>
            <p:cNvSpPr/>
            <p:nvPr/>
          </p:nvSpPr>
          <p:spPr>
            <a:xfrm>
              <a:off x="2955963" y="448689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53" name="Shape 53">
              <a:extLst>
                <a:ext uri="{FF2B5EF4-FFF2-40B4-BE49-F238E27FC236}">
                  <a16:creationId xmlns:a16="http://schemas.microsoft.com/office/drawing/2014/main" id="{8B6D602A-A894-4867-5F83-5F79E4799B1D}"/>
                </a:ext>
              </a:extLst>
            </p:cNvPr>
            <p:cNvSpPr/>
            <p:nvPr/>
          </p:nvSpPr>
          <p:spPr>
            <a:xfrm>
              <a:off x="4327563" y="4651487"/>
              <a:ext cx="2194560" cy="411480"/>
            </a:xfrm>
            <a:prstGeom prst="roundRect">
              <a:avLst>
                <a:gd name="adj" fmla="val 8889"/>
              </a:avLst>
            </a:prstGeom>
            <a:solidFill>
              <a:srgbClr val="FFEEAA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4" name="Text 54">
              <a:extLst>
                <a:ext uri="{FF2B5EF4-FFF2-40B4-BE49-F238E27FC236}">
                  <a16:creationId xmlns:a16="http://schemas.microsoft.com/office/drawing/2014/main" id="{E2468C3F-9E4D-779F-E272-5D3A6A0DDC7F}"/>
                </a:ext>
              </a:extLst>
            </p:cNvPr>
            <p:cNvSpPr/>
            <p:nvPr/>
          </p:nvSpPr>
          <p:spPr>
            <a:xfrm>
              <a:off x="4464723" y="46514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代码定位</a:t>
              </a:r>
              <a:endParaRPr lang="en-US" sz="1600" dirty="0"/>
            </a:p>
          </p:txBody>
        </p:sp>
        <p:sp>
          <p:nvSpPr>
            <p:cNvPr id="55" name="Text 55">
              <a:extLst>
                <a:ext uri="{FF2B5EF4-FFF2-40B4-BE49-F238E27FC236}">
                  <a16:creationId xmlns:a16="http://schemas.microsoft.com/office/drawing/2014/main" id="{C73D9820-0CC3-3BB8-DF63-60260DA8CA08}"/>
                </a:ext>
              </a:extLst>
            </p:cNvPr>
            <p:cNvSpPr/>
            <p:nvPr/>
          </p:nvSpPr>
          <p:spPr>
            <a:xfrm>
              <a:off x="5204376" y="4651487"/>
              <a:ext cx="1957829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精确到文件:行号 + 修复建议</a:t>
              </a:r>
              <a:endParaRPr lang="en-US" sz="1050" dirty="0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9900"/>
                </a:solidFill>
              </a:rPr>
              <a:t>NLOps v4 → v5 演进路线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CAF50"/>
                </a:solidFill>
              </a:rPr>
              <a:t>Phase 1 · 核心闭环 (已完成)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2103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DOA Agent Space + 5 MCP 工具 + Webhook + HTML 诊断书 + SES 邮件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196F3"/>
                </a:solidFill>
              </a:rPr>
              <a:t>Phase 2 · 体验层完善 (本月)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2971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企微/飞书 Bot 接入 · Quick Desktop 联调 · 3 个 DOA Skills 上线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38404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5722"/>
                </a:solidFill>
              </a:rPr>
              <a:t>Phase 3 · 自动修复 (Q3)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38404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SSM Runbook 扩充 · Kiro 集成 (Agent-ready Spec → 自动 PR)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47091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C27B0"/>
                </a:solidFill>
              </a:rPr>
              <a:t>Phase 4 · 智能进阶 (Q4)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47091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Nova Sonic 语音 · 多模态架构图分析 · 故障公告自动化 · 经验自动沉淀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07D8B"/>
                </a:solidFill>
              </a:rPr>
              <a:t>Phase 5 · 中国区 (2027)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CloudWatch Investigations 降级路径 · Bedrock KB 替代 · 中国区客户落地</a:t>
            </a:r>
          </a:p>
        </p:txBody>
      </p:sp>
    </p:spTree>
    <p:extLst>
      <p:ext uri="{BB962C8B-B14F-4D97-AF65-F5344CB8AC3E}">
        <p14:creationId xmlns:p14="http://schemas.microsoft.com/office/powerpoint/2010/main" val="83996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75FC-8095-A65A-29D9-23B877D3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4325B-606D-9D24-BAEF-E3AEF751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部署图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9900"/>
                </a:solidFill>
              </a:rPr>
              <a:t>NLOps v4 部署架构 (us-east-1)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000" b="0">
                <a:latin typeface="Courier New"/>
              </a:rPr>
              <a:t>│  入口: Quick Desktop · 企微/飞书 · CW Alarm · DOA EventBridge   │</a:t>
            </a:r>
          </a:p>
          <a:p>
            <a:r>
              <a:rPr sz="1000" b="0">
                <a:latin typeface="Courier New"/>
              </a:rPr>
              <a:t>└────────────────────────────┬────────────────────────────────────┘</a:t>
            </a:r>
          </a:p>
          <a:p>
            <a:r>
              <a:rPr sz="1000" b="0">
                <a:latin typeface="Courier New"/>
              </a:rPr>
              <a:t>                             ▼</a:t>
            </a:r>
          </a:p>
          <a:p>
            <a:r>
              <a:rPr sz="1000" b="0">
                <a:latin typeface="Courier New"/>
              </a:rPr>
              <a:t>   ┌─────────────────────────────────────────────────────────┐</a:t>
            </a:r>
          </a:p>
          <a:p>
            <a:r>
              <a:rPr sz="1000" b="0">
                <a:latin typeface="Courier New"/>
              </a:rPr>
              <a:t>   │   API Gateway (REST)                                     │</a:t>
            </a:r>
          </a:p>
          <a:p>
            <a:r>
              <a:rPr sz="1000" b="0">
                <a:latin typeface="Courier New"/>
              </a:rPr>
              <a:t>   │   /chat /webhook-incoming /mcp /mcp-quick /sse /message  │</a:t>
            </a:r>
          </a:p>
          <a:p>
            <a:r>
              <a:rPr sz="1000" b="0">
                <a:latin typeface="Courier New"/>
              </a:rPr>
              <a:t>   └─────────────────────────┬───────────────────────────────┘</a:t>
            </a:r>
          </a:p>
          <a:p>
            <a:r>
              <a:rPr sz="1000" b="0">
                <a:latin typeface="Courier New"/>
              </a:rPr>
              <a:t>                             ▼</a:t>
            </a:r>
          </a:p>
          <a:p>
            <a:r>
              <a:rPr sz="1000" b="0">
                <a:latin typeface="Courier New"/>
              </a:rPr>
              <a:t>   ┌─────────────────────────────────────────────────────────┐</a:t>
            </a:r>
          </a:p>
          <a:p>
            <a:r>
              <a:rPr sz="1000" b="0">
                <a:latin typeface="Courier New"/>
              </a:rPr>
              <a:t>   │   Orchestrator Lambda (1024MB, Python 3.12, 4 路由)      │</a:t>
            </a:r>
          </a:p>
          <a:p>
            <a:r>
              <a:rPr sz="1000" b="0">
                <a:latin typeface="Courier New"/>
              </a:rPr>
              <a:t>   │   • api_handler.py  — Chat / MCP / Webhook / EB         │</a:t>
            </a:r>
          </a:p>
          <a:p>
            <a:r>
              <a:rPr sz="1000" b="0">
                <a:latin typeface="Courier New"/>
              </a:rPr>
              <a:t>   │   • 5 个 MCP 工具 (mcp_server/v4_tools.py)               │</a:t>
            </a:r>
          </a:p>
          <a:p>
            <a:r>
              <a:rPr sz="1000" b="0">
                <a:latin typeface="Courier New"/>
              </a:rPr>
              <a:t>   └─────────┬─────────┬───────────┬──────────────┬───────────┘</a:t>
            </a:r>
          </a:p>
          <a:p>
            <a:r>
              <a:rPr sz="1000" b="0">
                <a:latin typeface="Courier New"/>
              </a:rPr>
              <a:t>             ▼         ▼           ▼              ▼</a:t>
            </a:r>
          </a:p>
          <a:p>
            <a:r>
              <a:rPr sz="1000" b="0">
                <a:latin typeface="Courier New"/>
              </a:rPr>
              <a:t>        ┌────────┐ ┌────────┐ ┌─────────┐  ┌──────────────┐</a:t>
            </a:r>
          </a:p>
          <a:p>
            <a:r>
              <a:rPr sz="1000" b="0">
                <a:latin typeface="Courier New"/>
              </a:rPr>
              <a:t>        │ DOA    │ │ S3     │ │ DDB     │  │ SSM Runbook  │</a:t>
            </a:r>
          </a:p>
          <a:p>
            <a:r>
              <a:rPr sz="1000" b="0">
                <a:latin typeface="Courier New"/>
              </a:rPr>
              <a:t>        │ Agent  │ │ Reports│ │ Sessions│  │ ECS / RDS    │</a:t>
            </a:r>
          </a:p>
          <a:p>
            <a:r>
              <a:rPr sz="1000" b="0">
                <a:latin typeface="Courier New"/>
              </a:rPr>
              <a:t>        │ Space  │ │ Bucket │ │ Audit   │  │              │</a:t>
            </a:r>
          </a:p>
          <a:p>
            <a:r>
              <a:rPr sz="1000" b="0">
                <a:latin typeface="Courier New"/>
              </a:rPr>
              <a:t>        └────────┘ └────────┘ └─────────┘  └──────────────┘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479821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05B35A6-8B52-46A5-AE45-B98C6459DC10}">
  <ds:schemaRefs/>
</ds:datastoreItem>
</file>

<file path=customXml/itemProps2.xml><?xml version="1.0" encoding="utf-8"?>
<ds:datastoreItem xmlns:ds="http://schemas.openxmlformats.org/officeDocument/2006/customXml" ds:itemID="{BA854933-773D-432F-AA20-17551E849917}">
  <ds:schemaRefs/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13582</TotalTime>
  <Words>1903</Words>
  <Application>Microsoft Office PowerPoint</Application>
  <PresentationFormat>宽屏</PresentationFormat>
  <Paragraphs>511</Paragraphs>
  <Slides>22</Slides>
  <Notes>22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Microsoft YaHei</vt:lpstr>
      <vt:lpstr>Microsoft YaHei</vt:lpstr>
      <vt:lpstr>Arial</vt:lpstr>
      <vt:lpstr>Calibri</vt:lpstr>
      <vt:lpstr>Consolas</vt:lpstr>
      <vt:lpstr>Wingdings</vt:lpstr>
      <vt:lpstr>地图集</vt:lpstr>
      <vt:lpstr>PowerPoint 演示文稿</vt:lpstr>
      <vt:lpstr>    客户的问题</vt:lpstr>
      <vt:lpstr>    问题的挑战</vt:lpstr>
      <vt:lpstr>    业界方案</vt:lpstr>
      <vt:lpstr>    客户要什么</vt:lpstr>
      <vt:lpstr>    AWS DevOps Agent</vt:lpstr>
      <vt:lpstr>    AWS DevOps Agent</vt:lpstr>
      <vt:lpstr>    解决方案</vt:lpstr>
      <vt:lpstr>    整体架构</vt:lpstr>
      <vt:lpstr>    核心能力： 智能诊断</vt:lpstr>
      <vt:lpstr>    核心能力： HTML诊断书</vt:lpstr>
      <vt:lpstr>    核心能力： 告警自动闭环</vt:lpstr>
      <vt:lpstr>    核心能力： 经验沉淀</vt:lpstr>
      <vt:lpstr>    Demo：资源盘点</vt:lpstr>
      <vt:lpstr>    Demo： 智能诊断</vt:lpstr>
      <vt:lpstr>    Demo： 告警自动闭环</vt:lpstr>
      <vt:lpstr>    性能分析</vt:lpstr>
      <vt:lpstr>    竞品分析</vt:lpstr>
      <vt:lpstr>    成本分析</vt:lpstr>
      <vt:lpstr>    下一步</vt:lpstr>
      <vt:lpstr>谢谢！</vt:lpstr>
      <vt:lpstr>    部署图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1744</cp:revision>
  <dcterms:created xsi:type="dcterms:W3CDTF">2026-02-01T15:24:35Z</dcterms:created>
  <dcterms:modified xsi:type="dcterms:W3CDTF">2026-05-24T17:27:32Z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