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85" r:id="rId5"/>
    <p:sldId id="330" r:id="rId6"/>
    <p:sldId id="351" r:id="rId7"/>
    <p:sldId id="350" r:id="rId8"/>
    <p:sldId id="331" r:id="rId9"/>
    <p:sldId id="333" r:id="rId10"/>
    <p:sldId id="334" r:id="rId11"/>
    <p:sldId id="346" r:id="rId12"/>
    <p:sldId id="355" r:id="rId13"/>
    <p:sldId id="356" r:id="rId14"/>
    <p:sldId id="357" r:id="rId15"/>
    <p:sldId id="358" r:id="rId16"/>
    <p:sldId id="359" r:id="rId17"/>
    <p:sldId id="360" r:id="rId18"/>
    <p:sldId id="345" r:id="rId19"/>
    <p:sldId id="342" r:id="rId20"/>
    <p:sldId id="344" r:id="rId21"/>
    <p:sldId id="361" r:id="rId22"/>
    <p:sldId id="300" r:id="rId23"/>
    <p:sldId id="353" r:id="rId24"/>
  </p:sldIdLst>
  <p:sldSz cx="12192000" cy="6858000"/>
  <p:notesSz cx="6858000" cy="9144000"/>
  <p:custDataLst>
    <p:tags r:id="rId2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92" userDrawn="1">
          <p15:clr>
            <a:srgbClr val="A4A3A4"/>
          </p15:clr>
        </p15:guide>
        <p15:guide id="3" orient="horz" pos="3169" userDrawn="1">
          <p15:clr>
            <a:srgbClr val="A4A3A4"/>
          </p15:clr>
        </p15:guide>
        <p15:guide id="4" orient="horz" pos="4251" userDrawn="1">
          <p15:clr>
            <a:srgbClr val="A4A3A4"/>
          </p15:clr>
        </p15:guide>
        <p15:guide id="6" orient="horz" pos="1800" userDrawn="1">
          <p15:clr>
            <a:srgbClr val="A4A3A4"/>
          </p15:clr>
        </p15:guide>
        <p15:guide id="8" orient="horz" pos="169" userDrawn="1">
          <p15:clr>
            <a:srgbClr val="A4A3A4"/>
          </p15:clr>
        </p15:guide>
        <p15:guide id="9" orient="horz" pos="2692" userDrawn="1">
          <p15:clr>
            <a:srgbClr val="A4A3A4"/>
          </p15:clr>
        </p15:guide>
        <p15:guide id="10" orient="horz" pos="3870" userDrawn="1">
          <p15:clr>
            <a:srgbClr val="A4A3A4"/>
          </p15:clr>
        </p15:guide>
        <p15:guide id="12" pos="2360" userDrawn="1">
          <p15:clr>
            <a:srgbClr val="A4A3A4"/>
          </p15:clr>
        </p15:guide>
        <p15:guide id="13" pos="3765" userDrawn="1">
          <p15:clr>
            <a:srgbClr val="A4A3A4"/>
          </p15:clr>
        </p15:guide>
        <p15:guide id="16" pos="3340" userDrawn="1">
          <p15:clr>
            <a:srgbClr val="A4A3A4"/>
          </p15:clr>
        </p15:guide>
        <p15:guide id="17" pos="2316" userDrawn="1">
          <p15:clr>
            <a:srgbClr val="A4A3A4"/>
          </p15:clr>
        </p15:guide>
        <p15:guide id="18" pos="1415" userDrawn="1">
          <p15:clr>
            <a:srgbClr val="A4A3A4"/>
          </p15:clr>
        </p15:guide>
        <p15:guide id="19" pos="6391" userDrawn="1">
          <p15:clr>
            <a:srgbClr val="A4A3A4"/>
          </p15:clr>
        </p15:guide>
        <p15:guide id="21" userDrawn="1">
          <p15:clr>
            <a:srgbClr val="A4A3A4"/>
          </p15:clr>
        </p15:guide>
        <p15:guide id="22" pos="4297" userDrawn="1">
          <p15:clr>
            <a:srgbClr val="A4A3A4"/>
          </p15:clr>
        </p15:guide>
        <p15:guide id="24" pos="5436" userDrawn="1">
          <p15:clr>
            <a:srgbClr val="A4A3A4"/>
          </p15:clr>
        </p15:guide>
        <p15:guide id="25" pos="7418" userDrawn="1">
          <p15:clr>
            <a:srgbClr val="A4A3A4"/>
          </p15:clr>
        </p15:guide>
        <p15:guide id="26" pos="226" userDrawn="1">
          <p15:clr>
            <a:srgbClr val="A4A3A4"/>
          </p15:clr>
        </p15:guide>
        <p15:guide id="27" pos="468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220AA1B-1162-29BC-A311-DB25CFEEA67A}" name="张克鹏" initials="张克鹏" userId="张克鹏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3A40"/>
    <a:srgbClr val="EB6100"/>
    <a:srgbClr val="348E8C"/>
    <a:srgbClr val="2662C9"/>
    <a:srgbClr val="4961C7"/>
    <a:srgbClr val="2858A7"/>
    <a:srgbClr val="DD4076"/>
    <a:srgbClr val="863F12"/>
    <a:srgbClr val="E01292"/>
    <a:srgbClr val="3233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1955" autoAdjust="0"/>
  </p:normalViewPr>
  <p:slideViewPr>
    <p:cSldViewPr snapToGrid="0" showGuides="1">
      <p:cViewPr varScale="1">
        <p:scale>
          <a:sx n="89" d="100"/>
          <a:sy n="89" d="100"/>
        </p:scale>
        <p:origin x="411" y="51"/>
      </p:cViewPr>
      <p:guideLst>
        <p:guide orient="horz" pos="892"/>
        <p:guide orient="horz" pos="3169"/>
        <p:guide orient="horz" pos="4251"/>
        <p:guide orient="horz" pos="1800"/>
        <p:guide orient="horz" pos="169"/>
        <p:guide orient="horz" pos="2692"/>
        <p:guide orient="horz" pos="3870"/>
        <p:guide pos="2360"/>
        <p:guide pos="3765"/>
        <p:guide pos="3340"/>
        <p:guide pos="2316"/>
        <p:guide pos="1415"/>
        <p:guide pos="6391"/>
        <p:guide/>
        <p:guide pos="4297"/>
        <p:guide pos="5436"/>
        <p:guide pos="7418"/>
        <p:guide pos="226"/>
        <p:guide pos="468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3976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791FEB-55A3-468A-B507-7CF740C9E911}" type="doc">
      <dgm:prSet loTypeId="urn:microsoft.com/office/officeart/2009/3/layout/StepUpProcess#1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zh-CN" altLang="en-US"/>
        </a:p>
      </dgm:t>
    </dgm:pt>
    <dgm:pt modelId="{ED37A5B7-0CBB-4596-A4A0-05621662E50B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主动巡检</a:t>
          </a:r>
        </a:p>
      </dgm:t>
    </dgm:pt>
    <dgm:pt modelId="{36832051-67FD-4B8F-A8D4-FF7221C9EF28}" type="parTrans" cxnId="{6F1D4389-1B26-4605-8646-FA26785A643A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AD9B2887-0C38-4819-8DA9-30E41E2E5EE3}" type="sibTrans" cxnId="{6F1D4389-1B26-4605-8646-FA26785A643A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78E36CBE-AB97-438D-8D3A-0EC1FB719242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被动响应</a:t>
          </a:r>
        </a:p>
      </dgm:t>
    </dgm:pt>
    <dgm:pt modelId="{09B9F087-99BB-4FBB-A289-A228CE08707D}" type="parTrans" cxnId="{C546119E-594E-4AEE-9FCF-02E442C9DA46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F468D865-1CD9-405A-98C7-A46664BDFFBA}" type="sibTrans" cxnId="{C546119E-594E-4AEE-9FCF-02E442C9DA46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89BF474-6A69-425E-BB45-A2FCD6A0D3F4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新人上手</a:t>
          </a:r>
        </a:p>
      </dgm:t>
    </dgm:pt>
    <dgm:pt modelId="{FD2CFC09-72DF-4302-84C5-26717D4D4B50}" type="parTrans" cxnId="{1A043B15-6131-4239-B180-ACDE7A8FEFD7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9A582E8B-637E-46C2-BC8D-1C38DF1D2134}" type="sibTrans" cxnId="{1A043B15-6131-4239-B180-ACDE7A8FEFD7}">
      <dgm:prSet/>
      <dgm:spPr/>
      <dgm:t>
        <a:bodyPr/>
        <a:lstStyle/>
        <a:p>
          <a:endParaRPr lang="zh-CN" altLang="en-US">
            <a:solidFill>
              <a:schemeClr val="bg1"/>
            </a:solidFill>
            <a:latin typeface="微软雅黑" panose="020B0503020204020204" pitchFamily="34" charset="-122"/>
            <a:ea typeface="微软雅黑" panose="020B0503020204020204" pitchFamily="34" charset="-122"/>
          </a:endParaRPr>
        </a:p>
      </dgm:t>
    </dgm:pt>
    <dgm:pt modelId="{65378A77-79F9-4F54-BF8C-705BD29D1E73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快速获得系统健康全貌，不用逐个看面板</a:t>
          </a:r>
        </a:p>
      </dgm:t>
    </dgm:pt>
    <dgm:pt modelId="{0FCD98F1-5AA5-4F2E-8C0C-F753EF9B7932}" type="parTrans" cxnId="{AD04F0C5-963E-46A2-8424-7CEEBA1187CC}">
      <dgm:prSet/>
      <dgm:spPr/>
      <dgm:t>
        <a:bodyPr/>
        <a:lstStyle/>
        <a:p>
          <a:endParaRPr lang="zh-CN" altLang="en-US"/>
        </a:p>
      </dgm:t>
    </dgm:pt>
    <dgm:pt modelId="{EA6DF5BA-D1C2-47FE-9411-8B8D67462397}" type="sibTrans" cxnId="{AD04F0C5-963E-46A2-8424-7CEEBA1187CC}">
      <dgm:prSet/>
      <dgm:spPr/>
      <dgm:t>
        <a:bodyPr/>
        <a:lstStyle/>
        <a:p>
          <a:endParaRPr lang="zh-CN" altLang="en-US"/>
        </a:p>
      </dgm:t>
    </dgm:pt>
    <dgm:pt modelId="{E09AEB6F-78E7-4377-8B31-FEECE9FDA372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不依赖个人经验也能处理常见故障</a:t>
          </a:r>
        </a:p>
      </dgm:t>
    </dgm:pt>
    <dgm:pt modelId="{7633A029-AE4B-4BF2-97D0-78E61B39F951}" type="parTrans" cxnId="{0C7958CD-3137-422E-A9DB-4B1A31AD5A82}">
      <dgm:prSet/>
      <dgm:spPr/>
      <dgm:t>
        <a:bodyPr/>
        <a:lstStyle/>
        <a:p>
          <a:endParaRPr lang="zh-CN" altLang="en-US"/>
        </a:p>
      </dgm:t>
    </dgm:pt>
    <dgm:pt modelId="{3C1F7AB9-D273-40C3-96D8-A3E962F18FB1}" type="sibTrans" cxnId="{0C7958CD-3137-422E-A9DB-4B1A31AD5A82}">
      <dgm:prSet/>
      <dgm:spPr/>
      <dgm:t>
        <a:bodyPr/>
        <a:lstStyle/>
        <a:p>
          <a:endParaRPr lang="zh-CN" altLang="en-US"/>
        </a:p>
      </dgm:t>
    </dgm:pt>
    <dgm:pt modelId="{1B5C62EA-DD51-44C0-AFB2-5113FCC6AB5D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快速定界</a:t>
          </a:r>
          <a:r>
            <a: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定位</a:t>
          </a:r>
          <a:r>
            <a: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修复，不用切换多个控制台</a:t>
          </a:r>
        </a:p>
      </dgm:t>
    </dgm:pt>
    <dgm:pt modelId="{C5BBE26C-5AC9-4FB1-8331-967B2A4642B2}" type="parTrans" cxnId="{632E239E-48C7-4ABB-B745-854EB3564189}">
      <dgm:prSet/>
      <dgm:spPr/>
      <dgm:t>
        <a:bodyPr/>
        <a:lstStyle/>
        <a:p>
          <a:endParaRPr lang="zh-CN" altLang="en-US"/>
        </a:p>
      </dgm:t>
    </dgm:pt>
    <dgm:pt modelId="{C8DF68F9-FE4F-454C-B517-BBAEF1A6C410}" type="sibTrans" cxnId="{632E239E-48C7-4ABB-B745-854EB3564189}">
      <dgm:prSet/>
      <dgm:spPr/>
      <dgm:t>
        <a:bodyPr/>
        <a:lstStyle/>
        <a:p>
          <a:endParaRPr lang="zh-CN" altLang="en-US"/>
        </a:p>
      </dgm:t>
    </dgm:pt>
    <dgm:pt modelId="{C8DB93AE-FF40-4502-A68F-E080F9D9F54F}">
      <dgm:prSet phldrT="[文本]"/>
      <dgm:spPr/>
      <dgm:t>
        <a:bodyPr/>
        <a:lstStyle/>
        <a:p>
          <a:r>
            <a:rPr lang="zh-CN" altLang="en-US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夜间</a:t>
          </a:r>
          <a:r>
            <a:rPr lang="en-US" altLang="zh-CN" sz="24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/on-call</a:t>
          </a:r>
          <a:endParaRPr lang="zh-CN" altLang="en-US" sz="2400" dirty="0">
            <a:solidFill>
              <a:schemeClr val="bg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</dgm:t>
    </dgm:pt>
    <dgm:pt modelId="{3160CEBF-CF52-4629-ACAD-6DAF3D8D86A3}" type="parTrans" cxnId="{6AA509E4-7C3B-4588-A8E0-4D5B89146F05}">
      <dgm:prSet/>
      <dgm:spPr/>
      <dgm:t>
        <a:bodyPr/>
        <a:lstStyle/>
        <a:p>
          <a:endParaRPr lang="zh-CN" altLang="en-US"/>
        </a:p>
      </dgm:t>
    </dgm:pt>
    <dgm:pt modelId="{9362198D-2E04-4346-8F78-CD52BBB528B0}" type="sibTrans" cxnId="{6AA509E4-7C3B-4588-A8E0-4D5B89146F05}">
      <dgm:prSet/>
      <dgm:spPr/>
      <dgm:t>
        <a:bodyPr/>
        <a:lstStyle/>
        <a:p>
          <a:endParaRPr lang="zh-CN" altLang="en-US"/>
        </a:p>
      </dgm:t>
    </dgm:pt>
    <dgm:pt modelId="{740D18E3-4E26-4489-BC5D-E4695ABB3EE4}">
      <dgm:prSet phldrT="[文本]" custT="1"/>
      <dgm:spPr/>
      <dgm:t>
        <a:bodyPr/>
        <a:lstStyle/>
        <a:p>
          <a:r>
            <a:rPr lang="zh-CN" altLang="en-US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不开电脑也能了解情况</a:t>
          </a:r>
        </a:p>
      </dgm:t>
    </dgm:pt>
    <dgm:pt modelId="{CD76F3BA-9190-40C5-A48C-B991D06B82D0}" type="parTrans" cxnId="{42C4104C-F58F-4252-B996-7E384D315DD2}">
      <dgm:prSet/>
      <dgm:spPr/>
      <dgm:t>
        <a:bodyPr/>
        <a:lstStyle/>
        <a:p>
          <a:endParaRPr lang="zh-CN" altLang="en-US"/>
        </a:p>
      </dgm:t>
    </dgm:pt>
    <dgm:pt modelId="{80950472-258F-4559-8B5C-579910E42C8E}" type="sibTrans" cxnId="{42C4104C-F58F-4252-B996-7E384D315DD2}">
      <dgm:prSet/>
      <dgm:spPr/>
      <dgm:t>
        <a:bodyPr/>
        <a:lstStyle/>
        <a:p>
          <a:endParaRPr lang="zh-CN" altLang="en-US"/>
        </a:p>
      </dgm:t>
    </dgm:pt>
    <dgm:pt modelId="{6D11EA5E-7BF8-4EB2-A16F-346DFE915CFA}" type="pres">
      <dgm:prSet presAssocID="{BD791FEB-55A3-468A-B507-7CF740C9E911}" presName="rootnode" presStyleCnt="0">
        <dgm:presLayoutVars>
          <dgm:chMax/>
          <dgm:chPref/>
          <dgm:dir/>
          <dgm:animLvl val="lvl"/>
        </dgm:presLayoutVars>
      </dgm:prSet>
      <dgm:spPr/>
    </dgm:pt>
    <dgm:pt modelId="{8CABEC08-FEDF-4674-892D-C405EC98A1AD}" type="pres">
      <dgm:prSet presAssocID="{ED37A5B7-0CBB-4596-A4A0-05621662E50B}" presName="composite" presStyleCnt="0"/>
      <dgm:spPr/>
    </dgm:pt>
    <dgm:pt modelId="{F6B96D4A-BBE4-4F10-82AB-BA682F31BA02}" type="pres">
      <dgm:prSet presAssocID="{ED37A5B7-0CBB-4596-A4A0-05621662E50B}" presName="LShape" presStyleLbl="alignNode1" presStyleIdx="0" presStyleCnt="7"/>
      <dgm:spPr/>
    </dgm:pt>
    <dgm:pt modelId="{97A8470C-D022-43DF-AA11-5122EB739704}" type="pres">
      <dgm:prSet presAssocID="{ED37A5B7-0CBB-4596-A4A0-05621662E50B}" presName="ParentText" presStyleLbl="revTx" presStyleIdx="0" presStyleCnt="4">
        <dgm:presLayoutVars>
          <dgm:chMax val="0"/>
          <dgm:chPref val="0"/>
          <dgm:bulletEnabled val="1"/>
        </dgm:presLayoutVars>
      </dgm:prSet>
      <dgm:spPr/>
    </dgm:pt>
    <dgm:pt modelId="{A737BF5F-549B-4E89-A243-2038C4F97461}" type="pres">
      <dgm:prSet presAssocID="{ED37A5B7-0CBB-4596-A4A0-05621662E50B}" presName="Triangle" presStyleLbl="alignNode1" presStyleIdx="1" presStyleCnt="7"/>
      <dgm:spPr/>
    </dgm:pt>
    <dgm:pt modelId="{5FF471A1-4C8B-4DCA-8A3E-59EBDD951722}" type="pres">
      <dgm:prSet presAssocID="{AD9B2887-0C38-4819-8DA9-30E41E2E5EE3}" presName="sibTrans" presStyleCnt="0"/>
      <dgm:spPr/>
    </dgm:pt>
    <dgm:pt modelId="{7F0E9CE9-DC27-4A99-A390-507D7D4BF6BC}" type="pres">
      <dgm:prSet presAssocID="{AD9B2887-0C38-4819-8DA9-30E41E2E5EE3}" presName="space" presStyleCnt="0"/>
      <dgm:spPr/>
    </dgm:pt>
    <dgm:pt modelId="{3E664D2C-BCE3-4B58-91B4-342EF4E99E1E}" type="pres">
      <dgm:prSet presAssocID="{78E36CBE-AB97-438D-8D3A-0EC1FB719242}" presName="composite" presStyleCnt="0"/>
      <dgm:spPr/>
    </dgm:pt>
    <dgm:pt modelId="{C588B7C7-9D04-455B-AA61-B381FF89F4C8}" type="pres">
      <dgm:prSet presAssocID="{78E36CBE-AB97-438D-8D3A-0EC1FB719242}" presName="LShape" presStyleLbl="alignNode1" presStyleIdx="2" presStyleCnt="7"/>
      <dgm:spPr/>
    </dgm:pt>
    <dgm:pt modelId="{38222189-A6C2-4C10-882C-A6598B34D068}" type="pres">
      <dgm:prSet presAssocID="{78E36CBE-AB97-438D-8D3A-0EC1FB719242}" presName="ParentText" presStyleLbl="revTx" presStyleIdx="1" presStyleCnt="4">
        <dgm:presLayoutVars>
          <dgm:chMax val="0"/>
          <dgm:chPref val="0"/>
          <dgm:bulletEnabled val="1"/>
        </dgm:presLayoutVars>
      </dgm:prSet>
      <dgm:spPr/>
    </dgm:pt>
    <dgm:pt modelId="{A94FA60D-2FA5-479B-9D19-C35494F8F349}" type="pres">
      <dgm:prSet presAssocID="{78E36CBE-AB97-438D-8D3A-0EC1FB719242}" presName="Triangle" presStyleLbl="alignNode1" presStyleIdx="3" presStyleCnt="7"/>
      <dgm:spPr/>
    </dgm:pt>
    <dgm:pt modelId="{2B6CBD8A-95CA-43E3-AA69-E10E003B2520}" type="pres">
      <dgm:prSet presAssocID="{F468D865-1CD9-405A-98C7-A46664BDFFBA}" presName="sibTrans" presStyleCnt="0"/>
      <dgm:spPr/>
    </dgm:pt>
    <dgm:pt modelId="{A2FC844B-E90A-4756-8800-373D6403D51E}" type="pres">
      <dgm:prSet presAssocID="{F468D865-1CD9-405A-98C7-A46664BDFFBA}" presName="space" presStyleCnt="0"/>
      <dgm:spPr/>
    </dgm:pt>
    <dgm:pt modelId="{6C416037-6967-4165-9D41-02A880EF4AAA}" type="pres">
      <dgm:prSet presAssocID="{C8DB93AE-FF40-4502-A68F-E080F9D9F54F}" presName="composite" presStyleCnt="0"/>
      <dgm:spPr/>
    </dgm:pt>
    <dgm:pt modelId="{9A79AE2A-8F4F-4783-8089-0A5A58F67656}" type="pres">
      <dgm:prSet presAssocID="{C8DB93AE-FF40-4502-A68F-E080F9D9F54F}" presName="LShape" presStyleLbl="alignNode1" presStyleIdx="4" presStyleCnt="7"/>
      <dgm:spPr/>
    </dgm:pt>
    <dgm:pt modelId="{F053CBDC-E8DE-4F71-8B45-C265C89BF93F}" type="pres">
      <dgm:prSet presAssocID="{C8DB93AE-FF40-4502-A68F-E080F9D9F54F}" presName="ParentText" presStyleLbl="revTx" presStyleIdx="2" presStyleCnt="4">
        <dgm:presLayoutVars>
          <dgm:chMax val="0"/>
          <dgm:chPref val="0"/>
          <dgm:bulletEnabled val="1"/>
        </dgm:presLayoutVars>
      </dgm:prSet>
      <dgm:spPr/>
    </dgm:pt>
    <dgm:pt modelId="{A61F5D05-7D1D-4480-ACD4-3DC773BA9958}" type="pres">
      <dgm:prSet presAssocID="{C8DB93AE-FF40-4502-A68F-E080F9D9F54F}" presName="Triangle" presStyleLbl="alignNode1" presStyleIdx="5" presStyleCnt="7"/>
      <dgm:spPr/>
    </dgm:pt>
    <dgm:pt modelId="{15CF69EF-5F56-4841-9581-16D3D8F14CE4}" type="pres">
      <dgm:prSet presAssocID="{9362198D-2E04-4346-8F78-CD52BBB528B0}" presName="sibTrans" presStyleCnt="0"/>
      <dgm:spPr/>
    </dgm:pt>
    <dgm:pt modelId="{A588FB78-E8CA-495B-BD2D-E88F5ABFDC23}" type="pres">
      <dgm:prSet presAssocID="{9362198D-2E04-4346-8F78-CD52BBB528B0}" presName="space" presStyleCnt="0"/>
      <dgm:spPr/>
    </dgm:pt>
    <dgm:pt modelId="{50B498BC-9D44-4DCD-A741-CB956DCC4620}" type="pres">
      <dgm:prSet presAssocID="{989BF474-6A69-425E-BB45-A2FCD6A0D3F4}" presName="composite" presStyleCnt="0"/>
      <dgm:spPr/>
    </dgm:pt>
    <dgm:pt modelId="{AA384477-6962-4E46-AADF-0EB48306A3EF}" type="pres">
      <dgm:prSet presAssocID="{989BF474-6A69-425E-BB45-A2FCD6A0D3F4}" presName="LShape" presStyleLbl="alignNode1" presStyleIdx="6" presStyleCnt="7"/>
      <dgm:spPr/>
    </dgm:pt>
    <dgm:pt modelId="{EB1C8723-5ABE-4E5E-90F1-F9965CB7139E}" type="pres">
      <dgm:prSet presAssocID="{989BF474-6A69-425E-BB45-A2FCD6A0D3F4}" presName="ParentText" presStyleLbl="revTx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FC25A914-772F-472E-AC7D-2419B04F09D6}" type="presOf" srcId="{78E36CBE-AB97-438D-8D3A-0EC1FB719242}" destId="{38222189-A6C2-4C10-882C-A6598B34D068}" srcOrd="0" destOrd="0" presId="urn:microsoft.com/office/officeart/2009/3/layout/StepUpProcess#1"/>
    <dgm:cxn modelId="{1A043B15-6131-4239-B180-ACDE7A8FEFD7}" srcId="{BD791FEB-55A3-468A-B507-7CF740C9E911}" destId="{989BF474-6A69-425E-BB45-A2FCD6A0D3F4}" srcOrd="3" destOrd="0" parTransId="{FD2CFC09-72DF-4302-84C5-26717D4D4B50}" sibTransId="{9A582E8B-637E-46C2-BC8D-1C38DF1D2134}"/>
    <dgm:cxn modelId="{42C4104C-F58F-4252-B996-7E384D315DD2}" srcId="{C8DB93AE-FF40-4502-A68F-E080F9D9F54F}" destId="{740D18E3-4E26-4489-BC5D-E4695ABB3EE4}" srcOrd="0" destOrd="0" parTransId="{CD76F3BA-9190-40C5-A48C-B991D06B82D0}" sibTransId="{80950472-258F-4559-8B5C-579910E42C8E}"/>
    <dgm:cxn modelId="{3021C370-4681-458F-A1DE-2A62FB4F3DC5}" type="presOf" srcId="{E09AEB6F-78E7-4377-8B31-FEECE9FDA372}" destId="{EB1C8723-5ABE-4E5E-90F1-F9965CB7139E}" srcOrd="0" destOrd="1" presId="urn:microsoft.com/office/officeart/2009/3/layout/StepUpProcess#1"/>
    <dgm:cxn modelId="{362B1686-695B-4400-90A9-9B002CC7E499}" type="presOf" srcId="{989BF474-6A69-425E-BB45-A2FCD6A0D3F4}" destId="{EB1C8723-5ABE-4E5E-90F1-F9965CB7139E}" srcOrd="0" destOrd="0" presId="urn:microsoft.com/office/officeart/2009/3/layout/StepUpProcess#1"/>
    <dgm:cxn modelId="{6F1D4389-1B26-4605-8646-FA26785A643A}" srcId="{BD791FEB-55A3-468A-B507-7CF740C9E911}" destId="{ED37A5B7-0CBB-4596-A4A0-05621662E50B}" srcOrd="0" destOrd="0" parTransId="{36832051-67FD-4B8F-A8D4-FF7221C9EF28}" sibTransId="{AD9B2887-0C38-4819-8DA9-30E41E2E5EE3}"/>
    <dgm:cxn modelId="{158B3797-ABE4-41C8-A05D-121DFC60A107}" type="presOf" srcId="{740D18E3-4E26-4489-BC5D-E4695ABB3EE4}" destId="{F053CBDC-E8DE-4F71-8B45-C265C89BF93F}" srcOrd="0" destOrd="1" presId="urn:microsoft.com/office/officeart/2009/3/layout/StepUpProcess#1"/>
    <dgm:cxn modelId="{B9B5B399-C15E-48D3-A2F1-3218D67FD724}" type="presOf" srcId="{65378A77-79F9-4F54-BF8C-705BD29D1E73}" destId="{97A8470C-D022-43DF-AA11-5122EB739704}" srcOrd="0" destOrd="1" presId="urn:microsoft.com/office/officeart/2009/3/layout/StepUpProcess#1"/>
    <dgm:cxn modelId="{C546119E-594E-4AEE-9FCF-02E442C9DA46}" srcId="{BD791FEB-55A3-468A-B507-7CF740C9E911}" destId="{78E36CBE-AB97-438D-8D3A-0EC1FB719242}" srcOrd="1" destOrd="0" parTransId="{09B9F087-99BB-4FBB-A289-A228CE08707D}" sibTransId="{F468D865-1CD9-405A-98C7-A46664BDFFBA}"/>
    <dgm:cxn modelId="{632E239E-48C7-4ABB-B745-854EB3564189}" srcId="{78E36CBE-AB97-438D-8D3A-0EC1FB719242}" destId="{1B5C62EA-DD51-44C0-AFB2-5113FCC6AB5D}" srcOrd="0" destOrd="0" parTransId="{C5BBE26C-5AC9-4FB1-8331-967B2A4642B2}" sibTransId="{C8DF68F9-FE4F-454C-B517-BBAEF1A6C410}"/>
    <dgm:cxn modelId="{AD04F0C5-963E-46A2-8424-7CEEBA1187CC}" srcId="{ED37A5B7-0CBB-4596-A4A0-05621662E50B}" destId="{65378A77-79F9-4F54-BF8C-705BD29D1E73}" srcOrd="0" destOrd="0" parTransId="{0FCD98F1-5AA5-4F2E-8C0C-F753EF9B7932}" sibTransId="{EA6DF5BA-D1C2-47FE-9411-8B8D67462397}"/>
    <dgm:cxn modelId="{0C7958CD-3137-422E-A9DB-4B1A31AD5A82}" srcId="{989BF474-6A69-425E-BB45-A2FCD6A0D3F4}" destId="{E09AEB6F-78E7-4377-8B31-FEECE9FDA372}" srcOrd="0" destOrd="0" parTransId="{7633A029-AE4B-4BF2-97D0-78E61B39F951}" sibTransId="{3C1F7AB9-D273-40C3-96D8-A3E962F18FB1}"/>
    <dgm:cxn modelId="{E5777ED9-99B2-415A-9748-779D765B9950}" type="presOf" srcId="{C8DB93AE-FF40-4502-A68F-E080F9D9F54F}" destId="{F053CBDC-E8DE-4F71-8B45-C265C89BF93F}" srcOrd="0" destOrd="0" presId="urn:microsoft.com/office/officeart/2009/3/layout/StepUpProcess#1"/>
    <dgm:cxn modelId="{6AA509E4-7C3B-4588-A8E0-4D5B89146F05}" srcId="{BD791FEB-55A3-468A-B507-7CF740C9E911}" destId="{C8DB93AE-FF40-4502-A68F-E080F9D9F54F}" srcOrd="2" destOrd="0" parTransId="{3160CEBF-CF52-4629-ACAD-6DAF3D8D86A3}" sibTransId="{9362198D-2E04-4346-8F78-CD52BBB528B0}"/>
    <dgm:cxn modelId="{D3CB94E8-790D-4401-B2F9-39120AECA0EC}" type="presOf" srcId="{BD791FEB-55A3-468A-B507-7CF740C9E911}" destId="{6D11EA5E-7BF8-4EB2-A16F-346DFE915CFA}" srcOrd="0" destOrd="0" presId="urn:microsoft.com/office/officeart/2009/3/layout/StepUpProcess#1"/>
    <dgm:cxn modelId="{8EAE94FC-CCF7-4A19-A6E4-69DBA219B323}" type="presOf" srcId="{1B5C62EA-DD51-44C0-AFB2-5113FCC6AB5D}" destId="{38222189-A6C2-4C10-882C-A6598B34D068}" srcOrd="0" destOrd="1" presId="urn:microsoft.com/office/officeart/2009/3/layout/StepUpProcess#1"/>
    <dgm:cxn modelId="{3D5CC3FE-26B5-49AD-AB07-94B6E8158B72}" type="presOf" srcId="{ED37A5B7-0CBB-4596-A4A0-05621662E50B}" destId="{97A8470C-D022-43DF-AA11-5122EB739704}" srcOrd="0" destOrd="0" presId="urn:microsoft.com/office/officeart/2009/3/layout/StepUpProcess#1"/>
    <dgm:cxn modelId="{36B27190-DED3-498F-98DD-FEF93BF4C45C}" type="presParOf" srcId="{6D11EA5E-7BF8-4EB2-A16F-346DFE915CFA}" destId="{8CABEC08-FEDF-4674-892D-C405EC98A1AD}" srcOrd="0" destOrd="0" presId="urn:microsoft.com/office/officeart/2009/3/layout/StepUpProcess#1"/>
    <dgm:cxn modelId="{31E653B0-8062-4F11-B286-942C471A2787}" type="presParOf" srcId="{8CABEC08-FEDF-4674-892D-C405EC98A1AD}" destId="{F6B96D4A-BBE4-4F10-82AB-BA682F31BA02}" srcOrd="0" destOrd="0" presId="urn:microsoft.com/office/officeart/2009/3/layout/StepUpProcess#1"/>
    <dgm:cxn modelId="{FA3BEC06-C7E2-414C-946E-71B0E481A45A}" type="presParOf" srcId="{8CABEC08-FEDF-4674-892D-C405EC98A1AD}" destId="{97A8470C-D022-43DF-AA11-5122EB739704}" srcOrd="1" destOrd="0" presId="urn:microsoft.com/office/officeart/2009/3/layout/StepUpProcess#1"/>
    <dgm:cxn modelId="{EA165E94-4236-48A7-AC20-1AC83F207B5F}" type="presParOf" srcId="{8CABEC08-FEDF-4674-892D-C405EC98A1AD}" destId="{A737BF5F-549B-4E89-A243-2038C4F97461}" srcOrd="2" destOrd="0" presId="urn:microsoft.com/office/officeart/2009/3/layout/StepUpProcess#1"/>
    <dgm:cxn modelId="{737B5FE4-1965-4FED-85AA-AF135FB4D6E7}" type="presParOf" srcId="{6D11EA5E-7BF8-4EB2-A16F-346DFE915CFA}" destId="{5FF471A1-4C8B-4DCA-8A3E-59EBDD951722}" srcOrd="1" destOrd="0" presId="urn:microsoft.com/office/officeart/2009/3/layout/StepUpProcess#1"/>
    <dgm:cxn modelId="{E6BFDE46-ED8B-421A-A312-7A8E710AB6E9}" type="presParOf" srcId="{5FF471A1-4C8B-4DCA-8A3E-59EBDD951722}" destId="{7F0E9CE9-DC27-4A99-A390-507D7D4BF6BC}" srcOrd="0" destOrd="0" presId="urn:microsoft.com/office/officeart/2009/3/layout/StepUpProcess#1"/>
    <dgm:cxn modelId="{86952079-6018-4E63-A27A-FDC3B6BF0FE1}" type="presParOf" srcId="{6D11EA5E-7BF8-4EB2-A16F-346DFE915CFA}" destId="{3E664D2C-BCE3-4B58-91B4-342EF4E99E1E}" srcOrd="2" destOrd="0" presId="urn:microsoft.com/office/officeart/2009/3/layout/StepUpProcess#1"/>
    <dgm:cxn modelId="{F0A63445-04B7-47A0-A09E-8BC6FF6714D1}" type="presParOf" srcId="{3E664D2C-BCE3-4B58-91B4-342EF4E99E1E}" destId="{C588B7C7-9D04-455B-AA61-B381FF89F4C8}" srcOrd="0" destOrd="0" presId="urn:microsoft.com/office/officeart/2009/3/layout/StepUpProcess#1"/>
    <dgm:cxn modelId="{368D8550-AFD2-4F4E-8356-CC62F3E05D16}" type="presParOf" srcId="{3E664D2C-BCE3-4B58-91B4-342EF4E99E1E}" destId="{38222189-A6C2-4C10-882C-A6598B34D068}" srcOrd="1" destOrd="0" presId="urn:microsoft.com/office/officeart/2009/3/layout/StepUpProcess#1"/>
    <dgm:cxn modelId="{FC0DD2D5-519D-4123-8FF9-4678FD6C76B3}" type="presParOf" srcId="{3E664D2C-BCE3-4B58-91B4-342EF4E99E1E}" destId="{A94FA60D-2FA5-479B-9D19-C35494F8F349}" srcOrd="2" destOrd="0" presId="urn:microsoft.com/office/officeart/2009/3/layout/StepUpProcess#1"/>
    <dgm:cxn modelId="{F2B2AE3A-CD79-4469-8889-9779968EDB83}" type="presParOf" srcId="{6D11EA5E-7BF8-4EB2-A16F-346DFE915CFA}" destId="{2B6CBD8A-95CA-43E3-AA69-E10E003B2520}" srcOrd="3" destOrd="0" presId="urn:microsoft.com/office/officeart/2009/3/layout/StepUpProcess#1"/>
    <dgm:cxn modelId="{16749741-EDFB-4E2D-AD3B-C8EB287FD5F0}" type="presParOf" srcId="{2B6CBD8A-95CA-43E3-AA69-E10E003B2520}" destId="{A2FC844B-E90A-4756-8800-373D6403D51E}" srcOrd="0" destOrd="0" presId="urn:microsoft.com/office/officeart/2009/3/layout/StepUpProcess#1"/>
    <dgm:cxn modelId="{561F42BE-B078-4468-B2D5-10EBC1F76BF4}" type="presParOf" srcId="{6D11EA5E-7BF8-4EB2-A16F-346DFE915CFA}" destId="{6C416037-6967-4165-9D41-02A880EF4AAA}" srcOrd="4" destOrd="0" presId="urn:microsoft.com/office/officeart/2009/3/layout/StepUpProcess#1"/>
    <dgm:cxn modelId="{849806A2-5995-43DD-B4A5-6C8C710529B2}" type="presParOf" srcId="{6C416037-6967-4165-9D41-02A880EF4AAA}" destId="{9A79AE2A-8F4F-4783-8089-0A5A58F67656}" srcOrd="0" destOrd="0" presId="urn:microsoft.com/office/officeart/2009/3/layout/StepUpProcess#1"/>
    <dgm:cxn modelId="{5F53C422-16AD-4FA4-98B1-1B853A5B6143}" type="presParOf" srcId="{6C416037-6967-4165-9D41-02A880EF4AAA}" destId="{F053CBDC-E8DE-4F71-8B45-C265C89BF93F}" srcOrd="1" destOrd="0" presId="urn:microsoft.com/office/officeart/2009/3/layout/StepUpProcess#1"/>
    <dgm:cxn modelId="{D5C5F01B-279D-47FA-8357-ABC95C367971}" type="presParOf" srcId="{6C416037-6967-4165-9D41-02A880EF4AAA}" destId="{A61F5D05-7D1D-4480-ACD4-3DC773BA9958}" srcOrd="2" destOrd="0" presId="urn:microsoft.com/office/officeart/2009/3/layout/StepUpProcess#1"/>
    <dgm:cxn modelId="{4B3FF4A0-3F10-4C4F-8E52-62FDCB511E79}" type="presParOf" srcId="{6D11EA5E-7BF8-4EB2-A16F-346DFE915CFA}" destId="{15CF69EF-5F56-4841-9581-16D3D8F14CE4}" srcOrd="5" destOrd="0" presId="urn:microsoft.com/office/officeart/2009/3/layout/StepUpProcess#1"/>
    <dgm:cxn modelId="{154B7248-9FDA-48DD-8921-D030A553259C}" type="presParOf" srcId="{15CF69EF-5F56-4841-9581-16D3D8F14CE4}" destId="{A588FB78-E8CA-495B-BD2D-E88F5ABFDC23}" srcOrd="0" destOrd="0" presId="urn:microsoft.com/office/officeart/2009/3/layout/StepUpProcess#1"/>
    <dgm:cxn modelId="{1088803C-2462-4556-918B-7EE29021F811}" type="presParOf" srcId="{6D11EA5E-7BF8-4EB2-A16F-346DFE915CFA}" destId="{50B498BC-9D44-4DCD-A741-CB956DCC4620}" srcOrd="6" destOrd="0" presId="urn:microsoft.com/office/officeart/2009/3/layout/StepUpProcess#1"/>
    <dgm:cxn modelId="{E9D3F6C0-3338-4775-A57E-D5B304A85F75}" type="presParOf" srcId="{50B498BC-9D44-4DCD-A741-CB956DCC4620}" destId="{AA384477-6962-4E46-AADF-0EB48306A3EF}" srcOrd="0" destOrd="0" presId="urn:microsoft.com/office/officeart/2009/3/layout/StepUpProcess#1"/>
    <dgm:cxn modelId="{67124397-B4E7-4E36-BECC-6C482DB3FCBD}" type="presParOf" srcId="{50B498BC-9D44-4DCD-A741-CB956DCC4620}" destId="{EB1C8723-5ABE-4E5E-90F1-F9965CB7139E}" srcOrd="1" destOrd="0" presId="urn:microsoft.com/office/officeart/2009/3/layout/StepUpProcess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6B96D4A-BBE4-4F10-82AB-BA682F31BA02}">
      <dsp:nvSpPr>
        <dsp:cNvPr id="0" name=""/>
        <dsp:cNvSpPr/>
      </dsp:nvSpPr>
      <dsp:spPr>
        <a:xfrm rot="5400000">
          <a:off x="914902" y="1422581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8470C-D022-43DF-AA11-5122EB739704}">
      <dsp:nvSpPr>
        <dsp:cNvPr id="0" name=""/>
        <dsp:cNvSpPr/>
      </dsp:nvSpPr>
      <dsp:spPr bwMode="white">
        <a:xfrm>
          <a:off x="685283" y="2106481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主动巡检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快速获得系统健康全貌，不用逐个看面板</a:t>
          </a:r>
        </a:p>
      </dsp:txBody>
      <dsp:txXfrm>
        <a:off x="685283" y="2106481"/>
        <a:ext cx="2066467" cy="1811380"/>
      </dsp:txXfrm>
    </dsp:sp>
    <dsp:sp modelId="{A737BF5F-549B-4E89-A243-2038C4F97461}">
      <dsp:nvSpPr>
        <dsp:cNvPr id="0" name=""/>
        <dsp:cNvSpPr/>
      </dsp:nvSpPr>
      <dsp:spPr>
        <a:xfrm>
          <a:off x="2361851" y="1254067"/>
          <a:ext cx="389899" cy="38989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8B7C7-9D04-455B-AA61-B381FF89F4C8}">
      <dsp:nvSpPr>
        <dsp:cNvPr id="0" name=""/>
        <dsp:cNvSpPr/>
      </dsp:nvSpPr>
      <dsp:spPr>
        <a:xfrm rot="5400000">
          <a:off x="3444662" y="796589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222189-A6C2-4C10-882C-A6598B34D068}">
      <dsp:nvSpPr>
        <dsp:cNvPr id="0" name=""/>
        <dsp:cNvSpPr/>
      </dsp:nvSpPr>
      <dsp:spPr bwMode="white">
        <a:xfrm>
          <a:off x="3215043" y="1480489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被动响应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快速定界</a:t>
          </a:r>
          <a:r>
            <a:rPr lang="en-US" altLang="zh-CN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定位</a:t>
          </a:r>
          <a:r>
            <a:rPr lang="en-US" altLang="zh-CN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-&gt;</a:t>
          </a: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修复，不用切换多个控制台</a:t>
          </a:r>
        </a:p>
      </dsp:txBody>
      <dsp:txXfrm>
        <a:off x="3215043" y="1480489"/>
        <a:ext cx="2066467" cy="1811380"/>
      </dsp:txXfrm>
    </dsp:sp>
    <dsp:sp modelId="{A94FA60D-2FA5-479B-9D19-C35494F8F349}">
      <dsp:nvSpPr>
        <dsp:cNvPr id="0" name=""/>
        <dsp:cNvSpPr/>
      </dsp:nvSpPr>
      <dsp:spPr>
        <a:xfrm>
          <a:off x="4891611" y="628075"/>
          <a:ext cx="389899" cy="38989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9AE2A-8F4F-4783-8089-0A5A58F67656}">
      <dsp:nvSpPr>
        <dsp:cNvPr id="0" name=""/>
        <dsp:cNvSpPr/>
      </dsp:nvSpPr>
      <dsp:spPr>
        <a:xfrm rot="5400000">
          <a:off x="5974422" y="170597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53CBDC-E8DE-4F71-8B45-C265C89BF93F}">
      <dsp:nvSpPr>
        <dsp:cNvPr id="0" name=""/>
        <dsp:cNvSpPr/>
      </dsp:nvSpPr>
      <dsp:spPr bwMode="white">
        <a:xfrm>
          <a:off x="5744803" y="854497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夜间</a:t>
          </a:r>
          <a:r>
            <a:rPr lang="en-US" altLang="zh-CN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/on-call</a:t>
          </a:r>
          <a:endParaRPr lang="zh-CN" altLang="en-US" sz="2400" kern="1200" dirty="0">
            <a:solidFill>
              <a:schemeClr val="bg1"/>
            </a:solidFill>
            <a:latin typeface="等线" panose="02010600030101010101" pitchFamily="2" charset="-122"/>
            <a:ea typeface="等线" panose="02010600030101010101" pitchFamily="2" charset="-122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不开电脑也能了解情况</a:t>
          </a:r>
        </a:p>
      </dsp:txBody>
      <dsp:txXfrm>
        <a:off x="5744803" y="854497"/>
        <a:ext cx="2066467" cy="1811380"/>
      </dsp:txXfrm>
    </dsp:sp>
    <dsp:sp modelId="{A61F5D05-7D1D-4480-ACD4-3DC773BA9958}">
      <dsp:nvSpPr>
        <dsp:cNvPr id="0" name=""/>
        <dsp:cNvSpPr/>
      </dsp:nvSpPr>
      <dsp:spPr>
        <a:xfrm>
          <a:off x="7421372" y="2083"/>
          <a:ext cx="389899" cy="389899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384477-6962-4E46-AADF-0EB48306A3EF}">
      <dsp:nvSpPr>
        <dsp:cNvPr id="0" name=""/>
        <dsp:cNvSpPr/>
      </dsp:nvSpPr>
      <dsp:spPr>
        <a:xfrm rot="5400000">
          <a:off x="8504183" y="-455393"/>
          <a:ext cx="1375583" cy="2288940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1C8723-5ABE-4E5E-90F1-F9965CB7139E}">
      <dsp:nvSpPr>
        <dsp:cNvPr id="0" name=""/>
        <dsp:cNvSpPr/>
      </dsp:nvSpPr>
      <dsp:spPr bwMode="white">
        <a:xfrm>
          <a:off x="8274564" y="228506"/>
          <a:ext cx="2066467" cy="1811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新人上手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zh-CN" altLang="en-US" sz="1600" kern="12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rPr>
            <a:t>不依赖个人经验也能处理常见故障</a:t>
          </a:r>
        </a:p>
      </dsp:txBody>
      <dsp:txXfrm>
        <a:off x="8274564" y="228506"/>
        <a:ext cx="2066467" cy="18113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#1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bkpt" val="fixed"/>
          <dgm:param type="bkPtFixedVal" val="1"/>
          <dgm:param type="off" val="off"/>
          <dgm:param type="grDir" val="bL"/>
          <dgm:param type="flowDir" val="row"/>
        </dgm:alg>
      </dgm:if>
      <dgm:else name="Name2">
        <dgm:alg type="snake">
          <dgm:param type="bkpt" val="fixed"/>
          <dgm:param type="bkPtFixedVal" val="1"/>
          <dgm:param type="off" val="off"/>
          <dgm:param type="grDir" val="bR"/>
          <dgm:param type="flowDir" val="row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1DA501-C129-E241-A9DF-ABF70E225816}" type="datetimeFigureOut">
              <a:rPr lang="zh-CN" altLang="en-US"/>
              <a:t>2026/5/21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6A101E-AA81-E444-A5CF-E1E887FBFEAC}" type="slidenum">
              <a:rPr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90204" pitchFamily="34" charset="0"/>
              </a:defRPr>
            </a:lvl1pPr>
          </a:lstStyle>
          <a:p>
            <a:fld id="{0B25AC41-3BEC-9247-8322-91B80C013F2D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90204" pitchFamily="34" charset="0"/>
              </a:defRPr>
            </a:lvl1pPr>
          </a:lstStyle>
          <a:p>
            <a:fld id="{69C3F2ED-74C5-7D4F-8560-0CC253E9A43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1pPr>
    <a:lvl2pPr marL="6096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2pPr>
    <a:lvl3pPr marL="12192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3pPr>
    <a:lvl4pPr marL="18288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4pPr>
    <a:lvl5pPr marL="2438400" algn="l" defTabSz="609600" rtl="0" eaLnBrk="1" latinLnBrk="0" hangingPunct="1">
      <a:defRPr sz="1600" b="0" i="0" kern="1200">
        <a:solidFill>
          <a:schemeClr val="tx1"/>
        </a:solidFill>
        <a:latin typeface="Arial" panose="020B0604020202090204" pitchFamily="34" charset="0"/>
        <a:ea typeface="+mn-ea"/>
        <a:cs typeface="+mn-cs"/>
      </a:defRPr>
    </a:lvl5pPr>
    <a:lvl6pPr marL="30480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6096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EE9EE-7D3E-5F9C-884B-E4E843362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06D079-CD37-05A1-AAD4-498773E13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1A2B97-4991-030C-C9A1-A778557A2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77353F-9595-6386-C974-E7D0EA647A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61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F5EB-71EC-5FBE-65E6-F8F5D6775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DDB3DAD-1762-08F2-B166-769E0B1427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9F0026B-B116-3FF6-CDDE-551DABCB2F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en-US" altLang="zh-CN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2A6D0A-6AED-353D-FF0E-0E5E072A6C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2479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C6DFC-3DF0-9471-82AD-9C9C0337D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7CA4B4-FB64-F19A-D77B-114EAD6374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9FBE9D8-8C9C-B6D6-EC84-0BBB81D69B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CE92CF6-56AB-4638-AB8E-432FCF451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564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76226-E236-19A9-4B3C-3623E63D3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625986B-49CA-D89C-A365-EEDC167C58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2A11688-AADF-F1FC-3F0D-DC5F218E26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6DCA06-08D7-D915-A673-534535AFF2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616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8A637-0922-2ED6-1DE6-D1BFC87D4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282CE4E-4522-A1D7-521A-7EA643DC29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73F7764-C984-F283-5167-28F515DA98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CC2155B-84D7-E147-5636-9CBEFEBE5E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568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6019-8A4B-E6D7-BB98-C8AB32A11D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D8829B-D30C-6CA1-6D1C-5866670839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E8A4C0-5EA9-8435-44F8-C1E79EBBAD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53383B7-E3FC-39B9-A8E4-30AEDAEDAD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944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B3B2D-1028-530E-4CD0-749C72406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A6B6C8B-3DDB-68DF-A452-73B38B852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C365B0-61CA-66A2-A2F9-43D6B62C1C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359189-4A52-FA4E-8449-B73BEBABE9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4396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02495-11E4-46A5-A48F-0F4D59A46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A20AA51-F56E-423C-73B3-98AD8491C4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A89FCE-D1C7-F62B-5F2C-6943DE141C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25B385E-BFDF-FA61-1ADE-BF9212D1F9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3529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C7607-2877-BF8A-A381-1303E5811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6E600D-1EEA-74FD-2CC3-FAC2FB2F1A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7D172F9-DF4C-A4F4-5FFD-0076E76AC7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6FB0382-263A-1B6A-08D7-2552A4A57B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97895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18420-E1F3-1556-9E7A-0565BA104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8052A26-203C-F280-E5DC-B1474CAFBC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C82CC30-5C70-5793-D7C7-437295E8D2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66394D3-C4AF-45DB-08A3-66A7166B3B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1262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C83FA-0A08-9675-64D9-B19B15257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99A6DA-C1E7-B0B8-8B26-15AA18715C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180E66-ECAA-EF83-45E0-8296E2DC89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0F2C71C-753C-DD97-30A3-56F04213EC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8258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E78AC-2D40-4733-FE52-273ED539A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B0DCA45-A10E-A7D5-3BC0-9982D2B107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8C0890-EC5D-29E0-EB09-8775091B7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3ED8E28-D109-0C72-DF07-08BC9DB3EE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976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1AB5B-54CA-3C22-B449-E6228FE04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20C4D0-1282-EA3A-0D1E-AB55CBDDED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2300C0-B519-8063-D16B-698484F6F2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BF4C12-4AFC-7A0F-7570-2636E7BB1C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078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0130E-0BD8-035A-534D-E59FA0BB8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F832748-2068-21F5-BF87-77BF604BA3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B6E9F9C-F03B-EE00-3198-5DC75FC6D9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4F9D8A9-0287-61A6-70A9-2DF974EC7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8282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4B6DD-D800-02E4-91A8-6E39B8485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FF6568E-8E09-8032-0624-AEE034BF3A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216D209-68F8-161E-4962-D829939996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0DE411-98AF-6CC7-20D1-9BFD4BD7E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81916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16DA0-9171-9331-7BB9-F431E7D02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F946629-5E1E-5C3E-2001-ACDB91285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1FFA58D-BD8F-1005-3EEC-8720350166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1" lang="zh-CN" altLang="en-US" sz="12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76BCC28-6495-F205-FBCF-164FFAE281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0618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CPU </a:t>
            </a:r>
            <a:r>
              <a:rPr lang="zh-CN" altLang="en-US" dirty="0"/>
              <a:t>转 </a:t>
            </a:r>
            <a:r>
              <a:rPr lang="en-US" altLang="zh-CN" dirty="0"/>
              <a:t>GPU </a:t>
            </a:r>
            <a:r>
              <a:rPr lang="zh-CN" altLang="en-US" dirty="0"/>
              <a:t>，测试下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F79A0-9482-636D-462E-0E932D893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16E6114-2AF7-099A-A9D9-665B7E8DB8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B4CE707-007E-F741-56C5-B6FE97CE6E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6096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1" lang="zh-CN" altLang="en-US" sz="12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加一张数据的来源，以前这个前置条件，要开什么服务？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9EDAD3-8BD5-3446-483D-7C05473FB1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C3F2ED-74C5-7D4F-8560-0CC253E9A43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265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9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1 h 6858000"/>
              <a:gd name="connsiteX3" fmla="*/ 3583870 w 12192000"/>
              <a:gd name="connsiteY3" fmla="*/ 1 h 6858000"/>
              <a:gd name="connsiteX4" fmla="*/ 3789708 w 12192000"/>
              <a:gd name="connsiteY4" fmla="*/ 161757 h 6858000"/>
              <a:gd name="connsiteX5" fmla="*/ 10115551 w 12192000"/>
              <a:gd name="connsiteY5" fmla="*/ 2262189 h 6858000"/>
              <a:gd name="connsiteX6" fmla="*/ 11856660 w 12192000"/>
              <a:gd name="connsiteY6" fmla="*/ 2119509 h 6858000"/>
              <a:gd name="connsiteX7" fmla="*/ 12192000 w 12192000"/>
              <a:gd name="connsiteY7" fmla="*/ 2056900 h 6858000"/>
              <a:gd name="connsiteX8" fmla="*/ 12192000 w 12192000"/>
              <a:gd name="connsiteY8" fmla="*/ 6858000 h 6858000"/>
              <a:gd name="connsiteX9" fmla="*/ 9103276 w 12192000"/>
              <a:gd name="connsiteY9" fmla="*/ 6858000 h 6858000"/>
              <a:gd name="connsiteX10" fmla="*/ 9057407 w 12192000"/>
              <a:gd name="connsiteY10" fmla="*/ 6828593 h 6858000"/>
              <a:gd name="connsiteX11" fmla="*/ 3575053 w 12192000"/>
              <a:gd name="connsiteY11" fmla="*/ 5297941 h 6858000"/>
              <a:gd name="connsiteX12" fmla="*/ 598 w 12192000"/>
              <a:gd name="connsiteY12" fmla="*/ 5917439 h 6858000"/>
              <a:gd name="connsiteX13" fmla="*/ 0 w 12192000"/>
              <a:gd name="connsiteY13" fmla="*/ 59176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3583870" y="1"/>
                </a:lnTo>
                <a:lnTo>
                  <a:pt x="3789708" y="161757"/>
                </a:lnTo>
                <a:cubicBezTo>
                  <a:pt x="5553694" y="1480962"/>
                  <a:pt x="7743390" y="2262189"/>
                  <a:pt x="10115551" y="2262189"/>
                </a:cubicBezTo>
                <a:cubicBezTo>
                  <a:pt x="10708592" y="2262189"/>
                  <a:pt x="11290228" y="2213362"/>
                  <a:pt x="11856660" y="2119509"/>
                </a:cubicBezTo>
                <a:lnTo>
                  <a:pt x="12192000" y="2056900"/>
                </a:lnTo>
                <a:lnTo>
                  <a:pt x="12192000" y="6858000"/>
                </a:lnTo>
                <a:lnTo>
                  <a:pt x="9103276" y="6858000"/>
                </a:lnTo>
                <a:lnTo>
                  <a:pt x="9057407" y="6828593"/>
                </a:lnTo>
                <a:cubicBezTo>
                  <a:pt x="7458840" y="5857280"/>
                  <a:pt x="5582266" y="5297941"/>
                  <a:pt x="3575053" y="5297941"/>
                </a:cubicBezTo>
                <a:cubicBezTo>
                  <a:pt x="2320544" y="5297941"/>
                  <a:pt x="1117066" y="5516433"/>
                  <a:pt x="598" y="5917439"/>
                </a:cubicBezTo>
                <a:lnTo>
                  <a:pt x="0" y="5917665"/>
                </a:lnTo>
                <a:close/>
              </a:path>
            </a:pathLst>
          </a:custGeom>
          <a:gradFill>
            <a:gsLst>
              <a:gs pos="0">
                <a:srgbClr val="EB6100"/>
              </a:gs>
              <a:gs pos="100000">
                <a:srgbClr val="FFBD5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>
              <a:latin typeface="Arial" panose="020B0604020202090204" pitchFamily="34" charset="0"/>
              <a:cs typeface="+mn-ea"/>
              <a:sym typeface="+mn-lt"/>
            </a:endParaRPr>
          </a:p>
        </p:txBody>
      </p:sp>
      <p:sp>
        <p:nvSpPr>
          <p:cNvPr id="6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1323632" y="5658221"/>
            <a:ext cx="4910667" cy="396000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 baseline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Presenter, Team</a:t>
            </a:r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323632" y="6115422"/>
            <a:ext cx="4910667" cy="396000"/>
          </a:xfrm>
        </p:spPr>
        <p:txBody>
          <a:bodyPr>
            <a:normAutofit/>
          </a:bodyPr>
          <a:lstStyle>
            <a:lvl1pPr marL="0" indent="0" algn="l">
              <a:buNone/>
              <a:defRPr sz="1800" b="0" i="0" baseline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Date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2" hasCustomPrompt="1"/>
          </p:nvPr>
        </p:nvSpPr>
        <p:spPr>
          <a:xfrm>
            <a:off x="1323632" y="2470087"/>
            <a:ext cx="9766651" cy="1261087"/>
          </a:xfrm>
        </p:spPr>
        <p:txBody>
          <a:bodyPr>
            <a:noAutofit/>
          </a:bodyPr>
          <a:lstStyle>
            <a:lvl1pPr marL="0" indent="0" algn="l">
              <a:buNone/>
              <a:defRPr sz="4800" b="1" i="0" baseline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323632" y="3738922"/>
            <a:ext cx="8055443" cy="650465"/>
          </a:xfrm>
        </p:spPr>
        <p:txBody>
          <a:bodyPr/>
          <a:lstStyle>
            <a:lvl1pPr marL="0" indent="0" algn="l">
              <a:buNone/>
              <a:defRPr b="0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9778" y="274766"/>
            <a:ext cx="1513867" cy="538383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9075" y="372727"/>
            <a:ext cx="2447495" cy="3713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同心圆 22"/>
          <p:cNvSpPr/>
          <p:nvPr userDrawn="1"/>
        </p:nvSpPr>
        <p:spPr>
          <a:xfrm>
            <a:off x="-2413330" y="-217716"/>
            <a:ext cx="7286172" cy="7286172"/>
          </a:xfrm>
          <a:prstGeom prst="donut">
            <a:avLst>
              <a:gd name="adj" fmla="val 25334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8" name="任意多边形: 形状 7"/>
          <p:cNvSpPr/>
          <p:nvPr userDrawn="1"/>
        </p:nvSpPr>
        <p:spPr>
          <a:xfrm rot="10800000">
            <a:off x="10030995" y="-21873"/>
            <a:ext cx="2161004" cy="2161004"/>
          </a:xfrm>
          <a:custGeom>
            <a:avLst/>
            <a:gdLst>
              <a:gd name="connsiteX0" fmla="*/ 0 w 2901919"/>
              <a:gd name="connsiteY0" fmla="*/ 0 h 2901919"/>
              <a:gd name="connsiteX1" fmla="*/ 2901919 w 2901919"/>
              <a:gd name="connsiteY1" fmla="*/ 2901919 h 2901919"/>
              <a:gd name="connsiteX2" fmla="*/ 1460665 w 2901919"/>
              <a:gd name="connsiteY2" fmla="*/ 2901919 h 2901919"/>
              <a:gd name="connsiteX3" fmla="*/ 0 w 2901919"/>
              <a:gd name="connsiteY3" fmla="*/ 1441254 h 2901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01919" h="2901919">
                <a:moveTo>
                  <a:pt x="0" y="0"/>
                </a:moveTo>
                <a:cubicBezTo>
                  <a:pt x="1602686" y="0"/>
                  <a:pt x="2901919" y="1299233"/>
                  <a:pt x="2901919" y="2901919"/>
                </a:cubicBezTo>
                <a:lnTo>
                  <a:pt x="1460665" y="2901919"/>
                </a:lnTo>
                <a:cubicBezTo>
                  <a:pt x="1460665" y="2095216"/>
                  <a:pt x="806703" y="1441254"/>
                  <a:pt x="0" y="1441254"/>
                </a:cubicBezTo>
                <a:close/>
              </a:path>
            </a:pathLst>
          </a:cu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142" y="6225265"/>
            <a:ext cx="1100572" cy="3914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alphaModFix amt="10000"/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659370" y="0"/>
            <a:ext cx="8532630" cy="6858000"/>
          </a:xfrm>
          <a:prstGeom prst="rect">
            <a:avLst/>
          </a:prstGeom>
        </p:spPr>
      </p:pic>
      <p:sp>
        <p:nvSpPr>
          <p:cNvPr id="6" name="标题 5"/>
          <p:cNvSpPr>
            <a:spLocks noGrp="1"/>
          </p:cNvSpPr>
          <p:nvPr>
            <p:ph type="title" hasCustomPrompt="1"/>
          </p:nvPr>
        </p:nvSpPr>
        <p:spPr>
          <a:xfrm>
            <a:off x="1829685" y="1656816"/>
            <a:ext cx="8532630" cy="877663"/>
          </a:xfr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kumimoji="1" lang="en-US" altLang="zh-CN" dirty="0"/>
              <a:t>Summary</a:t>
            </a:r>
            <a:endParaRPr kumimoji="1"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1829685" y="2743199"/>
            <a:ext cx="8532630" cy="2564297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Amazon Elastic Container Service (ECS) and Amazon Elastic Container Registry (ECR) are now available in the China (Ningxia) region operated by Ningxia Western Cloud Data Technology Co. Ltd. (NWCD).</a:t>
            </a:r>
          </a:p>
          <a:p>
            <a:pPr lvl="0"/>
            <a:r>
              <a:rPr kumimoji="1" lang="en-US" altLang="zh-CN" dirty="0"/>
              <a:t>Amazon ECS and Amazon ECR are available in the AWS China (Ningxia) region operated by NWCD.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o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游戏机, 桌子, 蛋糕, 电脑&#10;&#10;描述已自动生成"/>
          <p:cNvPicPr>
            <a:picLocks noChangeAspect="1"/>
          </p:cNvPicPr>
          <p:nvPr userDrawn="1"/>
        </p:nvPicPr>
        <p:blipFill>
          <a:blip r:embed="rId2">
            <a:alphaModFix amt="35000"/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12334" y="3285811"/>
            <a:ext cx="11679665" cy="3572189"/>
          </a:xfrm>
          <a:prstGeom prst="rect">
            <a:avLst/>
          </a:prstGeom>
        </p:spPr>
      </p:pic>
      <p:sp>
        <p:nvSpPr>
          <p:cNvPr id="35" name="Shape"/>
          <p:cNvSpPr/>
          <p:nvPr userDrawn="1"/>
        </p:nvSpPr>
        <p:spPr>
          <a:xfrm>
            <a:off x="0" y="0"/>
            <a:ext cx="4699000" cy="685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9"/>
                </a:moveTo>
                <a:lnTo>
                  <a:pt x="0" y="21600"/>
                </a:lnTo>
                <a:lnTo>
                  <a:pt x="10648" y="21600"/>
                </a:lnTo>
                <a:lnTo>
                  <a:pt x="21600" y="0"/>
                </a:lnTo>
                <a:lnTo>
                  <a:pt x="0" y="19"/>
                </a:lnTo>
                <a:close/>
              </a:path>
            </a:pathLst>
          </a:custGeom>
          <a:gradFill>
            <a:gsLst>
              <a:gs pos="0">
                <a:srgbClr val="FFBD50"/>
              </a:gs>
              <a:gs pos="86000">
                <a:srgbClr val="EB61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endParaRPr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4699000" y="2610453"/>
            <a:ext cx="6257925" cy="1147630"/>
          </a:xfrm>
        </p:spPr>
        <p:txBody>
          <a:bodyPr>
            <a:normAutofit/>
          </a:bodyPr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Chapter Topics</a:t>
            </a:r>
            <a:endParaRPr kumimoji="1" lang="zh-CN" altLang="en-US" dirty="0"/>
          </a:p>
        </p:txBody>
      </p:sp>
      <p:sp>
        <p:nvSpPr>
          <p:cNvPr id="42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4698999" y="3809823"/>
            <a:ext cx="6257925" cy="625033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Subheading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7141" y="383143"/>
            <a:ext cx="1100572" cy="3896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8A87A34-81AB-432B-8DAE-1953F412C126}" type="datetimeFigureOut">
              <a:rPr lang="en-US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477193" y="6227064"/>
            <a:ext cx="808506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D22F896-40B5-4ADD-8801-0D06FADFA09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Only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Two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22247" y="1247400"/>
            <a:ext cx="5148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内容占位符 3"/>
          <p:cNvSpPr>
            <a:spLocks noGrp="1"/>
          </p:cNvSpPr>
          <p:nvPr>
            <p:ph sz="quarter" idx="11"/>
          </p:nvPr>
        </p:nvSpPr>
        <p:spPr>
          <a:xfrm>
            <a:off x="6227299" y="1247400"/>
            <a:ext cx="5148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Three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22247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内容占位符 3"/>
          <p:cNvSpPr>
            <a:spLocks noGrp="1"/>
          </p:cNvSpPr>
          <p:nvPr>
            <p:ph sz="quarter" idx="11"/>
          </p:nvPr>
        </p:nvSpPr>
        <p:spPr>
          <a:xfrm>
            <a:off x="4445852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内容占位符 3"/>
          <p:cNvSpPr>
            <a:spLocks noGrp="1"/>
          </p:cNvSpPr>
          <p:nvPr>
            <p:ph sz="quarter" idx="12"/>
          </p:nvPr>
        </p:nvSpPr>
        <p:spPr>
          <a:xfrm>
            <a:off x="7969457" y="1247400"/>
            <a:ext cx="3420000" cy="4363200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ster 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游戏机&#10;&#10;描述已自动生成"/>
          <p:cNvPicPr>
            <a:picLocks noChangeAspect="1"/>
          </p:cNvPicPr>
          <p:nvPr userDrawn="1"/>
        </p:nvPicPr>
        <p:blipFill rotWithShape="1">
          <a:blip r:embed="rId2">
            <a:alphaModFix amt="10000"/>
            <a:grayscl/>
          </a:blip>
          <a:srcRect l="12152"/>
          <a:stretch>
            <a:fillRect/>
          </a:stretch>
        </p:blipFill>
        <p:spPr>
          <a:xfrm>
            <a:off x="0" y="4606748"/>
            <a:ext cx="10710440" cy="2222500"/>
          </a:xfrm>
          <a:prstGeom prst="rect">
            <a:avLst/>
          </a:prstGeom>
        </p:spPr>
      </p:pic>
      <p:sp>
        <p:nvSpPr>
          <p:cNvPr id="7" name="矩形 3"/>
          <p:cNvSpPr/>
          <p:nvPr userDrawn="1"/>
        </p:nvSpPr>
        <p:spPr>
          <a:xfrm flipH="1">
            <a:off x="4471026" y="0"/>
            <a:ext cx="7778849" cy="6913418"/>
          </a:xfrm>
          <a:custGeom>
            <a:avLst/>
            <a:gdLst>
              <a:gd name="connsiteX0" fmla="*/ 0 w 5410200"/>
              <a:gd name="connsiteY0" fmla="*/ 0 h 6858000"/>
              <a:gd name="connsiteX1" fmla="*/ 5410200 w 5410200"/>
              <a:gd name="connsiteY1" fmla="*/ 0 h 6858000"/>
              <a:gd name="connsiteX2" fmla="*/ 5410200 w 5410200"/>
              <a:gd name="connsiteY2" fmla="*/ 6858000 h 6858000"/>
              <a:gd name="connsiteX3" fmla="*/ 0 w 5410200"/>
              <a:gd name="connsiteY3" fmla="*/ 6858000 h 6858000"/>
              <a:gd name="connsiteX4" fmla="*/ 0 w 5410200"/>
              <a:gd name="connsiteY4" fmla="*/ 0 h 6858000"/>
              <a:gd name="connsiteX0-1" fmla="*/ 2286000 w 7696200"/>
              <a:gd name="connsiteY0-2" fmla="*/ 0 h 6896100"/>
              <a:gd name="connsiteX1-3" fmla="*/ 7696200 w 7696200"/>
              <a:gd name="connsiteY1-4" fmla="*/ 0 h 6896100"/>
              <a:gd name="connsiteX2-5" fmla="*/ 7696200 w 7696200"/>
              <a:gd name="connsiteY2-6" fmla="*/ 6858000 h 6896100"/>
              <a:gd name="connsiteX3-7" fmla="*/ 0 w 7696200"/>
              <a:gd name="connsiteY3-8" fmla="*/ 6896100 h 6896100"/>
              <a:gd name="connsiteX4-9" fmla="*/ 2286000 w 7696200"/>
              <a:gd name="connsiteY4-10" fmla="*/ 0 h 6896100"/>
              <a:gd name="connsiteX0-11" fmla="*/ 2272352 w 7682552"/>
              <a:gd name="connsiteY0-12" fmla="*/ 0 h 6882452"/>
              <a:gd name="connsiteX1-13" fmla="*/ 7682552 w 7682552"/>
              <a:gd name="connsiteY1-14" fmla="*/ 0 h 6882452"/>
              <a:gd name="connsiteX2-15" fmla="*/ 7682552 w 7682552"/>
              <a:gd name="connsiteY2-16" fmla="*/ 6858000 h 6882452"/>
              <a:gd name="connsiteX3-17" fmla="*/ 0 w 7682552"/>
              <a:gd name="connsiteY3-18" fmla="*/ 6882452 h 6882452"/>
              <a:gd name="connsiteX4-19" fmla="*/ 2272352 w 7682552"/>
              <a:gd name="connsiteY4-20" fmla="*/ 0 h 6882452"/>
              <a:gd name="connsiteX0-21" fmla="*/ 2231408 w 7641608"/>
              <a:gd name="connsiteY0-22" fmla="*/ 0 h 6868804"/>
              <a:gd name="connsiteX1-23" fmla="*/ 7641608 w 7641608"/>
              <a:gd name="connsiteY1-24" fmla="*/ 0 h 6868804"/>
              <a:gd name="connsiteX2-25" fmla="*/ 7641608 w 7641608"/>
              <a:gd name="connsiteY2-26" fmla="*/ 6858000 h 6868804"/>
              <a:gd name="connsiteX3-27" fmla="*/ 0 w 7641608"/>
              <a:gd name="connsiteY3-28" fmla="*/ 6868804 h 6868804"/>
              <a:gd name="connsiteX4-29" fmla="*/ 2231408 w 7641608"/>
              <a:gd name="connsiteY4-30" fmla="*/ 0 h 6868804"/>
              <a:gd name="connsiteX0-31" fmla="*/ 2231408 w 7641608"/>
              <a:gd name="connsiteY0-32" fmla="*/ 0 h 6868804"/>
              <a:gd name="connsiteX1-33" fmla="*/ 7641608 w 7641608"/>
              <a:gd name="connsiteY1-34" fmla="*/ 0 h 6868804"/>
              <a:gd name="connsiteX2-35" fmla="*/ 7641608 w 7641608"/>
              <a:gd name="connsiteY2-36" fmla="*/ 6858000 h 6868804"/>
              <a:gd name="connsiteX3-37" fmla="*/ 0 w 7641608"/>
              <a:gd name="connsiteY3-38" fmla="*/ 6868804 h 6868804"/>
              <a:gd name="connsiteX4-39" fmla="*/ 2231408 w 7641608"/>
              <a:gd name="connsiteY4-40" fmla="*/ 0 h 6868804"/>
              <a:gd name="connsiteX0-41" fmla="*/ 2272064 w 7682264"/>
              <a:gd name="connsiteY0-42" fmla="*/ 0 h 6868804"/>
              <a:gd name="connsiteX1-43" fmla="*/ 7682264 w 7682264"/>
              <a:gd name="connsiteY1-44" fmla="*/ 0 h 6868804"/>
              <a:gd name="connsiteX2-45" fmla="*/ 7682264 w 7682264"/>
              <a:gd name="connsiteY2-46" fmla="*/ 6858000 h 6868804"/>
              <a:gd name="connsiteX3-47" fmla="*/ 40656 w 7682264"/>
              <a:gd name="connsiteY3-48" fmla="*/ 6868804 h 6868804"/>
              <a:gd name="connsiteX4-49" fmla="*/ 2272064 w 7682264"/>
              <a:gd name="connsiteY4-50" fmla="*/ 0 h 6868804"/>
              <a:gd name="connsiteX0-51" fmla="*/ 2272064 w 7682264"/>
              <a:gd name="connsiteY0-52" fmla="*/ 0 h 6868804"/>
              <a:gd name="connsiteX1-53" fmla="*/ 7682264 w 7682264"/>
              <a:gd name="connsiteY1-54" fmla="*/ 0 h 6868804"/>
              <a:gd name="connsiteX2-55" fmla="*/ 7682264 w 7682264"/>
              <a:gd name="connsiteY2-56" fmla="*/ 6858000 h 6868804"/>
              <a:gd name="connsiteX3-57" fmla="*/ 40656 w 7682264"/>
              <a:gd name="connsiteY3-58" fmla="*/ 6868804 h 6868804"/>
              <a:gd name="connsiteX4-59" fmla="*/ 2272064 w 7682264"/>
              <a:gd name="connsiteY4-60" fmla="*/ 0 h 6868804"/>
              <a:gd name="connsiteX0-61" fmla="*/ 2272064 w 7682264"/>
              <a:gd name="connsiteY0-62" fmla="*/ 0 h 6868804"/>
              <a:gd name="connsiteX1-63" fmla="*/ 6907408 w 7682264"/>
              <a:gd name="connsiteY1-64" fmla="*/ 0 h 6868804"/>
              <a:gd name="connsiteX2-65" fmla="*/ 7682264 w 7682264"/>
              <a:gd name="connsiteY2-66" fmla="*/ 6858000 h 6868804"/>
              <a:gd name="connsiteX3-67" fmla="*/ 40656 w 7682264"/>
              <a:gd name="connsiteY3-68" fmla="*/ 6868804 h 6868804"/>
              <a:gd name="connsiteX4-69" fmla="*/ 2272064 w 7682264"/>
              <a:gd name="connsiteY4-70" fmla="*/ 0 h 6868804"/>
              <a:gd name="connsiteX0-71" fmla="*/ 2272064 w 7682264"/>
              <a:gd name="connsiteY0-72" fmla="*/ 0 h 6868804"/>
              <a:gd name="connsiteX1-73" fmla="*/ 6907408 w 7682264"/>
              <a:gd name="connsiteY1-74" fmla="*/ 0 h 6868804"/>
              <a:gd name="connsiteX2-75" fmla="*/ 7682264 w 7682264"/>
              <a:gd name="connsiteY2-76" fmla="*/ 6858000 h 6868804"/>
              <a:gd name="connsiteX3-77" fmla="*/ 40656 w 7682264"/>
              <a:gd name="connsiteY3-78" fmla="*/ 6868804 h 6868804"/>
              <a:gd name="connsiteX4-79" fmla="*/ 2272064 w 7682264"/>
              <a:gd name="connsiteY4-80" fmla="*/ 0 h 6868804"/>
              <a:gd name="connsiteX0-81" fmla="*/ 2272064 w 7682264"/>
              <a:gd name="connsiteY0-82" fmla="*/ 0 h 6868804"/>
              <a:gd name="connsiteX1-83" fmla="*/ 6907408 w 7682264"/>
              <a:gd name="connsiteY1-84" fmla="*/ 0 h 6868804"/>
              <a:gd name="connsiteX2-85" fmla="*/ 7682264 w 7682264"/>
              <a:gd name="connsiteY2-86" fmla="*/ 6858000 h 6868804"/>
              <a:gd name="connsiteX3-87" fmla="*/ 40656 w 7682264"/>
              <a:gd name="connsiteY3-88" fmla="*/ 6868804 h 6868804"/>
              <a:gd name="connsiteX4-89" fmla="*/ 2272064 w 7682264"/>
              <a:gd name="connsiteY4-90" fmla="*/ 0 h 6868804"/>
              <a:gd name="connsiteX0-91" fmla="*/ 2272064 w 6907408"/>
              <a:gd name="connsiteY0-92" fmla="*/ 0 h 6885709"/>
              <a:gd name="connsiteX1-93" fmla="*/ 6907408 w 6907408"/>
              <a:gd name="connsiteY1-94" fmla="*/ 0 h 6885709"/>
              <a:gd name="connsiteX2-95" fmla="*/ 5591615 w 6907408"/>
              <a:gd name="connsiteY2-96" fmla="*/ 6885709 h 6885709"/>
              <a:gd name="connsiteX3-97" fmla="*/ 40656 w 6907408"/>
              <a:gd name="connsiteY3-98" fmla="*/ 6868804 h 6885709"/>
              <a:gd name="connsiteX4-99" fmla="*/ 2272064 w 6907408"/>
              <a:gd name="connsiteY4-100" fmla="*/ 0 h 6885709"/>
              <a:gd name="connsiteX0-101" fmla="*/ 2272064 w 8208580"/>
              <a:gd name="connsiteY0-102" fmla="*/ 0 h 6913418"/>
              <a:gd name="connsiteX1-103" fmla="*/ 6907408 w 8208580"/>
              <a:gd name="connsiteY1-104" fmla="*/ 0 h 6913418"/>
              <a:gd name="connsiteX2-105" fmla="*/ 8208580 w 8208580"/>
              <a:gd name="connsiteY2-106" fmla="*/ 6913418 h 6913418"/>
              <a:gd name="connsiteX3-107" fmla="*/ 40656 w 8208580"/>
              <a:gd name="connsiteY3-108" fmla="*/ 6868804 h 6913418"/>
              <a:gd name="connsiteX4-109" fmla="*/ 2272064 w 8208580"/>
              <a:gd name="connsiteY4-110" fmla="*/ 0 h 6913418"/>
              <a:gd name="connsiteX0-111" fmla="*/ 2272064 w 8208580"/>
              <a:gd name="connsiteY0-112" fmla="*/ 0 h 6913418"/>
              <a:gd name="connsiteX1-113" fmla="*/ 6907408 w 8208580"/>
              <a:gd name="connsiteY1-114" fmla="*/ 0 h 6913418"/>
              <a:gd name="connsiteX2-115" fmla="*/ 8208580 w 8208580"/>
              <a:gd name="connsiteY2-116" fmla="*/ 6913418 h 6913418"/>
              <a:gd name="connsiteX3-117" fmla="*/ 40656 w 8208580"/>
              <a:gd name="connsiteY3-118" fmla="*/ 6868804 h 6913418"/>
              <a:gd name="connsiteX4-119" fmla="*/ 2272064 w 8208580"/>
              <a:gd name="connsiteY4-120" fmla="*/ 0 h 6913418"/>
              <a:gd name="connsiteX0-121" fmla="*/ 2272064 w 8208580"/>
              <a:gd name="connsiteY0-122" fmla="*/ 0 h 6913418"/>
              <a:gd name="connsiteX1-123" fmla="*/ 6907408 w 8208580"/>
              <a:gd name="connsiteY1-124" fmla="*/ 0 h 6913418"/>
              <a:gd name="connsiteX2-125" fmla="*/ 8208580 w 8208580"/>
              <a:gd name="connsiteY2-126" fmla="*/ 6913418 h 6913418"/>
              <a:gd name="connsiteX3-127" fmla="*/ 40656 w 8208580"/>
              <a:gd name="connsiteY3-128" fmla="*/ 6868804 h 6913418"/>
              <a:gd name="connsiteX4-129" fmla="*/ 2272064 w 8208580"/>
              <a:gd name="connsiteY4-130" fmla="*/ 0 h 6913418"/>
              <a:gd name="connsiteX0-131" fmla="*/ 2272064 w 8208580"/>
              <a:gd name="connsiteY0-132" fmla="*/ 0 h 6913418"/>
              <a:gd name="connsiteX1-133" fmla="*/ 6907408 w 8208580"/>
              <a:gd name="connsiteY1-134" fmla="*/ 0 h 6913418"/>
              <a:gd name="connsiteX2-135" fmla="*/ 8208580 w 8208580"/>
              <a:gd name="connsiteY2-136" fmla="*/ 6913418 h 6913418"/>
              <a:gd name="connsiteX3-137" fmla="*/ 40656 w 8208580"/>
              <a:gd name="connsiteY3-138" fmla="*/ 6868804 h 6913418"/>
              <a:gd name="connsiteX4-139" fmla="*/ 2272064 w 8208580"/>
              <a:gd name="connsiteY4-140" fmla="*/ 0 h 691341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8208580" h="6913418">
                <a:moveTo>
                  <a:pt x="2272064" y="0"/>
                </a:moveTo>
                <a:lnTo>
                  <a:pt x="6907408" y="0"/>
                </a:lnTo>
                <a:cubicBezTo>
                  <a:pt x="2667631" y="2521527"/>
                  <a:pt x="2609151" y="6858000"/>
                  <a:pt x="8208580" y="6913418"/>
                </a:cubicBezTo>
                <a:lnTo>
                  <a:pt x="40656" y="6868804"/>
                </a:lnTo>
                <a:cubicBezTo>
                  <a:pt x="-385135" y="3595530"/>
                  <a:pt x="2683235" y="2996183"/>
                  <a:pt x="2272064" y="0"/>
                </a:cubicBezTo>
                <a:close/>
              </a:path>
            </a:pathLst>
          </a:custGeom>
          <a:gradFill>
            <a:gsLst>
              <a:gs pos="0">
                <a:srgbClr val="FFBD50"/>
              </a:gs>
              <a:gs pos="86000">
                <a:srgbClr val="EB6100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lvl="0"/>
            <a:endParaRPr lang="zh-CN" altLang="en-US">
              <a:solidFill>
                <a:schemeClr val="tx1"/>
              </a:solidFill>
              <a:latin typeface="Arial" panose="020B0604020202090204"/>
              <a:cs typeface="Arial" panose="020B0604020202090204"/>
              <a:sym typeface="+mn-lt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786756" y="2404829"/>
            <a:ext cx="6736788" cy="1147630"/>
          </a:xfrm>
        </p:spPr>
        <p:txBody>
          <a:bodyPr>
            <a:normAutofit/>
          </a:bodyPr>
          <a:lstStyle>
            <a:lvl1pPr marL="0" indent="0">
              <a:buNone/>
              <a:defRPr sz="3600" b="1" i="0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Basic Style</a:t>
            </a:r>
            <a:endParaRPr kumimoji="1" lang="zh-CN" altLang="en-US" dirty="0"/>
          </a:p>
        </p:txBody>
      </p:sp>
      <p:sp>
        <p:nvSpPr>
          <p:cNvPr id="42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786755" y="3604199"/>
            <a:ext cx="6736788" cy="625033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>
                    <a:lumMod val="85000"/>
                  </a:schemeClr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Subheading</a:t>
            </a:r>
            <a:endParaRPr kumimoji="1"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755" y="450668"/>
            <a:ext cx="1100572" cy="3896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形状 30"/>
          <p:cNvSpPr/>
          <p:nvPr userDrawn="1"/>
        </p:nvSpPr>
        <p:spPr>
          <a:xfrm rot="16200000">
            <a:off x="6457710" y="1123709"/>
            <a:ext cx="6858000" cy="4610581"/>
          </a:xfrm>
          <a:custGeom>
            <a:avLst/>
            <a:gdLst>
              <a:gd name="connsiteX0" fmla="*/ 6952508 w 6952508"/>
              <a:gd name="connsiteY0" fmla="*/ 1301526 h 5543384"/>
              <a:gd name="connsiteX1" fmla="*/ 6952508 w 6952508"/>
              <a:gd name="connsiteY1" fmla="*/ 5543384 h 5543384"/>
              <a:gd name="connsiteX2" fmla="*/ 0 w 6952508"/>
              <a:gd name="connsiteY2" fmla="*/ 5543383 h 5543384"/>
              <a:gd name="connsiteX3" fmla="*/ 0 w 6952508"/>
              <a:gd name="connsiteY3" fmla="*/ 1387391 h 5543384"/>
              <a:gd name="connsiteX4" fmla="*/ 45920 w 6952508"/>
              <a:gd name="connsiteY4" fmla="*/ 1343611 h 5543384"/>
              <a:gd name="connsiteX5" fmla="*/ 3523506 w 6952508"/>
              <a:gd name="connsiteY5" fmla="*/ 0 h 5543384"/>
              <a:gd name="connsiteX6" fmla="*/ 6813426 w 6952508"/>
              <a:gd name="connsiteY6" fmla="*/ 1181051 h 5543384"/>
              <a:gd name="connsiteX7" fmla="*/ 6952508 w 6952508"/>
              <a:gd name="connsiteY7" fmla="*/ 1301526 h 55433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952508" h="5543384">
                <a:moveTo>
                  <a:pt x="6952508" y="1301526"/>
                </a:moveTo>
                <a:lnTo>
                  <a:pt x="6952508" y="5543384"/>
                </a:lnTo>
                <a:lnTo>
                  <a:pt x="0" y="5543383"/>
                </a:lnTo>
                <a:lnTo>
                  <a:pt x="0" y="1387391"/>
                </a:lnTo>
                <a:lnTo>
                  <a:pt x="45920" y="1343611"/>
                </a:lnTo>
                <a:cubicBezTo>
                  <a:pt x="964414" y="508802"/>
                  <a:pt x="2184542" y="0"/>
                  <a:pt x="3523506" y="0"/>
                </a:cubicBezTo>
                <a:cubicBezTo>
                  <a:pt x="4773207" y="0"/>
                  <a:pt x="5919387" y="443223"/>
                  <a:pt x="6813426" y="1181051"/>
                </a:cubicBezTo>
                <a:lnTo>
                  <a:pt x="6952508" y="1301526"/>
                </a:lnTo>
                <a:close/>
              </a:path>
            </a:pathLst>
          </a:custGeom>
          <a:gradFill>
            <a:gsLst>
              <a:gs pos="1000">
                <a:schemeClr val="accent1"/>
              </a:gs>
              <a:gs pos="99000">
                <a:schemeClr val="accent2"/>
              </a:gs>
            </a:gsLst>
            <a:lin ang="3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38" name="文本占位符 37"/>
          <p:cNvSpPr>
            <a:spLocks noGrp="1"/>
          </p:cNvSpPr>
          <p:nvPr>
            <p:ph type="body" sz="quarter" idx="12" hasCustomPrompt="1"/>
          </p:nvPr>
        </p:nvSpPr>
        <p:spPr>
          <a:xfrm>
            <a:off x="922246" y="1546749"/>
            <a:ext cx="5559575" cy="485775"/>
          </a:xfrm>
        </p:spPr>
        <p:txBody>
          <a:bodyPr>
            <a:noAutofit/>
          </a:bodyPr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</a:lstStyle>
          <a:p>
            <a:pPr lvl="0"/>
            <a:r>
              <a:rPr kumimoji="1" lang="en-US" altLang="zh-CN" dirty="0"/>
              <a:t>Content Title</a:t>
            </a:r>
            <a:endParaRPr kumimoji="1" lang="zh-CN" altLang="en-US" dirty="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247" y="6197695"/>
            <a:ext cx="1100572" cy="3914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Competitors Goals</a:t>
            </a:r>
          </a:p>
        </p:txBody>
      </p:sp>
      <p:sp>
        <p:nvSpPr>
          <p:cNvPr id="5" name="Oval"/>
          <p:cNvSpPr/>
          <p:nvPr userDrawn="1"/>
        </p:nvSpPr>
        <p:spPr>
          <a:xfrm>
            <a:off x="922247" y="1304332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solidFill>
                <a:schemeClr val="lt1"/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6" name="Oval"/>
          <p:cNvSpPr/>
          <p:nvPr userDrawn="1"/>
        </p:nvSpPr>
        <p:spPr>
          <a:xfrm>
            <a:off x="922247" y="3853899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latin typeface="Arial" panose="020B0604020202090204" pitchFamily="34" charset="0"/>
              <a:cs typeface="+mn-ea"/>
            </a:endParaRPr>
          </a:p>
        </p:txBody>
      </p:sp>
      <p:sp>
        <p:nvSpPr>
          <p:cNvPr id="7" name="Oval"/>
          <p:cNvSpPr/>
          <p:nvPr userDrawn="1"/>
        </p:nvSpPr>
        <p:spPr>
          <a:xfrm>
            <a:off x="6474373" y="1304332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solidFill>
                <a:schemeClr val="lt1"/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8" name="Oval"/>
          <p:cNvSpPr/>
          <p:nvPr userDrawn="1"/>
        </p:nvSpPr>
        <p:spPr>
          <a:xfrm>
            <a:off x="6474373" y="3853899"/>
            <a:ext cx="961184" cy="943857"/>
          </a:xfrm>
          <a:prstGeom prst="ellipse">
            <a:avLst/>
          </a:prstGeom>
          <a:gradFill flip="none" rotWithShape="1">
            <a:gsLst>
              <a:gs pos="7000">
                <a:srgbClr val="EB6100"/>
              </a:gs>
              <a:gs pos="100000">
                <a:srgbClr val="FFBD50"/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b="0" i="0">
              <a:solidFill>
                <a:schemeClr val="lt1"/>
              </a:solidFill>
              <a:latin typeface="Arial" panose="020B0604020202090204" pitchFamily="34" charset="0"/>
              <a:cs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8" hasCustomPrompt="1"/>
          </p:nvPr>
        </p:nvSpPr>
        <p:spPr>
          <a:xfrm>
            <a:off x="1005211" y="1304333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1</a:t>
            </a:r>
            <a:endParaRPr kumimoji="1" lang="zh-CN" altLang="en-US" dirty="0"/>
          </a:p>
        </p:txBody>
      </p:sp>
      <p:sp>
        <p:nvSpPr>
          <p:cNvPr id="31" name="文本占位符 3"/>
          <p:cNvSpPr>
            <a:spLocks noGrp="1"/>
          </p:cNvSpPr>
          <p:nvPr>
            <p:ph type="body" sz="quarter" idx="19" hasCustomPrompt="1"/>
          </p:nvPr>
        </p:nvSpPr>
        <p:spPr>
          <a:xfrm>
            <a:off x="1005211" y="3856468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2</a:t>
            </a:r>
            <a:endParaRPr kumimoji="1" lang="zh-CN" altLang="en-US" dirty="0"/>
          </a:p>
        </p:txBody>
      </p:sp>
      <p:sp>
        <p:nvSpPr>
          <p:cNvPr id="32" name="文本占位符 3"/>
          <p:cNvSpPr>
            <a:spLocks noGrp="1"/>
          </p:cNvSpPr>
          <p:nvPr>
            <p:ph type="body" sz="quarter" idx="20" hasCustomPrompt="1"/>
          </p:nvPr>
        </p:nvSpPr>
        <p:spPr>
          <a:xfrm>
            <a:off x="6554399" y="1304333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3</a:t>
            </a:r>
            <a:endParaRPr kumimoji="1" lang="zh-CN" altLang="en-US" dirty="0"/>
          </a:p>
        </p:txBody>
      </p:sp>
      <p:sp>
        <p:nvSpPr>
          <p:cNvPr id="33" name="文本占位符 3"/>
          <p:cNvSpPr>
            <a:spLocks noGrp="1"/>
          </p:cNvSpPr>
          <p:nvPr>
            <p:ph type="body" sz="quarter" idx="21" hasCustomPrompt="1"/>
          </p:nvPr>
        </p:nvSpPr>
        <p:spPr>
          <a:xfrm>
            <a:off x="6550160" y="3853899"/>
            <a:ext cx="801132" cy="943856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pPr lvl="0"/>
            <a:r>
              <a:rPr kumimoji="1" lang="en-US" altLang="zh-CN" dirty="0"/>
              <a:t>4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Process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alys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Competitor Analysis</a:t>
            </a:r>
          </a:p>
        </p:txBody>
      </p:sp>
      <p:sp>
        <p:nvSpPr>
          <p:cNvPr id="7" name="表格占位符 6"/>
          <p:cNvSpPr>
            <a:spLocks noGrp="1"/>
          </p:cNvSpPr>
          <p:nvPr>
            <p:ph type="tbl" sz="quarter" idx="10"/>
          </p:nvPr>
        </p:nvSpPr>
        <p:spPr>
          <a:xfrm>
            <a:off x="922247" y="1139404"/>
            <a:ext cx="10475912" cy="4694238"/>
          </a:xfrm>
        </p:spPr>
        <p:txBody>
          <a:bodyPr/>
          <a:lstStyle/>
          <a:p>
            <a:endParaRPr kumimoji="1"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sitioning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Positioning Map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任意多边形: 形状 9"/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1 h 6858000"/>
              <a:gd name="connsiteX3" fmla="*/ 3583870 w 12192000"/>
              <a:gd name="connsiteY3" fmla="*/ 1 h 6858000"/>
              <a:gd name="connsiteX4" fmla="*/ 3789708 w 12192000"/>
              <a:gd name="connsiteY4" fmla="*/ 161757 h 6858000"/>
              <a:gd name="connsiteX5" fmla="*/ 10115551 w 12192000"/>
              <a:gd name="connsiteY5" fmla="*/ 2262189 h 6858000"/>
              <a:gd name="connsiteX6" fmla="*/ 11856660 w 12192000"/>
              <a:gd name="connsiteY6" fmla="*/ 2119509 h 6858000"/>
              <a:gd name="connsiteX7" fmla="*/ 12192000 w 12192000"/>
              <a:gd name="connsiteY7" fmla="*/ 2056900 h 6858000"/>
              <a:gd name="connsiteX8" fmla="*/ 12192000 w 12192000"/>
              <a:gd name="connsiteY8" fmla="*/ 6858000 h 6858000"/>
              <a:gd name="connsiteX9" fmla="*/ 9103276 w 12192000"/>
              <a:gd name="connsiteY9" fmla="*/ 6858000 h 6858000"/>
              <a:gd name="connsiteX10" fmla="*/ 9057407 w 12192000"/>
              <a:gd name="connsiteY10" fmla="*/ 6828593 h 6858000"/>
              <a:gd name="connsiteX11" fmla="*/ 3575053 w 12192000"/>
              <a:gd name="connsiteY11" fmla="*/ 5297941 h 6858000"/>
              <a:gd name="connsiteX12" fmla="*/ 598 w 12192000"/>
              <a:gd name="connsiteY12" fmla="*/ 5917439 h 6858000"/>
              <a:gd name="connsiteX13" fmla="*/ 0 w 12192000"/>
              <a:gd name="connsiteY13" fmla="*/ 591766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1"/>
                </a:lnTo>
                <a:lnTo>
                  <a:pt x="3583870" y="1"/>
                </a:lnTo>
                <a:lnTo>
                  <a:pt x="3789708" y="161757"/>
                </a:lnTo>
                <a:cubicBezTo>
                  <a:pt x="5553694" y="1480962"/>
                  <a:pt x="7743390" y="2262189"/>
                  <a:pt x="10115551" y="2262189"/>
                </a:cubicBezTo>
                <a:cubicBezTo>
                  <a:pt x="10708592" y="2262189"/>
                  <a:pt x="11290228" y="2213362"/>
                  <a:pt x="11856660" y="2119509"/>
                </a:cubicBezTo>
                <a:lnTo>
                  <a:pt x="12192000" y="2056900"/>
                </a:lnTo>
                <a:lnTo>
                  <a:pt x="12192000" y="6858000"/>
                </a:lnTo>
                <a:lnTo>
                  <a:pt x="9103276" y="6858000"/>
                </a:lnTo>
                <a:lnTo>
                  <a:pt x="9057407" y="6828593"/>
                </a:lnTo>
                <a:cubicBezTo>
                  <a:pt x="7458840" y="5857280"/>
                  <a:pt x="5582266" y="5297941"/>
                  <a:pt x="3575053" y="5297941"/>
                </a:cubicBezTo>
                <a:cubicBezTo>
                  <a:pt x="2320544" y="5297941"/>
                  <a:pt x="1117066" y="5516433"/>
                  <a:pt x="598" y="5917439"/>
                </a:cubicBezTo>
                <a:lnTo>
                  <a:pt x="0" y="5917665"/>
                </a:lnTo>
                <a:close/>
              </a:path>
            </a:pathLst>
          </a:custGeom>
          <a:gradFill>
            <a:gsLst>
              <a:gs pos="0">
                <a:srgbClr val="EB6100"/>
              </a:gs>
              <a:gs pos="100000">
                <a:srgbClr val="FFBD50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0" i="0">
              <a:latin typeface="Arial" panose="020B0604020202090204" pitchFamily="34" charset="0"/>
              <a:cs typeface="+mn-ea"/>
              <a:sym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54269" y="2067775"/>
            <a:ext cx="10363200" cy="1362075"/>
          </a:xfrm>
        </p:spPr>
        <p:txBody>
          <a:bodyPr anchor="ctr">
            <a:noAutofit/>
          </a:bodyPr>
          <a:lstStyle>
            <a:lvl1pPr algn="l">
              <a:defRPr sz="6000" b="1" cap="none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Thanks</a:t>
            </a:r>
            <a:r>
              <a:rPr lang="zh-CN" altLang="en-US" dirty="0"/>
              <a:t>！</a:t>
            </a:r>
            <a:endParaRPr lang="en-US" dirty="0"/>
          </a:p>
        </p:txBody>
      </p:sp>
      <p:sp>
        <p:nvSpPr>
          <p:cNvPr id="3" name="Text Placeholder 11"/>
          <p:cNvSpPr>
            <a:spLocks noGrp="1"/>
          </p:cNvSpPr>
          <p:nvPr>
            <p:ph type="body" sz="quarter" idx="10"/>
          </p:nvPr>
        </p:nvSpPr>
        <p:spPr>
          <a:xfrm>
            <a:off x="650532" y="3429850"/>
            <a:ext cx="4910667" cy="577849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22247" y="317975"/>
            <a:ext cx="10467210" cy="562929"/>
          </a:xfrm>
        </p:spPr>
        <p:txBody>
          <a:bodyPr anchor="ctr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Arial" panose="020B0604020202090204" pitchFamily="34" charset="0"/>
                <a:cs typeface="Arial" panose="020B0604020202090204" pitchFamily="34" charset="0"/>
              </a:defRPr>
            </a:lvl1pPr>
          </a:lstStyle>
          <a:p>
            <a:r>
              <a:rPr lang="en-US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Content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quarter" idx="10"/>
          </p:nvPr>
        </p:nvSpPr>
        <p:spPr>
          <a:xfrm>
            <a:off x="922247" y="1247092"/>
            <a:ext cx="10467210" cy="4363816"/>
          </a:xfrm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  <a:lvl2pPr>
              <a:defRPr>
                <a:solidFill>
                  <a:schemeClr val="bg1">
                    <a:lumMod val="85000"/>
                  </a:schemeClr>
                </a:solidFill>
              </a:defRPr>
            </a:lvl2pPr>
            <a:lvl3pPr>
              <a:defRPr>
                <a:solidFill>
                  <a:schemeClr val="bg1">
                    <a:lumMod val="85000"/>
                  </a:schemeClr>
                </a:solidFill>
              </a:defRPr>
            </a:lvl3pPr>
            <a:lvl4pPr>
              <a:defRPr>
                <a:solidFill>
                  <a:schemeClr val="bg1">
                    <a:lumMod val="85000"/>
                  </a:schemeClr>
                </a:solidFill>
              </a:defRPr>
            </a:lvl4pPr>
            <a:lvl5pPr>
              <a:defRPr>
                <a:solidFill>
                  <a:schemeClr val="bg1">
                    <a:lumMod val="85000"/>
                  </a:schemeClr>
                </a:solidFill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6118723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 altLang="zh-CN" dirty="0"/>
              <a:t>Edit</a:t>
            </a:r>
            <a:r>
              <a:rPr lang="zh-CN" altLang="en-US" dirty="0"/>
              <a:t> </a:t>
            </a:r>
            <a:r>
              <a:rPr lang="en-US" altLang="zh-CN" dirty="0"/>
              <a:t>Title</a:t>
            </a:r>
            <a:r>
              <a:rPr lang="zh-CN" altLang="en-US" dirty="0"/>
              <a:t> </a:t>
            </a:r>
            <a:r>
              <a:rPr lang="en-US" altLang="zh-CN" dirty="0"/>
              <a:t>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48A87A34-81AB-432B-8DAE-1953F412C126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01883" y="6227064"/>
            <a:ext cx="7929267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>
                    <a:tint val="75000"/>
                  </a:schemeClr>
                </a:solidFill>
                <a:latin typeface="Arial" panose="020B0604020202090204" pitchFamily="34" charset="0"/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4142" y="6225265"/>
            <a:ext cx="1100572" cy="391401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316667" y="6233190"/>
            <a:ext cx="2069086" cy="313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Arial" panose="020B060402020209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b="0" i="0" kern="1200">
          <a:solidFill>
            <a:schemeClr val="tx1"/>
          </a:solidFill>
          <a:effectLst/>
          <a:latin typeface="Arial" panose="020B060402020209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6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西云数据 解决方案架构师 陈朋辉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2026-06-02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0" y="2470087"/>
            <a:ext cx="12192000" cy="1261087"/>
          </a:xfrm>
        </p:spPr>
        <p:txBody>
          <a:bodyPr/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自然语言驱动的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运维平台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客户的问题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F30474E-B8D5-D62A-86F3-3C12E035DFC1}"/>
              </a:ext>
            </a:extLst>
          </p:cNvPr>
          <p:cNvSpPr txBox="1"/>
          <p:nvPr/>
        </p:nvSpPr>
        <p:spPr>
          <a:xfrm>
            <a:off x="607736" y="1019796"/>
            <a:ext cx="11346180" cy="9625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某客户迁移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100+ 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微服务到 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 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，大量使用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ECS/ ALB/ Lambda/ RDS/ ElastiCache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等托管服务。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SRE 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团队当前对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服务运维经验不足，希望能快速完成问题定界定位，并逐步积累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运维经验。</a:t>
            </a:r>
            <a:endParaRPr lang="zh-CN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1C1526C-7607-6FF5-D159-0BF5CC941175}"/>
              </a:ext>
            </a:extLst>
          </p:cNvPr>
          <p:cNvSpPr txBox="1"/>
          <p:nvPr/>
        </p:nvSpPr>
        <p:spPr>
          <a:xfrm>
            <a:off x="607736" y="2109293"/>
            <a:ext cx="10714008" cy="154516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运维现状：</a:t>
            </a:r>
            <a:endParaRPr lang="en-US" altLang="zh-CN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主动运维： 每天需要打开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CloudWatch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逐一检查指标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被动运维： 告警触发后，需切换 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CloudWatch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、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Config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等多个控制台，完成定界→定位→修复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D5A534E-B676-9282-F7BE-76B54D209362}"/>
              </a:ext>
            </a:extLst>
          </p:cNvPr>
          <p:cNvSpPr txBox="1"/>
          <p:nvPr/>
        </p:nvSpPr>
        <p:spPr>
          <a:xfrm>
            <a:off x="607736" y="3819552"/>
            <a:ext cx="4074910" cy="1945044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团队现状：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故障处理依赖对</a:t>
            </a:r>
            <a:r>
              <a:rPr lang="en-US" altLang="zh-CN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</a:t>
            </a: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熟悉的工程师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事故经验无法沉淀复用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416F311-E600-3C9A-F1E6-8D578E56DF75}"/>
              </a:ext>
            </a:extLst>
          </p:cNvPr>
          <p:cNvSpPr txBox="1"/>
          <p:nvPr/>
        </p:nvSpPr>
        <p:spPr>
          <a:xfrm>
            <a:off x="5518383" y="3819552"/>
            <a:ext cx="6190141" cy="239206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当前痛点：</a:t>
            </a:r>
            <a:endParaRPr lang="en-US" altLang="zh-CN" b="1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排障需反复切换，上下文频繁丢失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知识在个人脑中，无法传承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指标多但看不懂，缺乏解读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定位耗时长，小时级别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值班不在电脑旁时无法操作</a:t>
            </a:r>
            <a:endParaRPr lang="en-US" altLang="zh-CN" sz="1600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A25B7-2A3C-BFA3-CA18-E50DEEF03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5F1831-D4EA-9EDF-81E9-97EEEB86E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57226"/>
            <a:ext cx="12192000" cy="749808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问题的挑战</a:t>
            </a: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C34895E2-7F07-D17D-BD46-9482CCD0B521}"/>
              </a:ext>
            </a:extLst>
          </p:cNvPr>
          <p:cNvGrpSpPr/>
          <p:nvPr/>
        </p:nvGrpSpPr>
        <p:grpSpPr>
          <a:xfrm>
            <a:off x="1250294" y="1272032"/>
            <a:ext cx="10224156" cy="4407408"/>
            <a:chOff x="1555094" y="1170432"/>
            <a:chExt cx="6217920" cy="4407408"/>
          </a:xfrm>
        </p:grpSpPr>
        <p:sp>
          <p:nvSpPr>
            <p:cNvPr id="34" name="Shape 30">
              <a:extLst>
                <a:ext uri="{FF2B5EF4-FFF2-40B4-BE49-F238E27FC236}">
                  <a16:creationId xmlns:a16="http://schemas.microsoft.com/office/drawing/2014/main" id="{D8AFE664-278A-474E-28D5-27896B540271}"/>
                </a:ext>
              </a:extLst>
            </p:cNvPr>
            <p:cNvSpPr/>
            <p:nvPr/>
          </p:nvSpPr>
          <p:spPr>
            <a:xfrm>
              <a:off x="1555094" y="11704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35" name="Shape 31">
              <a:extLst>
                <a:ext uri="{FF2B5EF4-FFF2-40B4-BE49-F238E27FC236}">
                  <a16:creationId xmlns:a16="http://schemas.microsoft.com/office/drawing/2014/main" id="{1AE7899E-22A3-ECDD-B2C4-FB8B72FD9AB2}"/>
                </a:ext>
              </a:extLst>
            </p:cNvPr>
            <p:cNvSpPr/>
            <p:nvPr/>
          </p:nvSpPr>
          <p:spPr>
            <a:xfrm>
              <a:off x="1760833" y="1258316"/>
              <a:ext cx="365761" cy="585216"/>
            </a:xfrm>
            <a:prstGeom prst="ellipse">
              <a:avLst/>
            </a:prstGeom>
            <a:solidFill>
              <a:srgbClr val="FF9900"/>
            </a:solidFill>
            <a:ln/>
          </p:spPr>
          <p:txBody>
            <a:bodyPr/>
            <a:lstStyle/>
            <a:p>
              <a:endParaRPr lang="zh-CN" altLang="en-US" sz="2800" dirty="0"/>
            </a:p>
          </p:txBody>
        </p:sp>
        <p:sp>
          <p:nvSpPr>
            <p:cNvPr id="36" name="Text 32">
              <a:extLst>
                <a:ext uri="{FF2B5EF4-FFF2-40B4-BE49-F238E27FC236}">
                  <a16:creationId xmlns:a16="http://schemas.microsoft.com/office/drawing/2014/main" id="{6DA22DC3-CC1D-66E8-994E-ED34D4322740}"/>
                </a:ext>
              </a:extLst>
            </p:cNvPr>
            <p:cNvSpPr/>
            <p:nvPr/>
          </p:nvSpPr>
          <p:spPr>
            <a:xfrm>
              <a:off x="1737974" y="1335024"/>
              <a:ext cx="4114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b="1" dirty="0">
                  <a:solidFill>
                    <a:srgbClr val="313A40"/>
                  </a:solidFill>
                </a:rPr>
                <a:t>1</a:t>
              </a:r>
            </a:p>
          </p:txBody>
        </p:sp>
        <p:sp>
          <p:nvSpPr>
            <p:cNvPr id="37" name="Text 33">
              <a:extLst>
                <a:ext uri="{FF2B5EF4-FFF2-40B4-BE49-F238E27FC236}">
                  <a16:creationId xmlns:a16="http://schemas.microsoft.com/office/drawing/2014/main" id="{ABAA6C85-BFDB-58C2-14E7-00F177C9D2D7}"/>
                </a:ext>
              </a:extLst>
            </p:cNvPr>
            <p:cNvSpPr/>
            <p:nvPr/>
          </p:nvSpPr>
          <p:spPr>
            <a:xfrm>
              <a:off x="2286614" y="12435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zh-CN" alt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多源数据关联</a:t>
              </a:r>
              <a:endParaRPr lang="en-US" dirty="0"/>
            </a:p>
          </p:txBody>
        </p:sp>
        <p:sp>
          <p:nvSpPr>
            <p:cNvPr id="38" name="Text 34">
              <a:extLst>
                <a:ext uri="{FF2B5EF4-FFF2-40B4-BE49-F238E27FC236}">
                  <a16:creationId xmlns:a16="http://schemas.microsoft.com/office/drawing/2014/main" id="{32973696-CC1F-601C-BA5C-BB2A3633E517}"/>
                </a:ext>
              </a:extLst>
            </p:cNvPr>
            <p:cNvSpPr/>
            <p:nvPr/>
          </p:nvSpPr>
          <p:spPr>
            <a:xfrm>
              <a:off x="2286614" y="15361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指标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日志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链路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变更，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4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类数据散落在不同服务</a:t>
              </a:r>
              <a:endParaRPr lang="en-US" sz="1400" dirty="0"/>
            </a:p>
          </p:txBody>
        </p:sp>
        <p:sp>
          <p:nvSpPr>
            <p:cNvPr id="39" name="Shape 35">
              <a:extLst>
                <a:ext uri="{FF2B5EF4-FFF2-40B4-BE49-F238E27FC236}">
                  <a16:creationId xmlns:a16="http://schemas.microsoft.com/office/drawing/2014/main" id="{4D0B5CA3-620B-41B8-E2AA-C3AFC8F243B5}"/>
                </a:ext>
              </a:extLst>
            </p:cNvPr>
            <p:cNvSpPr/>
            <p:nvPr/>
          </p:nvSpPr>
          <p:spPr>
            <a:xfrm>
              <a:off x="1555094" y="20848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42" name="Text 38">
              <a:extLst>
                <a:ext uri="{FF2B5EF4-FFF2-40B4-BE49-F238E27FC236}">
                  <a16:creationId xmlns:a16="http://schemas.microsoft.com/office/drawing/2014/main" id="{5686F45E-0A75-6B4B-D4D1-84A271EDABE5}"/>
                </a:ext>
              </a:extLst>
            </p:cNvPr>
            <p:cNvSpPr/>
            <p:nvPr/>
          </p:nvSpPr>
          <p:spPr>
            <a:xfrm>
              <a:off x="2286614" y="21579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指标体系庞大</a:t>
              </a:r>
              <a:endParaRPr lang="en-US" dirty="0"/>
            </a:p>
          </p:txBody>
        </p:sp>
        <p:sp>
          <p:nvSpPr>
            <p:cNvPr id="43" name="Text 39">
              <a:extLst>
                <a:ext uri="{FF2B5EF4-FFF2-40B4-BE49-F238E27FC236}">
                  <a16:creationId xmlns:a16="http://schemas.microsoft.com/office/drawing/2014/main" id="{AD520001-D4EC-4DE0-342A-92562E56655C}"/>
                </a:ext>
              </a:extLst>
            </p:cNvPr>
            <p:cNvSpPr/>
            <p:nvPr/>
          </p:nvSpPr>
          <p:spPr>
            <a:xfrm>
              <a:off x="2286614" y="24505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ECS 就有 CPU/内存/网络/</a:t>
              </a:r>
              <a:r>
                <a:rPr lang="en-US" sz="1400" dirty="0" err="1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任务数等几十个指标，不知道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要看哪个</a:t>
              </a:r>
              <a:endParaRPr lang="en-US" sz="1400" dirty="0"/>
            </a:p>
          </p:txBody>
        </p:sp>
        <p:sp>
          <p:nvSpPr>
            <p:cNvPr id="44" name="Shape 40">
              <a:extLst>
                <a:ext uri="{FF2B5EF4-FFF2-40B4-BE49-F238E27FC236}">
                  <a16:creationId xmlns:a16="http://schemas.microsoft.com/office/drawing/2014/main" id="{F7C32D88-AC4A-121F-983D-896B341C44A9}"/>
                </a:ext>
              </a:extLst>
            </p:cNvPr>
            <p:cNvSpPr/>
            <p:nvPr/>
          </p:nvSpPr>
          <p:spPr>
            <a:xfrm>
              <a:off x="1555094" y="29992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47" name="Text 43">
              <a:extLst>
                <a:ext uri="{FF2B5EF4-FFF2-40B4-BE49-F238E27FC236}">
                  <a16:creationId xmlns:a16="http://schemas.microsoft.com/office/drawing/2014/main" id="{3A6AF86F-D4FA-9D32-800C-4C6AD1464352}"/>
                </a:ext>
              </a:extLst>
            </p:cNvPr>
            <p:cNvSpPr/>
            <p:nvPr/>
          </p:nvSpPr>
          <p:spPr>
            <a:xfrm>
              <a:off x="2286614" y="30723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根因跨服务</a:t>
              </a:r>
              <a:endParaRPr lang="en-US" dirty="0"/>
            </a:p>
          </p:txBody>
        </p:sp>
        <p:sp>
          <p:nvSpPr>
            <p:cNvPr id="48" name="Text 44">
              <a:extLst>
                <a:ext uri="{FF2B5EF4-FFF2-40B4-BE49-F238E27FC236}">
                  <a16:creationId xmlns:a16="http://schemas.microsoft.com/office/drawing/2014/main" id="{EF71124A-A67F-CA31-6F52-C59EA53655F5}"/>
                </a:ext>
              </a:extLst>
            </p:cNvPr>
            <p:cNvSpPr/>
            <p:nvPr/>
          </p:nvSpPr>
          <p:spPr>
            <a:xfrm>
              <a:off x="2286614" y="33649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慢不一定是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的问题，可能是 </a:t>
              </a:r>
              <a:r>
                <a:rPr lang="en-US" altLang="zh-CN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B </a:t>
              </a: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导致的</a:t>
              </a:r>
              <a:endParaRPr lang="en-US" sz="1400" dirty="0"/>
            </a:p>
          </p:txBody>
        </p:sp>
        <p:sp>
          <p:nvSpPr>
            <p:cNvPr id="49" name="Shape 45">
              <a:extLst>
                <a:ext uri="{FF2B5EF4-FFF2-40B4-BE49-F238E27FC236}">
                  <a16:creationId xmlns:a16="http://schemas.microsoft.com/office/drawing/2014/main" id="{E72A6386-1EF0-589D-DDDA-FD840699996C}"/>
                </a:ext>
              </a:extLst>
            </p:cNvPr>
            <p:cNvSpPr/>
            <p:nvPr/>
          </p:nvSpPr>
          <p:spPr>
            <a:xfrm>
              <a:off x="1555094" y="39136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52" name="Text 48">
              <a:extLst>
                <a:ext uri="{FF2B5EF4-FFF2-40B4-BE49-F238E27FC236}">
                  <a16:creationId xmlns:a16="http://schemas.microsoft.com/office/drawing/2014/main" id="{56544341-E96D-2A08-92EC-C5E43780BE34}"/>
                </a:ext>
              </a:extLst>
            </p:cNvPr>
            <p:cNvSpPr/>
            <p:nvPr/>
          </p:nvSpPr>
          <p:spPr>
            <a:xfrm>
              <a:off x="2286614" y="39867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zh-CN" alt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统一入口缺失</a:t>
              </a:r>
              <a:endParaRPr lang="en-US" dirty="0"/>
            </a:p>
          </p:txBody>
        </p:sp>
        <p:sp>
          <p:nvSpPr>
            <p:cNvPr id="53" name="Text 49">
              <a:extLst>
                <a:ext uri="{FF2B5EF4-FFF2-40B4-BE49-F238E27FC236}">
                  <a16:creationId xmlns:a16="http://schemas.microsoft.com/office/drawing/2014/main" id="{0568801F-443D-2BEA-F148-A3FDED957B7F}"/>
                </a:ext>
              </a:extLst>
            </p:cNvPr>
            <p:cNvSpPr/>
            <p:nvPr/>
          </p:nvSpPr>
          <p:spPr>
            <a:xfrm>
              <a:off x="2286614" y="42793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</a:rPr>
                <a:t>入口不统一，排障要跳转多个页面</a:t>
              </a:r>
              <a:endParaRPr lang="en-US" sz="1400" dirty="0"/>
            </a:p>
          </p:txBody>
        </p:sp>
        <p:sp>
          <p:nvSpPr>
            <p:cNvPr id="54" name="Shape 50">
              <a:extLst>
                <a:ext uri="{FF2B5EF4-FFF2-40B4-BE49-F238E27FC236}">
                  <a16:creationId xmlns:a16="http://schemas.microsoft.com/office/drawing/2014/main" id="{BE6DA93A-DF4F-31FA-BC76-3AA95C40C057}"/>
                </a:ext>
              </a:extLst>
            </p:cNvPr>
            <p:cNvSpPr/>
            <p:nvPr/>
          </p:nvSpPr>
          <p:spPr>
            <a:xfrm>
              <a:off x="1555094" y="4828032"/>
              <a:ext cx="6217920" cy="749808"/>
            </a:xfrm>
            <a:prstGeom prst="roundRect">
              <a:avLst>
                <a:gd name="adj" fmla="val 7317"/>
              </a:avLst>
            </a:prstGeom>
            <a:solidFill>
              <a:srgbClr val="1A2640"/>
            </a:solidFill>
            <a:ln w="9525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sz="2800" dirty="0"/>
            </a:p>
          </p:txBody>
        </p:sp>
        <p:sp>
          <p:nvSpPr>
            <p:cNvPr id="57" name="Text 53">
              <a:extLst>
                <a:ext uri="{FF2B5EF4-FFF2-40B4-BE49-F238E27FC236}">
                  <a16:creationId xmlns:a16="http://schemas.microsoft.com/office/drawing/2014/main" id="{E069C663-02DB-1E48-8A78-9192E697BB1C}"/>
                </a:ext>
              </a:extLst>
            </p:cNvPr>
            <p:cNvSpPr/>
            <p:nvPr/>
          </p:nvSpPr>
          <p:spPr>
            <a:xfrm>
              <a:off x="2286614" y="4901184"/>
              <a:ext cx="502920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zh-CN" altLang="en-US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知识自动沉淀</a:t>
              </a:r>
              <a:endParaRPr lang="en-US" dirty="0"/>
            </a:p>
          </p:txBody>
        </p:sp>
        <p:sp>
          <p:nvSpPr>
            <p:cNvPr id="58" name="Text 54">
              <a:extLst>
                <a:ext uri="{FF2B5EF4-FFF2-40B4-BE49-F238E27FC236}">
                  <a16:creationId xmlns:a16="http://schemas.microsoft.com/office/drawing/2014/main" id="{8F0FBC7A-7950-88FB-FDDC-BAE52E8A8C5A}"/>
                </a:ext>
              </a:extLst>
            </p:cNvPr>
            <p:cNvSpPr/>
            <p:nvPr/>
          </p:nvSpPr>
          <p:spPr>
            <a:xfrm>
              <a:off x="2286614" y="5193792"/>
              <a:ext cx="5303520" cy="3200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r>
                <a:rPr lang="zh-CN" altLang="en-US" sz="14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非结构化经验如何变成可检索的结构化知识</a:t>
              </a:r>
              <a:endParaRPr lang="en-US" sz="1400" dirty="0"/>
            </a:p>
          </p:txBody>
        </p:sp>
      </p:grpSp>
      <p:sp>
        <p:nvSpPr>
          <p:cNvPr id="64" name="Shape 31">
            <a:extLst>
              <a:ext uri="{FF2B5EF4-FFF2-40B4-BE49-F238E27FC236}">
                <a16:creationId xmlns:a16="http://schemas.microsoft.com/office/drawing/2014/main" id="{503AB057-F25B-90FA-B35D-5326DF15FB70}"/>
              </a:ext>
            </a:extLst>
          </p:cNvPr>
          <p:cNvSpPr/>
          <p:nvPr/>
        </p:nvSpPr>
        <p:spPr>
          <a:xfrm>
            <a:off x="1588592" y="2303526"/>
            <a:ext cx="601423" cy="58521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313A40"/>
                </a:solidFill>
              </a:rPr>
              <a:t>2</a:t>
            </a:r>
            <a:endParaRPr lang="zh-CN" altLang="en-US" b="1" dirty="0">
              <a:solidFill>
                <a:srgbClr val="313A40"/>
              </a:solidFill>
            </a:endParaRPr>
          </a:p>
        </p:txBody>
      </p:sp>
      <p:sp>
        <p:nvSpPr>
          <p:cNvPr id="65" name="Shape 31">
            <a:extLst>
              <a:ext uri="{FF2B5EF4-FFF2-40B4-BE49-F238E27FC236}">
                <a16:creationId xmlns:a16="http://schemas.microsoft.com/office/drawing/2014/main" id="{FC965A71-5E2B-C5F7-4383-09560F2B4BA4}"/>
              </a:ext>
            </a:extLst>
          </p:cNvPr>
          <p:cNvSpPr/>
          <p:nvPr/>
        </p:nvSpPr>
        <p:spPr>
          <a:xfrm>
            <a:off x="1588591" y="3212846"/>
            <a:ext cx="601423" cy="58521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313A40"/>
                </a:solidFill>
              </a:rPr>
              <a:t>3</a:t>
            </a:r>
            <a:endParaRPr lang="zh-CN" altLang="en-US" b="1" dirty="0">
              <a:solidFill>
                <a:srgbClr val="313A40"/>
              </a:solidFill>
            </a:endParaRPr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DDDF00FE-26CA-2853-812C-FFBEFB093D58}"/>
              </a:ext>
            </a:extLst>
          </p:cNvPr>
          <p:cNvSpPr/>
          <p:nvPr/>
        </p:nvSpPr>
        <p:spPr>
          <a:xfrm>
            <a:off x="1626180" y="4097528"/>
            <a:ext cx="601423" cy="58521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313A40"/>
                </a:solidFill>
              </a:rPr>
              <a:t>4</a:t>
            </a:r>
            <a:endParaRPr lang="zh-CN" altLang="en-US" b="1" dirty="0">
              <a:solidFill>
                <a:srgbClr val="313A40"/>
              </a:solidFill>
            </a:endParaRPr>
          </a:p>
        </p:txBody>
      </p:sp>
      <p:sp>
        <p:nvSpPr>
          <p:cNvPr id="67" name="Shape 31">
            <a:extLst>
              <a:ext uri="{FF2B5EF4-FFF2-40B4-BE49-F238E27FC236}">
                <a16:creationId xmlns:a16="http://schemas.microsoft.com/office/drawing/2014/main" id="{6FC40EB4-D53C-E093-613E-1AE3C4FAF803}"/>
              </a:ext>
            </a:extLst>
          </p:cNvPr>
          <p:cNvSpPr/>
          <p:nvPr/>
        </p:nvSpPr>
        <p:spPr>
          <a:xfrm>
            <a:off x="1626179" y="5011928"/>
            <a:ext cx="601423" cy="585216"/>
          </a:xfrm>
          <a:prstGeom prst="ellipse">
            <a:avLst/>
          </a:prstGeom>
          <a:solidFill>
            <a:srgbClr val="FF9900"/>
          </a:solidFill>
          <a:ln/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b="1" dirty="0">
                <a:solidFill>
                  <a:srgbClr val="313A40"/>
                </a:solidFill>
              </a:rPr>
              <a:t>5</a:t>
            </a:r>
            <a:endParaRPr lang="zh-CN" altLang="en-US" b="1" dirty="0">
              <a:solidFill>
                <a:srgbClr val="313A4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1028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35C66-DBE9-5AE2-AEF3-D11808A5C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49B939-2245-B586-5047-043F3B1AA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业界方案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2A34EE93-64F8-F351-8509-E617A393719D}"/>
              </a:ext>
            </a:extLst>
          </p:cNvPr>
          <p:cNvGrpSpPr/>
          <p:nvPr/>
        </p:nvGrpSpPr>
        <p:grpSpPr>
          <a:xfrm>
            <a:off x="829310" y="1250950"/>
            <a:ext cx="10918190" cy="4356100"/>
            <a:chOff x="365760" y="1143000"/>
            <a:chExt cx="11594592" cy="4617720"/>
          </a:xfrm>
        </p:grpSpPr>
        <p:sp>
          <p:nvSpPr>
            <p:cNvPr id="5" name="Shape 3">
              <a:extLst>
                <a:ext uri="{FF2B5EF4-FFF2-40B4-BE49-F238E27FC236}">
                  <a16:creationId xmlns:a16="http://schemas.microsoft.com/office/drawing/2014/main" id="{22A8CA03-1788-E1A7-712D-3BC3A2C1F065}"/>
                </a:ext>
              </a:extLst>
            </p:cNvPr>
            <p:cNvSpPr/>
            <p:nvPr/>
          </p:nvSpPr>
          <p:spPr>
            <a:xfrm>
              <a:off x="365760" y="1143000"/>
              <a:ext cx="11457432" cy="502920"/>
            </a:xfrm>
            <a:prstGeom prst="rect">
              <a:avLst/>
            </a:prstGeom>
            <a:solidFill>
              <a:srgbClr val="FF990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4">
              <a:extLst>
                <a:ext uri="{FF2B5EF4-FFF2-40B4-BE49-F238E27FC236}">
                  <a16:creationId xmlns:a16="http://schemas.microsoft.com/office/drawing/2014/main" id="{2F4B0BB5-9B07-BD58-219C-EF81460D9F07}"/>
                </a:ext>
              </a:extLst>
            </p:cNvPr>
            <p:cNvSpPr/>
            <p:nvPr/>
          </p:nvSpPr>
          <p:spPr>
            <a:xfrm>
              <a:off x="502920" y="1143000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方案类型</a:t>
              </a:r>
              <a:endParaRPr lang="en-US" sz="1300" dirty="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7763E6B5-941A-9398-A8C9-FFB0001A6B3C}"/>
                </a:ext>
              </a:extLst>
            </p:cNvPr>
            <p:cNvSpPr/>
            <p:nvPr/>
          </p:nvSpPr>
          <p:spPr>
            <a:xfrm>
              <a:off x="2514600" y="1143000"/>
              <a:ext cx="274320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代表产品</a:t>
              </a:r>
              <a:endParaRPr lang="en-US" sz="1300" dirty="0"/>
            </a:p>
          </p:txBody>
        </p:sp>
        <p:sp>
          <p:nvSpPr>
            <p:cNvPr id="8" name="Text 6">
              <a:extLst>
                <a:ext uri="{FF2B5EF4-FFF2-40B4-BE49-F238E27FC236}">
                  <a16:creationId xmlns:a16="http://schemas.microsoft.com/office/drawing/2014/main" id="{9249B218-A4F5-B8AF-D13C-2DC678A9B2A0}"/>
                </a:ext>
              </a:extLst>
            </p:cNvPr>
            <p:cNvSpPr/>
            <p:nvPr/>
          </p:nvSpPr>
          <p:spPr>
            <a:xfrm>
              <a:off x="5257800" y="1143000"/>
              <a:ext cx="329184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做法</a:t>
              </a:r>
              <a:endParaRPr lang="en-US" sz="1300" dirty="0"/>
            </a:p>
          </p:txBody>
        </p:sp>
        <p:sp>
          <p:nvSpPr>
            <p:cNvPr id="9" name="Text 7">
              <a:extLst>
                <a:ext uri="{FF2B5EF4-FFF2-40B4-BE49-F238E27FC236}">
                  <a16:creationId xmlns:a16="http://schemas.microsoft.com/office/drawing/2014/main" id="{C67221BB-D7A4-0619-7571-2D1253583E69}"/>
                </a:ext>
              </a:extLst>
            </p:cNvPr>
            <p:cNvSpPr/>
            <p:nvPr/>
          </p:nvSpPr>
          <p:spPr>
            <a:xfrm>
              <a:off x="8549640" y="1143000"/>
              <a:ext cx="3410712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弊端</a:t>
              </a:r>
              <a:endParaRPr lang="en-US" sz="1300" dirty="0"/>
            </a:p>
          </p:txBody>
        </p: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E4D578D3-0895-7D96-09AD-7486EF8B957E}"/>
                </a:ext>
              </a:extLst>
            </p:cNvPr>
            <p:cNvSpPr/>
            <p:nvPr/>
          </p:nvSpPr>
          <p:spPr>
            <a:xfrm>
              <a:off x="365760" y="1700784"/>
              <a:ext cx="11457432" cy="960120"/>
            </a:xfrm>
            <a:prstGeom prst="roundRect">
              <a:avLst>
                <a:gd name="adj" fmla="val 2857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Shape 9">
              <a:extLst>
                <a:ext uri="{FF2B5EF4-FFF2-40B4-BE49-F238E27FC236}">
                  <a16:creationId xmlns:a16="http://schemas.microsoft.com/office/drawing/2014/main" id="{3B072DAF-34CF-AD8B-824B-C72BD3C0BBB3}"/>
                </a:ext>
              </a:extLst>
            </p:cNvPr>
            <p:cNvSpPr/>
            <p:nvPr/>
          </p:nvSpPr>
          <p:spPr>
            <a:xfrm>
              <a:off x="365760" y="1700784"/>
              <a:ext cx="54864" cy="960120"/>
            </a:xfrm>
            <a:prstGeom prst="rect">
              <a:avLst/>
            </a:prstGeom>
            <a:solidFill>
              <a:srgbClr val="FF990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 10">
              <a:extLst>
                <a:ext uri="{FF2B5EF4-FFF2-40B4-BE49-F238E27FC236}">
                  <a16:creationId xmlns:a16="http://schemas.microsoft.com/office/drawing/2014/main" id="{EF2B67CD-B15A-301E-1994-89BA26F5B05D}"/>
                </a:ext>
              </a:extLst>
            </p:cNvPr>
            <p:cNvSpPr/>
            <p:nvPr/>
          </p:nvSpPr>
          <p:spPr>
            <a:xfrm>
              <a:off x="548640" y="1700784"/>
              <a:ext cx="18288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传统监控</a:t>
              </a:r>
              <a:endParaRPr lang="en-US" sz="1300" dirty="0"/>
            </a:p>
          </p:txBody>
        </p:sp>
        <p:sp>
          <p:nvSpPr>
            <p:cNvPr id="13" name="Text 11">
              <a:extLst>
                <a:ext uri="{FF2B5EF4-FFF2-40B4-BE49-F238E27FC236}">
                  <a16:creationId xmlns:a16="http://schemas.microsoft.com/office/drawing/2014/main" id="{4956F3A0-680D-64F6-50AD-D1C59015FFD7}"/>
                </a:ext>
              </a:extLst>
            </p:cNvPr>
            <p:cNvSpPr/>
            <p:nvPr/>
          </p:nvSpPr>
          <p:spPr>
            <a:xfrm>
              <a:off x="2514600" y="1700784"/>
              <a:ext cx="260604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CloudWatch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Grafana / Zabbix</a:t>
              </a:r>
              <a:endParaRPr lang="en-US" sz="1100" dirty="0"/>
            </a:p>
          </p:txBody>
        </p:sp>
        <p:sp>
          <p:nvSpPr>
            <p:cNvPr id="14" name="Text 12">
              <a:extLst>
                <a:ext uri="{FF2B5EF4-FFF2-40B4-BE49-F238E27FC236}">
                  <a16:creationId xmlns:a16="http://schemas.microsoft.com/office/drawing/2014/main" id="{C3F28DC4-D1A2-753A-08EA-EF78E4ADC79B}"/>
                </a:ext>
              </a:extLst>
            </p:cNvPr>
            <p:cNvSpPr/>
            <p:nvPr/>
          </p:nvSpPr>
          <p:spPr>
            <a:xfrm>
              <a:off x="5257800" y="1700784"/>
              <a:ext cx="315468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Dashboard</a:t>
              </a:r>
              <a:endParaRPr lang="en-US" sz="1100" dirty="0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EF3B97C8-2D6C-2808-26EA-6D7C4745848E}"/>
                </a:ext>
              </a:extLst>
            </p:cNvPr>
            <p:cNvSpPr/>
            <p:nvPr/>
          </p:nvSpPr>
          <p:spPr>
            <a:xfrm>
              <a:off x="8549640" y="1700784"/>
              <a:ext cx="3273552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FF88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给数字不给结论</a:t>
              </a:r>
              <a:endParaRPr lang="en-US" sz="1100" dirty="0"/>
            </a:p>
          </p:txBody>
        </p:sp>
        <p:sp>
          <p:nvSpPr>
            <p:cNvPr id="16" name="Shape 14">
              <a:extLst>
                <a:ext uri="{FF2B5EF4-FFF2-40B4-BE49-F238E27FC236}">
                  <a16:creationId xmlns:a16="http://schemas.microsoft.com/office/drawing/2014/main" id="{19D07B49-332F-5A30-9499-A6BB74C17894}"/>
                </a:ext>
              </a:extLst>
            </p:cNvPr>
            <p:cNvSpPr/>
            <p:nvPr/>
          </p:nvSpPr>
          <p:spPr>
            <a:xfrm>
              <a:off x="365760" y="2715768"/>
              <a:ext cx="11457432" cy="960120"/>
            </a:xfrm>
            <a:prstGeom prst="roundRect">
              <a:avLst>
                <a:gd name="adj" fmla="val 2857"/>
              </a:avLst>
            </a:prstGeom>
            <a:solidFill>
              <a:srgbClr val="162035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Shape 15">
              <a:extLst>
                <a:ext uri="{FF2B5EF4-FFF2-40B4-BE49-F238E27FC236}">
                  <a16:creationId xmlns:a16="http://schemas.microsoft.com/office/drawing/2014/main" id="{4C863D30-93E3-E0A6-C338-6C42145EE51F}"/>
                </a:ext>
              </a:extLst>
            </p:cNvPr>
            <p:cNvSpPr/>
            <p:nvPr/>
          </p:nvSpPr>
          <p:spPr>
            <a:xfrm>
              <a:off x="365760" y="2715768"/>
              <a:ext cx="54864" cy="960120"/>
            </a:xfrm>
            <a:prstGeom prst="rect">
              <a:avLst/>
            </a:prstGeom>
            <a:solidFill>
              <a:srgbClr val="FF990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51ACC803-16AA-213D-9862-5FE96A93BA8C}"/>
                </a:ext>
              </a:extLst>
            </p:cNvPr>
            <p:cNvSpPr/>
            <p:nvPr/>
          </p:nvSpPr>
          <p:spPr>
            <a:xfrm>
              <a:off x="548640" y="2715768"/>
              <a:ext cx="18288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ChatOps</a:t>
              </a:r>
              <a:endParaRPr lang="en-US" sz="1300" dirty="0"/>
            </a:p>
          </p:txBody>
        </p:sp>
        <p:sp>
          <p:nvSpPr>
            <p:cNvPr id="19" name="Text 17">
              <a:extLst>
                <a:ext uri="{FF2B5EF4-FFF2-40B4-BE49-F238E27FC236}">
                  <a16:creationId xmlns:a16="http://schemas.microsoft.com/office/drawing/2014/main" id="{17724128-7BEB-8D9A-1114-BFC824E5B1AD}"/>
                </a:ext>
              </a:extLst>
            </p:cNvPr>
            <p:cNvSpPr/>
            <p:nvPr/>
          </p:nvSpPr>
          <p:spPr>
            <a:xfrm>
              <a:off x="2514600" y="2715768"/>
              <a:ext cx="260604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AWS Chatbot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PagerDuty / Slack Bot</a:t>
              </a:r>
              <a:endParaRPr lang="en-US" sz="1100" dirty="0"/>
            </a:p>
          </p:txBody>
        </p:sp>
        <p:sp>
          <p:nvSpPr>
            <p:cNvPr id="20" name="Text 18">
              <a:extLst>
                <a:ext uri="{FF2B5EF4-FFF2-40B4-BE49-F238E27FC236}">
                  <a16:creationId xmlns:a16="http://schemas.microsoft.com/office/drawing/2014/main" id="{08E77D43-49D6-A755-CE80-4701CB817C08}"/>
                </a:ext>
              </a:extLst>
            </p:cNvPr>
            <p:cNvSpPr/>
            <p:nvPr/>
          </p:nvSpPr>
          <p:spPr>
            <a:xfrm>
              <a:off x="5257800" y="2715768"/>
              <a:ext cx="315468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固定命令</a:t>
              </a:r>
              <a:endParaRPr lang="en-US" sz="1100" dirty="0"/>
            </a:p>
          </p:txBody>
        </p:sp>
        <p:sp>
          <p:nvSpPr>
            <p:cNvPr id="21" name="Text 19">
              <a:extLst>
                <a:ext uri="{FF2B5EF4-FFF2-40B4-BE49-F238E27FC236}">
                  <a16:creationId xmlns:a16="http://schemas.microsoft.com/office/drawing/2014/main" id="{1C0780F5-E2F2-AC5D-20CA-9B508140D7CC}"/>
                </a:ext>
              </a:extLst>
            </p:cNvPr>
            <p:cNvSpPr/>
            <p:nvPr/>
          </p:nvSpPr>
          <p:spPr>
            <a:xfrm>
              <a:off x="8549640" y="2715768"/>
              <a:ext cx="3273552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FF88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无推理能力</a:t>
              </a:r>
              <a:endParaRPr lang="en-US" sz="1100" dirty="0"/>
            </a:p>
          </p:txBody>
        </p:sp>
        <p:sp>
          <p:nvSpPr>
            <p:cNvPr id="22" name="Shape 20">
              <a:extLst>
                <a:ext uri="{FF2B5EF4-FFF2-40B4-BE49-F238E27FC236}">
                  <a16:creationId xmlns:a16="http://schemas.microsoft.com/office/drawing/2014/main" id="{B84BA41A-1953-FF95-4D13-CCE9A24CCEA0}"/>
                </a:ext>
              </a:extLst>
            </p:cNvPr>
            <p:cNvSpPr/>
            <p:nvPr/>
          </p:nvSpPr>
          <p:spPr>
            <a:xfrm>
              <a:off x="365760" y="3730752"/>
              <a:ext cx="11457432" cy="960120"/>
            </a:xfrm>
            <a:prstGeom prst="roundRect">
              <a:avLst>
                <a:gd name="adj" fmla="val 2857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Shape 21">
              <a:extLst>
                <a:ext uri="{FF2B5EF4-FFF2-40B4-BE49-F238E27FC236}">
                  <a16:creationId xmlns:a16="http://schemas.microsoft.com/office/drawing/2014/main" id="{5ED42202-8294-60F0-FD9C-3ECA78FDB7CE}"/>
                </a:ext>
              </a:extLst>
            </p:cNvPr>
            <p:cNvSpPr/>
            <p:nvPr/>
          </p:nvSpPr>
          <p:spPr>
            <a:xfrm>
              <a:off x="365760" y="3730752"/>
              <a:ext cx="54864" cy="960120"/>
            </a:xfrm>
            <a:prstGeom prst="rect">
              <a:avLst/>
            </a:prstGeom>
            <a:solidFill>
              <a:srgbClr val="FF990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22">
              <a:extLst>
                <a:ext uri="{FF2B5EF4-FFF2-40B4-BE49-F238E27FC236}">
                  <a16:creationId xmlns:a16="http://schemas.microsoft.com/office/drawing/2014/main" id="{42BB932E-FE72-7793-B912-32862BD5FF0D}"/>
                </a:ext>
              </a:extLst>
            </p:cNvPr>
            <p:cNvSpPr/>
            <p:nvPr/>
          </p:nvSpPr>
          <p:spPr>
            <a:xfrm>
              <a:off x="548640" y="3730752"/>
              <a:ext cx="182880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AIOps 平台</a:t>
              </a:r>
              <a:endParaRPr lang="en-US" sz="1300" dirty="0"/>
            </a:p>
          </p:txBody>
        </p:sp>
        <p:sp>
          <p:nvSpPr>
            <p:cNvPr id="25" name="Text 23">
              <a:extLst>
                <a:ext uri="{FF2B5EF4-FFF2-40B4-BE49-F238E27FC236}">
                  <a16:creationId xmlns:a16="http://schemas.microsoft.com/office/drawing/2014/main" id="{F256E710-F64A-3C8F-CC6E-4785F1100096}"/>
                </a:ext>
              </a:extLst>
            </p:cNvPr>
            <p:cNvSpPr/>
            <p:nvPr/>
          </p:nvSpPr>
          <p:spPr>
            <a:xfrm>
              <a:off x="2514600" y="3730752"/>
              <a:ext cx="260604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Datadog Bits AI (2025-12)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Dynatrace Davis AI</a:t>
              </a:r>
              <a:endParaRPr lang="en-US" sz="1100" dirty="0"/>
            </a:p>
          </p:txBody>
        </p:sp>
        <p:sp>
          <p:nvSpPr>
            <p:cNvPr id="26" name="Text 24">
              <a:extLst>
                <a:ext uri="{FF2B5EF4-FFF2-40B4-BE49-F238E27FC236}">
                  <a16:creationId xmlns:a16="http://schemas.microsoft.com/office/drawing/2014/main" id="{89D17B65-0999-A310-9AE2-CC081D2DDC46}"/>
                </a:ext>
              </a:extLst>
            </p:cNvPr>
            <p:cNvSpPr/>
            <p:nvPr/>
          </p:nvSpPr>
          <p:spPr>
            <a:xfrm>
              <a:off x="5257800" y="3730752"/>
              <a:ext cx="315468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AI 根因分析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修复建议 / 自动修复</a:t>
              </a:r>
              <a:endParaRPr lang="en-US" sz="1100" dirty="0"/>
            </a:p>
          </p:txBody>
        </p:sp>
        <p:sp>
          <p:nvSpPr>
            <p:cNvPr id="27" name="Text 25">
              <a:extLst>
                <a:ext uri="{FF2B5EF4-FFF2-40B4-BE49-F238E27FC236}">
                  <a16:creationId xmlns:a16="http://schemas.microsoft.com/office/drawing/2014/main" id="{ABFD88C7-51D0-A3C8-245C-179E6DFDAEA4}"/>
                </a:ext>
              </a:extLst>
            </p:cNvPr>
            <p:cNvSpPr/>
            <p:nvPr/>
          </p:nvSpPr>
          <p:spPr>
            <a:xfrm>
              <a:off x="8549640" y="3730752"/>
              <a:ext cx="3273552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 err="1">
                  <a:solidFill>
                    <a:srgbClr val="FF88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绑定自有生态</a:t>
              </a:r>
              <a:r>
                <a:rPr lang="en-US" sz="1100" dirty="0">
                  <a:solidFill>
                    <a:srgbClr val="FF88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 </a:t>
              </a:r>
              <a:endParaRPr lang="en-US" sz="1100" dirty="0"/>
            </a:p>
          </p:txBody>
        </p:sp>
        <p:sp>
          <p:nvSpPr>
            <p:cNvPr id="28" name="Shape 26">
              <a:extLst>
                <a:ext uri="{FF2B5EF4-FFF2-40B4-BE49-F238E27FC236}">
                  <a16:creationId xmlns:a16="http://schemas.microsoft.com/office/drawing/2014/main" id="{9F7122C2-93B1-85F0-BB29-138A0C20C63D}"/>
                </a:ext>
              </a:extLst>
            </p:cNvPr>
            <p:cNvSpPr/>
            <p:nvPr/>
          </p:nvSpPr>
          <p:spPr>
            <a:xfrm>
              <a:off x="365760" y="4745736"/>
              <a:ext cx="11457432" cy="960120"/>
            </a:xfrm>
            <a:prstGeom prst="roundRect">
              <a:avLst>
                <a:gd name="adj" fmla="val 2857"/>
              </a:avLst>
            </a:prstGeom>
            <a:solidFill>
              <a:srgbClr val="162035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 dirty="0"/>
            </a:p>
          </p:txBody>
        </p:sp>
        <p:sp>
          <p:nvSpPr>
            <p:cNvPr id="29" name="Shape 27">
              <a:extLst>
                <a:ext uri="{FF2B5EF4-FFF2-40B4-BE49-F238E27FC236}">
                  <a16:creationId xmlns:a16="http://schemas.microsoft.com/office/drawing/2014/main" id="{193B4C4B-EA43-F179-E6B7-BEBA9646A980}"/>
                </a:ext>
              </a:extLst>
            </p:cNvPr>
            <p:cNvSpPr/>
            <p:nvPr/>
          </p:nvSpPr>
          <p:spPr>
            <a:xfrm>
              <a:off x="365760" y="4745736"/>
              <a:ext cx="54864" cy="960120"/>
            </a:xfrm>
            <a:prstGeom prst="rect">
              <a:avLst/>
            </a:prstGeom>
            <a:solidFill>
              <a:srgbClr val="36B37E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Text 28">
              <a:extLst>
                <a:ext uri="{FF2B5EF4-FFF2-40B4-BE49-F238E27FC236}">
                  <a16:creationId xmlns:a16="http://schemas.microsoft.com/office/drawing/2014/main" id="{37308F69-B0A4-4AD4-FFE9-0E13A354A714}"/>
                </a:ext>
              </a:extLst>
            </p:cNvPr>
            <p:cNvSpPr/>
            <p:nvPr/>
          </p:nvSpPr>
          <p:spPr>
            <a:xfrm>
              <a:off x="548640" y="4745736"/>
              <a:ext cx="196596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AWS D</a:t>
              </a:r>
              <a:r>
                <a:rPr lang="en-US" altLang="zh-CN" sz="13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evOps</a:t>
              </a:r>
              <a:r>
                <a:rPr lang="en-US" sz="1300" b="1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 Agent</a:t>
              </a:r>
              <a:endParaRPr lang="en-US" sz="1300" dirty="0"/>
            </a:p>
          </p:txBody>
        </p:sp>
        <p:sp>
          <p:nvSpPr>
            <p:cNvPr id="31" name="Text 29">
              <a:extLst>
                <a:ext uri="{FF2B5EF4-FFF2-40B4-BE49-F238E27FC236}">
                  <a16:creationId xmlns:a16="http://schemas.microsoft.com/office/drawing/2014/main" id="{1D35A88A-9EFC-ADA5-A2E8-C5EDEB28C6BD}"/>
                </a:ext>
              </a:extLst>
            </p:cNvPr>
            <p:cNvSpPr/>
            <p:nvPr/>
          </p:nvSpPr>
          <p:spPr>
            <a:xfrm>
              <a:off x="2514600" y="4745736"/>
              <a:ext cx="260604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AWS DevOps Agent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(2026-03 GA)</a:t>
              </a:r>
              <a:endParaRPr lang="en-US" sz="1100" dirty="0"/>
            </a:p>
          </p:txBody>
        </p:sp>
        <p:sp>
          <p:nvSpPr>
            <p:cNvPr id="32" name="Text 30">
              <a:extLst>
                <a:ext uri="{FF2B5EF4-FFF2-40B4-BE49-F238E27FC236}">
                  <a16:creationId xmlns:a16="http://schemas.microsoft.com/office/drawing/2014/main" id="{80D94BC4-EBFD-AD3C-2ABE-02636806DB3B}"/>
                </a:ext>
              </a:extLst>
            </p:cNvPr>
            <p:cNvSpPr/>
            <p:nvPr/>
          </p:nvSpPr>
          <p:spPr>
            <a:xfrm>
              <a:off x="5257800" y="4745736"/>
              <a:ext cx="3154680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自主调查 + 跨平台关联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详细修复计划</a:t>
              </a:r>
              <a:endParaRPr lang="en-US" sz="1100" dirty="0"/>
            </a:p>
          </p:txBody>
        </p:sp>
        <p:sp>
          <p:nvSpPr>
            <p:cNvPr id="33" name="Text 31">
              <a:extLst>
                <a:ext uri="{FF2B5EF4-FFF2-40B4-BE49-F238E27FC236}">
                  <a16:creationId xmlns:a16="http://schemas.microsoft.com/office/drawing/2014/main" id="{D96E23B5-33C5-7550-2620-78D339ECD77E}"/>
                </a:ext>
              </a:extLst>
            </p:cNvPr>
            <p:cNvSpPr/>
            <p:nvPr/>
          </p:nvSpPr>
          <p:spPr>
            <a:xfrm>
              <a:off x="8549640" y="4745736"/>
              <a:ext cx="3273552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endParaRPr lang="en-US" sz="1100" dirty="0"/>
            </a:p>
          </p:txBody>
        </p:sp>
        <p:sp>
          <p:nvSpPr>
            <p:cNvPr id="34" name="Text 25">
              <a:extLst>
                <a:ext uri="{FF2B5EF4-FFF2-40B4-BE49-F238E27FC236}">
                  <a16:creationId xmlns:a16="http://schemas.microsoft.com/office/drawing/2014/main" id="{8599843C-050C-2A14-9B18-AB6CBA1415AA}"/>
                </a:ext>
              </a:extLst>
            </p:cNvPr>
            <p:cNvSpPr/>
            <p:nvPr/>
          </p:nvSpPr>
          <p:spPr>
            <a:xfrm>
              <a:off x="8549640" y="4800600"/>
              <a:ext cx="3273552" cy="9601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zh-CN" altLang="en-US" sz="1100" dirty="0">
                  <a:solidFill>
                    <a:srgbClr val="FF88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可视化能力不佳</a:t>
              </a:r>
              <a:r>
                <a:rPr lang="en-US" sz="1100" dirty="0">
                  <a:solidFill>
                    <a:srgbClr val="FF8866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 </a:t>
              </a:r>
              <a:endParaRPr lang="en-US" sz="1100" dirty="0"/>
            </a:p>
          </p:txBody>
        </p:sp>
      </p:grpSp>
    </p:spTree>
    <p:extLst>
      <p:ext uri="{BB962C8B-B14F-4D97-AF65-F5344CB8AC3E}">
        <p14:creationId xmlns:p14="http://schemas.microsoft.com/office/powerpoint/2010/main" val="4240900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C3811-BFF7-4D2C-E945-5C94F0E19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22A22A-99AC-93FB-C128-AFC961928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客户要什么</a:t>
            </a:r>
          </a:p>
        </p:txBody>
      </p:sp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640E0644-760E-2FDC-5A28-1128E4CE55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3672996"/>
              </p:ext>
            </p:extLst>
          </p:nvPr>
        </p:nvGraphicFramePr>
        <p:xfrm>
          <a:off x="552284" y="778487"/>
          <a:ext cx="10799256" cy="39191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箭头: 右 10">
            <a:extLst>
              <a:ext uri="{FF2B5EF4-FFF2-40B4-BE49-F238E27FC236}">
                <a16:creationId xmlns:a16="http://schemas.microsoft.com/office/drawing/2014/main" id="{0C7A9409-7253-482E-57E0-F2C177F603B2}"/>
              </a:ext>
            </a:extLst>
          </p:cNvPr>
          <p:cNvSpPr/>
          <p:nvPr/>
        </p:nvSpPr>
        <p:spPr>
          <a:xfrm>
            <a:off x="3104803" y="4873294"/>
            <a:ext cx="2847109" cy="46239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31C4CEEC-486B-7A3A-8FB7-89F3185EE3C1}"/>
              </a:ext>
            </a:extLst>
          </p:cNvPr>
          <p:cNvGrpSpPr/>
          <p:nvPr/>
        </p:nvGrpSpPr>
        <p:grpSpPr>
          <a:xfrm>
            <a:off x="6096000" y="4832064"/>
            <a:ext cx="5796742" cy="903718"/>
            <a:chOff x="25697" y="660238"/>
            <a:chExt cx="3007398" cy="2778501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F279D4F4-D174-2F53-12BD-B2F4F2DD8BF7}"/>
                </a:ext>
              </a:extLst>
            </p:cNvPr>
            <p:cNvSpPr/>
            <p:nvPr/>
          </p:nvSpPr>
          <p:spPr bwMode="white">
            <a:xfrm>
              <a:off x="799111" y="660238"/>
              <a:ext cx="1953204" cy="2778501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45DC0C61-6229-8AAE-7D05-A9B474F9B9DC}"/>
                </a:ext>
              </a:extLst>
            </p:cNvPr>
            <p:cNvSpPr txBox="1"/>
            <p:nvPr/>
          </p:nvSpPr>
          <p:spPr>
            <a:xfrm>
              <a:off x="25697" y="1027816"/>
              <a:ext cx="3007398" cy="102167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0640" tIns="40640" rIns="40640" bIns="40640" numCol="1" spcCol="1270" anchor="t" anchorCtr="0">
              <a:noAutofit/>
            </a:bodyPr>
            <a:lstStyle/>
            <a:p>
              <a:pPr lvl="0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zh-CN" altLang="en-US" sz="2000" dirty="0">
                  <a:solidFill>
                    <a:schemeClr val="bg1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用自然语言完成运维全流程，随时随地</a:t>
              </a:r>
              <a:endParaRPr lang="zh-CN" altLang="en-US" sz="2000" kern="1200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2326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2C261-8431-7607-8219-1A995BACC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27688E-9440-A53B-4264-25F0A1D81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解决方案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16E36CB-0113-D969-FE3A-B0AEA3F48036}"/>
              </a:ext>
            </a:extLst>
          </p:cNvPr>
          <p:cNvSpPr txBox="1"/>
          <p:nvPr/>
        </p:nvSpPr>
        <p:spPr>
          <a:xfrm>
            <a:off x="984250" y="1229743"/>
            <a:ext cx="5673090" cy="63138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基于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AWS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  <a:r>
              <a:rPr lang="en-US" altLang="zh-CN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DevOps Agent</a:t>
            </a:r>
            <a:r>
              <a:rPr lang="zh-CN" altLang="en-US" dirty="0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，打造智能闭环运维平台</a:t>
            </a:r>
            <a:endParaRPr lang="zh-CN" dirty="0">
              <a:solidFill>
                <a:schemeClr val="bg1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50B8D626-4B85-0C0C-2083-77B86E2A79E9}"/>
              </a:ext>
            </a:extLst>
          </p:cNvPr>
          <p:cNvSpPr/>
          <p:nvPr/>
        </p:nvSpPr>
        <p:spPr>
          <a:xfrm>
            <a:off x="9842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自然语言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2C20C42-1880-CF75-C49A-E80F1A822248}"/>
              </a:ext>
            </a:extLst>
          </p:cNvPr>
          <p:cNvSpPr/>
          <p:nvPr/>
        </p:nvSpPr>
        <p:spPr>
          <a:xfrm>
            <a:off x="31305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发现分析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F87E7B5A-1BAA-54CE-91A5-3EE2954BF396}"/>
              </a:ext>
            </a:extLst>
          </p:cNvPr>
          <p:cNvSpPr/>
          <p:nvPr/>
        </p:nvSpPr>
        <p:spPr>
          <a:xfrm>
            <a:off x="52768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分析页输出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CB9B4B8-666D-F225-2D4B-89E76BBE1418}"/>
              </a:ext>
            </a:extLst>
          </p:cNvPr>
          <p:cNvSpPr/>
          <p:nvPr/>
        </p:nvSpPr>
        <p:spPr>
          <a:xfrm>
            <a:off x="74231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执行修复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5E73D7A8-2293-6D23-E0DA-2D2776D7FA8E}"/>
              </a:ext>
            </a:extLst>
          </p:cNvPr>
          <p:cNvSpPr/>
          <p:nvPr/>
        </p:nvSpPr>
        <p:spPr>
          <a:xfrm>
            <a:off x="9569450" y="2325797"/>
            <a:ext cx="1619250" cy="13906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经验沉淀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2FAB2D4-65A5-A3EA-5503-32666F53BD0A}"/>
              </a:ext>
            </a:extLst>
          </p:cNvPr>
          <p:cNvSpPr/>
          <p:nvPr/>
        </p:nvSpPr>
        <p:spPr>
          <a:xfrm>
            <a:off x="26447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ECF610C5-A28F-0E36-3E53-9A08C33A63D4}"/>
              </a:ext>
            </a:extLst>
          </p:cNvPr>
          <p:cNvSpPr/>
          <p:nvPr/>
        </p:nvSpPr>
        <p:spPr>
          <a:xfrm>
            <a:off x="47910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A3F9ADCA-4D83-C14A-C7AB-760709B6DF73}"/>
              </a:ext>
            </a:extLst>
          </p:cNvPr>
          <p:cNvSpPr/>
          <p:nvPr/>
        </p:nvSpPr>
        <p:spPr>
          <a:xfrm>
            <a:off x="69373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1554FFD4-47A9-3355-AC92-04B7DA796024}"/>
              </a:ext>
            </a:extLst>
          </p:cNvPr>
          <p:cNvSpPr/>
          <p:nvPr/>
        </p:nvSpPr>
        <p:spPr>
          <a:xfrm>
            <a:off x="9083675" y="2916347"/>
            <a:ext cx="444500" cy="2095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C578B6E-0D70-C326-5953-8E15CC44BC35}"/>
              </a:ext>
            </a:extLst>
          </p:cNvPr>
          <p:cNvSpPr txBox="1"/>
          <p:nvPr/>
        </p:nvSpPr>
        <p:spPr>
          <a:xfrm>
            <a:off x="3476625" y="4238649"/>
            <a:ext cx="454496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6A7A9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经验沉淀 → </a:t>
            </a:r>
            <a:r>
              <a:rPr lang="zh-CN" altLang="en-US" sz="1600" b="0" i="0" dirty="0">
                <a:solidFill>
                  <a:srgbClr val="6A7A9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下次相似问题 → 自动匹配历史方案</a:t>
            </a:r>
            <a:endParaRPr lang="zh-CN" altLang="en-US" sz="16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4134C41-1D68-F150-328B-2A3A786A7C25}"/>
              </a:ext>
            </a:extLst>
          </p:cNvPr>
          <p:cNvSpPr txBox="1"/>
          <p:nvPr/>
        </p:nvSpPr>
        <p:spPr>
          <a:xfrm>
            <a:off x="3130550" y="4238649"/>
            <a:ext cx="4440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6A7A9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↩️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47BA219-C326-648F-C67F-771A0DD67B0B}"/>
              </a:ext>
            </a:extLst>
          </p:cNvPr>
          <p:cNvSpPr txBox="1"/>
          <p:nvPr/>
        </p:nvSpPr>
        <p:spPr>
          <a:xfrm>
            <a:off x="1483447" y="2445207"/>
            <a:ext cx="527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📱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887BF04-3076-AE7A-6652-DAB26CCE01F6}"/>
              </a:ext>
            </a:extLst>
          </p:cNvPr>
          <p:cNvSpPr txBox="1"/>
          <p:nvPr/>
        </p:nvSpPr>
        <p:spPr>
          <a:xfrm>
            <a:off x="1328344" y="3221641"/>
            <a:ext cx="931062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手机</a:t>
            </a: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/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电脑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72637E-30D0-135D-B9EB-0AE191587C11}"/>
              </a:ext>
            </a:extLst>
          </p:cNvPr>
          <p:cNvSpPr txBox="1"/>
          <p:nvPr/>
        </p:nvSpPr>
        <p:spPr>
          <a:xfrm>
            <a:off x="3706936" y="2408348"/>
            <a:ext cx="571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🔍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34419C1-A58D-8E19-B24D-D72C6BA834C7}"/>
              </a:ext>
            </a:extLst>
          </p:cNvPr>
          <p:cNvSpPr txBox="1"/>
          <p:nvPr/>
        </p:nvSpPr>
        <p:spPr>
          <a:xfrm>
            <a:off x="3526927" y="3221641"/>
            <a:ext cx="931062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F87DFC1-4920-CF7B-1FCE-B5BBE3F98C0D}"/>
              </a:ext>
            </a:extLst>
          </p:cNvPr>
          <p:cNvSpPr txBox="1"/>
          <p:nvPr/>
        </p:nvSpPr>
        <p:spPr>
          <a:xfrm>
            <a:off x="5818664" y="2445207"/>
            <a:ext cx="53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📄</a:t>
            </a:r>
            <a:endParaRPr lang="zh-CN" altLang="en-US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5A870F-9385-A253-7FD6-413EE07F447B}"/>
              </a:ext>
            </a:extLst>
          </p:cNvPr>
          <p:cNvSpPr txBox="1"/>
          <p:nvPr/>
        </p:nvSpPr>
        <p:spPr>
          <a:xfrm>
            <a:off x="8021590" y="2445207"/>
            <a:ext cx="53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⚡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953C777-8772-2C70-9A06-5DD842DDCC43}"/>
              </a:ext>
            </a:extLst>
          </p:cNvPr>
          <p:cNvSpPr txBox="1"/>
          <p:nvPr/>
        </p:nvSpPr>
        <p:spPr>
          <a:xfrm>
            <a:off x="10111264" y="2445207"/>
            <a:ext cx="535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C0D0E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🧠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BE836F2-85EB-3BC0-4575-619BE46A6CA0}"/>
              </a:ext>
            </a:extLst>
          </p:cNvPr>
          <p:cNvSpPr txBox="1"/>
          <p:nvPr/>
        </p:nvSpPr>
        <p:spPr>
          <a:xfrm>
            <a:off x="5471339" y="3217331"/>
            <a:ext cx="1230270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HTML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图文并茂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18BE288B-51F3-22BA-F179-86B7B1E11E84}"/>
              </a:ext>
            </a:extLst>
          </p:cNvPr>
          <p:cNvSpPr txBox="1"/>
          <p:nvPr/>
        </p:nvSpPr>
        <p:spPr>
          <a:xfrm>
            <a:off x="7626801" y="3217331"/>
            <a:ext cx="1230270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运维工具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654EB73-3554-9683-C5F4-8AF418F1B285}"/>
              </a:ext>
            </a:extLst>
          </p:cNvPr>
          <p:cNvSpPr txBox="1"/>
          <p:nvPr/>
        </p:nvSpPr>
        <p:spPr>
          <a:xfrm>
            <a:off x="9763939" y="3221640"/>
            <a:ext cx="1230270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知识库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E183E6A-2319-1630-8D03-7A9679643AC5}"/>
              </a:ext>
            </a:extLst>
          </p:cNvPr>
          <p:cNvSpPr txBox="1"/>
          <p:nvPr/>
        </p:nvSpPr>
        <p:spPr>
          <a:xfrm>
            <a:off x="3273640" y="3217331"/>
            <a:ext cx="1397249" cy="36499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+ </a:t>
            </a:r>
            <a:r>
              <a:rPr lang="zh-CN" altLang="en-US" sz="1200" dirty="0">
                <a:solidFill>
                  <a:schemeClr val="bg2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历史经验匹配</a:t>
            </a:r>
            <a:endParaRPr lang="zh-CN" sz="1200" dirty="0">
              <a:solidFill>
                <a:schemeClr val="bg2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828899F-2E32-FD36-06DF-1FE2282D87FE}"/>
              </a:ext>
            </a:extLst>
          </p:cNvPr>
          <p:cNvSpPr txBox="1"/>
          <p:nvPr/>
        </p:nvSpPr>
        <p:spPr>
          <a:xfrm>
            <a:off x="984250" y="5065501"/>
            <a:ext cx="1020444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多入口 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可视化分析页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·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智能闭环 </a:t>
            </a:r>
            <a:r>
              <a:rPr lang="en-US" altLang="zh-CN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zh-CN" altLang="en-US" b="1" i="0" dirty="0">
                <a:solidFill>
                  <a:srgbClr val="FFCC66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随时随地、开口即运维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0288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3A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754BD0-B296-D7D4-1A63-F241F7FAB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3AA028-BA7E-2085-4D6D-7807824E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整体架构</a:t>
            </a: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0E395B1F-FBA5-4E08-A043-44C03CE2142B}"/>
              </a:ext>
            </a:extLst>
          </p:cNvPr>
          <p:cNvSpPr/>
          <p:nvPr/>
        </p:nvSpPr>
        <p:spPr>
          <a:xfrm>
            <a:off x="1649524" y="889485"/>
            <a:ext cx="10015899" cy="806388"/>
          </a:xfrm>
          <a:prstGeom prst="roundRect">
            <a:avLst>
              <a:gd name="adj" fmla="val 5333"/>
            </a:avLst>
          </a:prstGeom>
          <a:solidFill>
            <a:srgbClr val="0F1624"/>
          </a:solidFill>
          <a:ln w="1524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3">
            <a:extLst>
              <a:ext uri="{FF2B5EF4-FFF2-40B4-BE49-F238E27FC236}">
                <a16:creationId xmlns:a16="http://schemas.microsoft.com/office/drawing/2014/main" id="{7AFAEB43-B89C-7141-EC49-040BB0E0A994}"/>
              </a:ext>
            </a:extLst>
          </p:cNvPr>
          <p:cNvSpPr/>
          <p:nvPr/>
        </p:nvSpPr>
        <p:spPr>
          <a:xfrm>
            <a:off x="1864920" y="998610"/>
            <a:ext cx="3446331" cy="591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 err="1">
                <a:solidFill>
                  <a:srgbClr val="36B37E"/>
                </a:solidFill>
              </a:rPr>
              <a:t>交互层（前端入口</a:t>
            </a:r>
            <a:r>
              <a:rPr lang="en-US" sz="1200" b="1" dirty="0">
                <a:solidFill>
                  <a:srgbClr val="36B37E"/>
                </a:solidFill>
              </a:rPr>
              <a:t>）</a:t>
            </a:r>
            <a:endParaRPr lang="en-US" sz="1200" dirty="0"/>
          </a:p>
          <a:p>
            <a:pPr marL="0" indent="0">
              <a:buNone/>
            </a:pPr>
            <a:r>
              <a:rPr lang="en-US" sz="900" dirty="0" err="1">
                <a:solidFill>
                  <a:srgbClr val="8899AA"/>
                </a:solidFill>
              </a:rPr>
              <a:t>输入：文字</a:t>
            </a:r>
            <a:r>
              <a:rPr lang="en-US" sz="900" dirty="0">
                <a:solidFill>
                  <a:srgbClr val="8899AA"/>
                </a:solidFill>
              </a:rPr>
              <a:t> ｜ </a:t>
            </a:r>
            <a:r>
              <a:rPr lang="en-US" sz="900" dirty="0" err="1">
                <a:solidFill>
                  <a:srgbClr val="8899AA"/>
                </a:solidFill>
              </a:rPr>
              <a:t>输出：HTML</a:t>
            </a:r>
            <a:r>
              <a:rPr lang="zh-CN" altLang="en-US" sz="900" dirty="0">
                <a:solidFill>
                  <a:srgbClr val="8899AA"/>
                </a:solidFill>
              </a:rPr>
              <a:t>诊断书</a:t>
            </a:r>
            <a:r>
              <a:rPr lang="en-US" sz="900" dirty="0">
                <a:solidFill>
                  <a:srgbClr val="8899AA"/>
                </a:solidFill>
              </a:rPr>
              <a:t> </a:t>
            </a:r>
            <a:endParaRPr lang="en-US" sz="1200" dirty="0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B8EA6BD7-9E04-3BF5-E089-AE5D63CC0578}"/>
              </a:ext>
            </a:extLst>
          </p:cNvPr>
          <p:cNvSpPr/>
          <p:nvPr/>
        </p:nvSpPr>
        <p:spPr>
          <a:xfrm>
            <a:off x="5365100" y="1104522"/>
            <a:ext cx="5923381" cy="37631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r>
              <a:rPr lang="en-US" altLang="zh-CN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mazon Quick </a:t>
            </a: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企微 / </a:t>
            </a:r>
            <a:r>
              <a:rPr lang="en-US" sz="1100" dirty="0" err="1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飞书</a:t>
            </a: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Bot</a:t>
            </a:r>
            <a:endParaRPr lang="en-US" sz="1100" dirty="0"/>
          </a:p>
        </p:txBody>
      </p:sp>
      <p:sp>
        <p:nvSpPr>
          <p:cNvPr id="21" name="Shape 6">
            <a:extLst>
              <a:ext uri="{FF2B5EF4-FFF2-40B4-BE49-F238E27FC236}">
                <a16:creationId xmlns:a16="http://schemas.microsoft.com/office/drawing/2014/main" id="{03DEE2F0-C36D-95FA-7E3F-E049A3DC6D80}"/>
              </a:ext>
            </a:extLst>
          </p:cNvPr>
          <p:cNvSpPr/>
          <p:nvPr/>
        </p:nvSpPr>
        <p:spPr>
          <a:xfrm>
            <a:off x="1649524" y="2104443"/>
            <a:ext cx="10015899" cy="1290221"/>
          </a:xfrm>
          <a:prstGeom prst="roundRect">
            <a:avLst>
              <a:gd name="adj" fmla="val 3333"/>
            </a:avLst>
          </a:prstGeom>
          <a:solidFill>
            <a:srgbClr val="0F1624"/>
          </a:solidFill>
          <a:ln w="1524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81AB4905-549B-61FD-A414-294B5B9B65AB}"/>
              </a:ext>
            </a:extLst>
          </p:cNvPr>
          <p:cNvSpPr/>
          <p:nvPr/>
        </p:nvSpPr>
        <p:spPr>
          <a:xfrm>
            <a:off x="1864920" y="2190458"/>
            <a:ext cx="3446331" cy="4838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</a:rPr>
              <a:t>AI </a:t>
            </a:r>
            <a:r>
              <a:rPr lang="en-US" sz="1200" b="1" dirty="0" err="1">
                <a:solidFill>
                  <a:srgbClr val="FF9900"/>
                </a:solidFill>
              </a:rPr>
              <a:t>编排层（后端</a:t>
            </a:r>
            <a:r>
              <a:rPr lang="en-US" sz="1200" b="1" dirty="0">
                <a:solidFill>
                  <a:srgbClr val="FF9900"/>
                </a:solidFill>
              </a:rPr>
              <a:t>）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Lambda </a:t>
            </a:r>
            <a:r>
              <a:rPr lang="en-US" sz="900" dirty="0" err="1">
                <a:solidFill>
                  <a:srgbClr val="8899AA"/>
                </a:solidFill>
              </a:rPr>
              <a:t>入口</a:t>
            </a:r>
            <a:endParaRPr lang="en-US" sz="1200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9B8C80A5-0F0E-8E3A-A5C1-DB885A91DCCB}"/>
              </a:ext>
            </a:extLst>
          </p:cNvPr>
          <p:cNvSpPr/>
          <p:nvPr/>
        </p:nvSpPr>
        <p:spPr>
          <a:xfrm>
            <a:off x="3178834" y="2662036"/>
            <a:ext cx="1400071" cy="487860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2582D25F-D63F-314C-D26E-DD738F45677C}"/>
              </a:ext>
            </a:extLst>
          </p:cNvPr>
          <p:cNvSpPr/>
          <p:nvPr/>
        </p:nvSpPr>
        <p:spPr>
          <a:xfrm>
            <a:off x="3178834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F2193148-9D9D-F087-F119-579126235B3B}"/>
              </a:ext>
            </a:extLst>
          </p:cNvPr>
          <p:cNvSpPr/>
          <p:nvPr/>
        </p:nvSpPr>
        <p:spPr>
          <a:xfrm>
            <a:off x="4665064" y="2662035"/>
            <a:ext cx="1400071" cy="487859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14">
            <a:extLst>
              <a:ext uri="{FF2B5EF4-FFF2-40B4-BE49-F238E27FC236}">
                <a16:creationId xmlns:a16="http://schemas.microsoft.com/office/drawing/2014/main" id="{E0A5AFAF-BC1B-35B1-7E24-ED37C44B2A18}"/>
              </a:ext>
            </a:extLst>
          </p:cNvPr>
          <p:cNvSpPr/>
          <p:nvPr/>
        </p:nvSpPr>
        <p:spPr>
          <a:xfrm>
            <a:off x="4665064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C17772B0-4DB5-4B36-9282-65B45C3F44E1}"/>
              </a:ext>
            </a:extLst>
          </p:cNvPr>
          <p:cNvSpPr/>
          <p:nvPr/>
        </p:nvSpPr>
        <p:spPr>
          <a:xfrm>
            <a:off x="6151295" y="2662036"/>
            <a:ext cx="1400071" cy="483832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16">
            <a:extLst>
              <a:ext uri="{FF2B5EF4-FFF2-40B4-BE49-F238E27FC236}">
                <a16:creationId xmlns:a16="http://schemas.microsoft.com/office/drawing/2014/main" id="{9780571D-4B49-0411-D83F-11E9D8F550C8}"/>
              </a:ext>
            </a:extLst>
          </p:cNvPr>
          <p:cNvSpPr/>
          <p:nvPr/>
        </p:nvSpPr>
        <p:spPr>
          <a:xfrm>
            <a:off x="6151295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Execution</a:t>
            </a:r>
            <a:endParaRPr lang="en-US" sz="1000" dirty="0"/>
          </a:p>
        </p:txBody>
      </p:sp>
      <p:sp>
        <p:nvSpPr>
          <p:cNvPr id="32" name="Shape 17">
            <a:extLst>
              <a:ext uri="{FF2B5EF4-FFF2-40B4-BE49-F238E27FC236}">
                <a16:creationId xmlns:a16="http://schemas.microsoft.com/office/drawing/2014/main" id="{BDA2B5D8-334A-D1E5-5B14-0F1830ADE00E}"/>
              </a:ext>
            </a:extLst>
          </p:cNvPr>
          <p:cNvSpPr/>
          <p:nvPr/>
        </p:nvSpPr>
        <p:spPr>
          <a:xfrm>
            <a:off x="7637525" y="2662035"/>
            <a:ext cx="1400071" cy="481371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18">
            <a:extLst>
              <a:ext uri="{FF2B5EF4-FFF2-40B4-BE49-F238E27FC236}">
                <a16:creationId xmlns:a16="http://schemas.microsoft.com/office/drawing/2014/main" id="{6A12E56A-29EE-CA55-3E2A-6D3F1B12443E}"/>
              </a:ext>
            </a:extLst>
          </p:cNvPr>
          <p:cNvSpPr/>
          <p:nvPr/>
        </p:nvSpPr>
        <p:spPr>
          <a:xfrm>
            <a:off x="7637525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Knowledge</a:t>
            </a:r>
            <a:endParaRPr lang="en-US" sz="1000" dirty="0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FC733C50-5894-2DD7-882E-400DCB03E671}"/>
              </a:ext>
            </a:extLst>
          </p:cNvPr>
          <p:cNvSpPr/>
          <p:nvPr/>
        </p:nvSpPr>
        <p:spPr>
          <a:xfrm>
            <a:off x="9123754" y="2662036"/>
            <a:ext cx="1453921" cy="487858"/>
          </a:xfrm>
          <a:prstGeom prst="roundRect">
            <a:avLst>
              <a:gd name="adj" fmla="val 7895"/>
            </a:avLst>
          </a:prstGeom>
          <a:solidFill>
            <a:srgbClr val="2A1F0A"/>
          </a:solidFill>
          <a:ln w="1016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DAB089BC-268F-B065-E65D-B11733A3024A}"/>
              </a:ext>
            </a:extLst>
          </p:cNvPr>
          <p:cNvSpPr/>
          <p:nvPr/>
        </p:nvSpPr>
        <p:spPr>
          <a:xfrm>
            <a:off x="9123755" y="2662036"/>
            <a:ext cx="1400072" cy="4085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</a:t>
            </a:r>
            <a:endParaRPr lang="en-US" sz="1000" dirty="0"/>
          </a:p>
        </p:txBody>
      </p:sp>
      <p:sp>
        <p:nvSpPr>
          <p:cNvPr id="36" name="Shape 22">
            <a:extLst>
              <a:ext uri="{FF2B5EF4-FFF2-40B4-BE49-F238E27FC236}">
                <a16:creationId xmlns:a16="http://schemas.microsoft.com/office/drawing/2014/main" id="{2ED7150C-C0D5-A656-A000-232740E77662}"/>
              </a:ext>
            </a:extLst>
          </p:cNvPr>
          <p:cNvSpPr/>
          <p:nvPr/>
        </p:nvSpPr>
        <p:spPr>
          <a:xfrm>
            <a:off x="1649524" y="3781731"/>
            <a:ext cx="10015899" cy="913907"/>
          </a:xfrm>
          <a:prstGeom prst="roundRect">
            <a:avLst>
              <a:gd name="adj" fmla="val 4706"/>
            </a:avLst>
          </a:prstGeom>
          <a:solidFill>
            <a:srgbClr val="0F1624"/>
          </a:solidFill>
          <a:ln w="1524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23">
            <a:extLst>
              <a:ext uri="{FF2B5EF4-FFF2-40B4-BE49-F238E27FC236}">
                <a16:creationId xmlns:a16="http://schemas.microsoft.com/office/drawing/2014/main" id="{F2315A11-8E28-056B-A739-163CE4644EBA}"/>
              </a:ext>
            </a:extLst>
          </p:cNvPr>
          <p:cNvSpPr/>
          <p:nvPr/>
        </p:nvSpPr>
        <p:spPr>
          <a:xfrm>
            <a:off x="1864920" y="3889249"/>
            <a:ext cx="3769424" cy="5913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4D9FFF"/>
                </a:solidFill>
              </a:rPr>
              <a:t>AWS 服务层</a:t>
            </a:r>
            <a:endParaRPr lang="en-US" sz="12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分析 / 检测 / 执行 / 追踪 / </a:t>
            </a:r>
            <a:r>
              <a:rPr lang="en-US" sz="900" dirty="0" err="1">
                <a:solidFill>
                  <a:srgbClr val="8899AA"/>
                </a:solidFill>
              </a:rPr>
              <a:t>推送</a:t>
            </a:r>
            <a:endParaRPr lang="en-US" sz="12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43CC60B2-E113-1B43-D648-E9AB64C8403D}"/>
              </a:ext>
            </a:extLst>
          </p:cNvPr>
          <p:cNvSpPr/>
          <p:nvPr/>
        </p:nvSpPr>
        <p:spPr>
          <a:xfrm>
            <a:off x="4251003" y="3911392"/>
            <a:ext cx="5923381" cy="645111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Agent · B</a:t>
            </a:r>
            <a:r>
              <a:rPr lang="en-US" altLang="zh-CN" sz="1100" dirty="0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edrock  Knowledge Bases· </a:t>
            </a:r>
            <a:r>
              <a:rPr lang="en-US" sz="1100" dirty="0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CloudWatch · </a:t>
            </a:r>
            <a:r>
              <a:rPr lang="en-US" sz="1100" dirty="0" err="1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EventBridge</a:t>
            </a:r>
            <a:r>
              <a:rPr lang="en-US" sz="1100" dirty="0">
                <a:solidFill>
                  <a:srgbClr val="A0C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SES </a:t>
            </a:r>
            <a:endParaRPr lang="en-US" sz="1100" dirty="0"/>
          </a:p>
        </p:txBody>
      </p:sp>
      <p:sp>
        <p:nvSpPr>
          <p:cNvPr id="39" name="Shape 26">
            <a:extLst>
              <a:ext uri="{FF2B5EF4-FFF2-40B4-BE49-F238E27FC236}">
                <a16:creationId xmlns:a16="http://schemas.microsoft.com/office/drawing/2014/main" id="{1C178F74-4A58-45F5-FC3C-A4A1DA0598C4}"/>
              </a:ext>
            </a:extLst>
          </p:cNvPr>
          <p:cNvSpPr/>
          <p:nvPr/>
        </p:nvSpPr>
        <p:spPr>
          <a:xfrm>
            <a:off x="1649524" y="5050449"/>
            <a:ext cx="10015899" cy="591351"/>
          </a:xfrm>
          <a:prstGeom prst="roundRect">
            <a:avLst>
              <a:gd name="adj" fmla="val 7273"/>
            </a:avLst>
          </a:prstGeom>
          <a:solidFill>
            <a:srgbClr val="0F1624"/>
          </a:solidFill>
          <a:ln w="15240">
            <a:solidFill>
              <a:srgbClr val="B050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27">
            <a:extLst>
              <a:ext uri="{FF2B5EF4-FFF2-40B4-BE49-F238E27FC236}">
                <a16:creationId xmlns:a16="http://schemas.microsoft.com/office/drawing/2014/main" id="{BCBFA5AC-B82B-74F8-490E-8077290B12F2}"/>
              </a:ext>
            </a:extLst>
          </p:cNvPr>
          <p:cNvSpPr/>
          <p:nvPr/>
        </p:nvSpPr>
        <p:spPr>
          <a:xfrm>
            <a:off x="1864920" y="5157967"/>
            <a:ext cx="1615468" cy="376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B050FF"/>
                </a:solidFill>
              </a:rPr>
              <a:t>存储层</a:t>
            </a:r>
            <a:endParaRPr lang="en-US" sz="1200" dirty="0"/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8EAC7599-E31E-3042-7E15-F945B0E3393D}"/>
              </a:ext>
            </a:extLst>
          </p:cNvPr>
          <p:cNvSpPr/>
          <p:nvPr/>
        </p:nvSpPr>
        <p:spPr>
          <a:xfrm>
            <a:off x="5365100" y="5157967"/>
            <a:ext cx="5923381" cy="376315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S3（HTML</a:t>
            </a:r>
            <a:r>
              <a:rPr lang="zh-CN" alt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诊断书 </a:t>
            </a:r>
            <a:r>
              <a:rPr lang="en-US" altLang="zh-CN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</a:t>
            </a: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KB</a:t>
            </a:r>
            <a:r>
              <a:rPr lang="zh-CN" alt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</a:t>
            </a: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） + DynamoDB</a:t>
            </a:r>
            <a:endParaRPr lang="en-US" sz="1000" dirty="0"/>
          </a:p>
        </p:txBody>
      </p:sp>
      <p:sp>
        <p:nvSpPr>
          <p:cNvPr id="45" name="箭头: 右 44">
            <a:extLst>
              <a:ext uri="{FF2B5EF4-FFF2-40B4-BE49-F238E27FC236}">
                <a16:creationId xmlns:a16="http://schemas.microsoft.com/office/drawing/2014/main" id="{37456084-F91E-7B43-8AA0-BE910931BDC0}"/>
              </a:ext>
            </a:extLst>
          </p:cNvPr>
          <p:cNvSpPr/>
          <p:nvPr/>
        </p:nvSpPr>
        <p:spPr>
          <a:xfrm>
            <a:off x="798237" y="1140517"/>
            <a:ext cx="474345" cy="255080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箭头: 右 45">
            <a:extLst>
              <a:ext uri="{FF2B5EF4-FFF2-40B4-BE49-F238E27FC236}">
                <a16:creationId xmlns:a16="http://schemas.microsoft.com/office/drawing/2014/main" id="{5212F0B0-891D-1F1B-2FD2-BB46154177BF}"/>
              </a:ext>
            </a:extLst>
          </p:cNvPr>
          <p:cNvSpPr/>
          <p:nvPr/>
        </p:nvSpPr>
        <p:spPr>
          <a:xfrm rot="10800000">
            <a:off x="830309" y="5218584"/>
            <a:ext cx="474345" cy="255080"/>
          </a:xfrm>
          <a:prstGeom prst="rightArrow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7069871-DE3B-2CBE-DDE4-3BEC28AB3431}"/>
              </a:ext>
            </a:extLst>
          </p:cNvPr>
          <p:cNvSpPr txBox="1"/>
          <p:nvPr/>
        </p:nvSpPr>
        <p:spPr>
          <a:xfrm>
            <a:off x="1649524" y="1718983"/>
            <a:ext cx="10015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API Gateway (REST) </a:t>
            </a:r>
            <a:endParaRPr lang="zh-CN" altLang="en-US" sz="14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DBC35ECA-B09E-AB06-979F-C01CCC849633}"/>
              </a:ext>
            </a:extLst>
          </p:cNvPr>
          <p:cNvSpPr txBox="1"/>
          <p:nvPr/>
        </p:nvSpPr>
        <p:spPr>
          <a:xfrm>
            <a:off x="1649521" y="3433369"/>
            <a:ext cx="10015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调用 </a:t>
            </a:r>
            <a:r>
              <a:rPr lang="en-US" altLang="zh-CN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AWS </a:t>
            </a:r>
            <a:r>
              <a:rPr lang="zh-CN" altLang="en-US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服务</a:t>
            </a:r>
            <a:endParaRPr lang="zh-CN" altLang="en-US" sz="14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D2E5A1F-7A6D-E118-879F-45640961B9CF}"/>
              </a:ext>
            </a:extLst>
          </p:cNvPr>
          <p:cNvSpPr txBox="1"/>
          <p:nvPr/>
        </p:nvSpPr>
        <p:spPr>
          <a:xfrm>
            <a:off x="1649522" y="4695638"/>
            <a:ext cx="100158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0" i="0" dirty="0">
                <a:solidFill>
                  <a:srgbClr val="6A7A94"/>
                </a:solidFill>
                <a:effectLst/>
                <a:latin typeface="Calibri" panose="020F0502020204030204" pitchFamily="34" charset="0"/>
              </a:rPr>
              <a:t>存储</a:t>
            </a:r>
            <a:endParaRPr lang="zh-CN" altLang="en-US" sz="1400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35572374-1EBE-3C0E-29FE-3913A80A7FE9}"/>
              </a:ext>
            </a:extLst>
          </p:cNvPr>
          <p:cNvSpPr txBox="1"/>
          <p:nvPr/>
        </p:nvSpPr>
        <p:spPr>
          <a:xfrm>
            <a:off x="3338292" y="2945371"/>
            <a:ext cx="12406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资源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指标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异常 发现</a:t>
            </a:r>
            <a:endParaRPr lang="zh-CN" altLang="en-US" sz="900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701EE9E-E6D4-D677-C66D-903BA679173B}"/>
              </a:ext>
            </a:extLst>
          </p:cNvPr>
          <p:cNvSpPr txBox="1"/>
          <p:nvPr/>
        </p:nvSpPr>
        <p:spPr>
          <a:xfrm>
            <a:off x="5046275" y="2951318"/>
            <a:ext cx="773407" cy="234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根因分析</a:t>
            </a:r>
            <a:endParaRPr lang="zh-CN" altLang="en-US" sz="900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13A2B321-0B9C-4019-7090-72F9DB89422E}"/>
              </a:ext>
            </a:extLst>
          </p:cNvPr>
          <p:cNvSpPr txBox="1"/>
          <p:nvPr/>
        </p:nvSpPr>
        <p:spPr>
          <a:xfrm>
            <a:off x="6525877" y="2941227"/>
            <a:ext cx="773407" cy="234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执行修复</a:t>
            </a:r>
            <a:endParaRPr lang="zh-CN" altLang="en-US" sz="9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68943EA0-15BD-7983-D4DC-B4A072569675}"/>
              </a:ext>
            </a:extLst>
          </p:cNvPr>
          <p:cNvSpPr txBox="1"/>
          <p:nvPr/>
        </p:nvSpPr>
        <p:spPr>
          <a:xfrm>
            <a:off x="7924941" y="2935958"/>
            <a:ext cx="103211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经验检索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沉淀</a:t>
            </a:r>
            <a:endParaRPr lang="zh-CN" altLang="en-US" sz="9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9C1DD934-480F-8162-555D-8AB57038668A}"/>
              </a:ext>
            </a:extLst>
          </p:cNvPr>
          <p:cNvSpPr txBox="1"/>
          <p:nvPr/>
        </p:nvSpPr>
        <p:spPr>
          <a:xfrm>
            <a:off x="9392127" y="2935958"/>
            <a:ext cx="109448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分析页</a:t>
            </a:r>
            <a:r>
              <a:rPr lang="en-US" altLang="zh-CN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900" dirty="0">
                <a:solidFill>
                  <a:srgbClr val="8899AA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报告页</a:t>
            </a:r>
            <a:endParaRPr lang="zh-CN" altLang="en-US" sz="9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ABB876-CC44-D5DF-E063-4689A9648288}"/>
              </a:ext>
            </a:extLst>
          </p:cNvPr>
          <p:cNvSpPr txBox="1"/>
          <p:nvPr/>
        </p:nvSpPr>
        <p:spPr>
          <a:xfrm>
            <a:off x="5365099" y="2327907"/>
            <a:ext cx="6096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zh-CN" alt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</a:rPr>
              <a:t>Strands Agent  ·  Bedrock Nova Pro</a:t>
            </a:r>
          </a:p>
        </p:txBody>
      </p:sp>
    </p:spTree>
    <p:extLst>
      <p:ext uri="{BB962C8B-B14F-4D97-AF65-F5344CB8AC3E}">
        <p14:creationId xmlns:p14="http://schemas.microsoft.com/office/powerpoint/2010/main" val="3945446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BEA2DC-5161-FC91-0304-DF724881D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11FD1E-9A60-FCB8-06AC-C6E0974EF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772" y="-29404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智能诊断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590EED7A-6DE0-36EC-6063-EEF01CD650A8}"/>
              </a:ext>
            </a:extLst>
          </p:cNvPr>
          <p:cNvGrpSpPr/>
          <p:nvPr/>
        </p:nvGrpSpPr>
        <p:grpSpPr>
          <a:xfrm>
            <a:off x="1943100" y="738632"/>
            <a:ext cx="8483600" cy="5154168"/>
            <a:chOff x="1403350" y="814832"/>
            <a:chExt cx="6858000" cy="5093208"/>
          </a:xfrm>
        </p:grpSpPr>
        <p:sp>
          <p:nvSpPr>
            <p:cNvPr id="3" name="Shape 3">
              <a:extLst>
                <a:ext uri="{FF2B5EF4-FFF2-40B4-BE49-F238E27FC236}">
                  <a16:creationId xmlns:a16="http://schemas.microsoft.com/office/drawing/2014/main" id="{E6776353-139D-B23B-4CC6-574DC093583A}"/>
                </a:ext>
              </a:extLst>
            </p:cNvPr>
            <p:cNvSpPr/>
            <p:nvPr/>
          </p:nvSpPr>
          <p:spPr>
            <a:xfrm>
              <a:off x="1403350" y="814832"/>
              <a:ext cx="6858000" cy="502920"/>
            </a:xfrm>
            <a:prstGeom prst="roundRect">
              <a:avLst>
                <a:gd name="adj" fmla="val 9091"/>
              </a:avLst>
            </a:prstGeom>
            <a:solidFill>
              <a:srgbClr val="1A2640"/>
            </a:solidFill>
            <a:ln w="12700">
              <a:solidFill>
                <a:srgbClr val="4D9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 4">
              <a:extLst>
                <a:ext uri="{FF2B5EF4-FFF2-40B4-BE49-F238E27FC236}">
                  <a16:creationId xmlns:a16="http://schemas.microsoft.com/office/drawing/2014/main" id="{8BEFEC63-7444-3A80-E433-6DF2B95648E2}"/>
                </a:ext>
              </a:extLst>
            </p:cNvPr>
            <p:cNvSpPr/>
            <p:nvPr/>
          </p:nvSpPr>
          <p:spPr>
            <a:xfrm>
              <a:off x="1586230" y="814832"/>
              <a:ext cx="6583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💬 </a:t>
              </a:r>
              <a:r>
                <a:rPr lang="en-US" sz="1300" dirty="0" err="1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用户</a:t>
              </a:r>
              <a:r>
                <a:rPr 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：“</a:t>
              </a:r>
              <a:r>
                <a:rPr lang="zh-CN" alt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订单服务超时</a:t>
              </a:r>
              <a:r>
                <a:rPr 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，</a:t>
              </a:r>
              <a:r>
                <a:rPr lang="en-US" sz="1300" dirty="0" err="1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帮我分析</a:t>
              </a:r>
              <a:r>
                <a:rPr lang="zh-CN" alt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下</a:t>
              </a:r>
              <a:r>
                <a:rPr lang="en-US" sz="1300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”</a:t>
              </a:r>
              <a:endParaRPr lang="en-US" sz="1300" dirty="0"/>
            </a:p>
          </p:txBody>
        </p:sp>
        <p:sp>
          <p:nvSpPr>
            <p:cNvPr id="44" name="Text 5">
              <a:extLst>
                <a:ext uri="{FF2B5EF4-FFF2-40B4-BE49-F238E27FC236}">
                  <a16:creationId xmlns:a16="http://schemas.microsoft.com/office/drawing/2014/main" id="{4785FCE9-B0CD-BAEB-F643-22DA003EF82D}"/>
                </a:ext>
              </a:extLst>
            </p:cNvPr>
            <p:cNvSpPr/>
            <p:nvPr/>
          </p:nvSpPr>
          <p:spPr>
            <a:xfrm>
              <a:off x="4420870" y="131775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9900"/>
                  </a:solidFill>
                </a:rPr>
                <a:t>▼</a:t>
              </a:r>
              <a:endParaRPr lang="en-US" sz="1400" dirty="0"/>
            </a:p>
          </p:txBody>
        </p:sp>
        <p:sp>
          <p:nvSpPr>
            <p:cNvPr id="45" name="Shape 6">
              <a:extLst>
                <a:ext uri="{FF2B5EF4-FFF2-40B4-BE49-F238E27FC236}">
                  <a16:creationId xmlns:a16="http://schemas.microsoft.com/office/drawing/2014/main" id="{5B360A1A-D17F-02B8-0E72-6C3D2158A815}"/>
                </a:ext>
              </a:extLst>
            </p:cNvPr>
            <p:cNvSpPr/>
            <p:nvPr/>
          </p:nvSpPr>
          <p:spPr>
            <a:xfrm>
              <a:off x="1403350" y="1637792"/>
              <a:ext cx="6858000" cy="411480"/>
            </a:xfrm>
            <a:prstGeom prst="roundRect">
              <a:avLst>
                <a:gd name="adj" fmla="val 8889"/>
              </a:avLst>
            </a:prstGeom>
            <a:solidFill>
              <a:srgbClr val="0A1A2A"/>
            </a:solidFill>
            <a:ln w="6350">
              <a:solidFill>
                <a:srgbClr val="8899A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 7">
              <a:extLst>
                <a:ext uri="{FF2B5EF4-FFF2-40B4-BE49-F238E27FC236}">
                  <a16:creationId xmlns:a16="http://schemas.microsoft.com/office/drawing/2014/main" id="{53E44A3F-EE3F-FB8A-0AA7-186D56EFFDB6}"/>
                </a:ext>
              </a:extLst>
            </p:cNvPr>
            <p:cNvSpPr/>
            <p:nvPr/>
          </p:nvSpPr>
          <p:spPr>
            <a:xfrm>
              <a:off x="1586230" y="1637792"/>
              <a:ext cx="658368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8899A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Quick Desktop AI → 选择 smart_diagnose MCP 工具</a:t>
              </a:r>
              <a:endParaRPr lang="en-US" sz="1100" dirty="0"/>
            </a:p>
          </p:txBody>
        </p:sp>
        <p:sp>
          <p:nvSpPr>
            <p:cNvPr id="47" name="Text 8">
              <a:extLst>
                <a:ext uri="{FF2B5EF4-FFF2-40B4-BE49-F238E27FC236}">
                  <a16:creationId xmlns:a16="http://schemas.microsoft.com/office/drawing/2014/main" id="{4D5F9A33-D186-072C-92F6-AE2C5F395034}"/>
                </a:ext>
              </a:extLst>
            </p:cNvPr>
            <p:cNvSpPr/>
            <p:nvPr/>
          </p:nvSpPr>
          <p:spPr>
            <a:xfrm>
              <a:off x="4420870" y="2049272"/>
              <a:ext cx="54864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400" dirty="0">
                  <a:solidFill>
                    <a:srgbClr val="FF9900"/>
                  </a:solidFill>
                </a:rPr>
                <a:t>▼</a:t>
              </a:r>
              <a:endParaRPr lang="en-US" sz="1400" dirty="0"/>
            </a:p>
          </p:txBody>
        </p:sp>
        <p:sp>
          <p:nvSpPr>
            <p:cNvPr id="48" name="Shape 9">
              <a:extLst>
                <a:ext uri="{FF2B5EF4-FFF2-40B4-BE49-F238E27FC236}">
                  <a16:creationId xmlns:a16="http://schemas.microsoft.com/office/drawing/2014/main" id="{392BA977-C98C-1D2E-BEC0-E518BBE0819F}"/>
                </a:ext>
              </a:extLst>
            </p:cNvPr>
            <p:cNvSpPr/>
            <p:nvPr/>
          </p:nvSpPr>
          <p:spPr>
            <a:xfrm>
              <a:off x="1403350" y="2369312"/>
              <a:ext cx="6858000" cy="457200"/>
            </a:xfrm>
            <a:prstGeom prst="roundRect">
              <a:avLst>
                <a:gd name="adj" fmla="val 10000"/>
              </a:avLst>
            </a:prstGeom>
            <a:solidFill>
              <a:srgbClr val="FF9900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Text 10">
              <a:extLst>
                <a:ext uri="{FF2B5EF4-FFF2-40B4-BE49-F238E27FC236}">
                  <a16:creationId xmlns:a16="http://schemas.microsoft.com/office/drawing/2014/main" id="{C5BC73B4-A45E-FB96-1197-A4C5B59DDED0}"/>
                </a:ext>
              </a:extLst>
            </p:cNvPr>
            <p:cNvSpPr/>
            <p:nvPr/>
          </p:nvSpPr>
          <p:spPr>
            <a:xfrm>
              <a:off x="1403350" y="2369312"/>
              <a:ext cx="68580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Strands Agent (Nova Pro 自动编排)</a:t>
              </a:r>
              <a:endParaRPr lang="en-US" sz="1300" dirty="0"/>
            </a:p>
          </p:txBody>
        </p:sp>
        <p:sp>
          <p:nvSpPr>
            <p:cNvPr id="50" name="Shape 11">
              <a:extLst>
                <a:ext uri="{FF2B5EF4-FFF2-40B4-BE49-F238E27FC236}">
                  <a16:creationId xmlns:a16="http://schemas.microsoft.com/office/drawing/2014/main" id="{C2BBEE05-AAED-1C50-8851-C0F94071298A}"/>
                </a:ext>
              </a:extLst>
            </p:cNvPr>
            <p:cNvSpPr/>
            <p:nvPr/>
          </p:nvSpPr>
          <p:spPr>
            <a:xfrm>
              <a:off x="1677670" y="3009392"/>
              <a:ext cx="6400800" cy="502920"/>
            </a:xfrm>
            <a:prstGeom prst="roundRect">
              <a:avLst>
                <a:gd name="adj" fmla="val 7273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Text 12">
              <a:extLst>
                <a:ext uri="{FF2B5EF4-FFF2-40B4-BE49-F238E27FC236}">
                  <a16:creationId xmlns:a16="http://schemas.microsoft.com/office/drawing/2014/main" id="{4DB80C22-CFDF-56E2-CF54-7178664FA879}"/>
                </a:ext>
              </a:extLst>
            </p:cNvPr>
            <p:cNvSpPr/>
            <p:nvPr/>
          </p:nvSpPr>
          <p:spPr>
            <a:xfrm>
              <a:off x="1769110" y="3009392"/>
              <a:ext cx="3657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9900"/>
                  </a:solidFill>
                </a:rPr>
                <a:t>①</a:t>
              </a:r>
              <a:endParaRPr lang="en-US" sz="1300" dirty="0"/>
            </a:p>
          </p:txBody>
        </p:sp>
        <p:sp>
          <p:nvSpPr>
            <p:cNvPr id="52" name="Text 13">
              <a:extLst>
                <a:ext uri="{FF2B5EF4-FFF2-40B4-BE49-F238E27FC236}">
                  <a16:creationId xmlns:a16="http://schemas.microsoft.com/office/drawing/2014/main" id="{B4074308-C595-42A9-B1FA-F628631B9734}"/>
                </a:ext>
              </a:extLst>
            </p:cNvPr>
            <p:cNvSpPr/>
            <p:nvPr/>
          </p:nvSpPr>
          <p:spPr>
            <a:xfrm>
              <a:off x="2226310" y="3009392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discover_service</a:t>
              </a:r>
              <a:endParaRPr lang="en-US" sz="1100" dirty="0"/>
            </a:p>
          </p:txBody>
        </p:sp>
        <p:sp>
          <p:nvSpPr>
            <p:cNvPr id="53" name="Text 14">
              <a:extLst>
                <a:ext uri="{FF2B5EF4-FFF2-40B4-BE49-F238E27FC236}">
                  <a16:creationId xmlns:a16="http://schemas.microsoft.com/office/drawing/2014/main" id="{46AEBE68-8F22-1B13-AAEA-E32CAD8ABBB2}"/>
                </a:ext>
              </a:extLst>
            </p:cNvPr>
            <p:cNvSpPr/>
            <p:nvPr/>
          </p:nvSpPr>
          <p:spPr>
            <a:xfrm>
              <a:off x="4329430" y="3009392"/>
              <a:ext cx="2743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AA"/>
                  </a:solidFill>
                </a:rPr>
                <a:t>→</a:t>
              </a:r>
              <a:endParaRPr lang="en-US" sz="1200" dirty="0"/>
            </a:p>
          </p:txBody>
        </p:sp>
        <p:sp>
          <p:nvSpPr>
            <p:cNvPr id="54" name="Text 15">
              <a:extLst>
                <a:ext uri="{FF2B5EF4-FFF2-40B4-BE49-F238E27FC236}">
                  <a16:creationId xmlns:a16="http://schemas.microsoft.com/office/drawing/2014/main" id="{4058CBD9-189F-989D-A382-852AA55692C7}"/>
                </a:ext>
              </a:extLst>
            </p:cNvPr>
            <p:cNvSpPr/>
            <p:nvPr/>
          </p:nvSpPr>
          <p:spPr>
            <a:xfrm>
              <a:off x="4695190" y="3009392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DOA chat</a:t>
              </a:r>
              <a:endParaRPr lang="en-US" sz="1100" dirty="0"/>
            </a:p>
          </p:txBody>
        </p:sp>
        <p:sp>
          <p:nvSpPr>
            <p:cNvPr id="55" name="Text 16">
              <a:extLst>
                <a:ext uri="{FF2B5EF4-FFF2-40B4-BE49-F238E27FC236}">
                  <a16:creationId xmlns:a16="http://schemas.microsoft.com/office/drawing/2014/main" id="{2E78166A-7A43-8DEA-14BE-19398379AE3F}"/>
                </a:ext>
              </a:extLst>
            </p:cNvPr>
            <p:cNvSpPr/>
            <p:nvPr/>
          </p:nvSpPr>
          <p:spPr>
            <a:xfrm>
              <a:off x="6798310" y="3009392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8899A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5-30s</a:t>
              </a:r>
              <a:endParaRPr lang="en-US" sz="1000" dirty="0"/>
            </a:p>
          </p:txBody>
        </p:sp>
        <p:sp>
          <p:nvSpPr>
            <p:cNvPr id="56" name="Shape 17">
              <a:extLst>
                <a:ext uri="{FF2B5EF4-FFF2-40B4-BE49-F238E27FC236}">
                  <a16:creationId xmlns:a16="http://schemas.microsoft.com/office/drawing/2014/main" id="{7DD0DAD2-1E54-8761-A760-00DBBB9BC215}"/>
                </a:ext>
              </a:extLst>
            </p:cNvPr>
            <p:cNvSpPr/>
            <p:nvPr/>
          </p:nvSpPr>
          <p:spPr>
            <a:xfrm>
              <a:off x="1677670" y="3585464"/>
              <a:ext cx="6400800" cy="502920"/>
            </a:xfrm>
            <a:prstGeom prst="roundRect">
              <a:avLst>
                <a:gd name="adj" fmla="val 7273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Text 18">
              <a:extLst>
                <a:ext uri="{FF2B5EF4-FFF2-40B4-BE49-F238E27FC236}">
                  <a16:creationId xmlns:a16="http://schemas.microsoft.com/office/drawing/2014/main" id="{86EF1E67-76A0-B711-0D10-5F8235EE22CC}"/>
                </a:ext>
              </a:extLst>
            </p:cNvPr>
            <p:cNvSpPr/>
            <p:nvPr/>
          </p:nvSpPr>
          <p:spPr>
            <a:xfrm>
              <a:off x="1769110" y="3585464"/>
              <a:ext cx="3657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9900"/>
                  </a:solidFill>
                </a:rPr>
                <a:t>②</a:t>
              </a:r>
              <a:endParaRPr lang="en-US" sz="1300" dirty="0"/>
            </a:p>
          </p:txBody>
        </p:sp>
        <p:sp>
          <p:nvSpPr>
            <p:cNvPr id="58" name="Text 19">
              <a:extLst>
                <a:ext uri="{FF2B5EF4-FFF2-40B4-BE49-F238E27FC236}">
                  <a16:creationId xmlns:a16="http://schemas.microsoft.com/office/drawing/2014/main" id="{158E5490-4351-49CF-35B7-D1539C9C3997}"/>
                </a:ext>
              </a:extLst>
            </p:cNvPr>
            <p:cNvSpPr/>
            <p:nvPr/>
          </p:nvSpPr>
          <p:spPr>
            <a:xfrm>
              <a:off x="2226310" y="3585464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deep_investigate</a:t>
              </a:r>
              <a:endParaRPr lang="en-US" sz="1100" dirty="0"/>
            </a:p>
          </p:txBody>
        </p:sp>
        <p:sp>
          <p:nvSpPr>
            <p:cNvPr id="59" name="Text 20">
              <a:extLst>
                <a:ext uri="{FF2B5EF4-FFF2-40B4-BE49-F238E27FC236}">
                  <a16:creationId xmlns:a16="http://schemas.microsoft.com/office/drawing/2014/main" id="{204CCC01-B5F4-D17F-B337-728FAD73669C}"/>
                </a:ext>
              </a:extLst>
            </p:cNvPr>
            <p:cNvSpPr/>
            <p:nvPr/>
          </p:nvSpPr>
          <p:spPr>
            <a:xfrm>
              <a:off x="4329430" y="3585464"/>
              <a:ext cx="2743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AA"/>
                  </a:solidFill>
                </a:rPr>
                <a:t>→</a:t>
              </a:r>
              <a:endParaRPr lang="en-US" sz="1200" dirty="0"/>
            </a:p>
          </p:txBody>
        </p:sp>
        <p:sp>
          <p:nvSpPr>
            <p:cNvPr id="60" name="Text 21">
              <a:extLst>
                <a:ext uri="{FF2B5EF4-FFF2-40B4-BE49-F238E27FC236}">
                  <a16:creationId xmlns:a16="http://schemas.microsoft.com/office/drawing/2014/main" id="{9055D65C-08A6-6021-3D14-B34224FFAB73}"/>
                </a:ext>
              </a:extLst>
            </p:cNvPr>
            <p:cNvSpPr/>
            <p:nvPr/>
          </p:nvSpPr>
          <p:spPr>
            <a:xfrm>
              <a:off x="4695190" y="3585464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DOA Investigation</a:t>
              </a:r>
              <a:endParaRPr lang="en-US" sz="1100" dirty="0"/>
            </a:p>
          </p:txBody>
        </p:sp>
        <p:sp>
          <p:nvSpPr>
            <p:cNvPr id="61" name="Text 22">
              <a:extLst>
                <a:ext uri="{FF2B5EF4-FFF2-40B4-BE49-F238E27FC236}">
                  <a16:creationId xmlns:a16="http://schemas.microsoft.com/office/drawing/2014/main" id="{BBB2215B-A74A-8613-B83E-27991747319D}"/>
                </a:ext>
              </a:extLst>
            </p:cNvPr>
            <p:cNvSpPr/>
            <p:nvPr/>
          </p:nvSpPr>
          <p:spPr>
            <a:xfrm>
              <a:off x="6798310" y="3585464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8899A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5-15min</a:t>
              </a:r>
              <a:endParaRPr lang="en-US" sz="1000" dirty="0"/>
            </a:p>
          </p:txBody>
        </p:sp>
        <p:sp>
          <p:nvSpPr>
            <p:cNvPr id="62" name="Shape 23">
              <a:extLst>
                <a:ext uri="{FF2B5EF4-FFF2-40B4-BE49-F238E27FC236}">
                  <a16:creationId xmlns:a16="http://schemas.microsoft.com/office/drawing/2014/main" id="{7330D4BA-FBF2-09EB-2FB3-A002636F4C09}"/>
                </a:ext>
              </a:extLst>
            </p:cNvPr>
            <p:cNvSpPr/>
            <p:nvPr/>
          </p:nvSpPr>
          <p:spPr>
            <a:xfrm>
              <a:off x="1677670" y="4161536"/>
              <a:ext cx="6400800" cy="502920"/>
            </a:xfrm>
            <a:prstGeom prst="roundRect">
              <a:avLst>
                <a:gd name="adj" fmla="val 7273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Text 24">
              <a:extLst>
                <a:ext uri="{FF2B5EF4-FFF2-40B4-BE49-F238E27FC236}">
                  <a16:creationId xmlns:a16="http://schemas.microsoft.com/office/drawing/2014/main" id="{4A149107-2FDA-1935-089C-5B30C2B90EFF}"/>
                </a:ext>
              </a:extLst>
            </p:cNvPr>
            <p:cNvSpPr/>
            <p:nvPr/>
          </p:nvSpPr>
          <p:spPr>
            <a:xfrm>
              <a:off x="1769110" y="4161536"/>
              <a:ext cx="3657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9900"/>
                  </a:solidFill>
                </a:rPr>
                <a:t>③</a:t>
              </a:r>
              <a:endParaRPr lang="en-US" sz="1300" dirty="0"/>
            </a:p>
          </p:txBody>
        </p:sp>
        <p:sp>
          <p:nvSpPr>
            <p:cNvPr id="64" name="Text 25">
              <a:extLst>
                <a:ext uri="{FF2B5EF4-FFF2-40B4-BE49-F238E27FC236}">
                  <a16:creationId xmlns:a16="http://schemas.microsoft.com/office/drawing/2014/main" id="{D2B6AE91-F151-A3D6-DCA9-23D860F1E0F6}"/>
                </a:ext>
              </a:extLst>
            </p:cNvPr>
            <p:cNvSpPr/>
            <p:nvPr/>
          </p:nvSpPr>
          <p:spPr>
            <a:xfrm>
              <a:off x="2226310" y="4161536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search_knowledge</a:t>
              </a:r>
              <a:endParaRPr lang="en-US" sz="1100" dirty="0"/>
            </a:p>
          </p:txBody>
        </p:sp>
        <p:sp>
          <p:nvSpPr>
            <p:cNvPr id="65" name="Text 26">
              <a:extLst>
                <a:ext uri="{FF2B5EF4-FFF2-40B4-BE49-F238E27FC236}">
                  <a16:creationId xmlns:a16="http://schemas.microsoft.com/office/drawing/2014/main" id="{7D2FEC2B-E572-1F8E-59D6-F1E4B83AEB51}"/>
                </a:ext>
              </a:extLst>
            </p:cNvPr>
            <p:cNvSpPr/>
            <p:nvPr/>
          </p:nvSpPr>
          <p:spPr>
            <a:xfrm>
              <a:off x="4329430" y="4161536"/>
              <a:ext cx="2743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AA"/>
                  </a:solidFill>
                </a:rPr>
                <a:t>→</a:t>
              </a:r>
              <a:endParaRPr lang="en-US" sz="1200" dirty="0"/>
            </a:p>
          </p:txBody>
        </p:sp>
        <p:sp>
          <p:nvSpPr>
            <p:cNvPr id="66" name="Text 27">
              <a:extLst>
                <a:ext uri="{FF2B5EF4-FFF2-40B4-BE49-F238E27FC236}">
                  <a16:creationId xmlns:a16="http://schemas.microsoft.com/office/drawing/2014/main" id="{C4B2DA62-8FE1-8047-3EEE-737BB3F78052}"/>
                </a:ext>
              </a:extLst>
            </p:cNvPr>
            <p:cNvSpPr/>
            <p:nvPr/>
          </p:nvSpPr>
          <p:spPr>
            <a:xfrm>
              <a:off x="4695190" y="4161536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Bedrock KB</a:t>
              </a:r>
              <a:endParaRPr lang="en-US" sz="1100" dirty="0"/>
            </a:p>
          </p:txBody>
        </p:sp>
        <p:sp>
          <p:nvSpPr>
            <p:cNvPr id="67" name="Text 28">
              <a:extLst>
                <a:ext uri="{FF2B5EF4-FFF2-40B4-BE49-F238E27FC236}">
                  <a16:creationId xmlns:a16="http://schemas.microsoft.com/office/drawing/2014/main" id="{7E363A3F-4802-66B4-08CA-E5C51065CFC6}"/>
                </a:ext>
              </a:extLst>
            </p:cNvPr>
            <p:cNvSpPr/>
            <p:nvPr/>
          </p:nvSpPr>
          <p:spPr>
            <a:xfrm>
              <a:off x="6798310" y="4161536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8899A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&lt;3s</a:t>
              </a:r>
              <a:endParaRPr lang="en-US" sz="1000" dirty="0"/>
            </a:p>
          </p:txBody>
        </p:sp>
        <p:sp>
          <p:nvSpPr>
            <p:cNvPr id="68" name="Shape 29">
              <a:extLst>
                <a:ext uri="{FF2B5EF4-FFF2-40B4-BE49-F238E27FC236}">
                  <a16:creationId xmlns:a16="http://schemas.microsoft.com/office/drawing/2014/main" id="{D5C1AE68-797F-D5F1-E6EA-137D011B0B7F}"/>
                </a:ext>
              </a:extLst>
            </p:cNvPr>
            <p:cNvSpPr/>
            <p:nvPr/>
          </p:nvSpPr>
          <p:spPr>
            <a:xfrm>
              <a:off x="1677670" y="4737608"/>
              <a:ext cx="6400800" cy="502920"/>
            </a:xfrm>
            <a:prstGeom prst="roundRect">
              <a:avLst>
                <a:gd name="adj" fmla="val 7273"/>
              </a:avLst>
            </a:prstGeom>
            <a:solidFill>
              <a:srgbClr val="1A2640"/>
            </a:solidFill>
            <a:ln w="6350">
              <a:solidFill>
                <a:srgbClr val="2A3A5A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Text 30">
              <a:extLst>
                <a:ext uri="{FF2B5EF4-FFF2-40B4-BE49-F238E27FC236}">
                  <a16:creationId xmlns:a16="http://schemas.microsoft.com/office/drawing/2014/main" id="{C2A117C3-E69D-3C77-9F99-1F0588C74105}"/>
                </a:ext>
              </a:extLst>
            </p:cNvPr>
            <p:cNvSpPr/>
            <p:nvPr/>
          </p:nvSpPr>
          <p:spPr>
            <a:xfrm>
              <a:off x="1769110" y="4737608"/>
              <a:ext cx="36576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9900"/>
                  </a:solidFill>
                </a:rPr>
                <a:t>④</a:t>
              </a:r>
              <a:endParaRPr lang="en-US" sz="1300" dirty="0"/>
            </a:p>
          </p:txBody>
        </p:sp>
        <p:sp>
          <p:nvSpPr>
            <p:cNvPr id="70" name="Text 31">
              <a:extLst>
                <a:ext uri="{FF2B5EF4-FFF2-40B4-BE49-F238E27FC236}">
                  <a16:creationId xmlns:a16="http://schemas.microsoft.com/office/drawing/2014/main" id="{E2370C41-AE57-0CA9-EBC4-8B4F088AB537}"/>
                </a:ext>
              </a:extLst>
            </p:cNvPr>
            <p:cNvSpPr/>
            <p:nvPr/>
          </p:nvSpPr>
          <p:spPr>
            <a:xfrm>
              <a:off x="2226310" y="4737608"/>
              <a:ext cx="21031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4D9FF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render_report</a:t>
              </a:r>
              <a:endParaRPr lang="en-US" sz="1100" dirty="0"/>
            </a:p>
          </p:txBody>
        </p:sp>
        <p:sp>
          <p:nvSpPr>
            <p:cNvPr id="71" name="Text 32">
              <a:extLst>
                <a:ext uri="{FF2B5EF4-FFF2-40B4-BE49-F238E27FC236}">
                  <a16:creationId xmlns:a16="http://schemas.microsoft.com/office/drawing/2014/main" id="{E3C7131E-CA64-47EA-9D44-68437FCBB9F4}"/>
                </a:ext>
              </a:extLst>
            </p:cNvPr>
            <p:cNvSpPr/>
            <p:nvPr/>
          </p:nvSpPr>
          <p:spPr>
            <a:xfrm>
              <a:off x="4329430" y="4737608"/>
              <a:ext cx="27432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8899AA"/>
                  </a:solidFill>
                </a:rPr>
                <a:t>→</a:t>
              </a:r>
              <a:endParaRPr lang="en-US" sz="1200" dirty="0"/>
            </a:p>
          </p:txBody>
        </p:sp>
        <p:sp>
          <p:nvSpPr>
            <p:cNvPr id="72" name="Text 33">
              <a:extLst>
                <a:ext uri="{FF2B5EF4-FFF2-40B4-BE49-F238E27FC236}">
                  <a16:creationId xmlns:a16="http://schemas.microsoft.com/office/drawing/2014/main" id="{08D1E2A8-A059-1AC4-C28B-19AB81E2D49C}"/>
                </a:ext>
              </a:extLst>
            </p:cNvPr>
            <p:cNvSpPr/>
            <p:nvPr/>
          </p:nvSpPr>
          <p:spPr>
            <a:xfrm>
              <a:off x="4695190" y="4737608"/>
              <a:ext cx="20116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Jinja2 → S3</a:t>
              </a:r>
              <a:endParaRPr lang="en-US" sz="1100" dirty="0"/>
            </a:p>
          </p:txBody>
        </p:sp>
        <p:sp>
          <p:nvSpPr>
            <p:cNvPr id="73" name="Text 34">
              <a:extLst>
                <a:ext uri="{FF2B5EF4-FFF2-40B4-BE49-F238E27FC236}">
                  <a16:creationId xmlns:a16="http://schemas.microsoft.com/office/drawing/2014/main" id="{0AD84D9F-2264-20C3-5130-1C8298CDBD5F}"/>
                </a:ext>
              </a:extLst>
            </p:cNvPr>
            <p:cNvSpPr/>
            <p:nvPr/>
          </p:nvSpPr>
          <p:spPr>
            <a:xfrm>
              <a:off x="6798310" y="4737608"/>
              <a:ext cx="1097280" cy="5029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r">
                <a:buNone/>
              </a:pPr>
              <a:r>
                <a:rPr lang="en-US" sz="1000" dirty="0">
                  <a:solidFill>
                    <a:srgbClr val="8899AA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&lt;5s</a:t>
              </a:r>
              <a:endParaRPr lang="en-US" sz="1000" dirty="0"/>
            </a:p>
          </p:txBody>
        </p:sp>
        <p:sp>
          <p:nvSpPr>
            <p:cNvPr id="74" name="Shape 35">
              <a:extLst>
                <a:ext uri="{FF2B5EF4-FFF2-40B4-BE49-F238E27FC236}">
                  <a16:creationId xmlns:a16="http://schemas.microsoft.com/office/drawing/2014/main" id="{C7413A37-B413-38AD-4F30-C3772604A4C1}"/>
                </a:ext>
              </a:extLst>
            </p:cNvPr>
            <p:cNvSpPr/>
            <p:nvPr/>
          </p:nvSpPr>
          <p:spPr>
            <a:xfrm>
              <a:off x="1403350" y="5450840"/>
              <a:ext cx="6858000" cy="457200"/>
            </a:xfrm>
            <a:prstGeom prst="roundRect">
              <a:avLst>
                <a:gd name="adj" fmla="val 8000"/>
              </a:avLst>
            </a:prstGeom>
            <a:solidFill>
              <a:srgbClr val="0A1A2A"/>
            </a:solidFill>
            <a:ln w="19050">
              <a:solidFill>
                <a:srgbClr val="36B37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Text 36">
              <a:extLst>
                <a:ext uri="{FF2B5EF4-FFF2-40B4-BE49-F238E27FC236}">
                  <a16:creationId xmlns:a16="http://schemas.microsoft.com/office/drawing/2014/main" id="{3824D517-8030-D5AE-F055-73BB68A2B7DB}"/>
                </a:ext>
              </a:extLst>
            </p:cNvPr>
            <p:cNvSpPr/>
            <p:nvPr/>
          </p:nvSpPr>
          <p:spPr>
            <a:xfrm>
              <a:off x="1586230" y="5450840"/>
              <a:ext cx="658368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✅ 输出：中文摘要 + HTML 诊断书 URL  ·  总耗时 ~35s</a:t>
              </a:r>
              <a:endParaRPr lang="en-US" sz="1200" dirty="0"/>
            </a:p>
          </p:txBody>
        </p:sp>
      </p:grpSp>
      <p:sp>
        <p:nvSpPr>
          <p:cNvPr id="89" name="Text 50">
            <a:extLst>
              <a:ext uri="{FF2B5EF4-FFF2-40B4-BE49-F238E27FC236}">
                <a16:creationId xmlns:a16="http://schemas.microsoft.com/office/drawing/2014/main" id="{48590A30-4F38-5189-FAB5-094C0E878A1E}"/>
              </a:ext>
            </a:extLst>
          </p:cNvPr>
          <p:cNvSpPr/>
          <p:nvPr/>
        </p:nvSpPr>
        <p:spPr>
          <a:xfrm>
            <a:off x="438150" y="6062472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“用户说一句话，Agent 自己决定调哪些 Tool、调几次、什么顺序”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17112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FCCE-7057-1812-4EBC-EBB7D9EA2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3BB3D-E5DA-53A8-567A-DAE963A3F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772" y="-29404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 HTML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诊断书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8C957161-1AC5-1343-DC17-45EC4C63B3D2}"/>
              </a:ext>
            </a:extLst>
          </p:cNvPr>
          <p:cNvSpPr/>
          <p:nvPr/>
        </p:nvSpPr>
        <p:spPr>
          <a:xfrm>
            <a:off x="457200" y="912428"/>
            <a:ext cx="5303520" cy="3291840"/>
          </a:xfrm>
          <a:prstGeom prst="roundRect">
            <a:avLst>
              <a:gd name="adj" fmla="val 1667"/>
            </a:avLst>
          </a:prstGeom>
          <a:solidFill>
            <a:srgbClr val="1A264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ED870124-7EC5-1B44-F5D5-6D5FF86A4BCA}"/>
              </a:ext>
            </a:extLst>
          </p:cNvPr>
          <p:cNvSpPr/>
          <p:nvPr/>
        </p:nvSpPr>
        <p:spPr>
          <a:xfrm>
            <a:off x="640080" y="100386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 Dashboard，是 AI 诊断书</a:t>
            </a:r>
            <a:endParaRPr lang="en-US" sz="14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FE1AA75-88B9-9344-D97C-335D4D728531}"/>
              </a:ext>
            </a:extLst>
          </p:cNvPr>
          <p:cNvSpPr/>
          <p:nvPr/>
        </p:nvSpPr>
        <p:spPr>
          <a:xfrm>
            <a:off x="731520" y="1461068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AB3EA2CA-8DCF-6F8D-1437-E9D0853F2E38}"/>
              </a:ext>
            </a:extLst>
          </p:cNvPr>
          <p:cNvSpPr/>
          <p:nvPr/>
        </p:nvSpPr>
        <p:spPr>
          <a:xfrm>
            <a:off x="1188720" y="1461068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数据图表</a:t>
            </a:r>
            <a:endParaRPr lang="en-US" sz="12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71734A69-6F10-3428-AFE4-B0ECACE8C33C}"/>
              </a:ext>
            </a:extLst>
          </p:cNvPr>
          <p:cNvSpPr/>
          <p:nvPr/>
        </p:nvSpPr>
        <p:spPr>
          <a:xfrm>
            <a:off x="2651760" y="1461068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趋势线、拓扑图、火焰图</a:t>
            </a:r>
            <a:endParaRPr lang="en-US" sz="10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132F9DC5-765C-A43C-2E9E-A4BA9E229533}"/>
              </a:ext>
            </a:extLst>
          </p:cNvPr>
          <p:cNvSpPr/>
          <p:nvPr/>
        </p:nvSpPr>
        <p:spPr>
          <a:xfrm>
            <a:off x="731520" y="1991420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DF0EBAE2-ED42-5D14-8656-D972BCF99EA3}"/>
              </a:ext>
            </a:extLst>
          </p:cNvPr>
          <p:cNvSpPr/>
          <p:nvPr/>
        </p:nvSpPr>
        <p:spPr>
          <a:xfrm>
            <a:off x="1188720" y="1991420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文字解读</a:t>
            </a:r>
            <a:endParaRPr lang="en-US" sz="1200" dirty="0"/>
          </a:p>
        </p:txBody>
      </p:sp>
      <p:sp>
        <p:nvSpPr>
          <p:cNvPr id="11" name="Text 10">
            <a:extLst>
              <a:ext uri="{FF2B5EF4-FFF2-40B4-BE49-F238E27FC236}">
                <a16:creationId xmlns:a16="http://schemas.microsoft.com/office/drawing/2014/main" id="{4E8670AC-C2AB-E1E3-1063-A0A6EC1DD39B}"/>
              </a:ext>
            </a:extLst>
          </p:cNvPr>
          <p:cNvSpPr/>
          <p:nvPr/>
        </p:nvSpPr>
        <p:spPr>
          <a:xfrm>
            <a:off x="2651760" y="1991420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"CPU 在 14:32 异常上升，与部署时间关联"</a:t>
            </a:r>
            <a:endParaRPr lang="en-US" sz="1000" dirty="0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AC033358-5D6E-E962-EFD4-FAD6C01C009F}"/>
              </a:ext>
            </a:extLst>
          </p:cNvPr>
          <p:cNvSpPr/>
          <p:nvPr/>
        </p:nvSpPr>
        <p:spPr>
          <a:xfrm>
            <a:off x="731520" y="2521772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DB49CEC4-73E5-0E91-33C3-FB99B1002B7F}"/>
              </a:ext>
            </a:extLst>
          </p:cNvPr>
          <p:cNvSpPr/>
          <p:nvPr/>
        </p:nvSpPr>
        <p:spPr>
          <a:xfrm>
            <a:off x="1188720" y="2521772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因果分析</a:t>
            </a:r>
            <a:endParaRPr lang="en-US" sz="12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2B01A787-6901-D18B-DF98-76A96E06AB02}"/>
              </a:ext>
            </a:extLst>
          </p:cNvPr>
          <p:cNvSpPr/>
          <p:nvPr/>
        </p:nvSpPr>
        <p:spPr>
          <a:xfrm>
            <a:off x="2651760" y="2521772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时间线 + 关联事件 + 依赖链路</a:t>
            </a:r>
            <a:endParaRPr lang="en-US" sz="10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8353D954-AACE-F48B-13A0-B0B0A2F248B4}"/>
              </a:ext>
            </a:extLst>
          </p:cNvPr>
          <p:cNvSpPr/>
          <p:nvPr/>
        </p:nvSpPr>
        <p:spPr>
          <a:xfrm>
            <a:off x="731520" y="3052124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💡</a:t>
            </a:r>
            <a:endParaRPr lang="en-US" sz="1600" dirty="0"/>
          </a:p>
        </p:txBody>
      </p:sp>
      <p:sp>
        <p:nvSpPr>
          <p:cNvPr id="16" name="Text 15">
            <a:extLst>
              <a:ext uri="{FF2B5EF4-FFF2-40B4-BE49-F238E27FC236}">
                <a16:creationId xmlns:a16="http://schemas.microsoft.com/office/drawing/2014/main" id="{9A4302AA-A177-1F43-F644-18BC345A119E}"/>
              </a:ext>
            </a:extLst>
          </p:cNvPr>
          <p:cNvSpPr/>
          <p:nvPr/>
        </p:nvSpPr>
        <p:spPr>
          <a:xfrm>
            <a:off x="1188720" y="3052124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操作建议</a:t>
            </a:r>
            <a:endParaRPr lang="en-US" sz="1200" dirty="0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87FC1A7A-4DFE-E13F-DBF5-157778003AA5}"/>
              </a:ext>
            </a:extLst>
          </p:cNvPr>
          <p:cNvSpPr/>
          <p:nvPr/>
        </p:nvSpPr>
        <p:spPr>
          <a:xfrm>
            <a:off x="2651760" y="3052124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"建议扩容 RDS Proxy 连接池 200→4 00"</a:t>
            </a:r>
            <a:endParaRPr lang="en-US" sz="10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4B14AE6E-66F2-31EE-F9E3-6A9B79C6D70B}"/>
              </a:ext>
            </a:extLst>
          </p:cNvPr>
          <p:cNvSpPr/>
          <p:nvPr/>
        </p:nvSpPr>
        <p:spPr>
          <a:xfrm>
            <a:off x="731520" y="3582476"/>
            <a:ext cx="365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📎</a:t>
            </a:r>
            <a:endParaRPr lang="en-US" sz="16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F6BE3FD2-DE0A-6042-BDB3-D75ED7B00ACF}"/>
              </a:ext>
            </a:extLst>
          </p:cNvPr>
          <p:cNvSpPr/>
          <p:nvPr/>
        </p:nvSpPr>
        <p:spPr>
          <a:xfrm>
            <a:off x="1188720" y="3582476"/>
            <a:ext cx="14630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证据链</a:t>
            </a:r>
            <a:endParaRPr lang="en-US" sz="12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8BB424F5-74A5-CEC2-3C0D-654B44EC1187}"/>
              </a:ext>
            </a:extLst>
          </p:cNvPr>
          <p:cNvSpPr/>
          <p:nvPr/>
        </p:nvSpPr>
        <p:spPr>
          <a:xfrm>
            <a:off x="2651760" y="3582476"/>
            <a:ext cx="29260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日志片段 + Trace ID + 部署记录</a:t>
            </a:r>
            <a:endParaRPr lang="en-US" sz="10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ACFB9698-22A2-2021-287C-B43B08831594}"/>
              </a:ext>
            </a:extLst>
          </p:cNvPr>
          <p:cNvSpPr/>
          <p:nvPr/>
        </p:nvSpPr>
        <p:spPr>
          <a:xfrm>
            <a:off x="640080" y="4286564"/>
            <a:ext cx="4937760" cy="457200"/>
          </a:xfrm>
          <a:prstGeom prst="roundRect">
            <a:avLst>
              <a:gd name="adj" fmla="val 8000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4E5B2DE-16B3-47FB-B0A5-298D574E125D}"/>
              </a:ext>
            </a:extLst>
          </p:cNvPr>
          <p:cNvSpPr/>
          <p:nvPr/>
        </p:nvSpPr>
        <p:spPr>
          <a:xfrm>
            <a:off x="731520" y="4286564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类比：传统 Dashboard = 体检数值表；NLOps 诊断书 = 医生写的诊断报告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AB7C536B-F384-EC26-7674-6567A7F0AEE1}"/>
              </a:ext>
            </a:extLst>
          </p:cNvPr>
          <p:cNvSpPr/>
          <p:nvPr/>
        </p:nvSpPr>
        <p:spPr>
          <a:xfrm>
            <a:off x="6133338" y="1387916"/>
            <a:ext cx="5605272" cy="2377440"/>
          </a:xfrm>
          <a:prstGeom prst="roundRect">
            <a:avLst>
              <a:gd name="adj" fmla="val 2308"/>
            </a:avLst>
          </a:prstGeom>
          <a:solidFill>
            <a:srgbClr val="1A2640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AD347AF-227A-C1F0-F3D3-689356EDFD09}"/>
              </a:ext>
            </a:extLst>
          </p:cNvPr>
          <p:cNvSpPr/>
          <p:nvPr/>
        </p:nvSpPr>
        <p:spPr>
          <a:xfrm>
            <a:off x="6316218" y="1479356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生成流程</a:t>
            </a:r>
            <a:endParaRPr lang="en-US" sz="12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9A5CE87-30F2-1B79-D4A4-B693F22D9A4B}"/>
              </a:ext>
            </a:extLst>
          </p:cNvPr>
          <p:cNvSpPr/>
          <p:nvPr/>
        </p:nvSpPr>
        <p:spPr>
          <a:xfrm>
            <a:off x="6316218" y="1890836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9FFF"/>
                </a:solidFill>
              </a:rPr>
              <a:t>①</a:t>
            </a:r>
            <a:endParaRPr lang="en-US" sz="12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BAEC9F5A-9F60-A3D5-4950-98D08005F5D2}"/>
              </a:ext>
            </a:extLst>
          </p:cNvPr>
          <p:cNvSpPr/>
          <p:nvPr/>
        </p:nvSpPr>
        <p:spPr>
          <a:xfrm>
            <a:off x="6727698" y="1890836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分析完成 → 结构化结果 (JSON)</a:t>
            </a:r>
            <a:endParaRPr lang="en-US" sz="11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A94572CA-4DB6-36FF-60F3-06370A5998C5}"/>
              </a:ext>
            </a:extLst>
          </p:cNvPr>
          <p:cNvSpPr/>
          <p:nvPr/>
        </p:nvSpPr>
        <p:spPr>
          <a:xfrm>
            <a:off x="6407658" y="2192588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D9FFF"/>
                </a:solidFill>
              </a:rPr>
              <a:t>▼</a:t>
            </a:r>
            <a:endParaRPr lang="en-US" sz="8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CB45E85A-52D8-DDB3-831F-EC033ACD907C}"/>
              </a:ext>
            </a:extLst>
          </p:cNvPr>
          <p:cNvSpPr/>
          <p:nvPr/>
        </p:nvSpPr>
        <p:spPr>
          <a:xfrm>
            <a:off x="6316218" y="2274884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9FFF"/>
                </a:solidFill>
              </a:rPr>
              <a:t>②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DE06CFEE-0F6C-4AD2-E559-793C1A3F7C14}"/>
              </a:ext>
            </a:extLst>
          </p:cNvPr>
          <p:cNvSpPr/>
          <p:nvPr/>
        </p:nvSpPr>
        <p:spPr>
          <a:xfrm>
            <a:off x="6727698" y="2274884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Jinja2 模板引擎渲染 (ECharts 图表)</a:t>
            </a:r>
            <a:endParaRPr lang="en-US" sz="11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655F025-08D1-73F2-1D9C-3AB63703ED48}"/>
              </a:ext>
            </a:extLst>
          </p:cNvPr>
          <p:cNvSpPr/>
          <p:nvPr/>
        </p:nvSpPr>
        <p:spPr>
          <a:xfrm>
            <a:off x="6407658" y="2576636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D9FFF"/>
                </a:solidFill>
              </a:rPr>
              <a:t>▼</a:t>
            </a:r>
            <a:endParaRPr lang="en-US" sz="8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8925E7F-7BAC-1543-5292-3B212A2A3EAD}"/>
              </a:ext>
            </a:extLst>
          </p:cNvPr>
          <p:cNvSpPr/>
          <p:nvPr/>
        </p:nvSpPr>
        <p:spPr>
          <a:xfrm>
            <a:off x="6316218" y="2658932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9FFF"/>
                </a:solidFill>
              </a:rPr>
              <a:t>③</a:t>
            </a:r>
            <a:endParaRPr lang="en-US" sz="1200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634D7780-D160-2E98-BA4B-19BC54824293}"/>
              </a:ext>
            </a:extLst>
          </p:cNvPr>
          <p:cNvSpPr/>
          <p:nvPr/>
        </p:nvSpPr>
        <p:spPr>
          <a:xfrm>
            <a:off x="6727698" y="2658932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上传 S3 → Presigned URL (30 天有效)</a:t>
            </a:r>
            <a:endParaRPr lang="en-US" sz="110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F78201C-9FBE-95B6-5600-0CD74EF22709}"/>
              </a:ext>
            </a:extLst>
          </p:cNvPr>
          <p:cNvSpPr/>
          <p:nvPr/>
        </p:nvSpPr>
        <p:spPr>
          <a:xfrm>
            <a:off x="6407658" y="2960684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D9FFF"/>
                </a:solidFill>
              </a:rPr>
              <a:t>▼</a:t>
            </a:r>
            <a:endParaRPr lang="en-US" sz="8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89607F7-4EB6-F362-FFE1-667EEBC1B6A8}"/>
              </a:ext>
            </a:extLst>
          </p:cNvPr>
          <p:cNvSpPr/>
          <p:nvPr/>
        </p:nvSpPr>
        <p:spPr>
          <a:xfrm>
            <a:off x="6316218" y="3042980"/>
            <a:ext cx="365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D9FFF"/>
                </a:solidFill>
              </a:rPr>
              <a:t>④</a:t>
            </a:r>
            <a:endParaRPr lang="en-US" sz="12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588AE5E4-2C2B-461E-D0CE-39378C500422}"/>
              </a:ext>
            </a:extLst>
          </p:cNvPr>
          <p:cNvSpPr/>
          <p:nvPr/>
        </p:nvSpPr>
        <p:spPr>
          <a:xfrm>
            <a:off x="6727698" y="3042980"/>
            <a:ext cx="4846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返回给用户 (Quick: 链接 / IM: 卡片)</a:t>
            </a:r>
            <a:endParaRPr lang="en-US" sz="1100" dirty="0"/>
          </a:p>
        </p:txBody>
      </p:sp>
      <p:sp>
        <p:nvSpPr>
          <p:cNvPr id="85" name="Shape 51">
            <a:extLst>
              <a:ext uri="{FF2B5EF4-FFF2-40B4-BE49-F238E27FC236}">
                <a16:creationId xmlns:a16="http://schemas.microsoft.com/office/drawing/2014/main" id="{AB734619-814E-FD0A-A63D-1738B9AE3BFC}"/>
              </a:ext>
            </a:extLst>
          </p:cNvPr>
          <p:cNvSpPr/>
          <p:nvPr/>
        </p:nvSpPr>
        <p:spPr>
          <a:xfrm>
            <a:off x="457200" y="5164388"/>
            <a:ext cx="11274552" cy="502920"/>
          </a:xfrm>
          <a:prstGeom prst="roundRect">
            <a:avLst>
              <a:gd name="adj" fmla="val 7273"/>
            </a:avLst>
          </a:prstGeom>
          <a:solidFill>
            <a:srgbClr val="0A1A2A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Text 52">
            <a:extLst>
              <a:ext uri="{FF2B5EF4-FFF2-40B4-BE49-F238E27FC236}">
                <a16:creationId xmlns:a16="http://schemas.microsoft.com/office/drawing/2014/main" id="{90B49A4F-6067-5DE4-525F-109AE8B2C39C}"/>
              </a:ext>
            </a:extLst>
          </p:cNvPr>
          <p:cNvSpPr/>
          <p:nvPr/>
        </p:nvSpPr>
        <p:spPr>
          <a:xfrm>
            <a:off x="640080" y="5164388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URL 30天有效  ·  每次追问生成新页面  ·  支持 ECharts 交互图表  ·  手机/电脑双端友好</a:t>
            </a:r>
            <a:endParaRPr lang="en-US" sz="1100" dirty="0"/>
          </a:p>
        </p:txBody>
      </p:sp>
      <p:sp>
        <p:nvSpPr>
          <p:cNvPr id="87" name="Text 53">
            <a:extLst>
              <a:ext uri="{FF2B5EF4-FFF2-40B4-BE49-F238E27FC236}">
                <a16:creationId xmlns:a16="http://schemas.microsoft.com/office/drawing/2014/main" id="{CCD68D4A-3C16-3828-0CBC-D0795A4E4AD4}"/>
              </a:ext>
            </a:extLst>
          </p:cNvPr>
          <p:cNvSpPr/>
          <p:nvPr/>
        </p:nvSpPr>
        <p:spPr>
          <a:xfrm>
            <a:off x="457200" y="589590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“不给数字给结论，不给图表给解读”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680552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E06CD-107D-2450-7553-A2BFB56D9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C5F664-CC1C-7FD4-F10C-5DCD5829D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772" y="-29404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告警自动闭环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3" name="Text 3">
            <a:extLst>
              <a:ext uri="{FF2B5EF4-FFF2-40B4-BE49-F238E27FC236}">
                <a16:creationId xmlns:a16="http://schemas.microsoft.com/office/drawing/2014/main" id="{8C4D9F58-C8B4-B66C-A278-04FCD95ADE9B}"/>
              </a:ext>
            </a:extLst>
          </p:cNvPr>
          <p:cNvSpPr/>
          <p:nvPr/>
        </p:nvSpPr>
        <p:spPr>
          <a:xfrm>
            <a:off x="994410" y="90681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凌晨告警 → 自动调查 → 诊断书 + </a:t>
            </a:r>
            <a:r>
              <a:rPr lang="en-US" sz="1300" i="1" dirty="0" err="1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</a:t>
            </a:r>
            <a:endParaRPr lang="en-US" sz="1300" dirty="0"/>
          </a:p>
        </p:txBody>
      </p:sp>
      <p:sp>
        <p:nvSpPr>
          <p:cNvPr id="22" name="Shape 4">
            <a:extLst>
              <a:ext uri="{FF2B5EF4-FFF2-40B4-BE49-F238E27FC236}">
                <a16:creationId xmlns:a16="http://schemas.microsoft.com/office/drawing/2014/main" id="{8084B369-300C-B22A-123D-538E7A45645E}"/>
              </a:ext>
            </a:extLst>
          </p:cNvPr>
          <p:cNvSpPr/>
          <p:nvPr/>
        </p:nvSpPr>
        <p:spPr>
          <a:xfrm>
            <a:off x="737870" y="1550162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FF6B6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5">
            <a:extLst>
              <a:ext uri="{FF2B5EF4-FFF2-40B4-BE49-F238E27FC236}">
                <a16:creationId xmlns:a16="http://schemas.microsoft.com/office/drawing/2014/main" id="{55A17448-C1E4-9298-1690-0CBA4877497C}"/>
              </a:ext>
            </a:extLst>
          </p:cNvPr>
          <p:cNvSpPr/>
          <p:nvPr/>
        </p:nvSpPr>
        <p:spPr>
          <a:xfrm>
            <a:off x="737870" y="1550162"/>
            <a:ext cx="54864" cy="640080"/>
          </a:xfrm>
          <a:prstGeom prst="rect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6">
            <a:extLst>
              <a:ext uri="{FF2B5EF4-FFF2-40B4-BE49-F238E27FC236}">
                <a16:creationId xmlns:a16="http://schemas.microsoft.com/office/drawing/2014/main" id="{8F3710D9-861B-989D-4477-1A2B1767F6BC}"/>
              </a:ext>
            </a:extLst>
          </p:cNvPr>
          <p:cNvSpPr/>
          <p:nvPr/>
        </p:nvSpPr>
        <p:spPr>
          <a:xfrm>
            <a:off x="920750" y="1550162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</a:rPr>
              <a:t>①</a:t>
            </a:r>
            <a:endParaRPr lang="en-US" sz="1400" dirty="0"/>
          </a:p>
        </p:txBody>
      </p:sp>
      <p:sp>
        <p:nvSpPr>
          <p:cNvPr id="46" name="Text 7">
            <a:extLst>
              <a:ext uri="{FF2B5EF4-FFF2-40B4-BE49-F238E27FC236}">
                <a16:creationId xmlns:a16="http://schemas.microsoft.com/office/drawing/2014/main" id="{F517CC1D-227E-24D3-3B42-D44B194441BB}"/>
              </a:ext>
            </a:extLst>
          </p:cNvPr>
          <p:cNvSpPr/>
          <p:nvPr/>
        </p:nvSpPr>
        <p:spPr>
          <a:xfrm>
            <a:off x="1377950" y="159588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CW Alarm 触发</a:t>
            </a:r>
            <a:endParaRPr lang="en-US" sz="1200" dirty="0"/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ADDDD9A0-8AD9-4D02-1A7A-38FFCC167825}"/>
              </a:ext>
            </a:extLst>
          </p:cNvPr>
          <p:cNvSpPr/>
          <p:nvPr/>
        </p:nvSpPr>
        <p:spPr>
          <a:xfrm>
            <a:off x="1377950" y="187020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CloudWatch 告警进入 ALARM 状态</a:t>
            </a:r>
            <a:endParaRPr lang="en-US" sz="1000" dirty="0"/>
          </a:p>
        </p:txBody>
      </p:sp>
      <p:sp>
        <p:nvSpPr>
          <p:cNvPr id="49" name="Shape 10">
            <a:extLst>
              <a:ext uri="{FF2B5EF4-FFF2-40B4-BE49-F238E27FC236}">
                <a16:creationId xmlns:a16="http://schemas.microsoft.com/office/drawing/2014/main" id="{EEBE71C3-E179-BB33-BDE3-A02DAAAAE151}"/>
              </a:ext>
            </a:extLst>
          </p:cNvPr>
          <p:cNvSpPr/>
          <p:nvPr/>
        </p:nvSpPr>
        <p:spPr>
          <a:xfrm>
            <a:off x="6297932" y="1545022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4D9FFF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40FA9B50-9724-D747-F50B-C0208E9977E4}"/>
              </a:ext>
            </a:extLst>
          </p:cNvPr>
          <p:cNvSpPr/>
          <p:nvPr/>
        </p:nvSpPr>
        <p:spPr>
          <a:xfrm>
            <a:off x="6297932" y="1545022"/>
            <a:ext cx="54864" cy="640080"/>
          </a:xfrm>
          <a:prstGeom prst="rect">
            <a:avLst/>
          </a:prstGeom>
          <a:solidFill>
            <a:srgbClr val="4D9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12">
            <a:extLst>
              <a:ext uri="{FF2B5EF4-FFF2-40B4-BE49-F238E27FC236}">
                <a16:creationId xmlns:a16="http://schemas.microsoft.com/office/drawing/2014/main" id="{6F9B06F3-AE6E-DF4E-C937-DBBD7C9374DC}"/>
              </a:ext>
            </a:extLst>
          </p:cNvPr>
          <p:cNvSpPr/>
          <p:nvPr/>
        </p:nvSpPr>
        <p:spPr>
          <a:xfrm>
            <a:off x="6480812" y="1545022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D9FFF"/>
                </a:solidFill>
              </a:rPr>
              <a:t>②</a:t>
            </a:r>
            <a:endParaRPr lang="en-US" sz="1400" dirty="0"/>
          </a:p>
        </p:txBody>
      </p:sp>
      <p:sp>
        <p:nvSpPr>
          <p:cNvPr id="52" name="Text 13">
            <a:extLst>
              <a:ext uri="{FF2B5EF4-FFF2-40B4-BE49-F238E27FC236}">
                <a16:creationId xmlns:a16="http://schemas.microsoft.com/office/drawing/2014/main" id="{55305400-F2EC-0B65-872E-6481C8CEA98E}"/>
              </a:ext>
            </a:extLst>
          </p:cNvPr>
          <p:cNvSpPr/>
          <p:nvPr/>
        </p:nvSpPr>
        <p:spPr>
          <a:xfrm>
            <a:off x="6938012" y="159074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DOA 自动调查</a:t>
            </a:r>
            <a:endParaRPr lang="en-US" sz="1200" dirty="0"/>
          </a:p>
        </p:txBody>
      </p:sp>
      <p:sp>
        <p:nvSpPr>
          <p:cNvPr id="53" name="Text 14">
            <a:extLst>
              <a:ext uri="{FF2B5EF4-FFF2-40B4-BE49-F238E27FC236}">
                <a16:creationId xmlns:a16="http://schemas.microsoft.com/office/drawing/2014/main" id="{822D2731-3C67-152D-6FED-01627257D857}"/>
              </a:ext>
            </a:extLst>
          </p:cNvPr>
          <p:cNvSpPr/>
          <p:nvPr/>
        </p:nvSpPr>
        <p:spPr>
          <a:xfrm>
            <a:off x="6938012" y="186506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DevOps Agent 启动 Investigation (5-15min)</a:t>
            </a:r>
            <a:endParaRPr lang="en-US" sz="1000" dirty="0"/>
          </a:p>
        </p:txBody>
      </p:sp>
      <p:sp>
        <p:nvSpPr>
          <p:cNvPr id="55" name="Shape 16">
            <a:extLst>
              <a:ext uri="{FF2B5EF4-FFF2-40B4-BE49-F238E27FC236}">
                <a16:creationId xmlns:a16="http://schemas.microsoft.com/office/drawing/2014/main" id="{291DF86D-BF10-331A-B3A0-91F7B1ABA57F}"/>
              </a:ext>
            </a:extLst>
          </p:cNvPr>
          <p:cNvSpPr/>
          <p:nvPr/>
        </p:nvSpPr>
        <p:spPr>
          <a:xfrm>
            <a:off x="737870" y="2569718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17">
            <a:extLst>
              <a:ext uri="{FF2B5EF4-FFF2-40B4-BE49-F238E27FC236}">
                <a16:creationId xmlns:a16="http://schemas.microsoft.com/office/drawing/2014/main" id="{FE174C43-3A40-300C-260E-D6BB6CAF01D2}"/>
              </a:ext>
            </a:extLst>
          </p:cNvPr>
          <p:cNvSpPr/>
          <p:nvPr/>
        </p:nvSpPr>
        <p:spPr>
          <a:xfrm>
            <a:off x="737870" y="2569718"/>
            <a:ext cx="54864" cy="640080"/>
          </a:xfrm>
          <a:prstGeom prst="rect">
            <a:avLst/>
          </a:prstGeom>
          <a:solidFill>
            <a:srgbClr val="36B37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18">
            <a:extLst>
              <a:ext uri="{FF2B5EF4-FFF2-40B4-BE49-F238E27FC236}">
                <a16:creationId xmlns:a16="http://schemas.microsoft.com/office/drawing/2014/main" id="{12D88841-BFEC-976A-DA5B-FB733E1E2F37}"/>
              </a:ext>
            </a:extLst>
          </p:cNvPr>
          <p:cNvSpPr/>
          <p:nvPr/>
        </p:nvSpPr>
        <p:spPr>
          <a:xfrm>
            <a:off x="920750" y="256971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6B37E"/>
                </a:solidFill>
              </a:rPr>
              <a:t>③</a:t>
            </a:r>
            <a:endParaRPr lang="en-US" sz="1400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F1587DBD-0D31-7417-F15E-7615C9595E71}"/>
              </a:ext>
            </a:extLst>
          </p:cNvPr>
          <p:cNvSpPr/>
          <p:nvPr/>
        </p:nvSpPr>
        <p:spPr>
          <a:xfrm>
            <a:off x="1377950" y="261543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EventBridge 回调</a:t>
            </a:r>
            <a:endParaRPr lang="en-US" sz="1200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D3797C76-8AEE-2F4C-3C00-E391655E6DB6}"/>
              </a:ext>
            </a:extLst>
          </p:cNvPr>
          <p:cNvSpPr/>
          <p:nvPr/>
        </p:nvSpPr>
        <p:spPr>
          <a:xfrm>
            <a:off x="1377950" y="288975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source=aws.aidevops → L1 eventbridge_handler</a:t>
            </a:r>
            <a:endParaRPr lang="en-US" sz="1000" dirty="0"/>
          </a:p>
        </p:txBody>
      </p:sp>
      <p:sp>
        <p:nvSpPr>
          <p:cNvPr id="61" name="Shape 22">
            <a:extLst>
              <a:ext uri="{FF2B5EF4-FFF2-40B4-BE49-F238E27FC236}">
                <a16:creationId xmlns:a16="http://schemas.microsoft.com/office/drawing/2014/main" id="{9EE2DBA4-03BE-652A-8E03-8C90A16DE18C}"/>
              </a:ext>
            </a:extLst>
          </p:cNvPr>
          <p:cNvSpPr/>
          <p:nvPr/>
        </p:nvSpPr>
        <p:spPr>
          <a:xfrm>
            <a:off x="6297932" y="2569718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FFCC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23">
            <a:extLst>
              <a:ext uri="{FF2B5EF4-FFF2-40B4-BE49-F238E27FC236}">
                <a16:creationId xmlns:a16="http://schemas.microsoft.com/office/drawing/2014/main" id="{3094795A-179F-4700-3A2F-D4EE4388833D}"/>
              </a:ext>
            </a:extLst>
          </p:cNvPr>
          <p:cNvSpPr/>
          <p:nvPr/>
        </p:nvSpPr>
        <p:spPr>
          <a:xfrm>
            <a:off x="6297932" y="2569718"/>
            <a:ext cx="54864" cy="640080"/>
          </a:xfrm>
          <a:prstGeom prst="rect">
            <a:avLst/>
          </a:prstGeom>
          <a:solidFill>
            <a:srgbClr val="FFCC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24">
            <a:extLst>
              <a:ext uri="{FF2B5EF4-FFF2-40B4-BE49-F238E27FC236}">
                <a16:creationId xmlns:a16="http://schemas.microsoft.com/office/drawing/2014/main" id="{CC589F65-C624-ACDC-D7E9-6C42D01A2A57}"/>
              </a:ext>
            </a:extLst>
          </p:cNvPr>
          <p:cNvSpPr/>
          <p:nvPr/>
        </p:nvSpPr>
        <p:spPr>
          <a:xfrm>
            <a:off x="6480812" y="256971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CC66"/>
                </a:solidFill>
              </a:rPr>
              <a:t>④</a:t>
            </a:r>
            <a:endParaRPr lang="en-US" sz="1400" dirty="0"/>
          </a:p>
        </p:txBody>
      </p:sp>
      <p:sp>
        <p:nvSpPr>
          <p:cNvPr id="64" name="Text 25">
            <a:extLst>
              <a:ext uri="{FF2B5EF4-FFF2-40B4-BE49-F238E27FC236}">
                <a16:creationId xmlns:a16="http://schemas.microsoft.com/office/drawing/2014/main" id="{61BE89CB-433A-50C7-7B20-486B44D013E1}"/>
              </a:ext>
            </a:extLst>
          </p:cNvPr>
          <p:cNvSpPr/>
          <p:nvPr/>
        </p:nvSpPr>
        <p:spPr>
          <a:xfrm>
            <a:off x="6938012" y="261543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 HTML 诊断书</a:t>
            </a:r>
            <a:endParaRPr lang="en-US" sz="1200" dirty="0"/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7119A551-7C3B-2AE0-FB8F-EFA36C545FE3}"/>
              </a:ext>
            </a:extLst>
          </p:cNvPr>
          <p:cNvSpPr/>
          <p:nvPr/>
        </p:nvSpPr>
        <p:spPr>
          <a:xfrm>
            <a:off x="6938012" y="288975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GetBacklogTask → Jinja2 → S3 Presigned URL</a:t>
            </a:r>
            <a:endParaRPr lang="en-US" sz="1000" dirty="0"/>
          </a:p>
        </p:txBody>
      </p:sp>
      <p:sp>
        <p:nvSpPr>
          <p:cNvPr id="67" name="Shape 28">
            <a:extLst>
              <a:ext uri="{FF2B5EF4-FFF2-40B4-BE49-F238E27FC236}">
                <a16:creationId xmlns:a16="http://schemas.microsoft.com/office/drawing/2014/main" id="{BFBBBB72-AB52-1E89-1355-EAFA45F23904}"/>
              </a:ext>
            </a:extLst>
          </p:cNvPr>
          <p:cNvSpPr/>
          <p:nvPr/>
        </p:nvSpPr>
        <p:spPr>
          <a:xfrm>
            <a:off x="737870" y="3644198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B4F3C75F-F64D-26DC-6C91-E147408FA5C4}"/>
              </a:ext>
            </a:extLst>
          </p:cNvPr>
          <p:cNvSpPr/>
          <p:nvPr/>
        </p:nvSpPr>
        <p:spPr>
          <a:xfrm>
            <a:off x="737870" y="3644198"/>
            <a:ext cx="54864" cy="640080"/>
          </a:xfrm>
          <a:prstGeom prst="rect">
            <a:avLst/>
          </a:prstGeom>
          <a:solidFill>
            <a:srgbClr val="FF99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9" name="Text 30">
            <a:extLst>
              <a:ext uri="{FF2B5EF4-FFF2-40B4-BE49-F238E27FC236}">
                <a16:creationId xmlns:a16="http://schemas.microsoft.com/office/drawing/2014/main" id="{CF5EE554-A93E-CE25-54E3-3CCE1A36C5BB}"/>
              </a:ext>
            </a:extLst>
          </p:cNvPr>
          <p:cNvSpPr/>
          <p:nvPr/>
        </p:nvSpPr>
        <p:spPr>
          <a:xfrm>
            <a:off x="920750" y="364419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9900"/>
                </a:solidFill>
              </a:rPr>
              <a:t>⑤</a:t>
            </a:r>
            <a:endParaRPr lang="en-US" sz="1400" dirty="0"/>
          </a:p>
        </p:txBody>
      </p:sp>
      <p:sp>
        <p:nvSpPr>
          <p:cNvPr id="70" name="Text 31">
            <a:extLst>
              <a:ext uri="{FF2B5EF4-FFF2-40B4-BE49-F238E27FC236}">
                <a16:creationId xmlns:a16="http://schemas.microsoft.com/office/drawing/2014/main" id="{65ABD48A-3C68-5F0A-74E2-0AB995EA32B2}"/>
              </a:ext>
            </a:extLst>
          </p:cNvPr>
          <p:cNvSpPr/>
          <p:nvPr/>
        </p:nvSpPr>
        <p:spPr>
          <a:xfrm>
            <a:off x="1377950" y="368991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 邮件推送</a:t>
            </a:r>
            <a:endParaRPr lang="en-US" sz="1200" dirty="0"/>
          </a:p>
        </p:txBody>
      </p:sp>
      <p:sp>
        <p:nvSpPr>
          <p:cNvPr id="71" name="Text 32">
            <a:extLst>
              <a:ext uri="{FF2B5EF4-FFF2-40B4-BE49-F238E27FC236}">
                <a16:creationId xmlns:a16="http://schemas.microsoft.com/office/drawing/2014/main" id="{4F1D5DD1-B0EC-C888-DFB1-E3561780A5CB}"/>
              </a:ext>
            </a:extLst>
          </p:cNvPr>
          <p:cNvSpPr/>
          <p:nvPr/>
        </p:nvSpPr>
        <p:spPr>
          <a:xfrm>
            <a:off x="1377950" y="396423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HTML 告警邮件 (内联 CSS，手机友好)</a:t>
            </a:r>
            <a:endParaRPr lang="en-US" sz="1000" dirty="0"/>
          </a:p>
        </p:txBody>
      </p:sp>
      <p:sp>
        <p:nvSpPr>
          <p:cNvPr id="73" name="Shape 34">
            <a:extLst>
              <a:ext uri="{FF2B5EF4-FFF2-40B4-BE49-F238E27FC236}">
                <a16:creationId xmlns:a16="http://schemas.microsoft.com/office/drawing/2014/main" id="{746C415F-4464-57FF-1417-16B8039CB708}"/>
              </a:ext>
            </a:extLst>
          </p:cNvPr>
          <p:cNvSpPr/>
          <p:nvPr/>
        </p:nvSpPr>
        <p:spPr>
          <a:xfrm>
            <a:off x="6297930" y="3644198"/>
            <a:ext cx="5029200" cy="640080"/>
          </a:xfrm>
          <a:prstGeom prst="roundRect">
            <a:avLst>
              <a:gd name="adj" fmla="val 7143"/>
            </a:avLst>
          </a:prstGeom>
          <a:solidFill>
            <a:srgbClr val="1A264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4" name="Shape 35">
            <a:extLst>
              <a:ext uri="{FF2B5EF4-FFF2-40B4-BE49-F238E27FC236}">
                <a16:creationId xmlns:a16="http://schemas.microsoft.com/office/drawing/2014/main" id="{AA9935B5-A2BE-0551-10AB-32F6E2BF7AE3}"/>
              </a:ext>
            </a:extLst>
          </p:cNvPr>
          <p:cNvSpPr/>
          <p:nvPr/>
        </p:nvSpPr>
        <p:spPr>
          <a:xfrm>
            <a:off x="6297930" y="3644198"/>
            <a:ext cx="54864" cy="64008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5" name="Text 36">
            <a:extLst>
              <a:ext uri="{FF2B5EF4-FFF2-40B4-BE49-F238E27FC236}">
                <a16:creationId xmlns:a16="http://schemas.microsoft.com/office/drawing/2014/main" id="{9CE984C8-2140-1168-7AD8-B31D9D9B4606}"/>
              </a:ext>
            </a:extLst>
          </p:cNvPr>
          <p:cNvSpPr/>
          <p:nvPr/>
        </p:nvSpPr>
        <p:spPr>
          <a:xfrm>
            <a:off x="6480810" y="3644198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55F7"/>
                </a:solidFill>
              </a:rPr>
              <a:t>⑥</a:t>
            </a:r>
            <a:endParaRPr lang="en-US" sz="1400" dirty="0"/>
          </a:p>
        </p:txBody>
      </p:sp>
      <p:sp>
        <p:nvSpPr>
          <p:cNvPr id="88" name="Text 37">
            <a:extLst>
              <a:ext uri="{FF2B5EF4-FFF2-40B4-BE49-F238E27FC236}">
                <a16:creationId xmlns:a16="http://schemas.microsoft.com/office/drawing/2014/main" id="{AD4AD214-3796-C184-DE8A-B5B67A985651}"/>
              </a:ext>
            </a:extLst>
          </p:cNvPr>
          <p:cNvSpPr/>
          <p:nvPr/>
        </p:nvSpPr>
        <p:spPr>
          <a:xfrm>
            <a:off x="6938010" y="368991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Bedrock KB 沉淀</a:t>
            </a:r>
            <a:endParaRPr lang="en-US" sz="1200" dirty="0"/>
          </a:p>
        </p:txBody>
      </p:sp>
      <p:sp>
        <p:nvSpPr>
          <p:cNvPr id="96" name="Shape 45">
            <a:extLst>
              <a:ext uri="{FF2B5EF4-FFF2-40B4-BE49-F238E27FC236}">
                <a16:creationId xmlns:a16="http://schemas.microsoft.com/office/drawing/2014/main" id="{DD0F1DA5-B712-5FB3-3A2C-E08F65FB999B}"/>
              </a:ext>
            </a:extLst>
          </p:cNvPr>
          <p:cNvSpPr/>
          <p:nvPr/>
        </p:nvSpPr>
        <p:spPr>
          <a:xfrm>
            <a:off x="3295650" y="4770822"/>
            <a:ext cx="5330952" cy="1280160"/>
          </a:xfrm>
          <a:prstGeom prst="roundRect">
            <a:avLst>
              <a:gd name="adj" fmla="val 4286"/>
            </a:avLst>
          </a:prstGeom>
          <a:solidFill>
            <a:srgbClr val="1A2640"/>
          </a:solidFill>
          <a:ln w="12700">
            <a:solidFill>
              <a:srgbClr val="36B37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7" name="Text 46">
            <a:extLst>
              <a:ext uri="{FF2B5EF4-FFF2-40B4-BE49-F238E27FC236}">
                <a16:creationId xmlns:a16="http://schemas.microsoft.com/office/drawing/2014/main" id="{757F0381-DECF-DDB6-A426-99596DA4D805}"/>
              </a:ext>
            </a:extLst>
          </p:cNvPr>
          <p:cNvSpPr/>
          <p:nvPr/>
        </p:nvSpPr>
        <p:spPr>
          <a:xfrm>
            <a:off x="3478530" y="486226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6B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📧 SRE 收到的邮件包含</a:t>
            </a:r>
            <a:endParaRPr lang="en-US" sz="1100" dirty="0"/>
          </a:p>
        </p:txBody>
      </p:sp>
      <p:sp>
        <p:nvSpPr>
          <p:cNvPr id="98" name="Text 47">
            <a:extLst>
              <a:ext uri="{FF2B5EF4-FFF2-40B4-BE49-F238E27FC236}">
                <a16:creationId xmlns:a16="http://schemas.microsoft.com/office/drawing/2014/main" id="{050EED70-A2CC-966F-A56F-8DBC10733F9D}"/>
              </a:ext>
            </a:extLst>
          </p:cNvPr>
          <p:cNvSpPr/>
          <p:nvPr/>
        </p:nvSpPr>
        <p:spPr>
          <a:xfrm>
            <a:off x="3569970" y="518230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告警标题 + 严重度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根因摘要（中文）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HTML 诊断书链接（点击查看完整报告）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C0D0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修复建议 + 证据链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841830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B87D1-16C8-DAE9-1CD1-5B8E3C4C2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ECB1C1-D97F-7F5D-86B9-8FDA161B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0772" y="-29404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    核心能力：</a:t>
            </a:r>
            <a:r>
              <a:rPr lang="en-US" altLang="zh-CN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 </a:t>
            </a:r>
            <a:r>
              <a:rPr lang="zh-CN" altLang="en-US" dirty="0">
                <a:solidFill>
                  <a:srgbClr val="FFFFFF"/>
                </a:solidFill>
                <a:latin typeface="等线" panose="02010600030101010101" pitchFamily="2" charset="-122"/>
                <a:ea typeface="等线" panose="02010600030101010101" pitchFamily="2" charset="-122"/>
                <a:cs typeface="Calibri" pitchFamily="34" charset="-120"/>
              </a:rPr>
              <a:t>经验沉淀</a:t>
            </a:r>
            <a:endParaRPr lang="zh-CN" altLang="en-US" dirty="0">
              <a:latin typeface="等线" panose="02010600030101010101" pitchFamily="2" charset="-122"/>
              <a:ea typeface="等线" panose="02010600030101010101" pitchFamily="2" charset="-122"/>
              <a:cs typeface="Amazon Ember" panose="020B0603020204020204" pitchFamily="34" charset="0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03A757EC-4FF4-52A8-7272-FD2C978EED12}"/>
              </a:ext>
            </a:extLst>
          </p:cNvPr>
          <p:cNvSpPr/>
          <p:nvPr/>
        </p:nvSpPr>
        <p:spPr>
          <a:xfrm>
            <a:off x="516964" y="836109"/>
            <a:ext cx="5486400" cy="4114800"/>
          </a:xfrm>
          <a:prstGeom prst="roundRect">
            <a:avLst>
              <a:gd name="adj" fmla="val 1333"/>
            </a:avLst>
          </a:prstGeom>
          <a:solidFill>
            <a:srgbClr val="1A2640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7E1C26AA-6822-26E9-F745-F0791052ACA4}"/>
              </a:ext>
            </a:extLst>
          </p:cNvPr>
          <p:cNvSpPr/>
          <p:nvPr/>
        </p:nvSpPr>
        <p:spPr>
          <a:xfrm>
            <a:off x="699844" y="927549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855F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经验闭环流程</a:t>
            </a:r>
            <a:endParaRPr lang="en-US" sz="1300" dirty="0"/>
          </a:p>
        </p:txBody>
      </p:sp>
      <p:sp>
        <p:nvSpPr>
          <p:cNvPr id="6" name="Shape 5">
            <a:extLst>
              <a:ext uri="{FF2B5EF4-FFF2-40B4-BE49-F238E27FC236}">
                <a16:creationId xmlns:a16="http://schemas.microsoft.com/office/drawing/2014/main" id="{B1BB472B-4548-AF7A-F86C-5C09D6E5E6BD}"/>
              </a:ext>
            </a:extLst>
          </p:cNvPr>
          <p:cNvSpPr/>
          <p:nvPr/>
        </p:nvSpPr>
        <p:spPr>
          <a:xfrm>
            <a:off x="882724" y="127502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6">
            <a:extLst>
              <a:ext uri="{FF2B5EF4-FFF2-40B4-BE49-F238E27FC236}">
                <a16:creationId xmlns:a16="http://schemas.microsoft.com/office/drawing/2014/main" id="{F965ECA4-78B7-7218-B4E8-BF43AA11E587}"/>
              </a:ext>
            </a:extLst>
          </p:cNvPr>
          <p:cNvSpPr/>
          <p:nvPr/>
        </p:nvSpPr>
        <p:spPr>
          <a:xfrm>
            <a:off x="974164" y="127502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①</a:t>
            </a:r>
            <a:endParaRPr lang="en-US" sz="1300" dirty="0"/>
          </a:p>
        </p:txBody>
      </p:sp>
      <p:sp>
        <p:nvSpPr>
          <p:cNvPr id="8" name="Text 7">
            <a:extLst>
              <a:ext uri="{FF2B5EF4-FFF2-40B4-BE49-F238E27FC236}">
                <a16:creationId xmlns:a16="http://schemas.microsoft.com/office/drawing/2014/main" id="{51415B59-6C19-4DEA-F29D-CE5157D0E98F}"/>
              </a:ext>
            </a:extLst>
          </p:cNvPr>
          <p:cNvSpPr/>
          <p:nvPr/>
        </p:nvSpPr>
        <p:spPr>
          <a:xfrm>
            <a:off x="1431364" y="132074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故障处理完成</a:t>
            </a:r>
            <a:endParaRPr lang="en-US" sz="1200" dirty="0"/>
          </a:p>
        </p:txBody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6B6D10F1-24E3-E0E2-F44B-4ED5F00A7F6E}"/>
              </a:ext>
            </a:extLst>
          </p:cNvPr>
          <p:cNvSpPr/>
          <p:nvPr/>
        </p:nvSpPr>
        <p:spPr>
          <a:xfrm>
            <a:off x="1431364" y="161334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生成结构化事件报告 (JSON)</a:t>
            </a:r>
            <a:endParaRPr lang="en-US" sz="10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1EA4E9C3-BA8D-D7C5-6519-04EA4C04B098}"/>
              </a:ext>
            </a:extLst>
          </p:cNvPr>
          <p:cNvSpPr/>
          <p:nvPr/>
        </p:nvSpPr>
        <p:spPr>
          <a:xfrm>
            <a:off x="3077284" y="1896813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</a:rPr>
              <a:t>▼</a:t>
            </a:r>
            <a:endParaRPr lang="en-US" sz="900" dirty="0"/>
          </a:p>
        </p:txBody>
      </p:sp>
      <p:sp>
        <p:nvSpPr>
          <p:cNvPr id="11" name="Shape 10">
            <a:extLst>
              <a:ext uri="{FF2B5EF4-FFF2-40B4-BE49-F238E27FC236}">
                <a16:creationId xmlns:a16="http://schemas.microsoft.com/office/drawing/2014/main" id="{B7E0E164-B2FE-C457-B2B2-28CB5ED44FB0}"/>
              </a:ext>
            </a:extLst>
          </p:cNvPr>
          <p:cNvSpPr/>
          <p:nvPr/>
        </p:nvSpPr>
        <p:spPr>
          <a:xfrm>
            <a:off x="882724" y="200654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B5E660A8-3464-AF82-8173-DCF94C7D0C3C}"/>
              </a:ext>
            </a:extLst>
          </p:cNvPr>
          <p:cNvSpPr/>
          <p:nvPr/>
        </p:nvSpPr>
        <p:spPr>
          <a:xfrm>
            <a:off x="974164" y="200654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②</a:t>
            </a:r>
            <a:endParaRPr lang="en-US" sz="1300" dirty="0"/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0805161D-5BE7-543D-0B8B-11B0654FC7A1}"/>
              </a:ext>
            </a:extLst>
          </p:cNvPr>
          <p:cNvSpPr/>
          <p:nvPr/>
        </p:nvSpPr>
        <p:spPr>
          <a:xfrm>
            <a:off x="1431364" y="205226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自动双写</a:t>
            </a:r>
            <a:endParaRPr lang="en-US" sz="1200" dirty="0"/>
          </a:p>
        </p:txBody>
      </p:sp>
      <p:sp>
        <p:nvSpPr>
          <p:cNvPr id="14" name="Text 13">
            <a:extLst>
              <a:ext uri="{FF2B5EF4-FFF2-40B4-BE49-F238E27FC236}">
                <a16:creationId xmlns:a16="http://schemas.microsoft.com/office/drawing/2014/main" id="{1D93907E-75CA-203B-3A71-147FAD901C21}"/>
              </a:ext>
            </a:extLst>
          </p:cNvPr>
          <p:cNvSpPr/>
          <p:nvPr/>
        </p:nvSpPr>
        <p:spPr>
          <a:xfrm>
            <a:off x="1431364" y="234486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S3 put_object + AuditTable put_item</a:t>
            </a:r>
            <a:endParaRPr lang="en-US" sz="1000" dirty="0"/>
          </a:p>
        </p:txBody>
      </p:sp>
      <p:sp>
        <p:nvSpPr>
          <p:cNvPr id="15" name="Text 14">
            <a:extLst>
              <a:ext uri="{FF2B5EF4-FFF2-40B4-BE49-F238E27FC236}">
                <a16:creationId xmlns:a16="http://schemas.microsoft.com/office/drawing/2014/main" id="{CA227553-D3D5-ABD0-5A60-1942E2810569}"/>
              </a:ext>
            </a:extLst>
          </p:cNvPr>
          <p:cNvSpPr/>
          <p:nvPr/>
        </p:nvSpPr>
        <p:spPr>
          <a:xfrm>
            <a:off x="3077284" y="2628333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</a:rPr>
              <a:t>▼</a:t>
            </a:r>
            <a:endParaRPr lang="en-US" sz="900" dirty="0"/>
          </a:p>
        </p:txBody>
      </p:sp>
      <p:sp>
        <p:nvSpPr>
          <p:cNvPr id="16" name="Shape 15">
            <a:extLst>
              <a:ext uri="{FF2B5EF4-FFF2-40B4-BE49-F238E27FC236}">
                <a16:creationId xmlns:a16="http://schemas.microsoft.com/office/drawing/2014/main" id="{5B98BC43-5BEC-29A2-3B34-42727BC97DF3}"/>
              </a:ext>
            </a:extLst>
          </p:cNvPr>
          <p:cNvSpPr/>
          <p:nvPr/>
        </p:nvSpPr>
        <p:spPr>
          <a:xfrm>
            <a:off x="882724" y="273806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6">
            <a:extLst>
              <a:ext uri="{FF2B5EF4-FFF2-40B4-BE49-F238E27FC236}">
                <a16:creationId xmlns:a16="http://schemas.microsoft.com/office/drawing/2014/main" id="{9C00DE41-BB56-8DEC-058A-07A5C7112EA8}"/>
              </a:ext>
            </a:extLst>
          </p:cNvPr>
          <p:cNvSpPr/>
          <p:nvPr/>
        </p:nvSpPr>
        <p:spPr>
          <a:xfrm>
            <a:off x="974164" y="273806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③</a:t>
            </a:r>
            <a:endParaRPr lang="en-US" sz="1300" dirty="0"/>
          </a:p>
        </p:txBody>
      </p:sp>
      <p:sp>
        <p:nvSpPr>
          <p:cNvPr id="18" name="Text 17">
            <a:extLst>
              <a:ext uri="{FF2B5EF4-FFF2-40B4-BE49-F238E27FC236}">
                <a16:creationId xmlns:a16="http://schemas.microsoft.com/office/drawing/2014/main" id="{4DA417FA-4FED-AD31-AE9B-3192AF8E6753}"/>
              </a:ext>
            </a:extLst>
          </p:cNvPr>
          <p:cNvSpPr/>
          <p:nvPr/>
        </p:nvSpPr>
        <p:spPr>
          <a:xfrm>
            <a:off x="1431364" y="278378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KB Ingestion</a:t>
            </a:r>
            <a:endParaRPr lang="en-US" sz="1200" dirty="0"/>
          </a:p>
        </p:txBody>
      </p:sp>
      <p:sp>
        <p:nvSpPr>
          <p:cNvPr id="19" name="Text 18">
            <a:extLst>
              <a:ext uri="{FF2B5EF4-FFF2-40B4-BE49-F238E27FC236}">
                <a16:creationId xmlns:a16="http://schemas.microsoft.com/office/drawing/2014/main" id="{38EBBA51-2207-CA1C-14A8-93794F54B6CA}"/>
              </a:ext>
            </a:extLst>
          </p:cNvPr>
          <p:cNvSpPr/>
          <p:nvPr/>
        </p:nvSpPr>
        <p:spPr>
          <a:xfrm>
            <a:off x="1431364" y="307638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start_ingestion_job 触发向量化</a:t>
            </a:r>
            <a:endParaRPr lang="en-US" sz="1000" dirty="0"/>
          </a:p>
        </p:txBody>
      </p:sp>
      <p:sp>
        <p:nvSpPr>
          <p:cNvPr id="20" name="Text 19">
            <a:extLst>
              <a:ext uri="{FF2B5EF4-FFF2-40B4-BE49-F238E27FC236}">
                <a16:creationId xmlns:a16="http://schemas.microsoft.com/office/drawing/2014/main" id="{4C70D822-7329-6C53-50EB-2060DBF18E36}"/>
              </a:ext>
            </a:extLst>
          </p:cNvPr>
          <p:cNvSpPr/>
          <p:nvPr/>
        </p:nvSpPr>
        <p:spPr>
          <a:xfrm>
            <a:off x="3077284" y="3359853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</a:rPr>
              <a:t>▼</a:t>
            </a:r>
            <a:endParaRPr lang="en-US" sz="900" dirty="0"/>
          </a:p>
        </p:txBody>
      </p:sp>
      <p:sp>
        <p:nvSpPr>
          <p:cNvPr id="21" name="Shape 20">
            <a:extLst>
              <a:ext uri="{FF2B5EF4-FFF2-40B4-BE49-F238E27FC236}">
                <a16:creationId xmlns:a16="http://schemas.microsoft.com/office/drawing/2014/main" id="{E2C07ED8-5F94-BC1A-4A53-6B2C216BFF71}"/>
              </a:ext>
            </a:extLst>
          </p:cNvPr>
          <p:cNvSpPr/>
          <p:nvPr/>
        </p:nvSpPr>
        <p:spPr>
          <a:xfrm>
            <a:off x="882724" y="346958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45195BAB-AF0B-9881-65A5-2F24030A21BA}"/>
              </a:ext>
            </a:extLst>
          </p:cNvPr>
          <p:cNvSpPr/>
          <p:nvPr/>
        </p:nvSpPr>
        <p:spPr>
          <a:xfrm>
            <a:off x="974164" y="346958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④</a:t>
            </a:r>
            <a:endParaRPr lang="en-US" sz="13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5BEBD82-5BE0-B4BB-B318-AD0E5113D015}"/>
              </a:ext>
            </a:extLst>
          </p:cNvPr>
          <p:cNvSpPr/>
          <p:nvPr/>
        </p:nvSpPr>
        <p:spPr>
          <a:xfrm>
            <a:off x="1431364" y="351530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下次相似问题</a:t>
            </a:r>
            <a:endParaRPr lang="en-US" sz="1200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54000461-F0B1-7D7A-5DC5-FC225E18792F}"/>
              </a:ext>
            </a:extLst>
          </p:cNvPr>
          <p:cNvSpPr/>
          <p:nvPr/>
        </p:nvSpPr>
        <p:spPr>
          <a:xfrm>
            <a:off x="1431364" y="380790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用户问“上次类似问题怎么解决的”</a:t>
            </a:r>
            <a:endParaRPr lang="en-US" sz="1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ADC1175C-0F49-5BFE-2198-7FAFEC4516D8}"/>
              </a:ext>
            </a:extLst>
          </p:cNvPr>
          <p:cNvSpPr/>
          <p:nvPr/>
        </p:nvSpPr>
        <p:spPr>
          <a:xfrm>
            <a:off x="3077284" y="4091373"/>
            <a:ext cx="45720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855F7"/>
                </a:solidFill>
              </a:rPr>
              <a:t>▼</a:t>
            </a:r>
            <a:endParaRPr lang="en-US" sz="90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D4E1E050-88B9-6B95-B814-7151D0CE977A}"/>
              </a:ext>
            </a:extLst>
          </p:cNvPr>
          <p:cNvSpPr/>
          <p:nvPr/>
        </p:nvSpPr>
        <p:spPr>
          <a:xfrm>
            <a:off x="882724" y="4201101"/>
            <a:ext cx="49377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3245CB25-189D-E0AD-7991-BB88F2BD97C5}"/>
              </a:ext>
            </a:extLst>
          </p:cNvPr>
          <p:cNvSpPr/>
          <p:nvPr/>
        </p:nvSpPr>
        <p:spPr>
          <a:xfrm>
            <a:off x="974164" y="4201101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855F7"/>
                </a:solidFill>
              </a:rPr>
              <a:t>⑤</a:t>
            </a:r>
            <a:endParaRPr lang="en-US" sz="1300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2F1C84BC-4EBB-E672-9AC1-0B2F9EDC79E6}"/>
              </a:ext>
            </a:extLst>
          </p:cNvPr>
          <p:cNvSpPr/>
          <p:nvPr/>
        </p:nvSpPr>
        <p:spPr>
          <a:xfrm>
            <a:off x="1431364" y="4246821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语义检索 Top-K</a:t>
            </a:r>
            <a:endParaRPr lang="en-US" sz="120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31F73C98-E0DE-4EFB-B20D-84B493512BA7}"/>
              </a:ext>
            </a:extLst>
          </p:cNvPr>
          <p:cNvSpPr/>
          <p:nvPr/>
        </p:nvSpPr>
        <p:spPr>
          <a:xfrm>
            <a:off x="1431364" y="4539429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Titan Embed v2 向量匹配，返回历史方案</a:t>
            </a:r>
            <a:endParaRPr lang="en-US" sz="10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FC57FC3-A129-6109-54E2-B2A04E1EA6E2}"/>
              </a:ext>
            </a:extLst>
          </p:cNvPr>
          <p:cNvSpPr/>
          <p:nvPr/>
        </p:nvSpPr>
        <p:spPr>
          <a:xfrm>
            <a:off x="6437258" y="3259269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↩️ 闭环：沉淀 → 下次匹配 → 秒级出方案</a:t>
            </a:r>
            <a:endParaRPr lang="en-US" sz="10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DA184E34-C2B3-1198-3DE1-9207B2A25234}"/>
              </a:ext>
            </a:extLst>
          </p:cNvPr>
          <p:cNvSpPr/>
          <p:nvPr/>
        </p:nvSpPr>
        <p:spPr>
          <a:xfrm>
            <a:off x="6526306" y="1704789"/>
            <a:ext cx="5330952" cy="1371600"/>
          </a:xfrm>
          <a:prstGeom prst="roundRect">
            <a:avLst>
              <a:gd name="adj" fmla="val 4000"/>
            </a:avLst>
          </a:prstGeom>
          <a:solidFill>
            <a:srgbClr val="1A2640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0323B5D-C2B2-6E83-36FA-88AA78F7FD6C}"/>
              </a:ext>
            </a:extLst>
          </p:cNvPr>
          <p:cNvSpPr/>
          <p:nvPr/>
        </p:nvSpPr>
        <p:spPr>
          <a:xfrm>
            <a:off x="6709186" y="1796229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效果</a:t>
            </a:r>
            <a:endParaRPr lang="en-US" sz="1200" dirty="0"/>
          </a:p>
        </p:txBody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B43573E6-77E2-C0A6-663E-8F9C972B2333}"/>
              </a:ext>
            </a:extLst>
          </p:cNvPr>
          <p:cNvSpPr/>
          <p:nvPr/>
        </p:nvSpPr>
        <p:spPr>
          <a:xfrm>
            <a:off x="6800626" y="2207709"/>
            <a:ext cx="21945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404CF92B-9EAE-E27A-D447-4586579305EE}"/>
              </a:ext>
            </a:extLst>
          </p:cNvPr>
          <p:cNvSpPr/>
          <p:nvPr/>
        </p:nvSpPr>
        <p:spPr>
          <a:xfrm>
            <a:off x="6800626" y="2207709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无经验匹配</a:t>
            </a:r>
            <a:endParaRPr lang="en-US" sz="900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8F76014C-9CBD-2E07-ED51-A7A0F0651AEB}"/>
              </a:ext>
            </a:extLst>
          </p:cNvPr>
          <p:cNvSpPr/>
          <p:nvPr/>
        </p:nvSpPr>
        <p:spPr>
          <a:xfrm>
            <a:off x="6800626" y="2482029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6B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MTTR 30min</a:t>
            </a:r>
            <a:endParaRPr lang="en-US" sz="1600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2B9B22F9-5A56-DE48-40C7-06DB05F8575F}"/>
              </a:ext>
            </a:extLst>
          </p:cNvPr>
          <p:cNvSpPr/>
          <p:nvPr/>
        </p:nvSpPr>
        <p:spPr>
          <a:xfrm>
            <a:off x="8995186" y="229914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36B37E"/>
                </a:solidFill>
              </a:rPr>
              <a:t>→</a:t>
            </a:r>
            <a:endParaRPr lang="en-US" sz="2000" dirty="0"/>
          </a:p>
        </p:txBody>
      </p:sp>
      <p:sp>
        <p:nvSpPr>
          <p:cNvPr id="38" name="Shape 36">
            <a:extLst>
              <a:ext uri="{FF2B5EF4-FFF2-40B4-BE49-F238E27FC236}">
                <a16:creationId xmlns:a16="http://schemas.microsoft.com/office/drawing/2014/main" id="{C10FC4D2-3ED2-6824-8C6F-3778D369B990}"/>
              </a:ext>
            </a:extLst>
          </p:cNvPr>
          <p:cNvSpPr/>
          <p:nvPr/>
        </p:nvSpPr>
        <p:spPr>
          <a:xfrm>
            <a:off x="9452386" y="2207709"/>
            <a:ext cx="2194560" cy="640080"/>
          </a:xfrm>
          <a:prstGeom prst="roundRect">
            <a:avLst>
              <a:gd name="adj" fmla="val 5714"/>
            </a:avLst>
          </a:prstGeom>
          <a:solidFill>
            <a:srgbClr val="0A1A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DDAE80E2-8136-70AE-35AF-C67490A6B784}"/>
              </a:ext>
            </a:extLst>
          </p:cNvPr>
          <p:cNvSpPr/>
          <p:nvPr/>
        </p:nvSpPr>
        <p:spPr>
          <a:xfrm>
            <a:off x="9452386" y="2207709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经验匹配成功</a:t>
            </a:r>
            <a:endParaRPr lang="en-US" sz="900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9B940BF7-1CDF-F9B3-B808-D19E572F32EB}"/>
              </a:ext>
            </a:extLst>
          </p:cNvPr>
          <p:cNvSpPr/>
          <p:nvPr/>
        </p:nvSpPr>
        <p:spPr>
          <a:xfrm>
            <a:off x="9452386" y="2482029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6B3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MTTR 2min</a:t>
            </a:r>
            <a:endParaRPr lang="en-US" sz="1600" dirty="0"/>
          </a:p>
        </p:txBody>
      </p:sp>
      <p:sp>
        <p:nvSpPr>
          <p:cNvPr id="66" name="Shape 45">
            <a:extLst>
              <a:ext uri="{FF2B5EF4-FFF2-40B4-BE49-F238E27FC236}">
                <a16:creationId xmlns:a16="http://schemas.microsoft.com/office/drawing/2014/main" id="{4853FE6B-BF69-369F-08AC-A260BDB33E19}"/>
              </a:ext>
            </a:extLst>
          </p:cNvPr>
          <p:cNvSpPr/>
          <p:nvPr/>
        </p:nvSpPr>
        <p:spPr>
          <a:xfrm>
            <a:off x="516964" y="5408109"/>
            <a:ext cx="11274552" cy="548640"/>
          </a:xfrm>
          <a:prstGeom prst="roundRect">
            <a:avLst>
              <a:gd name="adj" fmla="val 6667"/>
            </a:avLst>
          </a:prstGeom>
          <a:solidFill>
            <a:srgbClr val="0A1A2A"/>
          </a:solidFill>
          <a:ln w="19050">
            <a:solidFill>
              <a:srgbClr val="FF99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Text 46">
            <a:extLst>
              <a:ext uri="{FF2B5EF4-FFF2-40B4-BE49-F238E27FC236}">
                <a16:creationId xmlns:a16="http://schemas.microsoft.com/office/drawing/2014/main" id="{D2016D59-DF02-3DA1-5056-A33E7CD66F28}"/>
              </a:ext>
            </a:extLst>
          </p:cNvPr>
          <p:cNvSpPr/>
          <p:nvPr/>
        </p:nvSpPr>
        <p:spPr>
          <a:xfrm>
            <a:off x="699844" y="5408109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“每次故障处理完，团队的 AWS </a:t>
            </a:r>
            <a:r>
              <a:rPr lang="en-US" sz="1200" b="1" dirty="0" err="1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运维经验自动增长一点</a:t>
            </a:r>
            <a:r>
              <a:rPr lang="en-US" sz="1200" b="1" dirty="0">
                <a:solidFill>
                  <a:srgbClr val="FFCC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5129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CE3D7-7697-A06B-CD69-E51B77953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7C43B3-8269-AF51-B90B-7D438ABF8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Demo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：资源盘点</a:t>
            </a:r>
          </a:p>
        </p:txBody>
      </p: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5A3A3A2D-E0D8-A11B-F370-78322E63EB6B}"/>
              </a:ext>
            </a:extLst>
          </p:cNvPr>
          <p:cNvGrpSpPr/>
          <p:nvPr/>
        </p:nvGrpSpPr>
        <p:grpSpPr>
          <a:xfrm>
            <a:off x="337670" y="941832"/>
            <a:ext cx="11621247" cy="4803588"/>
            <a:chOff x="457200" y="1143000"/>
            <a:chExt cx="11274552" cy="4114800"/>
          </a:xfrm>
        </p:grpSpPr>
        <p:sp>
          <p:nvSpPr>
            <p:cNvPr id="34" name="Shape 5">
              <a:extLst>
                <a:ext uri="{FF2B5EF4-FFF2-40B4-BE49-F238E27FC236}">
                  <a16:creationId xmlns:a16="http://schemas.microsoft.com/office/drawing/2014/main" id="{ACD51EB7-936C-73CC-A47A-154748AEDCF7}"/>
                </a:ext>
              </a:extLst>
            </p:cNvPr>
            <p:cNvSpPr/>
            <p:nvPr/>
          </p:nvSpPr>
          <p:spPr>
            <a:xfrm>
              <a:off x="457200" y="1143000"/>
              <a:ext cx="7315200" cy="4114800"/>
            </a:xfrm>
            <a:prstGeom prst="roundRect">
              <a:avLst>
                <a:gd name="adj" fmla="val 1778"/>
              </a:avLst>
            </a:prstGeom>
            <a:solidFill>
              <a:srgbClr val="1A2640"/>
            </a:solidFill>
            <a:ln w="12700">
              <a:solidFill>
                <a:srgbClr val="2A3A5A"/>
              </a:solidFill>
              <a:prstDash val="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6">
              <a:extLst>
                <a:ext uri="{FF2B5EF4-FFF2-40B4-BE49-F238E27FC236}">
                  <a16:creationId xmlns:a16="http://schemas.microsoft.com/office/drawing/2014/main" id="{CC4DC76C-6CB9-0B23-3557-F6054B215DCA}"/>
                </a:ext>
              </a:extLst>
            </p:cNvPr>
            <p:cNvSpPr/>
            <p:nvPr/>
          </p:nvSpPr>
          <p:spPr>
            <a:xfrm>
              <a:off x="457200" y="2743200"/>
              <a:ext cx="7315200" cy="9144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400" dirty="0">
                  <a:solidFill>
                    <a:srgbClr val="2A3A5A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🎬 视频占位</a:t>
              </a:r>
              <a:endParaRPr lang="en-US" sz="2400" dirty="0"/>
            </a:p>
          </p:txBody>
        </p:sp>
        <p:sp>
          <p:nvSpPr>
            <p:cNvPr id="36" name="Shape 7">
              <a:extLst>
                <a:ext uri="{FF2B5EF4-FFF2-40B4-BE49-F238E27FC236}">
                  <a16:creationId xmlns:a16="http://schemas.microsoft.com/office/drawing/2014/main" id="{624C414D-04C9-D88C-0211-ECFECB0CB080}"/>
                </a:ext>
              </a:extLst>
            </p:cNvPr>
            <p:cNvSpPr/>
            <p:nvPr/>
          </p:nvSpPr>
          <p:spPr>
            <a:xfrm>
              <a:off x="8138160" y="1143000"/>
              <a:ext cx="3593592" cy="822960"/>
            </a:xfrm>
            <a:prstGeom prst="roundRect">
              <a:avLst>
                <a:gd name="adj" fmla="val 5556"/>
              </a:avLst>
            </a:prstGeom>
            <a:solidFill>
              <a:srgbClr val="1A2640"/>
            </a:solidFill>
            <a:ln w="12700">
              <a:solidFill>
                <a:srgbClr val="4D9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Text 8">
              <a:extLst>
                <a:ext uri="{FF2B5EF4-FFF2-40B4-BE49-F238E27FC236}">
                  <a16:creationId xmlns:a16="http://schemas.microsoft.com/office/drawing/2014/main" id="{6C8C1665-BCDE-E7B4-260E-93C55809611F}"/>
                </a:ext>
              </a:extLst>
            </p:cNvPr>
            <p:cNvSpPr/>
            <p:nvPr/>
          </p:nvSpPr>
          <p:spPr>
            <a:xfrm>
              <a:off x="8275320" y="118872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💬 用户说</a:t>
              </a:r>
              <a:endParaRPr lang="en-US" sz="900" dirty="0"/>
            </a:p>
          </p:txBody>
        </p:sp>
        <p:sp>
          <p:nvSpPr>
            <p:cNvPr id="38" name="Text 9">
              <a:extLst>
                <a:ext uri="{FF2B5EF4-FFF2-40B4-BE49-F238E27FC236}">
                  <a16:creationId xmlns:a16="http://schemas.microsoft.com/office/drawing/2014/main" id="{F0942EBE-875C-4453-1B9F-C1EEC9AD8BF3}"/>
                </a:ext>
              </a:extLst>
            </p:cNvPr>
            <p:cNvSpPr/>
            <p:nvPr/>
          </p:nvSpPr>
          <p:spPr>
            <a:xfrm>
              <a:off x="8275320" y="14630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“看一下当前账号下所有的 AWS 资源”</a:t>
              </a:r>
              <a:endParaRPr lang="en-US" sz="1100" dirty="0"/>
            </a:p>
          </p:txBody>
        </p:sp>
        <p:sp>
          <p:nvSpPr>
            <p:cNvPr id="39" name="Shape 10">
              <a:extLst>
                <a:ext uri="{FF2B5EF4-FFF2-40B4-BE49-F238E27FC236}">
                  <a16:creationId xmlns:a16="http://schemas.microsoft.com/office/drawing/2014/main" id="{74C6CFF7-D50A-C6CA-255B-734B9015719A}"/>
                </a:ext>
              </a:extLst>
            </p:cNvPr>
            <p:cNvSpPr/>
            <p:nvPr/>
          </p:nvSpPr>
          <p:spPr>
            <a:xfrm>
              <a:off x="8138160" y="210312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Text 11">
              <a:extLst>
                <a:ext uri="{FF2B5EF4-FFF2-40B4-BE49-F238E27FC236}">
                  <a16:creationId xmlns:a16="http://schemas.microsoft.com/office/drawing/2014/main" id="{E4AB85A5-CAE9-CB38-2568-A80662011D7F}"/>
                </a:ext>
              </a:extLst>
            </p:cNvPr>
            <p:cNvSpPr/>
            <p:nvPr/>
          </p:nvSpPr>
          <p:spPr>
            <a:xfrm>
              <a:off x="8275320" y="214884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⚡ 关键看点</a:t>
              </a:r>
              <a:endParaRPr lang="en-US" sz="900" dirty="0"/>
            </a:p>
          </p:txBody>
        </p:sp>
        <p:sp>
          <p:nvSpPr>
            <p:cNvPr id="41" name="Text 12">
              <a:extLst>
                <a:ext uri="{FF2B5EF4-FFF2-40B4-BE49-F238E27FC236}">
                  <a16:creationId xmlns:a16="http://schemas.microsoft.com/office/drawing/2014/main" id="{89482337-AC85-C5B5-8AE9-521979CBC3B8}"/>
                </a:ext>
              </a:extLst>
            </p:cNvPr>
            <p:cNvSpPr/>
            <p:nvPr/>
          </p:nvSpPr>
          <p:spPr>
            <a:xfrm>
              <a:off x="8275320" y="242316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Quick Desktop AI 自动选择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discover_resources MCP 工具</a:t>
              </a:r>
              <a:endParaRPr lang="en-US" sz="1000" dirty="0"/>
            </a:p>
          </p:txBody>
        </p:sp>
        <p:sp>
          <p:nvSpPr>
            <p:cNvPr id="42" name="Shape 13">
              <a:extLst>
                <a:ext uri="{FF2B5EF4-FFF2-40B4-BE49-F238E27FC236}">
                  <a16:creationId xmlns:a16="http://schemas.microsoft.com/office/drawing/2014/main" id="{6CD7CDA9-EF80-5C6F-0D59-C23D750AE15E}"/>
                </a:ext>
              </a:extLst>
            </p:cNvPr>
            <p:cNvSpPr/>
            <p:nvPr/>
          </p:nvSpPr>
          <p:spPr>
            <a:xfrm>
              <a:off x="8138160" y="315468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36B37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Text 14">
              <a:extLst>
                <a:ext uri="{FF2B5EF4-FFF2-40B4-BE49-F238E27FC236}">
                  <a16:creationId xmlns:a16="http://schemas.microsoft.com/office/drawing/2014/main" id="{45C7C1C0-5753-904E-788C-A1B306209820}"/>
                </a:ext>
              </a:extLst>
            </p:cNvPr>
            <p:cNvSpPr/>
            <p:nvPr/>
          </p:nvSpPr>
          <p:spPr>
            <a:xfrm>
              <a:off x="8275320" y="320040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📊 结果</a:t>
              </a:r>
              <a:endParaRPr lang="en-US" sz="900" dirty="0"/>
            </a:p>
          </p:txBody>
        </p:sp>
        <p:sp>
          <p:nvSpPr>
            <p:cNvPr id="44" name="Text 15">
              <a:extLst>
                <a:ext uri="{FF2B5EF4-FFF2-40B4-BE49-F238E27FC236}">
                  <a16:creationId xmlns:a16="http://schemas.microsoft.com/office/drawing/2014/main" id="{08C4C7A9-90A1-DE37-1187-6020FB44237C}"/>
                </a:ext>
              </a:extLst>
            </p:cNvPr>
            <p:cNvSpPr/>
            <p:nvPr/>
          </p:nvSpPr>
          <p:spPr>
            <a:xfrm>
              <a:off x="8275320" y="347472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真实数据：18 个资源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(1 EC2 + 2 Lambda + 9 S3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+ 3 DDB + 1 SNS + 2 APIGW)</a:t>
              </a:r>
              <a:endParaRPr lang="en-US" sz="1000" dirty="0"/>
            </a:p>
          </p:txBody>
        </p:sp>
        <p:sp>
          <p:nvSpPr>
            <p:cNvPr id="45" name="Shape 16">
              <a:extLst>
                <a:ext uri="{FF2B5EF4-FFF2-40B4-BE49-F238E27FC236}">
                  <a16:creationId xmlns:a16="http://schemas.microsoft.com/office/drawing/2014/main" id="{093D60F6-1205-D98B-31E3-A2BEE59C5807}"/>
                </a:ext>
              </a:extLst>
            </p:cNvPr>
            <p:cNvSpPr/>
            <p:nvPr/>
          </p:nvSpPr>
          <p:spPr>
            <a:xfrm>
              <a:off x="8138160" y="4206240"/>
              <a:ext cx="3593592" cy="457200"/>
            </a:xfrm>
            <a:prstGeom prst="roundRect">
              <a:avLst>
                <a:gd name="adj" fmla="val 8000"/>
              </a:avLst>
            </a:prstGeom>
            <a:solidFill>
              <a:srgbClr val="0A1A2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Text 17">
              <a:extLst>
                <a:ext uri="{FF2B5EF4-FFF2-40B4-BE49-F238E27FC236}">
                  <a16:creationId xmlns:a16="http://schemas.microsoft.com/office/drawing/2014/main" id="{46E15230-5D59-6842-F101-2E5AF616F09D}"/>
                </a:ext>
              </a:extLst>
            </p:cNvPr>
            <p:cNvSpPr/>
            <p:nvPr/>
          </p:nvSpPr>
          <p:spPr>
            <a:xfrm>
              <a:off x="8275320" y="42062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CC6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⏱ 耗时：~5s</a:t>
              </a:r>
              <a:endParaRPr lang="en-US" sz="1200" dirty="0"/>
            </a:p>
          </p:txBody>
        </p:sp>
        <p:sp>
          <p:nvSpPr>
            <p:cNvPr id="47" name="Shape 18">
              <a:extLst>
                <a:ext uri="{FF2B5EF4-FFF2-40B4-BE49-F238E27FC236}">
                  <a16:creationId xmlns:a16="http://schemas.microsoft.com/office/drawing/2014/main" id="{D4DC7BED-B1B2-7A0C-79D1-DF42F444C770}"/>
                </a:ext>
              </a:extLst>
            </p:cNvPr>
            <p:cNvSpPr/>
            <p:nvPr/>
          </p:nvSpPr>
          <p:spPr>
            <a:xfrm>
              <a:off x="8138160" y="4800600"/>
              <a:ext cx="3593592" cy="411480"/>
            </a:xfrm>
            <a:prstGeom prst="roundRect">
              <a:avLst>
                <a:gd name="adj" fmla="val 8889"/>
              </a:avLst>
            </a:prstGeom>
            <a:solidFill>
              <a:srgbClr val="1A2640"/>
            </a:solidFill>
            <a:ln w="9525">
              <a:solidFill>
                <a:srgbClr val="A855F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Text 19">
              <a:extLst>
                <a:ext uri="{FF2B5EF4-FFF2-40B4-BE49-F238E27FC236}">
                  <a16:creationId xmlns:a16="http://schemas.microsoft.com/office/drawing/2014/main" id="{86F1A525-2DDD-AB01-B596-50E3AF704ADD}"/>
                </a:ext>
              </a:extLst>
            </p:cNvPr>
            <p:cNvSpPr/>
            <p:nvPr/>
          </p:nvSpPr>
          <p:spPr>
            <a:xfrm>
              <a:off x="8229600" y="4800600"/>
              <a:ext cx="3410712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55F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🎯 证明能力：MCP 协议 — 工具盒自由组合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29091151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3A48C-AA01-826C-DC81-28D94B989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D4F07-BC06-8BD9-0E15-D3956F85F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Demo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：</a:t>
            </a:r>
            <a:r>
              <a:rPr lang="en-US" altLang="zh-CN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智能诊断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Amazon Ember" panose="020B0603020204020204" pitchFamily="34" charset="0"/>
            </a:endParaRPr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9AB9B050-B6FD-D068-3F72-5B1AAAEC4E80}"/>
              </a:ext>
            </a:extLst>
          </p:cNvPr>
          <p:cNvSpPr/>
          <p:nvPr/>
        </p:nvSpPr>
        <p:spPr>
          <a:xfrm>
            <a:off x="337670" y="941832"/>
            <a:ext cx="7540144" cy="4803588"/>
          </a:xfrm>
          <a:prstGeom prst="roundRect">
            <a:avLst>
              <a:gd name="adj" fmla="val 1778"/>
            </a:avLst>
          </a:prstGeom>
          <a:solidFill>
            <a:srgbClr val="1A2640"/>
          </a:solidFill>
          <a:ln w="12700">
            <a:solidFill>
              <a:srgbClr val="2A3A5A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11899D39-81AE-5CB3-B7B2-C5EAB219DF40}"/>
              </a:ext>
            </a:extLst>
          </p:cNvPr>
          <p:cNvSpPr/>
          <p:nvPr/>
        </p:nvSpPr>
        <p:spPr>
          <a:xfrm>
            <a:off x="337670" y="2809894"/>
            <a:ext cx="7540144" cy="1067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A3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 视频占位</a:t>
            </a:r>
            <a:endParaRPr lang="en-US" sz="24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879F25A-EA21-2F77-1613-2541D32C7BCC}"/>
              </a:ext>
            </a:extLst>
          </p:cNvPr>
          <p:cNvGrpSpPr/>
          <p:nvPr/>
        </p:nvGrpSpPr>
        <p:grpSpPr>
          <a:xfrm>
            <a:off x="8048512" y="941832"/>
            <a:ext cx="4053841" cy="4803588"/>
            <a:chOff x="8138160" y="1143000"/>
            <a:chExt cx="3593592" cy="4069080"/>
          </a:xfrm>
        </p:grpSpPr>
        <p:sp>
          <p:nvSpPr>
            <p:cNvPr id="3" name="Shape 7">
              <a:extLst>
                <a:ext uri="{FF2B5EF4-FFF2-40B4-BE49-F238E27FC236}">
                  <a16:creationId xmlns:a16="http://schemas.microsoft.com/office/drawing/2014/main" id="{4AB6ADD0-1602-DDDD-220D-7ADE994F653E}"/>
                </a:ext>
              </a:extLst>
            </p:cNvPr>
            <p:cNvSpPr/>
            <p:nvPr/>
          </p:nvSpPr>
          <p:spPr>
            <a:xfrm>
              <a:off x="8138160" y="1143000"/>
              <a:ext cx="3593592" cy="822960"/>
            </a:xfrm>
            <a:prstGeom prst="roundRect">
              <a:avLst>
                <a:gd name="adj" fmla="val 5556"/>
              </a:avLst>
            </a:prstGeom>
            <a:solidFill>
              <a:srgbClr val="1A2640"/>
            </a:solidFill>
            <a:ln w="12700">
              <a:solidFill>
                <a:srgbClr val="4D9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Text 8">
              <a:extLst>
                <a:ext uri="{FF2B5EF4-FFF2-40B4-BE49-F238E27FC236}">
                  <a16:creationId xmlns:a16="http://schemas.microsoft.com/office/drawing/2014/main" id="{B1D5F160-5554-7E6D-5E7F-6B806A9E7C4F}"/>
                </a:ext>
              </a:extLst>
            </p:cNvPr>
            <p:cNvSpPr/>
            <p:nvPr/>
          </p:nvSpPr>
          <p:spPr>
            <a:xfrm>
              <a:off x="8275320" y="118872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💬 用户说</a:t>
              </a:r>
              <a:endParaRPr lang="en-US" sz="900" dirty="0"/>
            </a:p>
          </p:txBody>
        </p:sp>
        <p:sp>
          <p:nvSpPr>
            <p:cNvPr id="5" name="Text 9">
              <a:extLst>
                <a:ext uri="{FF2B5EF4-FFF2-40B4-BE49-F238E27FC236}">
                  <a16:creationId xmlns:a16="http://schemas.microsoft.com/office/drawing/2014/main" id="{E9C2DFF9-C420-B9E4-5180-C717A7647B9B}"/>
                </a:ext>
              </a:extLst>
            </p:cNvPr>
            <p:cNvSpPr/>
            <p:nvPr/>
          </p:nvSpPr>
          <p:spPr>
            <a:xfrm>
              <a:off x="8275320" y="141732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“</a:t>
              </a:r>
              <a:r>
                <a:rPr lang="zh-CN" alt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订单服务超时</a:t>
              </a:r>
              <a:r>
                <a:rPr lang="en-US" altLang="zh-CN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，</a:t>
              </a:r>
              <a:r>
                <a:rPr lang="en-US" altLang="zh-CN" sz="1100" dirty="0" err="1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帮我分析</a:t>
              </a:r>
              <a:r>
                <a:rPr lang="zh-CN" alt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</a:rPr>
                <a:t>下</a:t>
              </a: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，</a:t>
              </a:r>
              <a:r>
                <a:rPr lang="en-US" sz="1100" dirty="0" err="1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帮我深度分析原因</a:t>
              </a: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”</a:t>
              </a:r>
              <a:endParaRPr lang="en-US" sz="1100" dirty="0"/>
            </a:p>
          </p:txBody>
        </p:sp>
        <p:sp>
          <p:nvSpPr>
            <p:cNvPr id="6" name="Shape 10">
              <a:extLst>
                <a:ext uri="{FF2B5EF4-FFF2-40B4-BE49-F238E27FC236}">
                  <a16:creationId xmlns:a16="http://schemas.microsoft.com/office/drawing/2014/main" id="{3AFAB2FD-4E6B-F886-1790-F95E46B514FE}"/>
                </a:ext>
              </a:extLst>
            </p:cNvPr>
            <p:cNvSpPr/>
            <p:nvPr/>
          </p:nvSpPr>
          <p:spPr>
            <a:xfrm>
              <a:off x="8138160" y="210312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Text 11">
              <a:extLst>
                <a:ext uri="{FF2B5EF4-FFF2-40B4-BE49-F238E27FC236}">
                  <a16:creationId xmlns:a16="http://schemas.microsoft.com/office/drawing/2014/main" id="{716A77A7-1B75-0326-8657-4C35F1C3E483}"/>
                </a:ext>
              </a:extLst>
            </p:cNvPr>
            <p:cNvSpPr/>
            <p:nvPr/>
          </p:nvSpPr>
          <p:spPr>
            <a:xfrm>
              <a:off x="8275320" y="214884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⚡ 关键看点</a:t>
              </a:r>
              <a:endParaRPr lang="en-US" sz="900" dirty="0"/>
            </a:p>
          </p:txBody>
        </p:sp>
        <p:sp>
          <p:nvSpPr>
            <p:cNvPr id="8" name="Text 12">
              <a:extLst>
                <a:ext uri="{FF2B5EF4-FFF2-40B4-BE49-F238E27FC236}">
                  <a16:creationId xmlns:a16="http://schemas.microsoft.com/office/drawing/2014/main" id="{F3FE81B8-4BD0-B63C-B2D2-B18641EBF7B5}"/>
                </a:ext>
              </a:extLst>
            </p:cNvPr>
            <p:cNvSpPr/>
            <p:nvPr/>
          </p:nvSpPr>
          <p:spPr>
            <a:xfrm>
              <a:off x="8275320" y="242316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Strands Agent 多工具协作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DOA chat + investigate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KB 检索 → HTML 诊断书</a:t>
              </a:r>
              <a:endParaRPr lang="en-US" sz="1000" dirty="0"/>
            </a:p>
          </p:txBody>
        </p:sp>
        <p:sp>
          <p:nvSpPr>
            <p:cNvPr id="9" name="Shape 13">
              <a:extLst>
                <a:ext uri="{FF2B5EF4-FFF2-40B4-BE49-F238E27FC236}">
                  <a16:creationId xmlns:a16="http://schemas.microsoft.com/office/drawing/2014/main" id="{B23DE75A-9034-FB78-C810-A294AA9C1840}"/>
                </a:ext>
              </a:extLst>
            </p:cNvPr>
            <p:cNvSpPr/>
            <p:nvPr/>
          </p:nvSpPr>
          <p:spPr>
            <a:xfrm>
              <a:off x="8138160" y="315468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36B37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Text 14">
              <a:extLst>
                <a:ext uri="{FF2B5EF4-FFF2-40B4-BE49-F238E27FC236}">
                  <a16:creationId xmlns:a16="http://schemas.microsoft.com/office/drawing/2014/main" id="{66419437-6F26-0C87-B44E-52F4D379680F}"/>
                </a:ext>
              </a:extLst>
            </p:cNvPr>
            <p:cNvSpPr/>
            <p:nvPr/>
          </p:nvSpPr>
          <p:spPr>
            <a:xfrm>
              <a:off x="8275320" y="320040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📊 结果</a:t>
              </a:r>
              <a:endParaRPr lang="en-US" sz="900" dirty="0"/>
            </a:p>
          </p:txBody>
        </p:sp>
        <p:sp>
          <p:nvSpPr>
            <p:cNvPr id="11" name="Text 15">
              <a:extLst>
                <a:ext uri="{FF2B5EF4-FFF2-40B4-BE49-F238E27FC236}">
                  <a16:creationId xmlns:a16="http://schemas.microsoft.com/office/drawing/2014/main" id="{393DA03B-ABD1-8D48-8A2A-D89832A24834}"/>
                </a:ext>
              </a:extLst>
            </p:cNvPr>
            <p:cNvSpPr/>
            <p:nvPr/>
          </p:nvSpPr>
          <p:spPr>
            <a:xfrm>
              <a:off x="8275320" y="347472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中文摘要 + HTML 诊断书 URL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(含图表 + AI解读 + 建议)</a:t>
              </a:r>
              <a:endParaRPr lang="en-US" sz="1000" dirty="0"/>
            </a:p>
          </p:txBody>
        </p:sp>
        <p:sp>
          <p:nvSpPr>
            <p:cNvPr id="12" name="Shape 16">
              <a:extLst>
                <a:ext uri="{FF2B5EF4-FFF2-40B4-BE49-F238E27FC236}">
                  <a16:creationId xmlns:a16="http://schemas.microsoft.com/office/drawing/2014/main" id="{299F7882-9461-B492-9090-E78210E46EC3}"/>
                </a:ext>
              </a:extLst>
            </p:cNvPr>
            <p:cNvSpPr/>
            <p:nvPr/>
          </p:nvSpPr>
          <p:spPr>
            <a:xfrm>
              <a:off x="8138160" y="4206240"/>
              <a:ext cx="3593592" cy="457200"/>
            </a:xfrm>
            <a:prstGeom prst="roundRect">
              <a:avLst>
                <a:gd name="adj" fmla="val 8000"/>
              </a:avLst>
            </a:prstGeom>
            <a:solidFill>
              <a:srgbClr val="0A1A2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 17">
              <a:extLst>
                <a:ext uri="{FF2B5EF4-FFF2-40B4-BE49-F238E27FC236}">
                  <a16:creationId xmlns:a16="http://schemas.microsoft.com/office/drawing/2014/main" id="{9250254B-F9CA-DE4A-7E12-90716112CD75}"/>
                </a:ext>
              </a:extLst>
            </p:cNvPr>
            <p:cNvSpPr/>
            <p:nvPr/>
          </p:nvSpPr>
          <p:spPr>
            <a:xfrm>
              <a:off x="8275320" y="42062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CC6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⏱ 耗时：~35s</a:t>
              </a:r>
              <a:endParaRPr lang="en-US" sz="1200" dirty="0"/>
            </a:p>
          </p:txBody>
        </p:sp>
        <p:sp>
          <p:nvSpPr>
            <p:cNvPr id="14" name="Shape 18">
              <a:extLst>
                <a:ext uri="{FF2B5EF4-FFF2-40B4-BE49-F238E27FC236}">
                  <a16:creationId xmlns:a16="http://schemas.microsoft.com/office/drawing/2014/main" id="{8F2C7E88-7F9E-BDC1-E03C-682C21A6E429}"/>
                </a:ext>
              </a:extLst>
            </p:cNvPr>
            <p:cNvSpPr/>
            <p:nvPr/>
          </p:nvSpPr>
          <p:spPr>
            <a:xfrm>
              <a:off x="8138160" y="4800600"/>
              <a:ext cx="3593592" cy="411480"/>
            </a:xfrm>
            <a:prstGeom prst="roundRect">
              <a:avLst>
                <a:gd name="adj" fmla="val 8889"/>
              </a:avLst>
            </a:prstGeom>
            <a:solidFill>
              <a:srgbClr val="1A2640"/>
            </a:solidFill>
            <a:ln w="9525">
              <a:solidFill>
                <a:srgbClr val="A855F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Text 19">
              <a:extLst>
                <a:ext uri="{FF2B5EF4-FFF2-40B4-BE49-F238E27FC236}">
                  <a16:creationId xmlns:a16="http://schemas.microsoft.com/office/drawing/2014/main" id="{DBDF39CD-F933-E927-2288-B44E156110AE}"/>
                </a:ext>
              </a:extLst>
            </p:cNvPr>
            <p:cNvSpPr/>
            <p:nvPr/>
          </p:nvSpPr>
          <p:spPr>
            <a:xfrm>
              <a:off x="8229600" y="4800600"/>
              <a:ext cx="3410712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55F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🎯 证明能力：核心闭环 — 1句话→完整诊断书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1511893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F7339-7CB0-54D2-FB5B-4008FDF02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4F92FA-4D70-A6C5-836A-28552BCFB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Demo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：</a:t>
            </a:r>
            <a:r>
              <a:rPr lang="en-US" altLang="zh-CN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告警自动闭环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Amazon Ember" panose="020B0603020204020204" pitchFamily="34" charset="0"/>
            </a:endParaRPr>
          </a:p>
        </p:txBody>
      </p:sp>
      <p:sp>
        <p:nvSpPr>
          <p:cNvPr id="34" name="Shape 5">
            <a:extLst>
              <a:ext uri="{FF2B5EF4-FFF2-40B4-BE49-F238E27FC236}">
                <a16:creationId xmlns:a16="http://schemas.microsoft.com/office/drawing/2014/main" id="{93BD0689-E9AB-E658-2DB0-1BDE3DFA50E9}"/>
              </a:ext>
            </a:extLst>
          </p:cNvPr>
          <p:cNvSpPr/>
          <p:nvPr/>
        </p:nvSpPr>
        <p:spPr>
          <a:xfrm>
            <a:off x="337670" y="941832"/>
            <a:ext cx="7540144" cy="4803588"/>
          </a:xfrm>
          <a:prstGeom prst="roundRect">
            <a:avLst>
              <a:gd name="adj" fmla="val 1778"/>
            </a:avLst>
          </a:prstGeom>
          <a:solidFill>
            <a:srgbClr val="1A2640"/>
          </a:solidFill>
          <a:ln w="12700">
            <a:solidFill>
              <a:srgbClr val="2A3A5A"/>
            </a:solidFill>
            <a:prstDash val="dash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6">
            <a:extLst>
              <a:ext uri="{FF2B5EF4-FFF2-40B4-BE49-F238E27FC236}">
                <a16:creationId xmlns:a16="http://schemas.microsoft.com/office/drawing/2014/main" id="{9E585AE5-13A6-E5CC-4BAA-5F9BA5D72BAD}"/>
              </a:ext>
            </a:extLst>
          </p:cNvPr>
          <p:cNvSpPr/>
          <p:nvPr/>
        </p:nvSpPr>
        <p:spPr>
          <a:xfrm>
            <a:off x="337670" y="2809894"/>
            <a:ext cx="7540144" cy="1067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2A3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🎬 视频占位</a:t>
            </a:r>
            <a:endParaRPr lang="en-US" sz="2400" dirty="0"/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F4659734-8D7A-F02F-C43D-B0232A969565}"/>
              </a:ext>
            </a:extLst>
          </p:cNvPr>
          <p:cNvGrpSpPr/>
          <p:nvPr/>
        </p:nvGrpSpPr>
        <p:grpSpPr>
          <a:xfrm>
            <a:off x="8026400" y="941832"/>
            <a:ext cx="4111812" cy="4803588"/>
            <a:chOff x="8138160" y="1143000"/>
            <a:chExt cx="3593592" cy="4069080"/>
          </a:xfrm>
        </p:grpSpPr>
        <p:sp>
          <p:nvSpPr>
            <p:cNvPr id="17" name="Shape 7">
              <a:extLst>
                <a:ext uri="{FF2B5EF4-FFF2-40B4-BE49-F238E27FC236}">
                  <a16:creationId xmlns:a16="http://schemas.microsoft.com/office/drawing/2014/main" id="{E810FB45-2050-D690-C18A-CAE8AC5EA56D}"/>
                </a:ext>
              </a:extLst>
            </p:cNvPr>
            <p:cNvSpPr/>
            <p:nvPr/>
          </p:nvSpPr>
          <p:spPr>
            <a:xfrm>
              <a:off x="8138160" y="1143000"/>
              <a:ext cx="3593592" cy="822960"/>
            </a:xfrm>
            <a:prstGeom prst="roundRect">
              <a:avLst>
                <a:gd name="adj" fmla="val 5556"/>
              </a:avLst>
            </a:prstGeom>
            <a:solidFill>
              <a:srgbClr val="1A2640"/>
            </a:solidFill>
            <a:ln w="12700">
              <a:solidFill>
                <a:srgbClr val="4D9FFF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 8">
              <a:extLst>
                <a:ext uri="{FF2B5EF4-FFF2-40B4-BE49-F238E27FC236}">
                  <a16:creationId xmlns:a16="http://schemas.microsoft.com/office/drawing/2014/main" id="{DB137274-2AAF-59DC-A22D-7461FA56D927}"/>
                </a:ext>
              </a:extLst>
            </p:cNvPr>
            <p:cNvSpPr/>
            <p:nvPr/>
          </p:nvSpPr>
          <p:spPr>
            <a:xfrm>
              <a:off x="8275320" y="118872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4D9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💬 用户说</a:t>
              </a:r>
              <a:endParaRPr lang="en-US" sz="900" dirty="0"/>
            </a:p>
          </p:txBody>
        </p:sp>
        <p:sp>
          <p:nvSpPr>
            <p:cNvPr id="19" name="Text 9">
              <a:extLst>
                <a:ext uri="{FF2B5EF4-FFF2-40B4-BE49-F238E27FC236}">
                  <a16:creationId xmlns:a16="http://schemas.microsoft.com/office/drawing/2014/main" id="{D7FE072C-0D9E-0EF8-AB00-788B06D66F04}"/>
                </a:ext>
              </a:extLst>
            </p:cNvPr>
            <p:cNvSpPr/>
            <p:nvPr/>
          </p:nvSpPr>
          <p:spPr>
            <a:xfrm>
              <a:off x="8275320" y="14630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无用户操作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CW Alarm 自动触发全流程</a:t>
              </a:r>
              <a:endParaRPr lang="en-US" sz="1100" dirty="0"/>
            </a:p>
          </p:txBody>
        </p:sp>
        <p:sp>
          <p:nvSpPr>
            <p:cNvPr id="20" name="Shape 10">
              <a:extLst>
                <a:ext uri="{FF2B5EF4-FFF2-40B4-BE49-F238E27FC236}">
                  <a16:creationId xmlns:a16="http://schemas.microsoft.com/office/drawing/2014/main" id="{69E3794F-58C1-08E4-3798-65CA6567C218}"/>
                </a:ext>
              </a:extLst>
            </p:cNvPr>
            <p:cNvSpPr/>
            <p:nvPr/>
          </p:nvSpPr>
          <p:spPr>
            <a:xfrm>
              <a:off x="8138160" y="210312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 11">
              <a:extLst>
                <a:ext uri="{FF2B5EF4-FFF2-40B4-BE49-F238E27FC236}">
                  <a16:creationId xmlns:a16="http://schemas.microsoft.com/office/drawing/2014/main" id="{17744166-4453-8F62-FBFC-46D846455E8F}"/>
                </a:ext>
              </a:extLst>
            </p:cNvPr>
            <p:cNvSpPr/>
            <p:nvPr/>
          </p:nvSpPr>
          <p:spPr>
            <a:xfrm>
              <a:off x="8275320" y="214884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⚡ 关键看点</a:t>
              </a:r>
              <a:endParaRPr lang="en-US" sz="900" dirty="0"/>
            </a:p>
          </p:txBody>
        </p:sp>
        <p:sp>
          <p:nvSpPr>
            <p:cNvPr id="22" name="Text 12">
              <a:extLst>
                <a:ext uri="{FF2B5EF4-FFF2-40B4-BE49-F238E27FC236}">
                  <a16:creationId xmlns:a16="http://schemas.microsoft.com/office/drawing/2014/main" id="{270FC3B7-3431-9845-28B6-3C04B909CACE}"/>
                </a:ext>
              </a:extLst>
            </p:cNvPr>
            <p:cNvSpPr/>
            <p:nvPr/>
          </p:nvSpPr>
          <p:spPr>
            <a:xfrm>
              <a:off x="8275320" y="242316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CW Alarm → DOA Investigation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EventBridge → L1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→ HTML + SES 邮件 + KB</a:t>
              </a:r>
              <a:endParaRPr lang="en-US" sz="1000" dirty="0"/>
            </a:p>
          </p:txBody>
        </p:sp>
        <p:sp>
          <p:nvSpPr>
            <p:cNvPr id="23" name="Shape 13">
              <a:extLst>
                <a:ext uri="{FF2B5EF4-FFF2-40B4-BE49-F238E27FC236}">
                  <a16:creationId xmlns:a16="http://schemas.microsoft.com/office/drawing/2014/main" id="{04C4A1F8-86FD-A6CD-34FF-B86F5DB3835B}"/>
                </a:ext>
              </a:extLst>
            </p:cNvPr>
            <p:cNvSpPr/>
            <p:nvPr/>
          </p:nvSpPr>
          <p:spPr>
            <a:xfrm>
              <a:off x="8138160" y="3154680"/>
              <a:ext cx="3593592" cy="914400"/>
            </a:xfrm>
            <a:prstGeom prst="roundRect">
              <a:avLst>
                <a:gd name="adj" fmla="val 5000"/>
              </a:avLst>
            </a:prstGeom>
            <a:solidFill>
              <a:srgbClr val="1A2640"/>
            </a:solidFill>
            <a:ln w="12700">
              <a:solidFill>
                <a:srgbClr val="36B37E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14">
              <a:extLst>
                <a:ext uri="{FF2B5EF4-FFF2-40B4-BE49-F238E27FC236}">
                  <a16:creationId xmlns:a16="http://schemas.microsoft.com/office/drawing/2014/main" id="{29575F74-59EA-86C9-B4A1-979C05940AB9}"/>
                </a:ext>
              </a:extLst>
            </p:cNvPr>
            <p:cNvSpPr/>
            <p:nvPr/>
          </p:nvSpPr>
          <p:spPr>
            <a:xfrm>
              <a:off x="8275320" y="3200400"/>
              <a:ext cx="3319272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36B37E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📊 结果</a:t>
              </a:r>
              <a:endParaRPr lang="en-US" sz="900" dirty="0"/>
            </a:p>
          </p:txBody>
        </p:sp>
        <p:sp>
          <p:nvSpPr>
            <p:cNvPr id="25" name="Text 15">
              <a:extLst>
                <a:ext uri="{FF2B5EF4-FFF2-40B4-BE49-F238E27FC236}">
                  <a16:creationId xmlns:a16="http://schemas.microsoft.com/office/drawing/2014/main" id="{4C2B77D0-4C9D-296C-6521-F16E774F7905}"/>
                </a:ext>
              </a:extLst>
            </p:cNvPr>
            <p:cNvSpPr/>
            <p:nvPr/>
          </p:nvSpPr>
          <p:spPr>
            <a:xfrm>
              <a:off x="8275320" y="3474720"/>
              <a:ext cx="3319272" cy="54864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手机邮箱收到 HTML 邮件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+ 诊断书 URL</a:t>
              </a:r>
              <a:endParaRPr lang="en-US" sz="1000" dirty="0"/>
            </a:p>
            <a:p>
              <a:pPr marL="0" indent="0">
                <a:buNone/>
              </a:pPr>
              <a:r>
                <a:rPr lang="en-US" sz="1000" dirty="0">
                  <a:solidFill>
                    <a:srgbClr val="C0D0E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可继续跟问 list_investigations</a:t>
              </a:r>
              <a:endParaRPr lang="en-US" sz="1000" dirty="0"/>
            </a:p>
          </p:txBody>
        </p:sp>
        <p:sp>
          <p:nvSpPr>
            <p:cNvPr id="26" name="Shape 16">
              <a:extLst>
                <a:ext uri="{FF2B5EF4-FFF2-40B4-BE49-F238E27FC236}">
                  <a16:creationId xmlns:a16="http://schemas.microsoft.com/office/drawing/2014/main" id="{5FD463CF-921B-B255-947B-C1145B425398}"/>
                </a:ext>
              </a:extLst>
            </p:cNvPr>
            <p:cNvSpPr/>
            <p:nvPr/>
          </p:nvSpPr>
          <p:spPr>
            <a:xfrm>
              <a:off x="8138160" y="4206240"/>
              <a:ext cx="3593592" cy="457200"/>
            </a:xfrm>
            <a:prstGeom prst="roundRect">
              <a:avLst>
                <a:gd name="adj" fmla="val 8000"/>
              </a:avLst>
            </a:prstGeom>
            <a:solidFill>
              <a:srgbClr val="0A1A2A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 17">
              <a:extLst>
                <a:ext uri="{FF2B5EF4-FFF2-40B4-BE49-F238E27FC236}">
                  <a16:creationId xmlns:a16="http://schemas.microsoft.com/office/drawing/2014/main" id="{58F81878-5418-FFDC-3D03-14DE2C67A2CF}"/>
                </a:ext>
              </a:extLst>
            </p:cNvPr>
            <p:cNvSpPr/>
            <p:nvPr/>
          </p:nvSpPr>
          <p:spPr>
            <a:xfrm>
              <a:off x="8275320" y="4206240"/>
              <a:ext cx="3319272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b="1" dirty="0">
                  <a:solidFill>
                    <a:srgbClr val="FFCC6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⏱ 耗时：5-15min (无人值守)</a:t>
              </a:r>
              <a:endParaRPr lang="en-US" sz="1200" dirty="0"/>
            </a:p>
          </p:txBody>
        </p:sp>
        <p:sp>
          <p:nvSpPr>
            <p:cNvPr id="28" name="Shape 18">
              <a:extLst>
                <a:ext uri="{FF2B5EF4-FFF2-40B4-BE49-F238E27FC236}">
                  <a16:creationId xmlns:a16="http://schemas.microsoft.com/office/drawing/2014/main" id="{0B62C180-A416-C255-FDAC-D53A8A207A0D}"/>
                </a:ext>
              </a:extLst>
            </p:cNvPr>
            <p:cNvSpPr/>
            <p:nvPr/>
          </p:nvSpPr>
          <p:spPr>
            <a:xfrm>
              <a:off x="8138160" y="4800600"/>
              <a:ext cx="3593592" cy="411480"/>
            </a:xfrm>
            <a:prstGeom prst="roundRect">
              <a:avLst>
                <a:gd name="adj" fmla="val 8889"/>
              </a:avLst>
            </a:prstGeom>
            <a:solidFill>
              <a:srgbClr val="1A2640"/>
            </a:solidFill>
            <a:ln w="9525">
              <a:solidFill>
                <a:srgbClr val="A855F7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19">
              <a:extLst>
                <a:ext uri="{FF2B5EF4-FFF2-40B4-BE49-F238E27FC236}">
                  <a16:creationId xmlns:a16="http://schemas.microsoft.com/office/drawing/2014/main" id="{883B30B4-BDA2-7037-2137-9E71A052CB42}"/>
                </a:ext>
              </a:extLst>
            </p:cNvPr>
            <p:cNvSpPr/>
            <p:nvPr/>
          </p:nvSpPr>
          <p:spPr>
            <a:xfrm>
              <a:off x="8229600" y="4800600"/>
              <a:ext cx="3410712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00" dirty="0">
                  <a:solidFill>
                    <a:srgbClr val="A855F7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🎯 证明能力：夜间 on-call — 醒来时方案已在邮箱</a:t>
              </a:r>
              <a:endParaRPr lang="en-US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42875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B98E8-0E10-ED57-F974-4502FB145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6C607-FC2C-A14F-3B9D-8DCB7FA9C1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性能分析</a:t>
            </a:r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8BF56922-4A6D-043C-F260-017B784E52B2}"/>
              </a:ext>
            </a:extLst>
          </p:cNvPr>
          <p:cNvSpPr/>
          <p:nvPr/>
        </p:nvSpPr>
        <p:spPr>
          <a:xfrm>
            <a:off x="340061" y="133430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D9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🔍 发现 + 查询类</a:t>
            </a:r>
            <a:endParaRPr lang="en-US" sz="1200" dirty="0"/>
          </a:p>
        </p:txBody>
      </p:sp>
      <p:graphicFrame>
        <p:nvGraphicFramePr>
          <p:cNvPr id="57" name="Table 0">
            <a:extLst>
              <a:ext uri="{FF2B5EF4-FFF2-40B4-BE49-F238E27FC236}">
                <a16:creationId xmlns:a16="http://schemas.microsoft.com/office/drawing/2014/main" id="{092C11C9-0945-7C38-3C02-3AB6D8E27E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7147702"/>
              </p:ext>
            </p:extLst>
          </p:nvPr>
        </p:nvGraphicFramePr>
        <p:xfrm>
          <a:off x="340061" y="1706880"/>
          <a:ext cx="5669280" cy="32918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MCP Tool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耗时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瓶颈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discover_resources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7.9s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discover_alerts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5.2s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CloudWatch API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discover_incidents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DOA listInvestigations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get_resource_details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describe API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get_alert_details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3.2s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CW describeAlarms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get_incident_details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DOA getInvestigation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get_service_owner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Tag API 单次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get_service_dependencies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4.2s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Tag API 多次查询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query_knowledge_base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Bedrock KB retrieve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search_runbooks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KB retrieve + 排序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consult_devops_agent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20-30s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DOA chat/investigate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8" name="Text 4">
            <a:extLst>
              <a:ext uri="{FF2B5EF4-FFF2-40B4-BE49-F238E27FC236}">
                <a16:creationId xmlns:a16="http://schemas.microsoft.com/office/drawing/2014/main" id="{02BBA18E-7111-6943-A3E9-711546C35E3F}"/>
              </a:ext>
            </a:extLst>
          </p:cNvPr>
          <p:cNvSpPr/>
          <p:nvPr/>
        </p:nvSpPr>
        <p:spPr>
          <a:xfrm>
            <a:off x="6182661" y="1422044"/>
            <a:ext cx="5703836" cy="2789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分析 + 操作类</a:t>
            </a:r>
            <a:endParaRPr lang="en-US" sz="1200" dirty="0"/>
          </a:p>
        </p:txBody>
      </p:sp>
      <p:graphicFrame>
        <p:nvGraphicFramePr>
          <p:cNvPr id="59" name="Table 1">
            <a:extLst>
              <a:ext uri="{FF2B5EF4-FFF2-40B4-BE49-F238E27FC236}">
                <a16:creationId xmlns:a16="http://schemas.microsoft.com/office/drawing/2014/main" id="{04829FF3-AC67-FF3F-6D04-C2A731AA8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1691609"/>
              </p:ext>
            </p:extLst>
          </p:nvPr>
        </p:nvGraphicFramePr>
        <p:xfrm>
          <a:off x="6161740" y="1706880"/>
          <a:ext cx="5731435" cy="3026854"/>
        </p:xfrm>
        <a:graphic>
          <a:graphicData uri="http://schemas.openxmlformats.org/drawingml/2006/table">
            <a:tbl>
              <a:tblPr/>
              <a:tblGrid>
                <a:gridCol w="23919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99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19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89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MCP Tool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耗时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瓶颈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analyze_logs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12.3s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CW Logs Insights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analyze_metrics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8.7s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GetMetricData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analyze_traces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X-Ray trace summary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98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smart_diagnose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~35s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DOA + 多工具协作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execute_automation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SSM RunCommand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create_incident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DOA createInvestigation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update_incident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2.2s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DOA updateInvestigation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acknowledge_alert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CW setAlarmState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resolve_alert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1.8s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CW setAlarmState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905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request_confirm_token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0.5s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DDB put (TTL 5min)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76536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F321D-173E-E866-71B9-261F34DB1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B25A88-80B1-47B0-F4D6-785D22653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竞品分析</a:t>
            </a:r>
          </a:p>
        </p:txBody>
      </p:sp>
      <p:graphicFrame>
        <p:nvGraphicFramePr>
          <p:cNvPr id="64" name="Table 0">
            <a:extLst>
              <a:ext uri="{FF2B5EF4-FFF2-40B4-BE49-F238E27FC236}">
                <a16:creationId xmlns:a16="http://schemas.microsoft.com/office/drawing/2014/main" id="{FC18D300-35E1-DAA4-B48B-3557ACADFB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671149"/>
              </p:ext>
            </p:extLst>
          </p:nvPr>
        </p:nvGraphicFramePr>
        <p:xfrm>
          <a:off x="800249" y="818327"/>
          <a:ext cx="10937541" cy="4576011"/>
        </p:xfrm>
        <a:graphic>
          <a:graphicData uri="http://schemas.openxmlformats.org/drawingml/2006/table">
            <a:tbl>
              <a:tblPr/>
              <a:tblGrid>
                <a:gridCol w="19687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12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37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7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20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99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NLOps (Ours)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Datadog Bits AI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8899AA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Dynatrace Davis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5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定位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AWS 运维驾驶舱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体验层+安全层+经验层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Always-on SRE Agent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(2025-12 发布)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Causal AI AIOps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Forrester Leader Q2 2025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6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入口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中文 IM / Web / MCP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多入口自由选择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Datadog Chat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DT App / Chat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5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诊断输出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HTML 诊断书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 图表 + AI 解读 + 邮件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文本摘要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问题卡片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5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经验沉淀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Bedrock KB 自动沉淀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历史案例可检索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❌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66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观测平台绑定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无绑定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(DOA 支持多源)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E35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Datadog Only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E35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Dynatrace Only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933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月成本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36B37E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~$10/人 (Enterprise)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E35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$44-118/host/月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DE350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$69-99/host/月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453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AWS 深度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DOA 原生 + 21 MCP 工具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FCC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94% 根因准确率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 APM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 AWS 原生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通用 APM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C0D0E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非 AWS 原生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08056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49803-8560-DDEB-6EA8-E5D724232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85957D-2437-AA5E-D6AC-9373E218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8" y="-31322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成本分析</a:t>
            </a:r>
          </a:p>
        </p:txBody>
      </p:sp>
      <p:sp>
        <p:nvSpPr>
          <p:cNvPr id="54" name="Text 3">
            <a:extLst>
              <a:ext uri="{FF2B5EF4-FFF2-40B4-BE49-F238E27FC236}">
                <a16:creationId xmlns:a16="http://schemas.microsoft.com/office/drawing/2014/main" id="{B07D02F9-9FD6-3871-0B07-87EB914DF43D}"/>
              </a:ext>
            </a:extLst>
          </p:cNvPr>
          <p:cNvSpPr/>
          <p:nvPr/>
        </p:nvSpPr>
        <p:spPr>
          <a:xfrm>
            <a:off x="465567" y="751831"/>
            <a:ext cx="10548630" cy="48051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99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月成本明细</a:t>
            </a:r>
            <a:endParaRPr lang="en-US" dirty="0"/>
          </a:p>
        </p:txBody>
      </p:sp>
      <p:graphicFrame>
        <p:nvGraphicFramePr>
          <p:cNvPr id="55" name="Table 0">
            <a:extLst>
              <a:ext uri="{FF2B5EF4-FFF2-40B4-BE49-F238E27FC236}">
                <a16:creationId xmlns:a16="http://schemas.microsoft.com/office/drawing/2014/main" id="{E3DEABF4-D615-DC4E-9BD4-4D731261B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3654915"/>
              </p:ext>
            </p:extLst>
          </p:nvPr>
        </p:nvGraphicFramePr>
        <p:xfrm>
          <a:off x="525331" y="1232349"/>
          <a:ext cx="11302104" cy="4393301"/>
        </p:xfrm>
        <a:graphic>
          <a:graphicData uri="http://schemas.openxmlformats.org/drawingml/2006/table">
            <a:tbl>
              <a:tblPr/>
              <a:tblGrid>
                <a:gridCol w="33152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166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97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604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8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服务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规格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月费用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8899A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占比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DevOps Agent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$0.0083/s × ~40h/月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$1,200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Bedrock Nova Pro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Input+Output tokens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$300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Lambda (2 fn)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L1: 1536MB + L2: 512MB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$16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DynamoDB (3 tables)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Sessions+Audit+Tokens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$8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API Gateway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REST API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$4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EventBridge + SES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告警路由 + 邮件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S3 (诊断书存储)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HTML + 静态资源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&lt;1%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93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0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Bedrock KB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OpenSearch Serverless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CC6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$150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C0D0E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678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合计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~$1,682/月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99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100%</a:t>
                      </a:r>
                      <a:endParaRPr lang="en-US" sz="16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2A3A5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6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7105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4DEC1-DA28-0B44-E519-8C3F224AB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7F07D3-6532-4F5F-6E0F-C264E728A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28" y="-31322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下一步</a:t>
            </a:r>
          </a:p>
        </p:txBody>
      </p: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716D015F-D5D5-4A1A-A237-2B2B5F88A597}"/>
              </a:ext>
            </a:extLst>
          </p:cNvPr>
          <p:cNvGrpSpPr/>
          <p:nvPr/>
        </p:nvGrpSpPr>
        <p:grpSpPr>
          <a:xfrm>
            <a:off x="2173743" y="721324"/>
            <a:ext cx="8031804" cy="5161584"/>
            <a:chOff x="2590203" y="993887"/>
            <a:chExt cx="5696712" cy="4572000"/>
          </a:xfrm>
        </p:grpSpPr>
        <p:sp>
          <p:nvSpPr>
            <p:cNvPr id="30" name="Shape 30">
              <a:extLst>
                <a:ext uri="{FF2B5EF4-FFF2-40B4-BE49-F238E27FC236}">
                  <a16:creationId xmlns:a16="http://schemas.microsoft.com/office/drawing/2014/main" id="{C13C1EAB-3A2E-A252-FABC-7EB5C3DDFC57}"/>
                </a:ext>
              </a:extLst>
            </p:cNvPr>
            <p:cNvSpPr/>
            <p:nvPr/>
          </p:nvSpPr>
          <p:spPr>
            <a:xfrm>
              <a:off x="2590203" y="993887"/>
              <a:ext cx="5696712" cy="4572000"/>
            </a:xfrm>
            <a:prstGeom prst="roundRect">
              <a:avLst>
                <a:gd name="adj" fmla="val 1200"/>
              </a:avLst>
            </a:prstGeom>
            <a:solidFill>
              <a:srgbClr val="1A2640"/>
            </a:solidFill>
            <a:ln w="19050">
              <a:solidFill>
                <a:srgbClr val="FF9900"/>
              </a:solidFill>
              <a:prstDash val="solid"/>
            </a:ln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1" name="Text 31">
              <a:extLst>
                <a:ext uri="{FF2B5EF4-FFF2-40B4-BE49-F238E27FC236}">
                  <a16:creationId xmlns:a16="http://schemas.microsoft.com/office/drawing/2014/main" id="{881DA627-D78F-367B-D921-E1934492DAE9}"/>
                </a:ext>
              </a:extLst>
            </p:cNvPr>
            <p:cNvSpPr/>
            <p:nvPr/>
          </p:nvSpPr>
          <p:spPr>
            <a:xfrm>
              <a:off x="2773083" y="1085327"/>
              <a:ext cx="530352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F990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🔥 进一步下钻</a:t>
              </a:r>
              <a:endParaRPr lang="en-US" sz="2400" dirty="0"/>
            </a:p>
          </p:txBody>
        </p:sp>
        <p:sp>
          <p:nvSpPr>
            <p:cNvPr id="33" name="Shape 33">
              <a:extLst>
                <a:ext uri="{FF2B5EF4-FFF2-40B4-BE49-F238E27FC236}">
                  <a16:creationId xmlns:a16="http://schemas.microsoft.com/office/drawing/2014/main" id="{04B24D37-BF3A-B96E-038E-A4747418A948}"/>
                </a:ext>
              </a:extLst>
            </p:cNvPr>
            <p:cNvSpPr/>
            <p:nvPr/>
          </p:nvSpPr>
          <p:spPr>
            <a:xfrm>
              <a:off x="2955963" y="1908287"/>
              <a:ext cx="4937760" cy="411480"/>
            </a:xfrm>
            <a:prstGeom prst="roundRect">
              <a:avLst>
                <a:gd name="adj" fmla="val 8889"/>
              </a:avLst>
            </a:prstGeom>
            <a:solidFill>
              <a:srgbClr val="92D050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4" name="Text 34">
              <a:extLst>
                <a:ext uri="{FF2B5EF4-FFF2-40B4-BE49-F238E27FC236}">
                  <a16:creationId xmlns:a16="http://schemas.microsoft.com/office/drawing/2014/main" id="{19A018AA-0A02-83FB-F684-AC84EA0DE167}"/>
                </a:ext>
              </a:extLst>
            </p:cNvPr>
            <p:cNvSpPr/>
            <p:nvPr/>
          </p:nvSpPr>
          <p:spPr>
            <a:xfrm>
              <a:off x="3093123" y="190828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告警摘要</a:t>
              </a:r>
              <a:endParaRPr lang="en-US" sz="1600" dirty="0"/>
            </a:p>
          </p:txBody>
        </p:sp>
        <p:sp>
          <p:nvSpPr>
            <p:cNvPr id="35" name="Text 35">
              <a:extLst>
                <a:ext uri="{FF2B5EF4-FFF2-40B4-BE49-F238E27FC236}">
                  <a16:creationId xmlns:a16="http://schemas.microsoft.com/office/drawing/2014/main" id="{C7A7B703-8AAE-8E52-4559-C21A8891AADA}"/>
                </a:ext>
              </a:extLst>
            </p:cNvPr>
            <p:cNvSpPr/>
            <p:nvPr/>
          </p:nvSpPr>
          <p:spPr>
            <a:xfrm>
              <a:off x="4146127" y="1908287"/>
              <a:ext cx="3564717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CW Alarm → 一句话定位</a:t>
              </a:r>
              <a:endParaRPr lang="en-US" sz="1200" dirty="0"/>
            </a:p>
          </p:txBody>
        </p:sp>
        <p:sp>
          <p:nvSpPr>
            <p:cNvPr id="36" name="Text 36">
              <a:extLst>
                <a:ext uri="{FF2B5EF4-FFF2-40B4-BE49-F238E27FC236}">
                  <a16:creationId xmlns:a16="http://schemas.microsoft.com/office/drawing/2014/main" id="{BB6092B3-1453-B514-28B6-9D45052B8B54}"/>
                </a:ext>
              </a:extLst>
            </p:cNvPr>
            <p:cNvSpPr/>
            <p:nvPr/>
          </p:nvSpPr>
          <p:spPr>
            <a:xfrm>
              <a:off x="2955963" y="229233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37" name="Shape 37">
              <a:extLst>
                <a:ext uri="{FF2B5EF4-FFF2-40B4-BE49-F238E27FC236}">
                  <a16:creationId xmlns:a16="http://schemas.microsoft.com/office/drawing/2014/main" id="{DD63B6CF-2E39-AC1D-AF28-84A9D1762D17}"/>
                </a:ext>
              </a:extLst>
            </p:cNvPr>
            <p:cNvSpPr/>
            <p:nvPr/>
          </p:nvSpPr>
          <p:spPr>
            <a:xfrm>
              <a:off x="3230283" y="2456927"/>
              <a:ext cx="4389120" cy="411480"/>
            </a:xfrm>
            <a:prstGeom prst="roundRect">
              <a:avLst>
                <a:gd name="adj" fmla="val 8889"/>
              </a:avLst>
            </a:prstGeom>
            <a:solidFill>
              <a:srgbClr val="92D050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38" name="Text 38">
              <a:extLst>
                <a:ext uri="{FF2B5EF4-FFF2-40B4-BE49-F238E27FC236}">
                  <a16:creationId xmlns:a16="http://schemas.microsoft.com/office/drawing/2014/main" id="{996A5B5B-5DC2-D6A3-9B67-685B0D6900F3}"/>
                </a:ext>
              </a:extLst>
            </p:cNvPr>
            <p:cNvSpPr/>
            <p:nvPr/>
          </p:nvSpPr>
          <p:spPr>
            <a:xfrm>
              <a:off x="3367443" y="245692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指标趋势</a:t>
              </a:r>
              <a:endParaRPr lang="en-US" sz="1600" dirty="0"/>
            </a:p>
          </p:txBody>
        </p:sp>
        <p:sp>
          <p:nvSpPr>
            <p:cNvPr id="39" name="Text 39">
              <a:extLst>
                <a:ext uri="{FF2B5EF4-FFF2-40B4-BE49-F238E27FC236}">
                  <a16:creationId xmlns:a16="http://schemas.microsoft.com/office/drawing/2014/main" id="{F2190A38-05C0-CB9A-2907-C58C22D726A8}"/>
                </a:ext>
              </a:extLst>
            </p:cNvPr>
            <p:cNvSpPr/>
            <p:nvPr/>
          </p:nvSpPr>
          <p:spPr>
            <a:xfrm>
              <a:off x="4367081" y="2456927"/>
              <a:ext cx="3069443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Metrics 时序图 + 异常标注</a:t>
              </a:r>
              <a:endParaRPr lang="en-US" sz="1200" dirty="0"/>
            </a:p>
          </p:txBody>
        </p:sp>
        <p:sp>
          <p:nvSpPr>
            <p:cNvPr id="40" name="Text 40">
              <a:extLst>
                <a:ext uri="{FF2B5EF4-FFF2-40B4-BE49-F238E27FC236}">
                  <a16:creationId xmlns:a16="http://schemas.microsoft.com/office/drawing/2014/main" id="{6DA9F248-CC28-D25D-6808-17F9D751F199}"/>
                </a:ext>
              </a:extLst>
            </p:cNvPr>
            <p:cNvSpPr/>
            <p:nvPr/>
          </p:nvSpPr>
          <p:spPr>
            <a:xfrm>
              <a:off x="2955963" y="284097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41" name="Shape 41">
              <a:extLst>
                <a:ext uri="{FF2B5EF4-FFF2-40B4-BE49-F238E27FC236}">
                  <a16:creationId xmlns:a16="http://schemas.microsoft.com/office/drawing/2014/main" id="{4FC8E15B-3404-5D50-17E5-2DCD584B17AD}"/>
                </a:ext>
              </a:extLst>
            </p:cNvPr>
            <p:cNvSpPr/>
            <p:nvPr/>
          </p:nvSpPr>
          <p:spPr>
            <a:xfrm>
              <a:off x="3504603" y="3005567"/>
              <a:ext cx="3840480" cy="411480"/>
            </a:xfrm>
            <a:prstGeom prst="roundRect">
              <a:avLst>
                <a:gd name="adj" fmla="val 8889"/>
              </a:avLst>
            </a:prstGeom>
            <a:solidFill>
              <a:srgbClr val="92D050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2" name="Text 42">
              <a:extLst>
                <a:ext uri="{FF2B5EF4-FFF2-40B4-BE49-F238E27FC236}">
                  <a16:creationId xmlns:a16="http://schemas.microsoft.com/office/drawing/2014/main" id="{12B6CB69-6444-3685-460D-11DDF05E7F57}"/>
                </a:ext>
              </a:extLst>
            </p:cNvPr>
            <p:cNvSpPr/>
            <p:nvPr/>
          </p:nvSpPr>
          <p:spPr>
            <a:xfrm>
              <a:off x="3641763" y="300556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日志分析</a:t>
              </a:r>
              <a:endParaRPr lang="en-US" sz="1600" dirty="0"/>
            </a:p>
          </p:txBody>
        </p:sp>
        <p:sp>
          <p:nvSpPr>
            <p:cNvPr id="43" name="Text 43">
              <a:extLst>
                <a:ext uri="{FF2B5EF4-FFF2-40B4-BE49-F238E27FC236}">
                  <a16:creationId xmlns:a16="http://schemas.microsoft.com/office/drawing/2014/main" id="{033215EA-E11C-8AD3-5AEF-DE89BF7D4206}"/>
                </a:ext>
              </a:extLst>
            </p:cNvPr>
            <p:cNvSpPr/>
            <p:nvPr/>
          </p:nvSpPr>
          <p:spPr>
            <a:xfrm>
              <a:off x="4615168" y="3005567"/>
              <a:ext cx="2547036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Logs Insights → 关键错误行</a:t>
              </a:r>
              <a:endParaRPr lang="en-US" sz="1200" dirty="0"/>
            </a:p>
          </p:txBody>
        </p:sp>
        <p:sp>
          <p:nvSpPr>
            <p:cNvPr id="44" name="Text 44">
              <a:extLst>
                <a:ext uri="{FF2B5EF4-FFF2-40B4-BE49-F238E27FC236}">
                  <a16:creationId xmlns:a16="http://schemas.microsoft.com/office/drawing/2014/main" id="{77333296-5445-B74F-274B-2D8A5DED51D4}"/>
                </a:ext>
              </a:extLst>
            </p:cNvPr>
            <p:cNvSpPr/>
            <p:nvPr/>
          </p:nvSpPr>
          <p:spPr>
            <a:xfrm>
              <a:off x="2955963" y="338961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45" name="Shape 45">
              <a:extLst>
                <a:ext uri="{FF2B5EF4-FFF2-40B4-BE49-F238E27FC236}">
                  <a16:creationId xmlns:a16="http://schemas.microsoft.com/office/drawing/2014/main" id="{6823C2D4-4A28-B00B-C943-0ABDCE276FDB}"/>
                </a:ext>
              </a:extLst>
            </p:cNvPr>
            <p:cNvSpPr/>
            <p:nvPr/>
          </p:nvSpPr>
          <p:spPr>
            <a:xfrm>
              <a:off x="3778923" y="3554207"/>
              <a:ext cx="3291840" cy="411480"/>
            </a:xfrm>
            <a:prstGeom prst="roundRect">
              <a:avLst>
                <a:gd name="adj" fmla="val 8889"/>
              </a:avLst>
            </a:prstGeom>
            <a:solidFill>
              <a:srgbClr val="92D050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46" name="Text 46">
              <a:extLst>
                <a:ext uri="{FF2B5EF4-FFF2-40B4-BE49-F238E27FC236}">
                  <a16:creationId xmlns:a16="http://schemas.microsoft.com/office/drawing/2014/main" id="{8D1BAA21-F816-75E4-22CE-D8998667139E}"/>
                </a:ext>
              </a:extLst>
            </p:cNvPr>
            <p:cNvSpPr/>
            <p:nvPr/>
          </p:nvSpPr>
          <p:spPr>
            <a:xfrm>
              <a:off x="3916083" y="355420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链路追踪</a:t>
              </a:r>
              <a:endParaRPr lang="en-US" sz="1600" dirty="0"/>
            </a:p>
          </p:txBody>
        </p:sp>
        <p:sp>
          <p:nvSpPr>
            <p:cNvPr id="47" name="Text 47">
              <a:extLst>
                <a:ext uri="{FF2B5EF4-FFF2-40B4-BE49-F238E27FC236}">
                  <a16:creationId xmlns:a16="http://schemas.microsoft.com/office/drawing/2014/main" id="{CAC8A887-8FF0-3D76-525B-478793714BEB}"/>
                </a:ext>
              </a:extLst>
            </p:cNvPr>
            <p:cNvSpPr/>
            <p:nvPr/>
          </p:nvSpPr>
          <p:spPr>
            <a:xfrm>
              <a:off x="4847750" y="3554207"/>
              <a:ext cx="2040133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X-Ray traces → 慢 span 定位</a:t>
              </a:r>
              <a:endParaRPr lang="en-US" sz="1200" dirty="0"/>
            </a:p>
          </p:txBody>
        </p:sp>
        <p:sp>
          <p:nvSpPr>
            <p:cNvPr id="48" name="Text 48">
              <a:extLst>
                <a:ext uri="{FF2B5EF4-FFF2-40B4-BE49-F238E27FC236}">
                  <a16:creationId xmlns:a16="http://schemas.microsoft.com/office/drawing/2014/main" id="{F8A1D74A-B7DF-EFE8-7DD4-835C0ACE84A8}"/>
                </a:ext>
              </a:extLst>
            </p:cNvPr>
            <p:cNvSpPr/>
            <p:nvPr/>
          </p:nvSpPr>
          <p:spPr>
            <a:xfrm>
              <a:off x="2955963" y="393825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49" name="Shape 49">
              <a:extLst>
                <a:ext uri="{FF2B5EF4-FFF2-40B4-BE49-F238E27FC236}">
                  <a16:creationId xmlns:a16="http://schemas.microsoft.com/office/drawing/2014/main" id="{D0B4EB48-609F-E0B7-FE66-F3CBD5A6D3B2}"/>
                </a:ext>
              </a:extLst>
            </p:cNvPr>
            <p:cNvSpPr/>
            <p:nvPr/>
          </p:nvSpPr>
          <p:spPr>
            <a:xfrm>
              <a:off x="4053243" y="4102847"/>
              <a:ext cx="2743200" cy="411480"/>
            </a:xfrm>
            <a:prstGeom prst="roundRect">
              <a:avLst>
                <a:gd name="adj" fmla="val 8889"/>
              </a:avLst>
            </a:prstGeom>
            <a:solidFill>
              <a:srgbClr val="FFDD88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0" name="Text 50">
              <a:extLst>
                <a:ext uri="{FF2B5EF4-FFF2-40B4-BE49-F238E27FC236}">
                  <a16:creationId xmlns:a16="http://schemas.microsoft.com/office/drawing/2014/main" id="{8CEE27E6-333F-509E-748F-829174489A2C}"/>
                </a:ext>
              </a:extLst>
            </p:cNvPr>
            <p:cNvSpPr/>
            <p:nvPr/>
          </p:nvSpPr>
          <p:spPr>
            <a:xfrm>
              <a:off x="4190403" y="410284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火焰图</a:t>
              </a:r>
              <a:endParaRPr lang="en-US" sz="1600" dirty="0"/>
            </a:p>
          </p:txBody>
        </p:sp>
        <p:sp>
          <p:nvSpPr>
            <p:cNvPr id="51" name="Text 51">
              <a:extLst>
                <a:ext uri="{FF2B5EF4-FFF2-40B4-BE49-F238E27FC236}">
                  <a16:creationId xmlns:a16="http://schemas.microsoft.com/office/drawing/2014/main" id="{D98BD7B7-7F2E-D5A2-C86D-ED42926EAB13}"/>
                </a:ext>
              </a:extLst>
            </p:cNvPr>
            <p:cNvSpPr/>
            <p:nvPr/>
          </p:nvSpPr>
          <p:spPr>
            <a:xfrm>
              <a:off x="5084208" y="4111991"/>
              <a:ext cx="1791885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函数级耗时可视化</a:t>
              </a:r>
              <a:endParaRPr lang="en-US" sz="1200" dirty="0"/>
            </a:p>
          </p:txBody>
        </p:sp>
        <p:sp>
          <p:nvSpPr>
            <p:cNvPr id="52" name="Text 52">
              <a:extLst>
                <a:ext uri="{FF2B5EF4-FFF2-40B4-BE49-F238E27FC236}">
                  <a16:creationId xmlns:a16="http://schemas.microsoft.com/office/drawing/2014/main" id="{52EDF637-8FE5-2D7A-7875-0873E2631E53}"/>
                </a:ext>
              </a:extLst>
            </p:cNvPr>
            <p:cNvSpPr/>
            <p:nvPr/>
          </p:nvSpPr>
          <p:spPr>
            <a:xfrm>
              <a:off x="2955963" y="4486895"/>
              <a:ext cx="4937760" cy="1828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6A7A94"/>
                  </a:solidFill>
                </a:rPr>
                <a:t>▼</a:t>
              </a:r>
              <a:endParaRPr lang="en-US" sz="1100" dirty="0"/>
            </a:p>
          </p:txBody>
        </p:sp>
        <p:sp>
          <p:nvSpPr>
            <p:cNvPr id="53" name="Shape 53">
              <a:extLst>
                <a:ext uri="{FF2B5EF4-FFF2-40B4-BE49-F238E27FC236}">
                  <a16:creationId xmlns:a16="http://schemas.microsoft.com/office/drawing/2014/main" id="{8B6D602A-A894-4867-5F83-5F79E4799B1D}"/>
                </a:ext>
              </a:extLst>
            </p:cNvPr>
            <p:cNvSpPr/>
            <p:nvPr/>
          </p:nvSpPr>
          <p:spPr>
            <a:xfrm>
              <a:off x="4327563" y="4651487"/>
              <a:ext cx="2194560" cy="411480"/>
            </a:xfrm>
            <a:prstGeom prst="roundRect">
              <a:avLst>
                <a:gd name="adj" fmla="val 8889"/>
              </a:avLst>
            </a:prstGeom>
            <a:solidFill>
              <a:srgbClr val="FFEEAA"/>
            </a:solidFill>
            <a:ln/>
          </p:spPr>
          <p:txBody>
            <a:bodyPr/>
            <a:lstStyle/>
            <a:p>
              <a:endParaRPr lang="zh-CN" altLang="en-US" sz="3200"/>
            </a:p>
          </p:txBody>
        </p:sp>
        <p:sp>
          <p:nvSpPr>
            <p:cNvPr id="54" name="Text 54">
              <a:extLst>
                <a:ext uri="{FF2B5EF4-FFF2-40B4-BE49-F238E27FC236}">
                  <a16:creationId xmlns:a16="http://schemas.microsoft.com/office/drawing/2014/main" id="{E2468C3F-9E4D-779F-E272-5D3A6A0DDC7F}"/>
                </a:ext>
              </a:extLst>
            </p:cNvPr>
            <p:cNvSpPr/>
            <p:nvPr/>
          </p:nvSpPr>
          <p:spPr>
            <a:xfrm>
              <a:off x="4464723" y="4651487"/>
              <a:ext cx="1645920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代码定位</a:t>
              </a:r>
              <a:endParaRPr lang="en-US" sz="1600" dirty="0"/>
            </a:p>
          </p:txBody>
        </p:sp>
        <p:sp>
          <p:nvSpPr>
            <p:cNvPr id="55" name="Text 55">
              <a:extLst>
                <a:ext uri="{FF2B5EF4-FFF2-40B4-BE49-F238E27FC236}">
                  <a16:creationId xmlns:a16="http://schemas.microsoft.com/office/drawing/2014/main" id="{C73D9820-0CC3-3BB8-DF63-60260DA8CA08}"/>
                </a:ext>
              </a:extLst>
            </p:cNvPr>
            <p:cNvSpPr/>
            <p:nvPr/>
          </p:nvSpPr>
          <p:spPr>
            <a:xfrm>
              <a:off x="5204376" y="4651487"/>
              <a:ext cx="1957829" cy="4114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050" dirty="0">
                  <a:solidFill>
                    <a:srgbClr val="0F1624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精确到文件:行号 + 修复建议</a:t>
              </a:r>
              <a:endParaRPr lang="en-US" sz="1050" dirty="0"/>
            </a:p>
          </p:txBody>
        </p:sp>
      </p:grpSp>
    </p:spTree>
    <p:extLst>
      <p:ext uri="{BB962C8B-B14F-4D97-AF65-F5344CB8AC3E}">
        <p14:creationId xmlns:p14="http://schemas.microsoft.com/office/powerpoint/2010/main" val="839962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谢谢！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775FC-8095-A65A-29D9-23B877D3D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E4325B-606D-9D24-BAEF-E3AEF751A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41832"/>
          </a:xfrm>
        </p:spPr>
        <p:txBody>
          <a:bodyPr/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Amazon Ember" panose="020B0603020204020204" pitchFamily="34" charset="0"/>
              </a:rPr>
              <a:t>    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  <a:cs typeface="Amazon Ember" panose="020B0603020204020204" pitchFamily="34" charset="0"/>
              </a:rPr>
              <a:t>部署图</a:t>
            </a:r>
          </a:p>
        </p:txBody>
      </p:sp>
    </p:spTree>
    <p:extLst>
      <p:ext uri="{BB962C8B-B14F-4D97-AF65-F5344CB8AC3E}">
        <p14:creationId xmlns:p14="http://schemas.microsoft.com/office/powerpoint/2010/main" val="14798211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50059328]}"/>
</p:tagLst>
</file>

<file path=ppt/theme/theme1.xml><?xml version="1.0" encoding="utf-8"?>
<a:theme xmlns:a="http://schemas.openxmlformats.org/drawingml/2006/main" name="地图集">
  <a:themeElements>
    <a:clrScheme name="自定义 3">
      <a:dk1>
        <a:srgbClr val="797979"/>
      </a:dk1>
      <a:lt1>
        <a:srgbClr val="FFFFFF"/>
      </a:lt1>
      <a:dk2>
        <a:srgbClr val="797979"/>
      </a:dk2>
      <a:lt2>
        <a:srgbClr val="EEECE1"/>
      </a:lt2>
      <a:accent1>
        <a:srgbClr val="EB6100"/>
      </a:accent1>
      <a:accent2>
        <a:srgbClr val="FFBD47"/>
      </a:accent2>
      <a:accent3>
        <a:srgbClr val="B64926"/>
      </a:accent3>
      <a:accent4>
        <a:srgbClr val="FF8427"/>
      </a:accent4>
      <a:accent5>
        <a:srgbClr val="F3C75B"/>
      </a:accent5>
      <a:accent6>
        <a:srgbClr val="B22600"/>
      </a:accent6>
      <a:hlink>
        <a:srgbClr val="CC9900"/>
      </a:hlink>
      <a:folHlink>
        <a:srgbClr val="666699"/>
      </a:folHlink>
    </a:clrScheme>
    <a:fontScheme name="自定义 2">
      <a:majorFont>
        <a:latin typeface="Arial Black"/>
        <a:ea typeface="黑体"/>
        <a:cs typeface=""/>
      </a:majorFont>
      <a:minorFont>
        <a:latin typeface="Arial"/>
        <a:ea typeface="黑体"/>
        <a:cs typeface=""/>
      </a:minorFont>
    </a:fontScheme>
    <a:fmtScheme name="地图集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3">
    <a:dk1>
      <a:srgbClr val="797979"/>
    </a:dk1>
    <a:lt1>
      <a:srgbClr val="FFFFFF"/>
    </a:lt1>
    <a:dk2>
      <a:srgbClr val="797979"/>
    </a:dk2>
    <a:lt2>
      <a:srgbClr val="EEECE1"/>
    </a:lt2>
    <a:accent1>
      <a:srgbClr val="EB6100"/>
    </a:accent1>
    <a:accent2>
      <a:srgbClr val="FFBD47"/>
    </a:accent2>
    <a:accent3>
      <a:srgbClr val="B64926"/>
    </a:accent3>
    <a:accent4>
      <a:srgbClr val="FF8427"/>
    </a:accent4>
    <a:accent5>
      <a:srgbClr val="F3C75B"/>
    </a:accent5>
    <a:accent6>
      <a:srgbClr val="B22600"/>
    </a:accent6>
    <a:hlink>
      <a:srgbClr val="CC9900"/>
    </a:hlink>
    <a:folHlink>
      <a:srgbClr val="666699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ma:contentTypeDescription="新建文档。" ma:contentTypeVersion="7" ct:_="" ma:_="" ma:contentTypeScope="" ma:contentTypeID="0x010100407B8FF655CFD44B9A48FC292CD07551" ma:contentTypeName="文档" ma:versionID="b8a686a88e6a4bb569981f7aa16d89c8">
  <xsd:schema xmlns:p="http://schemas.microsoft.com/office/2006/metadata/properties" xmlns:xsd="http://www.w3.org/2001/XMLSchema" xmlns:ns2="855133d1-b6bd-46d5-87d4-428d7c908dc0" xmlns:xs="http://www.w3.org/2001/XMLSchema" ns2:_="" ma:root="true" ma:fieldsID="b53007261b0e13e84f0647679aebf433" targetNamespace="http://schemas.microsoft.com/office/2006/metadata/properties">
    <xsd:import namespace="855133d1-b6bd-46d5-87d4-428d7c908dc0"/>
    <xsd:element name="properties">
      <xsd:complexType>
        <xsd:sequence>
          <xsd:element name="documentManagement">
            <xsd:complexType>
              <xsd:all>
                <xsd:element minOccurs="0" ref="ns2:MediaServiceMetadata"/>
                <xsd:element minOccurs="0" ref="ns2:MediaServiceFastMetadata"/>
                <xsd:element minOccurs="0" ref="ns2:MediaServiceSearchProperties"/>
                <xsd:element minOccurs="0" ref="ns2:MediaServiceDateTaken"/>
                <xsd:element minOccurs="0" ref="ns2:MediaServiceGenerationTime"/>
                <xsd:element minOccurs="0" ref="ns2:MediaServiceEventHashCode"/>
                <xsd:element minOccurs="0" ref="ns2:MediaLengthInSeconds"/>
              </xsd:all>
            </xsd:complexType>
          </xsd:element>
        </xsd:sequence>
      </xsd:complexType>
    </xsd:element>
  </xsd:schema>
  <xsd:schema xmlns:pc="http://schemas.microsoft.com/office/infopath/2007/PartnerControls" xmlns:xsd="http://www.w3.org/2001/XMLSchema" xmlns:dms="http://schemas.microsoft.com/office/2006/documentManagement/types" xmlns:xs="http://www.w3.org/2001/XMLSchema" elementFormDefault="qualified" targetNamespace="855133d1-b6bd-46d5-87d4-428d7c908dc0">
    <xsd:import namespace="http://schemas.microsoft.com/office/2006/documentManagement/types"/>
    <xsd:import namespace="http://schemas.microsoft.com/office/infopath/2007/PartnerControls"/>
    <xsd:element nillable="true" ma:hidden="true" name="MediaServiceMetadata" ma:index="8" ma:readOnly="true" ma:displayName="MediaServiceMetadata" ma:internalName="MediaServiceMetadata">
      <xsd:simpleType>
        <xsd:restriction base="dms:Note"/>
      </xsd:simpleType>
    </xsd:element>
    <xsd:element nillable="true" ma:hidden="true" name="MediaServiceFastMetadata" ma:index="9" ma:readOnly="true" ma:displayName="MediaServiceFastMetadata" ma:internalName="MediaServiceFastMetadata">
      <xsd:simpleType>
        <xsd:restriction base="dms:Note"/>
      </xsd:simpleType>
    </xsd:element>
    <xsd:element nillable="true" ma:hidden="true" name="MediaServiceSearchProperties" ma:index="10" ma:readOnly="true" ma:displayName="MediaServiceSearchProperties" ma:internalName="MediaServiceSearchProperties">
      <xsd:simpleType>
        <xsd:restriction base="dms:Note"/>
      </xsd:simpleType>
    </xsd:element>
    <xsd:element nillable="true" ma:hidden="true" name="MediaServiceDateTaken" ma:index="11" ma:readOnly="true" ma:indexed="true" ma:displayName="MediaServiceDateTaken" ma:internalName="MediaServiceDateTaken">
      <xsd:simpleType>
        <xsd:restriction base="dms:Text"/>
      </xsd:simpleType>
    </xsd:element>
    <xsd:element nillable="true" ma:hidden="true" name="MediaServiceGenerationTime" ma:index="12" ma:readOnly="true" ma:displayName="MediaServiceGenerationTime" ma:internalName="MediaServiceGenerationTime">
      <xsd:simpleType>
        <xsd:restriction base="dms:Text"/>
      </xsd:simpleType>
    </xsd:element>
    <xsd:element nillable="true" ma:hidden="true" name="MediaServiceEventHashCode" ma:index="13" ma:readOnly="true" ma:displayName="MediaServiceEventHashCode" ma:internalName="MediaServiceEventHashCode">
      <xsd:simpleType>
        <xsd:restriction base="dms:Text"/>
      </xsd:simpleType>
    </xsd:element>
    <xsd:element nillable="true" ma:hidden="true" name="MediaLengthInSeconds" ma:index="14" ma:readOnly="true" ma:displayName="MediaLengthInSeconds" ma:internalName="MediaLengthInSeconds">
      <xsd:simpleType>
        <xsd:restriction base="dms:Unknown"/>
      </xsd:simpleType>
    </xsd:element>
  </xsd:schema>
  <xsd:schema xmlns:dcterms="http://purl.org/dc/terms/" xmlns:xsd="http://www.w3.org/2001/XMLSchema" xmlns="http://schemas.openxmlformats.org/package/2006/metadata/core-properties" xmlns:dc="http://purl.org/dc/elements/1.1/" xmlns:odoc="http://schemas.microsoft.com/internal/obd" xmlns:xsi="http://www.w3.org/2001/XMLSchema-instance" elementFormDefault="qualified" attributeFormDefault="unqualified" blockDefault="#all" targetNamespace="http://schemas.openxmlformats.org/package/2006/metadata/core-properties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minOccurs="0" ref="dc:creator" maxOccurs="1"/>
        <xsd:element minOccurs="0" ref="dcterms:created" maxOccurs="1"/>
        <xsd:element minOccurs="0" ref="dc:identifier" maxOccurs="1"/>
        <xsd:element minOccurs="0" name="contentType" ma:index="0" type="xsd:string" maxOccurs="1" ma:displayName="内容类型"/>
        <xsd:element minOccurs="0" ref="dc:title" ma:index="4" maxOccurs="1" ma:displayName="标题"/>
        <xsd:element minOccurs="0" ref="dc:subject" maxOccurs="1"/>
        <xsd:element minOccurs="0" ref="dc:description" maxOccurs="1"/>
        <xsd:element minOccurs="0" name="keywords" type="xsd:string" maxOccurs="1"/>
        <xsd:element minOccurs="0" ref="dc:language" maxOccurs="1"/>
        <xsd:element minOccurs="0" name="category" type="xsd:string" maxOccurs="1"/>
        <xsd:element minOccurs="0" name="version" type="xsd:string" maxOccurs="1"/>
        <xsd:element minOccurs="0" name="revision" type="xsd:string" maxOccurs="1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minOccurs="0" name="lastModifiedBy" type="xsd:string" maxOccurs="1"/>
        <xsd:element minOccurs="0" ref="dcterms:modified" maxOccurs="1"/>
        <xsd:element minOccurs="0" name="contentStatus" type="xsd:string" maxOccurs="1"/>
      </xsd:all>
    </xsd:complexType>
  </xsd:schema>
  <xs:schema xmlns:pc="http://schemas.microsoft.com/office/infopath/2007/PartnerControls" xmlns:xs="http://www.w3.org/2001/XMLSchema" elementFormDefault="qualified" attributeFormDefault="unqualified" targetNamespace="http://schemas.microsoft.com/office/infopath/2007/PartnerControls">
    <xs:element name="Person">
      <xs:complexType>
        <xs:sequence>
          <xs:element minOccurs="0" ref="pc:DisplayName"/>
          <xs:element minOccurs="0" ref="pc:AccountId"/>
          <xs:element minOccurs="0" ref="pc:AccountType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minOccurs="0" ref="pc:BDCEntity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minOccurs="0" ref="pc:EntityDisplayName"/>
          <xs:element minOccurs="0" ref="pc:EntityInstanceReference"/>
          <xs:element minOccurs="0" ref="pc:EntityId1"/>
          <xs:element minOccurs="0" ref="pc:EntityId2"/>
          <xs:element minOccurs="0" ref="pc:EntityId3"/>
          <xs:element minOccurs="0" ref="pc:EntityId4"/>
          <xs:element minOccurs="0" ref="pc:EntityId5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minOccurs="0" ref="pc:TermInfo" maxOccurs="unbounded"/>
        </xs:sequence>
      </xs:complexType>
    </xs:element>
    <xs:element name="TermInfo">
      <xs:complexType>
        <xs:sequence>
          <xs:element minOccurs="0" ref="pc:TermName"/>
          <xs:element minOccurs="0" ref="pc:TermId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BA854933-773D-432F-AA20-17551E849917}">
  <ds:schemaRefs/>
</ds:datastoreItem>
</file>

<file path=customXml/itemProps2.xml><?xml version="1.0" encoding="utf-8"?>
<ds:datastoreItem xmlns:ds="http://schemas.openxmlformats.org/officeDocument/2006/customXml" ds:itemID="{705B35A6-8B52-46A5-AE45-B98C6459DC10}">
  <ds:schemaRefs/>
</ds:datastoreItem>
</file>

<file path=customXml/itemProps3.xml><?xml version="1.0" encoding="utf-8"?>
<ds:datastoreItem xmlns:ds="http://schemas.openxmlformats.org/officeDocument/2006/customXml" ds:itemID="{C597C89A-FD0C-431E-81F6-90225B937683}">
  <ds:schemaRefs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terms/"/>
    <ds:schemaRef ds:uri="855133d1-b6bd-46d5-87d4-428d7c908dc0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12969</TotalTime>
  <Words>1613</Words>
  <Application>Microsoft Office PowerPoint</Application>
  <PresentationFormat>宽屏</PresentationFormat>
  <Paragraphs>467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等线</vt:lpstr>
      <vt:lpstr>Microsoft YaHei</vt:lpstr>
      <vt:lpstr>Microsoft YaHei</vt:lpstr>
      <vt:lpstr>Arial</vt:lpstr>
      <vt:lpstr>Calibri</vt:lpstr>
      <vt:lpstr>Consolas</vt:lpstr>
      <vt:lpstr>Wingdings</vt:lpstr>
      <vt:lpstr>地图集</vt:lpstr>
      <vt:lpstr>PowerPoint 演示文稿</vt:lpstr>
      <vt:lpstr>    客户的问题</vt:lpstr>
      <vt:lpstr>    问题的挑战</vt:lpstr>
      <vt:lpstr>    业界方案</vt:lpstr>
      <vt:lpstr>    客户要什么</vt:lpstr>
      <vt:lpstr>    解决方案</vt:lpstr>
      <vt:lpstr>    整体架构</vt:lpstr>
      <vt:lpstr>    核心能力： 智能诊断</vt:lpstr>
      <vt:lpstr>    核心能力： HTML诊断书</vt:lpstr>
      <vt:lpstr>    核心能力： 告警自动闭环</vt:lpstr>
      <vt:lpstr>    核心能力： 经验沉淀</vt:lpstr>
      <vt:lpstr>    Demo：资源盘点</vt:lpstr>
      <vt:lpstr>    Demo： 智能诊断</vt:lpstr>
      <vt:lpstr>    Demo： 告警自动闭环</vt:lpstr>
      <vt:lpstr>    性能分析</vt:lpstr>
      <vt:lpstr>    竞品分析</vt:lpstr>
      <vt:lpstr>    成本分析</vt:lpstr>
      <vt:lpstr>    下一步</vt:lpstr>
      <vt:lpstr>谢谢！</vt:lpstr>
      <vt:lpstr>    部署图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NWCD Presentation</dc:title>
  <dc:creator>赵颖颖</dc:creator>
  <cp:lastModifiedBy>Chen, Penghui</cp:lastModifiedBy>
  <cp:revision>1740</cp:revision>
  <dcterms:created xsi:type="dcterms:W3CDTF">2026-02-01T15:24:35Z</dcterms:created>
  <dcterms:modified xsi:type="dcterms:W3CDTF">2026-05-21T16:46:15Z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0x010100407B8FF655CFD44B9A48FC292CD07551</vt:lpwstr>
  </property>
  <property fmtid="{D5CDD505-2E9C-101B-9397-08002B2CF9AE}" pid="3" name="ICV">
    <vt:lpwstr>390D43DB12F89A1C96BE7469E135699D_42</vt:lpwstr>
  </property>
  <property fmtid="{D5CDD505-2E9C-101B-9397-08002B2CF9AE}" pid="4" name="KSOProductBuildVer">
    <vt:lpwstr>2052-12.1.24031.24031</vt:lpwstr>
  </property>
</Properties>
</file>