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285" r:id="rId5"/>
    <p:sldId id="330" r:id="rId6"/>
    <p:sldId id="331" r:id="rId7"/>
    <p:sldId id="332" r:id="rId8"/>
    <p:sldId id="333" r:id="rId9"/>
    <p:sldId id="334" r:id="rId10"/>
    <p:sldId id="335" r:id="rId11"/>
    <p:sldId id="346" r:id="rId12"/>
    <p:sldId id="337" r:id="rId13"/>
    <p:sldId id="338" r:id="rId14"/>
    <p:sldId id="336" r:id="rId15"/>
    <p:sldId id="340" r:id="rId16"/>
    <p:sldId id="345" r:id="rId17"/>
    <p:sldId id="342" r:id="rId18"/>
    <p:sldId id="344" r:id="rId19"/>
    <p:sldId id="347" r:id="rId20"/>
    <p:sldId id="300" r:id="rId21"/>
  </p:sldIdLst>
  <p:sldSz cx="12192000" cy="6858000"/>
  <p:notesSz cx="6858000" cy="9144000"/>
  <p:custDataLst>
    <p:tags r:id="rId2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2" userDrawn="1">
          <p15:clr>
            <a:srgbClr val="A4A3A4"/>
          </p15:clr>
        </p15:guide>
        <p15:guide id="3" orient="horz" pos="3169" userDrawn="1">
          <p15:clr>
            <a:srgbClr val="A4A3A4"/>
          </p15:clr>
        </p15:guide>
        <p15:guide id="4" orient="horz" pos="4251" userDrawn="1">
          <p15:clr>
            <a:srgbClr val="A4A3A4"/>
          </p15:clr>
        </p15:guide>
        <p15:guide id="6" orient="horz" pos="1800" userDrawn="1">
          <p15:clr>
            <a:srgbClr val="A4A3A4"/>
          </p15:clr>
        </p15:guide>
        <p15:guide id="8" orient="horz" pos="169" userDrawn="1">
          <p15:clr>
            <a:srgbClr val="A4A3A4"/>
          </p15:clr>
        </p15:guide>
        <p15:guide id="9" orient="horz" pos="2692" userDrawn="1">
          <p15:clr>
            <a:srgbClr val="A4A3A4"/>
          </p15:clr>
        </p15:guide>
        <p15:guide id="10" orient="horz" pos="3870" userDrawn="1">
          <p15:clr>
            <a:srgbClr val="A4A3A4"/>
          </p15:clr>
        </p15:guide>
        <p15:guide id="12" pos="2360" userDrawn="1">
          <p15:clr>
            <a:srgbClr val="A4A3A4"/>
          </p15:clr>
        </p15:guide>
        <p15:guide id="13" pos="3765" userDrawn="1">
          <p15:clr>
            <a:srgbClr val="A4A3A4"/>
          </p15:clr>
        </p15:guide>
        <p15:guide id="16" pos="3340" userDrawn="1">
          <p15:clr>
            <a:srgbClr val="A4A3A4"/>
          </p15:clr>
        </p15:guide>
        <p15:guide id="17" pos="2316" userDrawn="1">
          <p15:clr>
            <a:srgbClr val="A4A3A4"/>
          </p15:clr>
        </p15:guide>
        <p15:guide id="18" pos="1415" userDrawn="1">
          <p15:clr>
            <a:srgbClr val="A4A3A4"/>
          </p15:clr>
        </p15:guide>
        <p15:guide id="19" pos="6391" userDrawn="1">
          <p15:clr>
            <a:srgbClr val="A4A3A4"/>
          </p15:clr>
        </p15:guide>
        <p15:guide id="21" userDrawn="1">
          <p15:clr>
            <a:srgbClr val="A4A3A4"/>
          </p15:clr>
        </p15:guide>
        <p15:guide id="22" pos="4297" userDrawn="1">
          <p15:clr>
            <a:srgbClr val="A4A3A4"/>
          </p15:clr>
        </p15:guide>
        <p15:guide id="24" pos="5436" userDrawn="1">
          <p15:clr>
            <a:srgbClr val="A4A3A4"/>
          </p15:clr>
        </p15:guide>
        <p15:guide id="25" pos="7418" userDrawn="1">
          <p15:clr>
            <a:srgbClr val="A4A3A4"/>
          </p15:clr>
        </p15:guide>
        <p15:guide id="26" pos="226" userDrawn="1">
          <p15:clr>
            <a:srgbClr val="A4A3A4"/>
          </p15:clr>
        </p15:guide>
        <p15:guide id="27" pos="468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220AA1B-1162-29BC-A311-DB25CFEEA67A}" name="张克鹏" initials="张克鹏" userId="张克鹏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3A40"/>
    <a:srgbClr val="EB6100"/>
    <a:srgbClr val="348E8C"/>
    <a:srgbClr val="2662C9"/>
    <a:srgbClr val="4961C7"/>
    <a:srgbClr val="2858A7"/>
    <a:srgbClr val="DD4076"/>
    <a:srgbClr val="863F12"/>
    <a:srgbClr val="E01292"/>
    <a:srgbClr val="3233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97" autoAdjust="0"/>
    <p:restoredTop sz="90896" autoAdjust="0"/>
  </p:normalViewPr>
  <p:slideViewPr>
    <p:cSldViewPr snapToGrid="0" showGuides="1">
      <p:cViewPr varScale="1">
        <p:scale>
          <a:sx n="87" d="100"/>
          <a:sy n="87" d="100"/>
        </p:scale>
        <p:origin x="504" y="54"/>
      </p:cViewPr>
      <p:guideLst>
        <p:guide orient="horz" pos="892"/>
        <p:guide orient="horz" pos="3169"/>
        <p:guide orient="horz" pos="4251"/>
        <p:guide orient="horz" pos="1800"/>
        <p:guide orient="horz" pos="169"/>
        <p:guide orient="horz" pos="2692"/>
        <p:guide orient="horz" pos="3870"/>
        <p:guide pos="2360"/>
        <p:guide pos="3765"/>
        <p:guide pos="3340"/>
        <p:guide pos="2316"/>
        <p:guide pos="1415"/>
        <p:guide pos="6391"/>
        <p:guide/>
        <p:guide pos="4297"/>
        <p:guide pos="5436"/>
        <p:guide pos="7418"/>
        <p:guide pos="226"/>
        <p:guide pos="468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3976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791FEB-55A3-468A-B507-7CF740C9E911}" type="doc">
      <dgm:prSet loTypeId="urn:microsoft.com/office/officeart/2009/3/layout/StepUpProcess#1" loCatId="process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zh-CN" altLang="en-US"/>
        </a:p>
      </dgm:t>
    </dgm:pt>
    <dgm:pt modelId="{ED37A5B7-0CBB-4596-A4A0-05621662E50B}">
      <dgm:prSet phldrT="[文本]"/>
      <dgm:spPr/>
      <dgm:t>
        <a:bodyPr/>
        <a:lstStyle/>
        <a:p>
          <a:r>
            <a:rPr lang="zh-CN" altLang="en-US" sz="24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主动巡检</a:t>
          </a:r>
        </a:p>
      </dgm:t>
    </dgm:pt>
    <dgm:pt modelId="{36832051-67FD-4B8F-A8D4-FF7221C9EF28}" type="parTrans" cxnId="{6F1D4389-1B26-4605-8646-FA26785A643A}">
      <dgm:prSet/>
      <dgm:spPr/>
      <dgm:t>
        <a:bodyPr/>
        <a:lstStyle/>
        <a:p>
          <a:endParaRPr lang="zh-CN" altLang="en-US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AD9B2887-0C38-4819-8DA9-30E41E2E5EE3}" type="sibTrans" cxnId="{6F1D4389-1B26-4605-8646-FA26785A643A}">
      <dgm:prSet/>
      <dgm:spPr/>
      <dgm:t>
        <a:bodyPr/>
        <a:lstStyle/>
        <a:p>
          <a:endParaRPr lang="zh-CN" altLang="en-US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78E36CBE-AB97-438D-8D3A-0EC1FB719242}">
      <dgm:prSet phldrT="[文本]"/>
      <dgm:spPr/>
      <dgm:t>
        <a:bodyPr/>
        <a:lstStyle/>
        <a:p>
          <a:r>
            <a:rPr lang="zh-CN" altLang="en-US" sz="24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被动响应</a:t>
          </a:r>
        </a:p>
      </dgm:t>
    </dgm:pt>
    <dgm:pt modelId="{09B9F087-99BB-4FBB-A289-A228CE08707D}" type="parTrans" cxnId="{C546119E-594E-4AEE-9FCF-02E442C9DA46}">
      <dgm:prSet/>
      <dgm:spPr/>
      <dgm:t>
        <a:bodyPr/>
        <a:lstStyle/>
        <a:p>
          <a:endParaRPr lang="zh-CN" altLang="en-US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F468D865-1CD9-405A-98C7-A46664BDFFBA}" type="sibTrans" cxnId="{C546119E-594E-4AEE-9FCF-02E442C9DA46}">
      <dgm:prSet/>
      <dgm:spPr/>
      <dgm:t>
        <a:bodyPr/>
        <a:lstStyle/>
        <a:p>
          <a:endParaRPr lang="zh-CN" altLang="en-US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989BF474-6A69-425E-BB45-A2FCD6A0D3F4}">
      <dgm:prSet phldrT="[文本]"/>
      <dgm:spPr/>
      <dgm:t>
        <a:bodyPr/>
        <a:lstStyle/>
        <a:p>
          <a:r>
            <a:rPr lang="zh-CN" altLang="en-US" sz="24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新人上手</a:t>
          </a:r>
        </a:p>
      </dgm:t>
    </dgm:pt>
    <dgm:pt modelId="{FD2CFC09-72DF-4302-84C5-26717D4D4B50}" type="parTrans" cxnId="{1A043B15-6131-4239-B180-ACDE7A8FEFD7}">
      <dgm:prSet/>
      <dgm:spPr/>
      <dgm:t>
        <a:bodyPr/>
        <a:lstStyle/>
        <a:p>
          <a:endParaRPr lang="zh-CN" altLang="en-US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9A582E8B-637E-46C2-BC8D-1C38DF1D2134}" type="sibTrans" cxnId="{1A043B15-6131-4239-B180-ACDE7A8FEFD7}">
      <dgm:prSet/>
      <dgm:spPr/>
      <dgm:t>
        <a:bodyPr/>
        <a:lstStyle/>
        <a:p>
          <a:endParaRPr lang="zh-CN" altLang="en-US">
            <a:solidFill>
              <a:schemeClr val="bg1"/>
            </a:solidFill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65378A77-79F9-4F54-BF8C-705BD29D1E73}">
      <dgm:prSet phldrT="[文本]" custT="1"/>
      <dgm:spPr/>
      <dgm:t>
        <a:bodyPr/>
        <a:lstStyle/>
        <a:p>
          <a:r>
            <a:rPr lang="zh-CN" altLang="en-US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快速获得系统健康全貌，不用逐个看面版</a:t>
          </a:r>
        </a:p>
      </dgm:t>
    </dgm:pt>
    <dgm:pt modelId="{0FCD98F1-5AA5-4F2E-8C0C-F753EF9B7932}" type="parTrans" cxnId="{AD04F0C5-963E-46A2-8424-7CEEBA1187CC}">
      <dgm:prSet/>
      <dgm:spPr/>
      <dgm:t>
        <a:bodyPr/>
        <a:lstStyle/>
        <a:p>
          <a:endParaRPr lang="zh-CN" altLang="en-US"/>
        </a:p>
      </dgm:t>
    </dgm:pt>
    <dgm:pt modelId="{EA6DF5BA-D1C2-47FE-9411-8B8D67462397}" type="sibTrans" cxnId="{AD04F0C5-963E-46A2-8424-7CEEBA1187CC}">
      <dgm:prSet/>
      <dgm:spPr/>
      <dgm:t>
        <a:bodyPr/>
        <a:lstStyle/>
        <a:p>
          <a:endParaRPr lang="zh-CN" altLang="en-US"/>
        </a:p>
      </dgm:t>
    </dgm:pt>
    <dgm:pt modelId="{E09AEB6F-78E7-4377-8B31-FEECE9FDA372}">
      <dgm:prSet phldrT="[文本]" custT="1"/>
      <dgm:spPr/>
      <dgm:t>
        <a:bodyPr/>
        <a:lstStyle/>
        <a:p>
          <a:r>
            <a:rPr lang="zh-CN" altLang="en-US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不依赖个人经验也能处理常见故障</a:t>
          </a:r>
        </a:p>
      </dgm:t>
    </dgm:pt>
    <dgm:pt modelId="{7633A029-AE4B-4BF2-97D0-78E61B39F951}" type="parTrans" cxnId="{0C7958CD-3137-422E-A9DB-4B1A31AD5A82}">
      <dgm:prSet/>
      <dgm:spPr/>
      <dgm:t>
        <a:bodyPr/>
        <a:lstStyle/>
        <a:p>
          <a:endParaRPr lang="zh-CN" altLang="en-US"/>
        </a:p>
      </dgm:t>
    </dgm:pt>
    <dgm:pt modelId="{3C1F7AB9-D273-40C3-96D8-A3E962F18FB1}" type="sibTrans" cxnId="{0C7958CD-3137-422E-A9DB-4B1A31AD5A82}">
      <dgm:prSet/>
      <dgm:spPr/>
      <dgm:t>
        <a:bodyPr/>
        <a:lstStyle/>
        <a:p>
          <a:endParaRPr lang="zh-CN" altLang="en-US"/>
        </a:p>
      </dgm:t>
    </dgm:pt>
    <dgm:pt modelId="{1B5C62EA-DD51-44C0-AFB2-5113FCC6AB5D}">
      <dgm:prSet phldrT="[文本]" custT="1"/>
      <dgm:spPr/>
      <dgm:t>
        <a:bodyPr/>
        <a:lstStyle/>
        <a:p>
          <a:r>
            <a:rPr lang="zh-CN" altLang="en-US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快速定界</a:t>
          </a:r>
          <a:r>
            <a: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-&gt;</a:t>
          </a:r>
          <a:r>
            <a:rPr lang="zh-CN" altLang="en-US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定位</a:t>
          </a:r>
          <a:r>
            <a: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-&gt;</a:t>
          </a:r>
          <a:r>
            <a:rPr lang="zh-CN" altLang="en-US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修复，不用切换多个控制台</a:t>
          </a:r>
        </a:p>
      </dgm:t>
    </dgm:pt>
    <dgm:pt modelId="{C5BBE26C-5AC9-4FB1-8331-967B2A4642B2}" type="parTrans" cxnId="{632E239E-48C7-4ABB-B745-854EB3564189}">
      <dgm:prSet/>
      <dgm:spPr/>
      <dgm:t>
        <a:bodyPr/>
        <a:lstStyle/>
        <a:p>
          <a:endParaRPr lang="zh-CN" altLang="en-US"/>
        </a:p>
      </dgm:t>
    </dgm:pt>
    <dgm:pt modelId="{C8DF68F9-FE4F-454C-B517-BBAEF1A6C410}" type="sibTrans" cxnId="{632E239E-48C7-4ABB-B745-854EB3564189}">
      <dgm:prSet/>
      <dgm:spPr/>
      <dgm:t>
        <a:bodyPr/>
        <a:lstStyle/>
        <a:p>
          <a:endParaRPr lang="zh-CN" altLang="en-US"/>
        </a:p>
      </dgm:t>
    </dgm:pt>
    <dgm:pt modelId="{C8DB93AE-FF40-4502-A68F-E080F9D9F54F}">
      <dgm:prSet phldrT="[文本]"/>
      <dgm:spPr/>
      <dgm:t>
        <a:bodyPr/>
        <a:lstStyle/>
        <a:p>
          <a:r>
            <a:rPr lang="zh-CN" altLang="en-US" sz="24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夜间</a:t>
          </a:r>
          <a:r>
            <a:rPr lang="en-US" altLang="zh-CN" sz="24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/on-call</a:t>
          </a:r>
          <a:endParaRPr lang="zh-CN" altLang="en-US" sz="2400" dirty="0">
            <a:solidFill>
              <a:schemeClr val="bg1"/>
            </a:solidFill>
            <a:latin typeface="等线" panose="02010600030101010101" pitchFamily="2" charset="-122"/>
            <a:ea typeface="等线" panose="02010600030101010101" pitchFamily="2" charset="-122"/>
          </a:endParaRPr>
        </a:p>
      </dgm:t>
    </dgm:pt>
    <dgm:pt modelId="{3160CEBF-CF52-4629-ACAD-6DAF3D8D86A3}" type="parTrans" cxnId="{6AA509E4-7C3B-4588-A8E0-4D5B89146F05}">
      <dgm:prSet/>
      <dgm:spPr/>
      <dgm:t>
        <a:bodyPr/>
        <a:lstStyle/>
        <a:p>
          <a:endParaRPr lang="zh-CN" altLang="en-US"/>
        </a:p>
      </dgm:t>
    </dgm:pt>
    <dgm:pt modelId="{9362198D-2E04-4346-8F78-CD52BBB528B0}" type="sibTrans" cxnId="{6AA509E4-7C3B-4588-A8E0-4D5B89146F05}">
      <dgm:prSet/>
      <dgm:spPr/>
      <dgm:t>
        <a:bodyPr/>
        <a:lstStyle/>
        <a:p>
          <a:endParaRPr lang="zh-CN" altLang="en-US"/>
        </a:p>
      </dgm:t>
    </dgm:pt>
    <dgm:pt modelId="{740D18E3-4E26-4489-BC5D-E4695ABB3EE4}">
      <dgm:prSet phldrT="[文本]" custT="1"/>
      <dgm:spPr/>
      <dgm:t>
        <a:bodyPr/>
        <a:lstStyle/>
        <a:p>
          <a:r>
            <a:rPr lang="zh-CN" altLang="en-US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只不开电脑也能了解情况</a:t>
          </a:r>
        </a:p>
      </dgm:t>
    </dgm:pt>
    <dgm:pt modelId="{CD76F3BA-9190-40C5-A48C-B991D06B82D0}" type="parTrans" cxnId="{42C4104C-F58F-4252-B996-7E384D315DD2}">
      <dgm:prSet/>
      <dgm:spPr/>
      <dgm:t>
        <a:bodyPr/>
        <a:lstStyle/>
        <a:p>
          <a:endParaRPr lang="zh-CN" altLang="en-US"/>
        </a:p>
      </dgm:t>
    </dgm:pt>
    <dgm:pt modelId="{80950472-258F-4559-8B5C-579910E42C8E}" type="sibTrans" cxnId="{42C4104C-F58F-4252-B996-7E384D315DD2}">
      <dgm:prSet/>
      <dgm:spPr/>
      <dgm:t>
        <a:bodyPr/>
        <a:lstStyle/>
        <a:p>
          <a:endParaRPr lang="zh-CN" altLang="en-US"/>
        </a:p>
      </dgm:t>
    </dgm:pt>
    <dgm:pt modelId="{6D11EA5E-7BF8-4EB2-A16F-346DFE915CFA}" type="pres">
      <dgm:prSet presAssocID="{BD791FEB-55A3-468A-B507-7CF740C9E911}" presName="rootnode" presStyleCnt="0">
        <dgm:presLayoutVars>
          <dgm:chMax/>
          <dgm:chPref/>
          <dgm:dir/>
          <dgm:animLvl val="lvl"/>
        </dgm:presLayoutVars>
      </dgm:prSet>
      <dgm:spPr/>
    </dgm:pt>
    <dgm:pt modelId="{8CABEC08-FEDF-4674-892D-C405EC98A1AD}" type="pres">
      <dgm:prSet presAssocID="{ED37A5B7-0CBB-4596-A4A0-05621662E50B}" presName="composite" presStyleCnt="0"/>
      <dgm:spPr/>
    </dgm:pt>
    <dgm:pt modelId="{F6B96D4A-BBE4-4F10-82AB-BA682F31BA02}" type="pres">
      <dgm:prSet presAssocID="{ED37A5B7-0CBB-4596-A4A0-05621662E50B}" presName="LShape" presStyleLbl="alignNode1" presStyleIdx="0" presStyleCnt="7"/>
      <dgm:spPr/>
    </dgm:pt>
    <dgm:pt modelId="{97A8470C-D022-43DF-AA11-5122EB739704}" type="pres">
      <dgm:prSet presAssocID="{ED37A5B7-0CBB-4596-A4A0-05621662E50B}" presName="Parent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A737BF5F-549B-4E89-A243-2038C4F97461}" type="pres">
      <dgm:prSet presAssocID="{ED37A5B7-0CBB-4596-A4A0-05621662E50B}" presName="Triangle" presStyleLbl="alignNode1" presStyleIdx="1" presStyleCnt="7"/>
      <dgm:spPr/>
    </dgm:pt>
    <dgm:pt modelId="{5FF471A1-4C8B-4DCA-8A3E-59EBDD951722}" type="pres">
      <dgm:prSet presAssocID="{AD9B2887-0C38-4819-8DA9-30E41E2E5EE3}" presName="sibTrans" presStyleCnt="0"/>
      <dgm:spPr/>
    </dgm:pt>
    <dgm:pt modelId="{7F0E9CE9-DC27-4A99-A390-507D7D4BF6BC}" type="pres">
      <dgm:prSet presAssocID="{AD9B2887-0C38-4819-8DA9-30E41E2E5EE3}" presName="space" presStyleCnt="0"/>
      <dgm:spPr/>
    </dgm:pt>
    <dgm:pt modelId="{3E664D2C-BCE3-4B58-91B4-342EF4E99E1E}" type="pres">
      <dgm:prSet presAssocID="{78E36CBE-AB97-438D-8D3A-0EC1FB719242}" presName="composite" presStyleCnt="0"/>
      <dgm:spPr/>
    </dgm:pt>
    <dgm:pt modelId="{C588B7C7-9D04-455B-AA61-B381FF89F4C8}" type="pres">
      <dgm:prSet presAssocID="{78E36CBE-AB97-438D-8D3A-0EC1FB719242}" presName="LShape" presStyleLbl="alignNode1" presStyleIdx="2" presStyleCnt="7"/>
      <dgm:spPr/>
    </dgm:pt>
    <dgm:pt modelId="{38222189-A6C2-4C10-882C-A6598B34D068}" type="pres">
      <dgm:prSet presAssocID="{78E36CBE-AB97-438D-8D3A-0EC1FB719242}" presName="Parent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A94FA60D-2FA5-479B-9D19-C35494F8F349}" type="pres">
      <dgm:prSet presAssocID="{78E36CBE-AB97-438D-8D3A-0EC1FB719242}" presName="Triangle" presStyleLbl="alignNode1" presStyleIdx="3" presStyleCnt="7"/>
      <dgm:spPr/>
    </dgm:pt>
    <dgm:pt modelId="{2B6CBD8A-95CA-43E3-AA69-E10E003B2520}" type="pres">
      <dgm:prSet presAssocID="{F468D865-1CD9-405A-98C7-A46664BDFFBA}" presName="sibTrans" presStyleCnt="0"/>
      <dgm:spPr/>
    </dgm:pt>
    <dgm:pt modelId="{A2FC844B-E90A-4756-8800-373D6403D51E}" type="pres">
      <dgm:prSet presAssocID="{F468D865-1CD9-405A-98C7-A46664BDFFBA}" presName="space" presStyleCnt="0"/>
      <dgm:spPr/>
    </dgm:pt>
    <dgm:pt modelId="{6C416037-6967-4165-9D41-02A880EF4AAA}" type="pres">
      <dgm:prSet presAssocID="{C8DB93AE-FF40-4502-A68F-E080F9D9F54F}" presName="composite" presStyleCnt="0"/>
      <dgm:spPr/>
    </dgm:pt>
    <dgm:pt modelId="{9A79AE2A-8F4F-4783-8089-0A5A58F67656}" type="pres">
      <dgm:prSet presAssocID="{C8DB93AE-FF40-4502-A68F-E080F9D9F54F}" presName="LShape" presStyleLbl="alignNode1" presStyleIdx="4" presStyleCnt="7"/>
      <dgm:spPr/>
    </dgm:pt>
    <dgm:pt modelId="{F053CBDC-E8DE-4F71-8B45-C265C89BF93F}" type="pres">
      <dgm:prSet presAssocID="{C8DB93AE-FF40-4502-A68F-E080F9D9F54F}" presName="Parent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A61F5D05-7D1D-4480-ACD4-3DC773BA9958}" type="pres">
      <dgm:prSet presAssocID="{C8DB93AE-FF40-4502-A68F-E080F9D9F54F}" presName="Triangle" presStyleLbl="alignNode1" presStyleIdx="5" presStyleCnt="7"/>
      <dgm:spPr/>
    </dgm:pt>
    <dgm:pt modelId="{15CF69EF-5F56-4841-9581-16D3D8F14CE4}" type="pres">
      <dgm:prSet presAssocID="{9362198D-2E04-4346-8F78-CD52BBB528B0}" presName="sibTrans" presStyleCnt="0"/>
      <dgm:spPr/>
    </dgm:pt>
    <dgm:pt modelId="{A588FB78-E8CA-495B-BD2D-E88F5ABFDC23}" type="pres">
      <dgm:prSet presAssocID="{9362198D-2E04-4346-8F78-CD52BBB528B0}" presName="space" presStyleCnt="0"/>
      <dgm:spPr/>
    </dgm:pt>
    <dgm:pt modelId="{50B498BC-9D44-4DCD-A741-CB956DCC4620}" type="pres">
      <dgm:prSet presAssocID="{989BF474-6A69-425E-BB45-A2FCD6A0D3F4}" presName="composite" presStyleCnt="0"/>
      <dgm:spPr/>
    </dgm:pt>
    <dgm:pt modelId="{AA384477-6962-4E46-AADF-0EB48306A3EF}" type="pres">
      <dgm:prSet presAssocID="{989BF474-6A69-425E-BB45-A2FCD6A0D3F4}" presName="LShape" presStyleLbl="alignNode1" presStyleIdx="6" presStyleCnt="7"/>
      <dgm:spPr/>
    </dgm:pt>
    <dgm:pt modelId="{EB1C8723-5ABE-4E5E-90F1-F9965CB7139E}" type="pres">
      <dgm:prSet presAssocID="{989BF474-6A69-425E-BB45-A2FCD6A0D3F4}" presName="ParentText" presStyleLbl="revTx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FC25A914-772F-472E-AC7D-2419B04F09D6}" type="presOf" srcId="{78E36CBE-AB97-438D-8D3A-0EC1FB719242}" destId="{38222189-A6C2-4C10-882C-A6598B34D068}" srcOrd="0" destOrd="0" presId="urn:microsoft.com/office/officeart/2009/3/layout/StepUpProcess#1"/>
    <dgm:cxn modelId="{1A043B15-6131-4239-B180-ACDE7A8FEFD7}" srcId="{BD791FEB-55A3-468A-B507-7CF740C9E911}" destId="{989BF474-6A69-425E-BB45-A2FCD6A0D3F4}" srcOrd="3" destOrd="0" parTransId="{FD2CFC09-72DF-4302-84C5-26717D4D4B50}" sibTransId="{9A582E8B-637E-46C2-BC8D-1C38DF1D2134}"/>
    <dgm:cxn modelId="{42C4104C-F58F-4252-B996-7E384D315DD2}" srcId="{C8DB93AE-FF40-4502-A68F-E080F9D9F54F}" destId="{740D18E3-4E26-4489-BC5D-E4695ABB3EE4}" srcOrd="0" destOrd="0" parTransId="{CD76F3BA-9190-40C5-A48C-B991D06B82D0}" sibTransId="{80950472-258F-4559-8B5C-579910E42C8E}"/>
    <dgm:cxn modelId="{3021C370-4681-458F-A1DE-2A62FB4F3DC5}" type="presOf" srcId="{E09AEB6F-78E7-4377-8B31-FEECE9FDA372}" destId="{EB1C8723-5ABE-4E5E-90F1-F9965CB7139E}" srcOrd="0" destOrd="1" presId="urn:microsoft.com/office/officeart/2009/3/layout/StepUpProcess#1"/>
    <dgm:cxn modelId="{362B1686-695B-4400-90A9-9B002CC7E499}" type="presOf" srcId="{989BF474-6A69-425E-BB45-A2FCD6A0D3F4}" destId="{EB1C8723-5ABE-4E5E-90F1-F9965CB7139E}" srcOrd="0" destOrd="0" presId="urn:microsoft.com/office/officeart/2009/3/layout/StepUpProcess#1"/>
    <dgm:cxn modelId="{6F1D4389-1B26-4605-8646-FA26785A643A}" srcId="{BD791FEB-55A3-468A-B507-7CF740C9E911}" destId="{ED37A5B7-0CBB-4596-A4A0-05621662E50B}" srcOrd="0" destOrd="0" parTransId="{36832051-67FD-4B8F-A8D4-FF7221C9EF28}" sibTransId="{AD9B2887-0C38-4819-8DA9-30E41E2E5EE3}"/>
    <dgm:cxn modelId="{158B3797-ABE4-41C8-A05D-121DFC60A107}" type="presOf" srcId="{740D18E3-4E26-4489-BC5D-E4695ABB3EE4}" destId="{F053CBDC-E8DE-4F71-8B45-C265C89BF93F}" srcOrd="0" destOrd="1" presId="urn:microsoft.com/office/officeart/2009/3/layout/StepUpProcess#1"/>
    <dgm:cxn modelId="{B9B5B399-C15E-48D3-A2F1-3218D67FD724}" type="presOf" srcId="{65378A77-79F9-4F54-BF8C-705BD29D1E73}" destId="{97A8470C-D022-43DF-AA11-5122EB739704}" srcOrd="0" destOrd="1" presId="urn:microsoft.com/office/officeart/2009/3/layout/StepUpProcess#1"/>
    <dgm:cxn modelId="{C546119E-594E-4AEE-9FCF-02E442C9DA46}" srcId="{BD791FEB-55A3-468A-B507-7CF740C9E911}" destId="{78E36CBE-AB97-438D-8D3A-0EC1FB719242}" srcOrd="1" destOrd="0" parTransId="{09B9F087-99BB-4FBB-A289-A228CE08707D}" sibTransId="{F468D865-1CD9-405A-98C7-A46664BDFFBA}"/>
    <dgm:cxn modelId="{632E239E-48C7-4ABB-B745-854EB3564189}" srcId="{78E36CBE-AB97-438D-8D3A-0EC1FB719242}" destId="{1B5C62EA-DD51-44C0-AFB2-5113FCC6AB5D}" srcOrd="0" destOrd="0" parTransId="{C5BBE26C-5AC9-4FB1-8331-967B2A4642B2}" sibTransId="{C8DF68F9-FE4F-454C-B517-BBAEF1A6C410}"/>
    <dgm:cxn modelId="{AD04F0C5-963E-46A2-8424-7CEEBA1187CC}" srcId="{ED37A5B7-0CBB-4596-A4A0-05621662E50B}" destId="{65378A77-79F9-4F54-BF8C-705BD29D1E73}" srcOrd="0" destOrd="0" parTransId="{0FCD98F1-5AA5-4F2E-8C0C-F753EF9B7932}" sibTransId="{EA6DF5BA-D1C2-47FE-9411-8B8D67462397}"/>
    <dgm:cxn modelId="{0C7958CD-3137-422E-A9DB-4B1A31AD5A82}" srcId="{989BF474-6A69-425E-BB45-A2FCD6A0D3F4}" destId="{E09AEB6F-78E7-4377-8B31-FEECE9FDA372}" srcOrd="0" destOrd="0" parTransId="{7633A029-AE4B-4BF2-97D0-78E61B39F951}" sibTransId="{3C1F7AB9-D273-40C3-96D8-A3E962F18FB1}"/>
    <dgm:cxn modelId="{E5777ED9-99B2-415A-9748-779D765B9950}" type="presOf" srcId="{C8DB93AE-FF40-4502-A68F-E080F9D9F54F}" destId="{F053CBDC-E8DE-4F71-8B45-C265C89BF93F}" srcOrd="0" destOrd="0" presId="urn:microsoft.com/office/officeart/2009/3/layout/StepUpProcess#1"/>
    <dgm:cxn modelId="{6AA509E4-7C3B-4588-A8E0-4D5B89146F05}" srcId="{BD791FEB-55A3-468A-B507-7CF740C9E911}" destId="{C8DB93AE-FF40-4502-A68F-E080F9D9F54F}" srcOrd="2" destOrd="0" parTransId="{3160CEBF-CF52-4629-ACAD-6DAF3D8D86A3}" sibTransId="{9362198D-2E04-4346-8F78-CD52BBB528B0}"/>
    <dgm:cxn modelId="{D3CB94E8-790D-4401-B2F9-39120AECA0EC}" type="presOf" srcId="{BD791FEB-55A3-468A-B507-7CF740C9E911}" destId="{6D11EA5E-7BF8-4EB2-A16F-346DFE915CFA}" srcOrd="0" destOrd="0" presId="urn:microsoft.com/office/officeart/2009/3/layout/StepUpProcess#1"/>
    <dgm:cxn modelId="{8EAE94FC-CCF7-4A19-A6E4-69DBA219B323}" type="presOf" srcId="{1B5C62EA-DD51-44C0-AFB2-5113FCC6AB5D}" destId="{38222189-A6C2-4C10-882C-A6598B34D068}" srcOrd="0" destOrd="1" presId="urn:microsoft.com/office/officeart/2009/3/layout/StepUpProcess#1"/>
    <dgm:cxn modelId="{3D5CC3FE-26B5-49AD-AB07-94B6E8158B72}" type="presOf" srcId="{ED37A5B7-0CBB-4596-A4A0-05621662E50B}" destId="{97A8470C-D022-43DF-AA11-5122EB739704}" srcOrd="0" destOrd="0" presId="urn:microsoft.com/office/officeart/2009/3/layout/StepUpProcess#1"/>
    <dgm:cxn modelId="{36B27190-DED3-498F-98DD-FEF93BF4C45C}" type="presParOf" srcId="{6D11EA5E-7BF8-4EB2-A16F-346DFE915CFA}" destId="{8CABEC08-FEDF-4674-892D-C405EC98A1AD}" srcOrd="0" destOrd="0" presId="urn:microsoft.com/office/officeart/2009/3/layout/StepUpProcess#1"/>
    <dgm:cxn modelId="{31E653B0-8062-4F11-B286-942C471A2787}" type="presParOf" srcId="{8CABEC08-FEDF-4674-892D-C405EC98A1AD}" destId="{F6B96D4A-BBE4-4F10-82AB-BA682F31BA02}" srcOrd="0" destOrd="0" presId="urn:microsoft.com/office/officeart/2009/3/layout/StepUpProcess#1"/>
    <dgm:cxn modelId="{FA3BEC06-C7E2-414C-946E-71B0E481A45A}" type="presParOf" srcId="{8CABEC08-FEDF-4674-892D-C405EC98A1AD}" destId="{97A8470C-D022-43DF-AA11-5122EB739704}" srcOrd="1" destOrd="0" presId="urn:microsoft.com/office/officeart/2009/3/layout/StepUpProcess#1"/>
    <dgm:cxn modelId="{EA165E94-4236-48A7-AC20-1AC83F207B5F}" type="presParOf" srcId="{8CABEC08-FEDF-4674-892D-C405EC98A1AD}" destId="{A737BF5F-549B-4E89-A243-2038C4F97461}" srcOrd="2" destOrd="0" presId="urn:microsoft.com/office/officeart/2009/3/layout/StepUpProcess#1"/>
    <dgm:cxn modelId="{737B5FE4-1965-4FED-85AA-AF135FB4D6E7}" type="presParOf" srcId="{6D11EA5E-7BF8-4EB2-A16F-346DFE915CFA}" destId="{5FF471A1-4C8B-4DCA-8A3E-59EBDD951722}" srcOrd="1" destOrd="0" presId="urn:microsoft.com/office/officeart/2009/3/layout/StepUpProcess#1"/>
    <dgm:cxn modelId="{E6BFDE46-ED8B-421A-A312-7A8E710AB6E9}" type="presParOf" srcId="{5FF471A1-4C8B-4DCA-8A3E-59EBDD951722}" destId="{7F0E9CE9-DC27-4A99-A390-507D7D4BF6BC}" srcOrd="0" destOrd="0" presId="urn:microsoft.com/office/officeart/2009/3/layout/StepUpProcess#1"/>
    <dgm:cxn modelId="{86952079-6018-4E63-A27A-FDC3B6BF0FE1}" type="presParOf" srcId="{6D11EA5E-7BF8-4EB2-A16F-346DFE915CFA}" destId="{3E664D2C-BCE3-4B58-91B4-342EF4E99E1E}" srcOrd="2" destOrd="0" presId="urn:microsoft.com/office/officeart/2009/3/layout/StepUpProcess#1"/>
    <dgm:cxn modelId="{F0A63445-04B7-47A0-A09E-8BC6FF6714D1}" type="presParOf" srcId="{3E664D2C-BCE3-4B58-91B4-342EF4E99E1E}" destId="{C588B7C7-9D04-455B-AA61-B381FF89F4C8}" srcOrd="0" destOrd="0" presId="urn:microsoft.com/office/officeart/2009/3/layout/StepUpProcess#1"/>
    <dgm:cxn modelId="{368D8550-AFD2-4F4E-8356-CC62F3E05D16}" type="presParOf" srcId="{3E664D2C-BCE3-4B58-91B4-342EF4E99E1E}" destId="{38222189-A6C2-4C10-882C-A6598B34D068}" srcOrd="1" destOrd="0" presId="urn:microsoft.com/office/officeart/2009/3/layout/StepUpProcess#1"/>
    <dgm:cxn modelId="{FC0DD2D5-519D-4123-8FF9-4678FD6C76B3}" type="presParOf" srcId="{3E664D2C-BCE3-4B58-91B4-342EF4E99E1E}" destId="{A94FA60D-2FA5-479B-9D19-C35494F8F349}" srcOrd="2" destOrd="0" presId="urn:microsoft.com/office/officeart/2009/3/layout/StepUpProcess#1"/>
    <dgm:cxn modelId="{F2B2AE3A-CD79-4469-8889-9779968EDB83}" type="presParOf" srcId="{6D11EA5E-7BF8-4EB2-A16F-346DFE915CFA}" destId="{2B6CBD8A-95CA-43E3-AA69-E10E003B2520}" srcOrd="3" destOrd="0" presId="urn:microsoft.com/office/officeart/2009/3/layout/StepUpProcess#1"/>
    <dgm:cxn modelId="{16749741-EDFB-4E2D-AD3B-C8EB287FD5F0}" type="presParOf" srcId="{2B6CBD8A-95CA-43E3-AA69-E10E003B2520}" destId="{A2FC844B-E90A-4756-8800-373D6403D51E}" srcOrd="0" destOrd="0" presId="urn:microsoft.com/office/officeart/2009/3/layout/StepUpProcess#1"/>
    <dgm:cxn modelId="{561F42BE-B078-4468-B2D5-10EBC1F76BF4}" type="presParOf" srcId="{6D11EA5E-7BF8-4EB2-A16F-346DFE915CFA}" destId="{6C416037-6967-4165-9D41-02A880EF4AAA}" srcOrd="4" destOrd="0" presId="urn:microsoft.com/office/officeart/2009/3/layout/StepUpProcess#1"/>
    <dgm:cxn modelId="{849806A2-5995-43DD-B4A5-6C8C710529B2}" type="presParOf" srcId="{6C416037-6967-4165-9D41-02A880EF4AAA}" destId="{9A79AE2A-8F4F-4783-8089-0A5A58F67656}" srcOrd="0" destOrd="0" presId="urn:microsoft.com/office/officeart/2009/3/layout/StepUpProcess#1"/>
    <dgm:cxn modelId="{5F53C422-16AD-4FA4-98B1-1B853A5B6143}" type="presParOf" srcId="{6C416037-6967-4165-9D41-02A880EF4AAA}" destId="{F053CBDC-E8DE-4F71-8B45-C265C89BF93F}" srcOrd="1" destOrd="0" presId="urn:microsoft.com/office/officeart/2009/3/layout/StepUpProcess#1"/>
    <dgm:cxn modelId="{D5C5F01B-279D-47FA-8357-ABC95C367971}" type="presParOf" srcId="{6C416037-6967-4165-9D41-02A880EF4AAA}" destId="{A61F5D05-7D1D-4480-ACD4-3DC773BA9958}" srcOrd="2" destOrd="0" presId="urn:microsoft.com/office/officeart/2009/3/layout/StepUpProcess#1"/>
    <dgm:cxn modelId="{4B3FF4A0-3F10-4C4F-8E52-62FDCB511E79}" type="presParOf" srcId="{6D11EA5E-7BF8-4EB2-A16F-346DFE915CFA}" destId="{15CF69EF-5F56-4841-9581-16D3D8F14CE4}" srcOrd="5" destOrd="0" presId="urn:microsoft.com/office/officeart/2009/3/layout/StepUpProcess#1"/>
    <dgm:cxn modelId="{154B7248-9FDA-48DD-8921-D030A553259C}" type="presParOf" srcId="{15CF69EF-5F56-4841-9581-16D3D8F14CE4}" destId="{A588FB78-E8CA-495B-BD2D-E88F5ABFDC23}" srcOrd="0" destOrd="0" presId="urn:microsoft.com/office/officeart/2009/3/layout/StepUpProcess#1"/>
    <dgm:cxn modelId="{1088803C-2462-4556-918B-7EE29021F811}" type="presParOf" srcId="{6D11EA5E-7BF8-4EB2-A16F-346DFE915CFA}" destId="{50B498BC-9D44-4DCD-A741-CB956DCC4620}" srcOrd="6" destOrd="0" presId="urn:microsoft.com/office/officeart/2009/3/layout/StepUpProcess#1"/>
    <dgm:cxn modelId="{E9D3F6C0-3338-4775-A57E-D5B304A85F75}" type="presParOf" srcId="{50B498BC-9D44-4DCD-A741-CB956DCC4620}" destId="{AA384477-6962-4E46-AADF-0EB48306A3EF}" srcOrd="0" destOrd="0" presId="urn:microsoft.com/office/officeart/2009/3/layout/StepUpProcess#1"/>
    <dgm:cxn modelId="{67124397-B4E7-4E36-BECC-6C482DB3FCBD}" type="presParOf" srcId="{50B498BC-9D44-4DCD-A741-CB956DCC4620}" destId="{EB1C8723-5ABE-4E5E-90F1-F9965CB7139E}" srcOrd="1" destOrd="0" presId="urn:microsoft.com/office/officeart/2009/3/layout/StepUpProcess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464023-80A7-4E68-9DB1-A1BA113D6B70}" type="doc">
      <dgm:prSet loTypeId="urn:microsoft.com/office/officeart/2005/8/layout/h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EBD3CDC6-B15F-44F5-AE24-7FF5DB70058C}">
      <dgm:prSet phldrT="[文本]" custT="1"/>
      <dgm:spPr/>
      <dgm:t>
        <a:bodyPr/>
        <a:lstStyle/>
        <a:p>
          <a:r>
            <a:rPr lang="zh-CN" altLang="en-US" sz="2800" dirty="0">
              <a:latin typeface="等线" panose="02010600030101010101" pitchFamily="2" charset="-122"/>
              <a:ea typeface="等线" panose="02010600030101010101" pitchFamily="2" charset="-122"/>
            </a:rPr>
            <a:t>语音实时理解</a:t>
          </a:r>
        </a:p>
      </dgm:t>
    </dgm:pt>
    <dgm:pt modelId="{D0EEFB9C-9562-4AB4-AB2C-1D77B1CFEA31}" type="parTrans" cxnId="{E2BF1DED-6E8A-4434-9B46-8FB814A9B289}">
      <dgm:prSet/>
      <dgm:spPr/>
      <dgm:t>
        <a:bodyPr/>
        <a:lstStyle/>
        <a:p>
          <a:endParaRPr lang="zh-CN" altLang="en-US"/>
        </a:p>
      </dgm:t>
    </dgm:pt>
    <dgm:pt modelId="{43260A91-74D3-40A8-A993-5C3615EF1FE2}" type="sibTrans" cxnId="{E2BF1DED-6E8A-4434-9B46-8FB814A9B289}">
      <dgm:prSet/>
      <dgm:spPr/>
      <dgm:t>
        <a:bodyPr/>
        <a:lstStyle/>
        <a:p>
          <a:endParaRPr lang="zh-CN" altLang="en-US"/>
        </a:p>
      </dgm:t>
    </dgm:pt>
    <dgm:pt modelId="{1722CC17-56EF-4181-85BF-5047A94B46D3}">
      <dgm:prSet phldrT="[文本]" custT="1"/>
      <dgm:spPr/>
      <dgm:t>
        <a:bodyPr/>
        <a:lstStyle/>
        <a:p>
          <a:r>
            <a:rPr lang="zh-CN" altLang="en-US" sz="1600" dirty="0">
              <a:latin typeface="等线" panose="02010600030101010101" pitchFamily="2" charset="-122"/>
              <a:ea typeface="等线" panose="02010600030101010101" pitchFamily="2" charset="-122"/>
            </a:rPr>
            <a:t>运维专业术语（服务名、指标名）、中英文混合、噪音环境准确率</a:t>
          </a:r>
        </a:p>
      </dgm:t>
    </dgm:pt>
    <dgm:pt modelId="{A4907D2C-EF27-415A-BDF2-51DDE21BA42D}" type="parTrans" cxnId="{B21FF40B-A71D-4DC0-8056-A3784516DF7A}">
      <dgm:prSet/>
      <dgm:spPr/>
      <dgm:t>
        <a:bodyPr/>
        <a:lstStyle/>
        <a:p>
          <a:endParaRPr lang="zh-CN" altLang="en-US"/>
        </a:p>
      </dgm:t>
    </dgm:pt>
    <dgm:pt modelId="{558D9B28-C2AD-49F6-864D-BBC4E6390A38}" type="sibTrans" cxnId="{B21FF40B-A71D-4DC0-8056-A3784516DF7A}">
      <dgm:prSet/>
      <dgm:spPr/>
      <dgm:t>
        <a:bodyPr/>
        <a:lstStyle/>
        <a:p>
          <a:endParaRPr lang="zh-CN" altLang="en-US"/>
        </a:p>
      </dgm:t>
    </dgm:pt>
    <dgm:pt modelId="{8406E5B3-2376-493F-B4BC-6279A5D012C7}">
      <dgm:prSet phldrT="[文本]" custT="1"/>
      <dgm:spPr/>
      <dgm:t>
        <a:bodyPr/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分析报告</a:t>
          </a:r>
        </a:p>
      </dgm:t>
    </dgm:pt>
    <dgm:pt modelId="{52867A17-A36F-4530-8840-571DBEB2AA94}" type="parTrans" cxnId="{5161FF2C-04ED-4A26-B9DB-2B4668C55326}">
      <dgm:prSet/>
      <dgm:spPr/>
      <dgm:t>
        <a:bodyPr/>
        <a:lstStyle/>
        <a:p>
          <a:endParaRPr lang="zh-CN" altLang="en-US"/>
        </a:p>
      </dgm:t>
    </dgm:pt>
    <dgm:pt modelId="{95E3534D-FB43-427E-B221-8882456031A9}" type="sibTrans" cxnId="{5161FF2C-04ED-4A26-B9DB-2B4668C55326}">
      <dgm:prSet/>
      <dgm:spPr/>
      <dgm:t>
        <a:bodyPr/>
        <a:lstStyle/>
        <a:p>
          <a:endParaRPr lang="zh-CN" altLang="en-US"/>
        </a:p>
      </dgm:t>
    </dgm:pt>
    <dgm:pt modelId="{8FB56FFF-F887-4696-AE36-649E68E51CD3}">
      <dgm:prSet phldrT="[文本]" custT="1"/>
      <dgm:spPr/>
      <dgm:t>
        <a:bodyPr/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多服务协同编排</a:t>
          </a:r>
        </a:p>
      </dgm:t>
    </dgm:pt>
    <dgm:pt modelId="{0E012567-3BB7-472C-B2A0-BD109DB4EA54}" type="parTrans" cxnId="{651155F4-34E6-47DE-8F74-1B287BD7639C}">
      <dgm:prSet/>
      <dgm:spPr/>
      <dgm:t>
        <a:bodyPr/>
        <a:lstStyle/>
        <a:p>
          <a:endParaRPr lang="zh-CN" altLang="en-US"/>
        </a:p>
      </dgm:t>
    </dgm:pt>
    <dgm:pt modelId="{1E7AA27A-25F2-43FC-84E3-74B2721F8960}" type="sibTrans" cxnId="{651155F4-34E6-47DE-8F74-1B287BD7639C}">
      <dgm:prSet/>
      <dgm:spPr/>
      <dgm:t>
        <a:bodyPr/>
        <a:lstStyle/>
        <a:p>
          <a:endParaRPr lang="zh-CN" altLang="en-US"/>
        </a:p>
      </dgm:t>
    </dgm:pt>
    <dgm:pt modelId="{FDF9B211-82E2-4DFF-9726-44175F4D9D64}">
      <dgm:prSet phldrT="[文本]" custT="1"/>
      <dgm:spPr/>
      <dgm:t>
        <a:bodyPr/>
        <a:lstStyle/>
        <a:p>
          <a:pPr marL="228600" lvl="1" indent="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  一个问题涉及 </a:t>
          </a:r>
          <a:r>
            <a:rPr lang="en-US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metrics/logs/traces/config </a:t>
          </a: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多数据源，</a:t>
          </a:r>
          <a:r>
            <a:rPr lang="en-US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Agent </a:t>
          </a: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需自主判断查什么、按什么顺序</a:t>
          </a:r>
        </a:p>
      </dgm:t>
    </dgm:pt>
    <dgm:pt modelId="{CC131D7E-F1DB-4564-8E16-FC7285330122}" type="parTrans" cxnId="{F8F0B45E-53F1-4506-96AB-3869D784D33D}">
      <dgm:prSet/>
      <dgm:spPr/>
      <dgm:t>
        <a:bodyPr/>
        <a:lstStyle/>
        <a:p>
          <a:endParaRPr lang="zh-CN" altLang="en-US"/>
        </a:p>
      </dgm:t>
    </dgm:pt>
    <dgm:pt modelId="{2D0D62C4-1907-4E2E-8F73-81FD4AF6E0B3}" type="sibTrans" cxnId="{F8F0B45E-53F1-4506-96AB-3869D784D33D}">
      <dgm:prSet/>
      <dgm:spPr/>
      <dgm:t>
        <a:bodyPr/>
        <a:lstStyle/>
        <a:p>
          <a:endParaRPr lang="zh-CN" altLang="en-US"/>
        </a:p>
      </dgm:t>
    </dgm:pt>
    <dgm:pt modelId="{C7A441DE-9747-4B66-8D33-128B03ABF6E6}">
      <dgm:prSet phldrT="[文本]" custT="1"/>
      <dgm:spPr/>
      <dgm:t>
        <a:bodyPr/>
        <a:lstStyle/>
        <a:p>
          <a:pPr marL="228600" lvl="1" indent="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</a:pP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  将结构化数据</a:t>
          </a:r>
          <a:r>
            <a:rPr lang="en-US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+AI</a:t>
          </a: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分析结果转化为图文并茂的页面，不是简单图表堆砌</a:t>
          </a:r>
        </a:p>
      </dgm:t>
    </dgm:pt>
    <dgm:pt modelId="{6221EC98-724A-4857-9B4E-099D0C6D08A7}" type="parTrans" cxnId="{3B566B83-BC27-4087-AD1D-B5CB89D44D22}">
      <dgm:prSet/>
      <dgm:spPr/>
      <dgm:t>
        <a:bodyPr/>
        <a:lstStyle/>
        <a:p>
          <a:endParaRPr lang="zh-CN" altLang="en-US"/>
        </a:p>
      </dgm:t>
    </dgm:pt>
    <dgm:pt modelId="{04A28775-86F0-4576-83DE-870D8EBF9DDF}" type="sibTrans" cxnId="{3B566B83-BC27-4087-AD1D-B5CB89D44D22}">
      <dgm:prSet/>
      <dgm:spPr/>
      <dgm:t>
        <a:bodyPr/>
        <a:lstStyle/>
        <a:p>
          <a:endParaRPr lang="zh-CN" altLang="en-US"/>
        </a:p>
      </dgm:t>
    </dgm:pt>
    <dgm:pt modelId="{29E4C2DE-BCCC-4FC0-80BA-F2C8F063EF6C}" type="pres">
      <dgm:prSet presAssocID="{53464023-80A7-4E68-9DB1-A1BA113D6B70}" presName="Name0" presStyleCnt="0">
        <dgm:presLayoutVars>
          <dgm:dir/>
          <dgm:resizeHandles val="exact"/>
        </dgm:presLayoutVars>
      </dgm:prSet>
      <dgm:spPr/>
    </dgm:pt>
    <dgm:pt modelId="{8E192D2A-83B0-4049-8A1D-548C1E43CA06}" type="pres">
      <dgm:prSet presAssocID="{EBD3CDC6-B15F-44F5-AE24-7FF5DB70058C}" presName="node" presStyleLbl="node1" presStyleIdx="0" presStyleCnt="3" custLinFactNeighborX="6573">
        <dgm:presLayoutVars>
          <dgm:bulletEnabled val="1"/>
        </dgm:presLayoutVars>
      </dgm:prSet>
      <dgm:spPr/>
    </dgm:pt>
    <dgm:pt modelId="{DA742403-01F2-43C7-B8D3-AA8BAFD867BB}" type="pres">
      <dgm:prSet presAssocID="{43260A91-74D3-40A8-A993-5C3615EF1FE2}" presName="sibTrans" presStyleCnt="0"/>
      <dgm:spPr/>
    </dgm:pt>
    <dgm:pt modelId="{4761886E-7068-4136-A8D0-1BB8C4F36CE8}" type="pres">
      <dgm:prSet presAssocID="{8406E5B3-2376-493F-B4BC-6279A5D012C7}" presName="node" presStyleLbl="node1" presStyleIdx="1" presStyleCnt="3">
        <dgm:presLayoutVars>
          <dgm:bulletEnabled val="1"/>
        </dgm:presLayoutVars>
      </dgm:prSet>
      <dgm:spPr/>
    </dgm:pt>
    <dgm:pt modelId="{287000CC-9825-4CF7-96FA-2A55C752B4F1}" type="pres">
      <dgm:prSet presAssocID="{95E3534D-FB43-427E-B221-8882456031A9}" presName="sibTrans" presStyleCnt="0"/>
      <dgm:spPr/>
    </dgm:pt>
    <dgm:pt modelId="{AB3B78D9-904A-4A85-A737-0CD2BFBD226E}" type="pres">
      <dgm:prSet presAssocID="{8FB56FFF-F887-4696-AE36-649E68E51CD3}" presName="node" presStyleLbl="node1" presStyleIdx="2" presStyleCnt="3">
        <dgm:presLayoutVars>
          <dgm:bulletEnabled val="1"/>
        </dgm:presLayoutVars>
      </dgm:prSet>
      <dgm:spPr/>
    </dgm:pt>
  </dgm:ptLst>
  <dgm:cxnLst>
    <dgm:cxn modelId="{B21FF40B-A71D-4DC0-8056-A3784516DF7A}" srcId="{EBD3CDC6-B15F-44F5-AE24-7FF5DB70058C}" destId="{1722CC17-56EF-4181-85BF-5047A94B46D3}" srcOrd="0" destOrd="0" parTransId="{A4907D2C-EF27-415A-BDF2-51DDE21BA42D}" sibTransId="{558D9B28-C2AD-49F6-864D-BBC4E6390A38}"/>
    <dgm:cxn modelId="{CF9EC615-FB1E-4DE3-A69E-FDE88DDBD675}" type="presOf" srcId="{8FB56FFF-F887-4696-AE36-649E68E51CD3}" destId="{AB3B78D9-904A-4A85-A737-0CD2BFBD226E}" srcOrd="0" destOrd="0" presId="urn:microsoft.com/office/officeart/2005/8/layout/hList6"/>
    <dgm:cxn modelId="{330B8C21-66AF-4667-8DF0-473F947E4E05}" type="presOf" srcId="{1722CC17-56EF-4181-85BF-5047A94B46D3}" destId="{8E192D2A-83B0-4049-8A1D-548C1E43CA06}" srcOrd="0" destOrd="1" presId="urn:microsoft.com/office/officeart/2005/8/layout/hList6"/>
    <dgm:cxn modelId="{FCE2BA22-8137-4992-83F5-062E27CD3921}" type="presOf" srcId="{FDF9B211-82E2-4DFF-9726-44175F4D9D64}" destId="{AB3B78D9-904A-4A85-A737-0CD2BFBD226E}" srcOrd="0" destOrd="1" presId="urn:microsoft.com/office/officeart/2005/8/layout/hList6"/>
    <dgm:cxn modelId="{5DAA002A-89F4-4526-9780-3A75CC5A8B92}" type="presOf" srcId="{53464023-80A7-4E68-9DB1-A1BA113D6B70}" destId="{29E4C2DE-BCCC-4FC0-80BA-F2C8F063EF6C}" srcOrd="0" destOrd="0" presId="urn:microsoft.com/office/officeart/2005/8/layout/hList6"/>
    <dgm:cxn modelId="{5161FF2C-04ED-4A26-B9DB-2B4668C55326}" srcId="{53464023-80A7-4E68-9DB1-A1BA113D6B70}" destId="{8406E5B3-2376-493F-B4BC-6279A5D012C7}" srcOrd="1" destOrd="0" parTransId="{52867A17-A36F-4530-8840-571DBEB2AA94}" sibTransId="{95E3534D-FB43-427E-B221-8882456031A9}"/>
    <dgm:cxn modelId="{F8F0B45E-53F1-4506-96AB-3869D784D33D}" srcId="{8FB56FFF-F887-4696-AE36-649E68E51CD3}" destId="{FDF9B211-82E2-4DFF-9726-44175F4D9D64}" srcOrd="0" destOrd="0" parTransId="{CC131D7E-F1DB-4564-8E16-FC7285330122}" sibTransId="{2D0D62C4-1907-4E2E-8F73-81FD4AF6E0B3}"/>
    <dgm:cxn modelId="{822CD974-5B96-4FFB-A69F-A872032B9E26}" type="presOf" srcId="{EBD3CDC6-B15F-44F5-AE24-7FF5DB70058C}" destId="{8E192D2A-83B0-4049-8A1D-548C1E43CA06}" srcOrd="0" destOrd="0" presId="urn:microsoft.com/office/officeart/2005/8/layout/hList6"/>
    <dgm:cxn modelId="{31843D58-7CE7-4A66-A7DD-BB29FF25F695}" type="presOf" srcId="{8406E5B3-2376-493F-B4BC-6279A5D012C7}" destId="{4761886E-7068-4136-A8D0-1BB8C4F36CE8}" srcOrd="0" destOrd="0" presId="urn:microsoft.com/office/officeart/2005/8/layout/hList6"/>
    <dgm:cxn modelId="{3B566B83-BC27-4087-AD1D-B5CB89D44D22}" srcId="{8406E5B3-2376-493F-B4BC-6279A5D012C7}" destId="{C7A441DE-9747-4B66-8D33-128B03ABF6E6}" srcOrd="0" destOrd="0" parTransId="{6221EC98-724A-4857-9B4E-099D0C6D08A7}" sibTransId="{04A28775-86F0-4576-83DE-870D8EBF9DDF}"/>
    <dgm:cxn modelId="{C62F1CCD-C3B1-4CD2-A34A-DC472F6E0BEF}" type="presOf" srcId="{C7A441DE-9747-4B66-8D33-128B03ABF6E6}" destId="{4761886E-7068-4136-A8D0-1BB8C4F36CE8}" srcOrd="0" destOrd="1" presId="urn:microsoft.com/office/officeart/2005/8/layout/hList6"/>
    <dgm:cxn modelId="{E2BF1DED-6E8A-4434-9B46-8FB814A9B289}" srcId="{53464023-80A7-4E68-9DB1-A1BA113D6B70}" destId="{EBD3CDC6-B15F-44F5-AE24-7FF5DB70058C}" srcOrd="0" destOrd="0" parTransId="{D0EEFB9C-9562-4AB4-AB2C-1D77B1CFEA31}" sibTransId="{43260A91-74D3-40A8-A993-5C3615EF1FE2}"/>
    <dgm:cxn modelId="{651155F4-34E6-47DE-8F74-1B287BD7639C}" srcId="{53464023-80A7-4E68-9DB1-A1BA113D6B70}" destId="{8FB56FFF-F887-4696-AE36-649E68E51CD3}" srcOrd="2" destOrd="0" parTransId="{0E012567-3BB7-472C-B2A0-BD109DB4EA54}" sibTransId="{1E7AA27A-25F2-43FC-84E3-74B2721F8960}"/>
    <dgm:cxn modelId="{1E4CF32B-B4B5-4894-825A-DB95218D9094}" type="presParOf" srcId="{29E4C2DE-BCCC-4FC0-80BA-F2C8F063EF6C}" destId="{8E192D2A-83B0-4049-8A1D-548C1E43CA06}" srcOrd="0" destOrd="0" presId="urn:microsoft.com/office/officeart/2005/8/layout/hList6"/>
    <dgm:cxn modelId="{9E9811F2-92BE-49A4-AC97-F171E00928C3}" type="presParOf" srcId="{29E4C2DE-BCCC-4FC0-80BA-F2C8F063EF6C}" destId="{DA742403-01F2-43C7-B8D3-AA8BAFD867BB}" srcOrd="1" destOrd="0" presId="urn:microsoft.com/office/officeart/2005/8/layout/hList6"/>
    <dgm:cxn modelId="{290B4CD7-16C4-4CAD-BDEA-86D3F494F782}" type="presParOf" srcId="{29E4C2DE-BCCC-4FC0-80BA-F2C8F063EF6C}" destId="{4761886E-7068-4136-A8D0-1BB8C4F36CE8}" srcOrd="2" destOrd="0" presId="urn:microsoft.com/office/officeart/2005/8/layout/hList6"/>
    <dgm:cxn modelId="{805222C7-CA5D-4E1E-BD90-A9DC0516F168}" type="presParOf" srcId="{29E4C2DE-BCCC-4FC0-80BA-F2C8F063EF6C}" destId="{287000CC-9825-4CF7-96FA-2A55C752B4F1}" srcOrd="3" destOrd="0" presId="urn:microsoft.com/office/officeart/2005/8/layout/hList6"/>
    <dgm:cxn modelId="{7F6D0BCD-527E-4549-BABB-6E10CCFC1BF3}" type="presParOf" srcId="{29E4C2DE-BCCC-4FC0-80BA-F2C8F063EF6C}" destId="{AB3B78D9-904A-4A85-A737-0CD2BFBD226E}" srcOrd="4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3464023-80A7-4E68-9DB1-A1BA113D6B70}" type="doc">
      <dgm:prSet loTypeId="urn:microsoft.com/office/officeart/2005/8/layout/h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EBD3CDC6-B15F-44F5-AE24-7FF5DB70058C}">
      <dgm:prSet phldrT="[文本]" custT="1"/>
      <dgm:spPr/>
      <dgm:t>
        <a:bodyPr/>
        <a:lstStyle/>
        <a:p>
          <a:r>
            <a:rPr lang="zh-CN" altLang="en-US" sz="2800" dirty="0">
              <a:latin typeface="等线" panose="02010600030101010101" pitchFamily="2" charset="-122"/>
              <a:ea typeface="等线" panose="02010600030101010101" pitchFamily="2" charset="-122"/>
            </a:rPr>
            <a:t>上下文与下钻</a:t>
          </a:r>
        </a:p>
      </dgm:t>
    </dgm:pt>
    <dgm:pt modelId="{D0EEFB9C-9562-4AB4-AB2C-1D77B1CFEA31}" type="parTrans" cxnId="{E2BF1DED-6E8A-4434-9B46-8FB814A9B289}">
      <dgm:prSet/>
      <dgm:spPr/>
      <dgm:t>
        <a:bodyPr/>
        <a:lstStyle/>
        <a:p>
          <a:endParaRPr lang="zh-CN" altLang="en-US"/>
        </a:p>
      </dgm:t>
    </dgm:pt>
    <dgm:pt modelId="{43260A91-74D3-40A8-A993-5C3615EF1FE2}" type="sibTrans" cxnId="{E2BF1DED-6E8A-4434-9B46-8FB814A9B289}">
      <dgm:prSet/>
      <dgm:spPr/>
      <dgm:t>
        <a:bodyPr/>
        <a:lstStyle/>
        <a:p>
          <a:endParaRPr lang="zh-CN" altLang="en-US"/>
        </a:p>
      </dgm:t>
    </dgm:pt>
    <dgm:pt modelId="{1722CC17-56EF-4181-85BF-5047A94B46D3}">
      <dgm:prSet phldrT="[文本]" custT="1"/>
      <dgm:spPr/>
      <dgm:t>
        <a:bodyPr/>
        <a:lstStyle/>
        <a:p>
          <a:r>
            <a:rPr lang="zh-CN" altLang="en-US" sz="1600" dirty="0">
              <a:latin typeface="等线" panose="02010600030101010101" pitchFamily="2" charset="-122"/>
              <a:ea typeface="等线" panose="02010600030101010101" pitchFamily="2" charset="-122"/>
            </a:rPr>
            <a:t>维持多轮上下文，每次追问精准深入下一层</a:t>
          </a:r>
        </a:p>
      </dgm:t>
    </dgm:pt>
    <dgm:pt modelId="{A4907D2C-EF27-415A-BDF2-51DDE21BA42D}" type="parTrans" cxnId="{B21FF40B-A71D-4DC0-8056-A3784516DF7A}">
      <dgm:prSet/>
      <dgm:spPr/>
      <dgm:t>
        <a:bodyPr/>
        <a:lstStyle/>
        <a:p>
          <a:endParaRPr lang="zh-CN" altLang="en-US"/>
        </a:p>
      </dgm:t>
    </dgm:pt>
    <dgm:pt modelId="{558D9B28-C2AD-49F6-864D-BBC4E6390A38}" type="sibTrans" cxnId="{B21FF40B-A71D-4DC0-8056-A3784516DF7A}">
      <dgm:prSet/>
      <dgm:spPr/>
      <dgm:t>
        <a:bodyPr/>
        <a:lstStyle/>
        <a:p>
          <a:endParaRPr lang="zh-CN" altLang="en-US"/>
        </a:p>
      </dgm:t>
    </dgm:pt>
    <dgm:pt modelId="{8406E5B3-2376-493F-B4BC-6279A5D012C7}">
      <dgm:prSet phldrT="[文本]" custT="1"/>
      <dgm:spPr/>
      <dgm:t>
        <a:bodyPr/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经验语义匹配</a:t>
          </a:r>
        </a:p>
      </dgm:t>
    </dgm:pt>
    <dgm:pt modelId="{52867A17-A36F-4530-8840-571DBEB2AA94}" type="parTrans" cxnId="{5161FF2C-04ED-4A26-B9DB-2B4668C55326}">
      <dgm:prSet/>
      <dgm:spPr/>
      <dgm:t>
        <a:bodyPr/>
        <a:lstStyle/>
        <a:p>
          <a:endParaRPr lang="zh-CN" altLang="en-US"/>
        </a:p>
      </dgm:t>
    </dgm:pt>
    <dgm:pt modelId="{95E3534D-FB43-427E-B221-8882456031A9}" type="sibTrans" cxnId="{5161FF2C-04ED-4A26-B9DB-2B4668C55326}">
      <dgm:prSet/>
      <dgm:spPr/>
      <dgm:t>
        <a:bodyPr/>
        <a:lstStyle/>
        <a:p>
          <a:endParaRPr lang="zh-CN" altLang="en-US"/>
        </a:p>
      </dgm:t>
    </dgm:pt>
    <dgm:pt modelId="{8FB56FFF-F887-4696-AE36-649E68E51CD3}">
      <dgm:prSet phldrT="[文本]" custT="1"/>
      <dgm:spPr/>
      <dgm:t>
        <a:bodyPr/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移动端体验</a:t>
          </a:r>
        </a:p>
      </dgm:t>
    </dgm:pt>
    <dgm:pt modelId="{0E012567-3BB7-472C-B2A0-BD109DB4EA54}" type="parTrans" cxnId="{651155F4-34E6-47DE-8F74-1B287BD7639C}">
      <dgm:prSet/>
      <dgm:spPr/>
      <dgm:t>
        <a:bodyPr/>
        <a:lstStyle/>
        <a:p>
          <a:endParaRPr lang="zh-CN" altLang="en-US"/>
        </a:p>
      </dgm:t>
    </dgm:pt>
    <dgm:pt modelId="{1E7AA27A-25F2-43FC-84E3-74B2721F8960}" type="sibTrans" cxnId="{651155F4-34E6-47DE-8F74-1B287BD7639C}">
      <dgm:prSet/>
      <dgm:spPr/>
      <dgm:t>
        <a:bodyPr/>
        <a:lstStyle/>
        <a:p>
          <a:endParaRPr lang="zh-CN" altLang="en-US"/>
        </a:p>
      </dgm:t>
    </dgm:pt>
    <dgm:pt modelId="{FDF9B211-82E2-4DFF-9726-44175F4D9D64}">
      <dgm:prSet phldrT="[文本]" custT="1"/>
      <dgm:spPr/>
      <dgm:t>
        <a:bodyPr/>
        <a:lstStyle/>
        <a:p>
          <a:pPr marL="228600" lvl="1" indent="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  语音</a:t>
          </a:r>
          <a:r>
            <a:rPr lang="en-US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+</a:t>
          </a: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可视化在手机端流畅交互，弱网环境降级处理</a:t>
          </a:r>
        </a:p>
      </dgm:t>
    </dgm:pt>
    <dgm:pt modelId="{CC131D7E-F1DB-4564-8E16-FC7285330122}" type="parTrans" cxnId="{F8F0B45E-53F1-4506-96AB-3869D784D33D}">
      <dgm:prSet/>
      <dgm:spPr/>
      <dgm:t>
        <a:bodyPr/>
        <a:lstStyle/>
        <a:p>
          <a:endParaRPr lang="zh-CN" altLang="en-US"/>
        </a:p>
      </dgm:t>
    </dgm:pt>
    <dgm:pt modelId="{2D0D62C4-1907-4E2E-8F73-81FD4AF6E0B3}" type="sibTrans" cxnId="{F8F0B45E-53F1-4506-96AB-3869D784D33D}">
      <dgm:prSet/>
      <dgm:spPr/>
      <dgm:t>
        <a:bodyPr/>
        <a:lstStyle/>
        <a:p>
          <a:endParaRPr lang="zh-CN" altLang="en-US"/>
        </a:p>
      </dgm:t>
    </dgm:pt>
    <dgm:pt modelId="{C7A441DE-9747-4B66-8D33-128B03ABF6E6}">
      <dgm:prSet phldrT="[文本]" custT="1"/>
      <dgm:spPr/>
      <dgm:t>
        <a:bodyPr/>
        <a:lstStyle/>
        <a:p>
          <a:pPr marL="228600" lvl="1" indent="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</a:pP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  故障描述千变万化，需语义理解匹配历史案例，而非关键词匹配</a:t>
          </a:r>
        </a:p>
      </dgm:t>
    </dgm:pt>
    <dgm:pt modelId="{6221EC98-724A-4857-9B4E-099D0C6D08A7}" type="parTrans" cxnId="{3B566B83-BC27-4087-AD1D-B5CB89D44D22}">
      <dgm:prSet/>
      <dgm:spPr/>
      <dgm:t>
        <a:bodyPr/>
        <a:lstStyle/>
        <a:p>
          <a:endParaRPr lang="zh-CN" altLang="en-US"/>
        </a:p>
      </dgm:t>
    </dgm:pt>
    <dgm:pt modelId="{04A28775-86F0-4576-83DE-870D8EBF9DDF}" type="sibTrans" cxnId="{3B566B83-BC27-4087-AD1D-B5CB89D44D22}">
      <dgm:prSet/>
      <dgm:spPr/>
      <dgm:t>
        <a:bodyPr/>
        <a:lstStyle/>
        <a:p>
          <a:endParaRPr lang="zh-CN" altLang="en-US"/>
        </a:p>
      </dgm:t>
    </dgm:pt>
    <dgm:pt modelId="{29E4C2DE-BCCC-4FC0-80BA-F2C8F063EF6C}" type="pres">
      <dgm:prSet presAssocID="{53464023-80A7-4E68-9DB1-A1BA113D6B70}" presName="Name0" presStyleCnt="0">
        <dgm:presLayoutVars>
          <dgm:dir/>
          <dgm:resizeHandles val="exact"/>
        </dgm:presLayoutVars>
      </dgm:prSet>
      <dgm:spPr/>
    </dgm:pt>
    <dgm:pt modelId="{8E192D2A-83B0-4049-8A1D-548C1E43CA06}" type="pres">
      <dgm:prSet presAssocID="{EBD3CDC6-B15F-44F5-AE24-7FF5DB70058C}" presName="node" presStyleLbl="node1" presStyleIdx="0" presStyleCnt="3" custLinFactNeighborX="6573">
        <dgm:presLayoutVars>
          <dgm:bulletEnabled val="1"/>
        </dgm:presLayoutVars>
      </dgm:prSet>
      <dgm:spPr/>
    </dgm:pt>
    <dgm:pt modelId="{DA742403-01F2-43C7-B8D3-AA8BAFD867BB}" type="pres">
      <dgm:prSet presAssocID="{43260A91-74D3-40A8-A993-5C3615EF1FE2}" presName="sibTrans" presStyleCnt="0"/>
      <dgm:spPr/>
    </dgm:pt>
    <dgm:pt modelId="{4761886E-7068-4136-A8D0-1BB8C4F36CE8}" type="pres">
      <dgm:prSet presAssocID="{8406E5B3-2376-493F-B4BC-6279A5D012C7}" presName="node" presStyleLbl="node1" presStyleIdx="1" presStyleCnt="3">
        <dgm:presLayoutVars>
          <dgm:bulletEnabled val="1"/>
        </dgm:presLayoutVars>
      </dgm:prSet>
      <dgm:spPr/>
    </dgm:pt>
    <dgm:pt modelId="{287000CC-9825-4CF7-96FA-2A55C752B4F1}" type="pres">
      <dgm:prSet presAssocID="{95E3534D-FB43-427E-B221-8882456031A9}" presName="sibTrans" presStyleCnt="0"/>
      <dgm:spPr/>
    </dgm:pt>
    <dgm:pt modelId="{AB3B78D9-904A-4A85-A737-0CD2BFBD226E}" type="pres">
      <dgm:prSet presAssocID="{8FB56FFF-F887-4696-AE36-649E68E51CD3}" presName="node" presStyleLbl="node1" presStyleIdx="2" presStyleCnt="3">
        <dgm:presLayoutVars>
          <dgm:bulletEnabled val="1"/>
        </dgm:presLayoutVars>
      </dgm:prSet>
      <dgm:spPr/>
    </dgm:pt>
  </dgm:ptLst>
  <dgm:cxnLst>
    <dgm:cxn modelId="{B21FF40B-A71D-4DC0-8056-A3784516DF7A}" srcId="{EBD3CDC6-B15F-44F5-AE24-7FF5DB70058C}" destId="{1722CC17-56EF-4181-85BF-5047A94B46D3}" srcOrd="0" destOrd="0" parTransId="{A4907D2C-EF27-415A-BDF2-51DDE21BA42D}" sibTransId="{558D9B28-C2AD-49F6-864D-BBC4E6390A38}"/>
    <dgm:cxn modelId="{CF9EC615-FB1E-4DE3-A69E-FDE88DDBD675}" type="presOf" srcId="{8FB56FFF-F887-4696-AE36-649E68E51CD3}" destId="{AB3B78D9-904A-4A85-A737-0CD2BFBD226E}" srcOrd="0" destOrd="0" presId="urn:microsoft.com/office/officeart/2005/8/layout/hList6"/>
    <dgm:cxn modelId="{330B8C21-66AF-4667-8DF0-473F947E4E05}" type="presOf" srcId="{1722CC17-56EF-4181-85BF-5047A94B46D3}" destId="{8E192D2A-83B0-4049-8A1D-548C1E43CA06}" srcOrd="0" destOrd="1" presId="urn:microsoft.com/office/officeart/2005/8/layout/hList6"/>
    <dgm:cxn modelId="{FCE2BA22-8137-4992-83F5-062E27CD3921}" type="presOf" srcId="{FDF9B211-82E2-4DFF-9726-44175F4D9D64}" destId="{AB3B78D9-904A-4A85-A737-0CD2BFBD226E}" srcOrd="0" destOrd="1" presId="urn:microsoft.com/office/officeart/2005/8/layout/hList6"/>
    <dgm:cxn modelId="{5DAA002A-89F4-4526-9780-3A75CC5A8B92}" type="presOf" srcId="{53464023-80A7-4E68-9DB1-A1BA113D6B70}" destId="{29E4C2DE-BCCC-4FC0-80BA-F2C8F063EF6C}" srcOrd="0" destOrd="0" presId="urn:microsoft.com/office/officeart/2005/8/layout/hList6"/>
    <dgm:cxn modelId="{5161FF2C-04ED-4A26-B9DB-2B4668C55326}" srcId="{53464023-80A7-4E68-9DB1-A1BA113D6B70}" destId="{8406E5B3-2376-493F-B4BC-6279A5D012C7}" srcOrd="1" destOrd="0" parTransId="{52867A17-A36F-4530-8840-571DBEB2AA94}" sibTransId="{95E3534D-FB43-427E-B221-8882456031A9}"/>
    <dgm:cxn modelId="{F8F0B45E-53F1-4506-96AB-3869D784D33D}" srcId="{8FB56FFF-F887-4696-AE36-649E68E51CD3}" destId="{FDF9B211-82E2-4DFF-9726-44175F4D9D64}" srcOrd="0" destOrd="0" parTransId="{CC131D7E-F1DB-4564-8E16-FC7285330122}" sibTransId="{2D0D62C4-1907-4E2E-8F73-81FD4AF6E0B3}"/>
    <dgm:cxn modelId="{822CD974-5B96-4FFB-A69F-A872032B9E26}" type="presOf" srcId="{EBD3CDC6-B15F-44F5-AE24-7FF5DB70058C}" destId="{8E192D2A-83B0-4049-8A1D-548C1E43CA06}" srcOrd="0" destOrd="0" presId="urn:microsoft.com/office/officeart/2005/8/layout/hList6"/>
    <dgm:cxn modelId="{31843D58-7CE7-4A66-A7DD-BB29FF25F695}" type="presOf" srcId="{8406E5B3-2376-493F-B4BC-6279A5D012C7}" destId="{4761886E-7068-4136-A8D0-1BB8C4F36CE8}" srcOrd="0" destOrd="0" presId="urn:microsoft.com/office/officeart/2005/8/layout/hList6"/>
    <dgm:cxn modelId="{3B566B83-BC27-4087-AD1D-B5CB89D44D22}" srcId="{8406E5B3-2376-493F-B4BC-6279A5D012C7}" destId="{C7A441DE-9747-4B66-8D33-128B03ABF6E6}" srcOrd="0" destOrd="0" parTransId="{6221EC98-724A-4857-9B4E-099D0C6D08A7}" sibTransId="{04A28775-86F0-4576-83DE-870D8EBF9DDF}"/>
    <dgm:cxn modelId="{C62F1CCD-C3B1-4CD2-A34A-DC472F6E0BEF}" type="presOf" srcId="{C7A441DE-9747-4B66-8D33-128B03ABF6E6}" destId="{4761886E-7068-4136-A8D0-1BB8C4F36CE8}" srcOrd="0" destOrd="1" presId="urn:microsoft.com/office/officeart/2005/8/layout/hList6"/>
    <dgm:cxn modelId="{E2BF1DED-6E8A-4434-9B46-8FB814A9B289}" srcId="{53464023-80A7-4E68-9DB1-A1BA113D6B70}" destId="{EBD3CDC6-B15F-44F5-AE24-7FF5DB70058C}" srcOrd="0" destOrd="0" parTransId="{D0EEFB9C-9562-4AB4-AB2C-1D77B1CFEA31}" sibTransId="{43260A91-74D3-40A8-A993-5C3615EF1FE2}"/>
    <dgm:cxn modelId="{651155F4-34E6-47DE-8F74-1B287BD7639C}" srcId="{53464023-80A7-4E68-9DB1-A1BA113D6B70}" destId="{8FB56FFF-F887-4696-AE36-649E68E51CD3}" srcOrd="2" destOrd="0" parTransId="{0E012567-3BB7-472C-B2A0-BD109DB4EA54}" sibTransId="{1E7AA27A-25F2-43FC-84E3-74B2721F8960}"/>
    <dgm:cxn modelId="{1E4CF32B-B4B5-4894-825A-DB95218D9094}" type="presParOf" srcId="{29E4C2DE-BCCC-4FC0-80BA-F2C8F063EF6C}" destId="{8E192D2A-83B0-4049-8A1D-548C1E43CA06}" srcOrd="0" destOrd="0" presId="urn:microsoft.com/office/officeart/2005/8/layout/hList6"/>
    <dgm:cxn modelId="{9E9811F2-92BE-49A4-AC97-F171E00928C3}" type="presParOf" srcId="{29E4C2DE-BCCC-4FC0-80BA-F2C8F063EF6C}" destId="{DA742403-01F2-43C7-B8D3-AA8BAFD867BB}" srcOrd="1" destOrd="0" presId="urn:microsoft.com/office/officeart/2005/8/layout/hList6"/>
    <dgm:cxn modelId="{290B4CD7-16C4-4CAD-BDEA-86D3F494F782}" type="presParOf" srcId="{29E4C2DE-BCCC-4FC0-80BA-F2C8F063EF6C}" destId="{4761886E-7068-4136-A8D0-1BB8C4F36CE8}" srcOrd="2" destOrd="0" presId="urn:microsoft.com/office/officeart/2005/8/layout/hList6"/>
    <dgm:cxn modelId="{805222C7-CA5D-4E1E-BD90-A9DC0516F168}" type="presParOf" srcId="{29E4C2DE-BCCC-4FC0-80BA-F2C8F063EF6C}" destId="{287000CC-9825-4CF7-96FA-2A55C752B4F1}" srcOrd="3" destOrd="0" presId="urn:microsoft.com/office/officeart/2005/8/layout/hList6"/>
    <dgm:cxn modelId="{7F6D0BCD-527E-4549-BABB-6E10CCFC1BF3}" type="presParOf" srcId="{29E4C2DE-BCCC-4FC0-80BA-F2C8F063EF6C}" destId="{AB3B78D9-904A-4A85-A737-0CD2BFBD226E}" srcOrd="4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B96D4A-BBE4-4F10-82AB-BA682F31BA02}">
      <dsp:nvSpPr>
        <dsp:cNvPr id="0" name=""/>
        <dsp:cNvSpPr/>
      </dsp:nvSpPr>
      <dsp:spPr>
        <a:xfrm rot="5400000">
          <a:off x="914902" y="1422581"/>
          <a:ext cx="1375583" cy="2288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A8470C-D022-43DF-AA11-5122EB739704}">
      <dsp:nvSpPr>
        <dsp:cNvPr id="0" name=""/>
        <dsp:cNvSpPr/>
      </dsp:nvSpPr>
      <dsp:spPr bwMode="white">
        <a:xfrm>
          <a:off x="685283" y="2106481"/>
          <a:ext cx="2066467" cy="18113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4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主动巡检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快速获得系统健康全貌，不用逐个看面版</a:t>
          </a:r>
        </a:p>
      </dsp:txBody>
      <dsp:txXfrm>
        <a:off x="685283" y="2106481"/>
        <a:ext cx="2066467" cy="1811380"/>
      </dsp:txXfrm>
    </dsp:sp>
    <dsp:sp modelId="{A737BF5F-549B-4E89-A243-2038C4F97461}">
      <dsp:nvSpPr>
        <dsp:cNvPr id="0" name=""/>
        <dsp:cNvSpPr/>
      </dsp:nvSpPr>
      <dsp:spPr>
        <a:xfrm>
          <a:off x="2361851" y="1254067"/>
          <a:ext cx="389899" cy="389899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88B7C7-9D04-455B-AA61-B381FF89F4C8}">
      <dsp:nvSpPr>
        <dsp:cNvPr id="0" name=""/>
        <dsp:cNvSpPr/>
      </dsp:nvSpPr>
      <dsp:spPr>
        <a:xfrm rot="5400000">
          <a:off x="3444662" y="796589"/>
          <a:ext cx="1375583" cy="2288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222189-A6C2-4C10-882C-A6598B34D068}">
      <dsp:nvSpPr>
        <dsp:cNvPr id="0" name=""/>
        <dsp:cNvSpPr/>
      </dsp:nvSpPr>
      <dsp:spPr bwMode="white">
        <a:xfrm>
          <a:off x="3215043" y="1480489"/>
          <a:ext cx="2066467" cy="18113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4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被动响应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快速定界</a:t>
          </a:r>
          <a:r>
            <a:rPr lang="en-US" altLang="zh-CN" sz="16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-&gt;</a:t>
          </a:r>
          <a:r>
            <a:rPr lang="zh-CN" altLang="en-US" sz="16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定位</a:t>
          </a:r>
          <a:r>
            <a:rPr lang="en-US" altLang="zh-CN" sz="16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-&gt;</a:t>
          </a:r>
          <a:r>
            <a:rPr lang="zh-CN" altLang="en-US" sz="16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修复，不用切换多个控制台</a:t>
          </a:r>
        </a:p>
      </dsp:txBody>
      <dsp:txXfrm>
        <a:off x="3215043" y="1480489"/>
        <a:ext cx="2066467" cy="1811380"/>
      </dsp:txXfrm>
    </dsp:sp>
    <dsp:sp modelId="{A94FA60D-2FA5-479B-9D19-C35494F8F349}">
      <dsp:nvSpPr>
        <dsp:cNvPr id="0" name=""/>
        <dsp:cNvSpPr/>
      </dsp:nvSpPr>
      <dsp:spPr>
        <a:xfrm>
          <a:off x="4891611" y="628075"/>
          <a:ext cx="389899" cy="389899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79AE2A-8F4F-4783-8089-0A5A58F67656}">
      <dsp:nvSpPr>
        <dsp:cNvPr id="0" name=""/>
        <dsp:cNvSpPr/>
      </dsp:nvSpPr>
      <dsp:spPr>
        <a:xfrm rot="5400000">
          <a:off x="5974422" y="170597"/>
          <a:ext cx="1375583" cy="2288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53CBDC-E8DE-4F71-8B45-C265C89BF93F}">
      <dsp:nvSpPr>
        <dsp:cNvPr id="0" name=""/>
        <dsp:cNvSpPr/>
      </dsp:nvSpPr>
      <dsp:spPr bwMode="white">
        <a:xfrm>
          <a:off x="5744803" y="854497"/>
          <a:ext cx="2066467" cy="18113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4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夜间</a:t>
          </a:r>
          <a:r>
            <a:rPr lang="en-US" altLang="zh-CN" sz="24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/on-call</a:t>
          </a:r>
          <a:endParaRPr lang="zh-CN" altLang="en-US" sz="2400" kern="1200" dirty="0">
            <a:solidFill>
              <a:schemeClr val="bg1"/>
            </a:solidFill>
            <a:latin typeface="等线" panose="02010600030101010101" pitchFamily="2" charset="-122"/>
            <a:ea typeface="等线" panose="02010600030101010101" pitchFamily="2" charset="-122"/>
          </a:endParaRP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只不开电脑也能了解情况</a:t>
          </a:r>
        </a:p>
      </dsp:txBody>
      <dsp:txXfrm>
        <a:off x="5744803" y="854497"/>
        <a:ext cx="2066467" cy="1811380"/>
      </dsp:txXfrm>
    </dsp:sp>
    <dsp:sp modelId="{A61F5D05-7D1D-4480-ACD4-3DC773BA9958}">
      <dsp:nvSpPr>
        <dsp:cNvPr id="0" name=""/>
        <dsp:cNvSpPr/>
      </dsp:nvSpPr>
      <dsp:spPr>
        <a:xfrm>
          <a:off x="7421372" y="2083"/>
          <a:ext cx="389899" cy="389899"/>
        </a:xfrm>
        <a:prstGeom prst="triangle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384477-6962-4E46-AADF-0EB48306A3EF}">
      <dsp:nvSpPr>
        <dsp:cNvPr id="0" name=""/>
        <dsp:cNvSpPr/>
      </dsp:nvSpPr>
      <dsp:spPr>
        <a:xfrm rot="5400000">
          <a:off x="8504183" y="-455393"/>
          <a:ext cx="1375583" cy="2288940"/>
        </a:xfrm>
        <a:prstGeom prst="corner">
          <a:avLst>
            <a:gd name="adj1" fmla="val 16120"/>
            <a:gd name="adj2" fmla="val 1611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1C8723-5ABE-4E5E-90F1-F9965CB7139E}">
      <dsp:nvSpPr>
        <dsp:cNvPr id="0" name=""/>
        <dsp:cNvSpPr/>
      </dsp:nvSpPr>
      <dsp:spPr bwMode="white">
        <a:xfrm>
          <a:off x="8274564" y="228506"/>
          <a:ext cx="2066467" cy="18113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4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新人上手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rPr>
            <a:t>不依赖个人经验也能处理常见故障</a:t>
          </a:r>
        </a:p>
      </dsp:txBody>
      <dsp:txXfrm>
        <a:off x="8274564" y="228506"/>
        <a:ext cx="2066467" cy="18113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192D2A-83B0-4049-8A1D-548C1E43CA06}">
      <dsp:nvSpPr>
        <dsp:cNvPr id="0" name=""/>
        <dsp:cNvSpPr/>
      </dsp:nvSpPr>
      <dsp:spPr>
        <a:xfrm rot="16200000">
          <a:off x="440320" y="-423035"/>
          <a:ext cx="2406534" cy="325260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0" rIns="17780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latin typeface="等线" panose="02010600030101010101" pitchFamily="2" charset="-122"/>
              <a:ea typeface="等线" panose="02010600030101010101" pitchFamily="2" charset="-122"/>
            </a:rPr>
            <a:t>语音实时理解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latin typeface="等线" panose="02010600030101010101" pitchFamily="2" charset="-122"/>
              <a:ea typeface="等线" panose="02010600030101010101" pitchFamily="2" charset="-122"/>
            </a:rPr>
            <a:t>运维专业术语（服务名、指标名）、中英文混合、噪音环境准确率</a:t>
          </a:r>
        </a:p>
      </dsp:txBody>
      <dsp:txXfrm rot="5400000">
        <a:off x="17285" y="481307"/>
        <a:ext cx="3252604" cy="1443920"/>
      </dsp:txXfrm>
    </dsp:sp>
    <dsp:sp modelId="{4761886E-7068-4136-A8D0-1BB8C4F36CE8}">
      <dsp:nvSpPr>
        <dsp:cNvPr id="0" name=""/>
        <dsp:cNvSpPr/>
      </dsp:nvSpPr>
      <dsp:spPr>
        <a:xfrm rot="16200000">
          <a:off x="3920836" y="-423035"/>
          <a:ext cx="2406534" cy="325260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0" rIns="17780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分析报告</a:t>
          </a:r>
        </a:p>
        <a:p>
          <a:pPr marL="228600" lvl="1" indent="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  将结构化数据</a:t>
          </a:r>
          <a:r>
            <a:rPr lang="en-US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+AI</a:t>
          </a: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分析结果转化为图文并茂的页面，不是简单图表堆砌</a:t>
          </a:r>
        </a:p>
      </dsp:txBody>
      <dsp:txXfrm rot="5400000">
        <a:off x="3497801" y="481307"/>
        <a:ext cx="3252604" cy="1443920"/>
      </dsp:txXfrm>
    </dsp:sp>
    <dsp:sp modelId="{AB3B78D9-904A-4A85-A737-0CD2BFBD226E}">
      <dsp:nvSpPr>
        <dsp:cNvPr id="0" name=""/>
        <dsp:cNvSpPr/>
      </dsp:nvSpPr>
      <dsp:spPr>
        <a:xfrm rot="16200000">
          <a:off x="7417385" y="-423035"/>
          <a:ext cx="2406534" cy="325260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0" rIns="17780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多服务协同编排</a:t>
          </a:r>
        </a:p>
        <a:p>
          <a:pPr marL="228600" lvl="1" indent="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  一个问题涉及 </a:t>
          </a:r>
          <a:r>
            <a:rPr lang="en-US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metrics/logs/traces/config </a:t>
          </a: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多数据源，</a:t>
          </a:r>
          <a:r>
            <a:rPr lang="en-US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Agent </a:t>
          </a: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需自主判断查什么、按什么顺序</a:t>
          </a:r>
        </a:p>
      </dsp:txBody>
      <dsp:txXfrm rot="5400000">
        <a:off x="6994350" y="481307"/>
        <a:ext cx="3252604" cy="14439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192D2A-83B0-4049-8A1D-548C1E43CA06}">
      <dsp:nvSpPr>
        <dsp:cNvPr id="0" name=""/>
        <dsp:cNvSpPr/>
      </dsp:nvSpPr>
      <dsp:spPr>
        <a:xfrm rot="16200000">
          <a:off x="426864" y="-409579"/>
          <a:ext cx="2433446" cy="325260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0" rIns="17780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latin typeface="等线" panose="02010600030101010101" pitchFamily="2" charset="-122"/>
              <a:ea typeface="等线" panose="02010600030101010101" pitchFamily="2" charset="-122"/>
            </a:rPr>
            <a:t>上下文与下钻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latin typeface="等线" panose="02010600030101010101" pitchFamily="2" charset="-122"/>
              <a:ea typeface="等线" panose="02010600030101010101" pitchFamily="2" charset="-122"/>
            </a:rPr>
            <a:t>维持多轮上下文，每次追问精准深入下一层</a:t>
          </a:r>
        </a:p>
      </dsp:txBody>
      <dsp:txXfrm rot="5400000">
        <a:off x="17285" y="486689"/>
        <a:ext cx="3252604" cy="1460068"/>
      </dsp:txXfrm>
    </dsp:sp>
    <dsp:sp modelId="{4761886E-7068-4136-A8D0-1BB8C4F36CE8}">
      <dsp:nvSpPr>
        <dsp:cNvPr id="0" name=""/>
        <dsp:cNvSpPr/>
      </dsp:nvSpPr>
      <dsp:spPr>
        <a:xfrm rot="16200000">
          <a:off x="3907380" y="-409579"/>
          <a:ext cx="2433446" cy="325260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0" rIns="17780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经验语义匹配</a:t>
          </a:r>
        </a:p>
        <a:p>
          <a:pPr marL="228600" lvl="1" indent="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  故障描述千变万化，需语义理解匹配历史案例，而非关键词匹配</a:t>
          </a:r>
        </a:p>
      </dsp:txBody>
      <dsp:txXfrm rot="5400000">
        <a:off x="3497801" y="486689"/>
        <a:ext cx="3252604" cy="1460068"/>
      </dsp:txXfrm>
    </dsp:sp>
    <dsp:sp modelId="{AB3B78D9-904A-4A85-A737-0CD2BFBD226E}">
      <dsp:nvSpPr>
        <dsp:cNvPr id="0" name=""/>
        <dsp:cNvSpPr/>
      </dsp:nvSpPr>
      <dsp:spPr>
        <a:xfrm rot="16200000">
          <a:off x="7403930" y="-409579"/>
          <a:ext cx="2433446" cy="3252604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0" rIns="177800" bIns="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8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移动端体验</a:t>
          </a:r>
        </a:p>
        <a:p>
          <a:pPr marL="228600" lvl="1" indent="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  语音</a:t>
          </a:r>
          <a:r>
            <a:rPr lang="en-US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+</a:t>
          </a:r>
          <a:r>
            <a:rPr lang="zh-CN" altLang="en-US" sz="1600" kern="1200" dirty="0">
              <a:solidFill>
                <a:srgbClr val="FFFFFF"/>
              </a:solidFill>
              <a:latin typeface="等线" panose="02010600030101010101" pitchFamily="2" charset="-122"/>
              <a:ea typeface="等线" panose="02010600030101010101" pitchFamily="2" charset="-122"/>
              <a:cs typeface="+mn-cs"/>
            </a:rPr>
            <a:t>可视化在手机端流畅交互，弱网环境降级处理</a:t>
          </a:r>
        </a:p>
      </dsp:txBody>
      <dsp:txXfrm rot="5400000">
        <a:off x="6994351" y="486689"/>
        <a:ext cx="3252604" cy="14600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StepUpProcess#1">
  <dgm:title val=""/>
  <dgm:desc val=""/>
  <dgm:catLst>
    <dgm:cat type="process" pri="13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bkpt" val="fixed"/>
          <dgm:param type="bkPtFixedVal" val="1"/>
          <dgm:param type="off" val="off"/>
          <dgm:param type="grDir" val="bL"/>
          <dgm:param type="flowDir" val="row"/>
        </dgm:alg>
      </dgm:if>
      <dgm:else name="Name2">
        <dgm:alg type="snake">
          <dgm:param type="bkpt" val="fixed"/>
          <dgm:param type="bkPtFixedVal" val="1"/>
          <dgm:param type="off" val="off"/>
          <dgm:param type="grDir" val="bR"/>
          <dgm:param type="flowDir" val="row"/>
        </dgm:alg>
      </dgm:else>
    </dgm:choose>
    <dgm:shape xmlns:r="http://schemas.openxmlformats.org/officeDocument/2006/relationships" r:blip="">
      <dgm:adjLst/>
    </dgm:shape>
    <dgm:constrLst>
      <dgm:constr type="alignOff" forName="rootnode" val="1"/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-0.765"/>
      <dgm:constr type="w" for="ch" forName="sibTrans" refType="w" fact="0.103"/>
      <dgm:constr type="h" for="ch" forName="sibTrans" refType="h" fact="0.103"/>
    </dgm:constrLst>
    <dgm:forEach name="nodesForEach" axis="ch" ptType="node">
      <dgm:layoutNode name="composite">
        <dgm:alg type="composite">
          <dgm:param type="ar" val="0.861"/>
        </dgm:alg>
        <dgm:shape xmlns:r="http://schemas.openxmlformats.org/officeDocument/2006/relationships" r:blip="">
          <dgm:adjLst/>
        </dgm:shape>
        <dgm:choose name="Name3">
          <dgm:if name="Name4" func="var" arg="dir" op="equ" val="norm">
            <dgm:constrLst>
              <dgm:constr type="l" for="ch" forName="LShape" refType="w" fact="0"/>
              <dgm:constr type="t" for="ch" forName="LShape" refType="h" fact="0.2347"/>
              <dgm:constr type="w" for="ch" forName="LShape" refType="w" fact="0.998"/>
              <dgm:constr type="h" for="ch" forName="LShape" refType="h" fact="0.5164"/>
              <dgm:constr type="r" for="ch" forName="ParentText" refType="w"/>
              <dgm:constr type="t" for="ch" forName="ParentText" refType="h" fact="0.32"/>
              <dgm:constr type="w" for="ch" forName="ParentText" refType="w" fact="0.901"/>
              <dgm:constr type="h" for="ch" forName="ParentText" refType="h" fact="0.68"/>
              <dgm:constr type="l" for="ch" forName="Triangle" refType="w" fact="0.83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if>
          <dgm:else name="Name5">
            <dgm:constrLst>
              <dgm:constr type="l" for="ch" forName="LShape" refType="w" fact="0.002"/>
              <dgm:constr type="t" for="ch" forName="LShape" refType="h" fact="0.2347"/>
              <dgm:constr type="w" for="ch" forName="LShape" refType="w"/>
              <dgm:constr type="h" for="ch" forName="LShape" refType="h" fact="0.5164"/>
              <dgm:constr type="l" for="ch" forName="ParentText" refType="w" fact="0"/>
              <dgm:constr type="t" for="ch" forName="ParentText" refType="h" fact="0.32"/>
              <dgm:constr type="w" for="ch" forName="ParentText" refType="w" fact="0.902"/>
              <dgm:constr type="h" for="ch" forName="ParentText" refType="h" fact="0.68"/>
              <dgm:constr type="l" for="ch" forName="Triangle" refType="w" fact="0"/>
              <dgm:constr type="t" for="ch" forName="Triangle" refType="h" fact="0"/>
              <dgm:constr type="w" for="ch" forName="Triangle" refType="w" fact="0.17"/>
              <dgm:constr type="h" for="ch" forName="Triangle" refType="w" refFor="ch" refForName="Triangle"/>
            </dgm:constrLst>
          </dgm:else>
        </dgm:choose>
        <dgm:layoutNode name="LShape" styleLbl="alignNode1">
          <dgm:alg type="sp"/>
          <dgm:choose name="Name6">
            <dgm:if name="Name7" func="var" arg="dir" op="equ" val="norm">
              <dgm:shape xmlns:r="http://schemas.openxmlformats.org/officeDocument/2006/relationships" rot="90" type="corner" r:blip="">
                <dgm:adjLst>
                  <dgm:adj idx="1" val="0.1612"/>
                  <dgm:adj idx="2" val="0.1611"/>
                </dgm:adjLst>
              </dgm:shape>
            </dgm:if>
            <dgm:else name="Name8">
              <dgm:shape xmlns:r="http://schemas.openxmlformats.org/officeDocument/2006/relationships" rot="180" type="corner" r:blip="">
                <dgm:adjLst>
                  <dgm:adj idx="1" val="0.1612"/>
                  <dgm:adj idx="2" val="0.1611"/>
                </dgm:adjLst>
              </dgm:shape>
            </dgm:else>
          </dgm:choose>
          <dgm:presOf/>
        </dgm:layoutNode>
        <dgm:layoutNode name="ParentText" styleLbl="revTx">
          <dgm:varLst>
            <dgm:chMax val="0"/>
            <dgm:chPref val="0"/>
            <dgm:bulletEnabled val="1"/>
          </dgm:varLst>
          <dgm:alg type="tx">
            <dgm:param type="parTxLTRAlign" val="l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9">
          <dgm:if name="Name10" axis="followSib" ptType="node" func="cnt" op="gte" val="1">
            <dgm:layoutNode name="Triangle" styleLbl="alignNode1">
              <dgm:alg type="sp"/>
              <dgm:choose name="Name11">
                <dgm:if name="Name12" func="var" arg="dir" op="equ" val="norm">
                  <dgm:shape xmlns:r="http://schemas.openxmlformats.org/officeDocument/2006/relationships" type="triangle" r:blip="">
                    <dgm:adjLst>
                      <dgm:adj idx="1" val="1"/>
                    </dgm:adjLst>
                  </dgm:shape>
                </dgm:if>
                <dgm:else name="Name13">
                  <dgm:shape xmlns:r="http://schemas.openxmlformats.org/officeDocument/2006/relationships" rot="90" type="triangle" r:blip="">
                    <dgm:adjLst>
                      <dgm:adj idx="1" val="1"/>
                    </dgm:adjLst>
                  </dgm:shape>
                </dgm:else>
              </dgm:choose>
              <dgm:presOf/>
            </dgm:layoutNode>
          </dgm:if>
          <dgm:else name="Name14"/>
        </dgm:choose>
      </dgm:layoutNode>
      <dgm:forEach name="sibTransForEach" axis="followSib" ptType="sibTrans" cnt="1">
        <dgm:layoutNode name="sibTrans">
          <dgm:alg type="composite">
            <dgm:param type="ar" val="0.861"/>
          </dgm:alg>
          <dgm:constrLst>
            <dgm:constr type="w" for="ch" forName="space" refType="w"/>
            <dgm:constr type="h" for="ch" forName="space" refType="w"/>
          </dgm:constrLst>
          <dgm:layoutNode name="space" styleLbl="alignNode1">
            <dgm:alg type="sp"/>
            <dgm:shape xmlns:r="http://schemas.openxmlformats.org/officeDocument/2006/relationships" r:blip="">
              <dgm:adjLst/>
            </dgm:shape>
            <dgm:presOf/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1DA501-C129-E241-A9DF-ABF70E225816}" type="datetimeFigureOut">
              <a:rPr lang="zh-CN" altLang="en-US"/>
              <a:t>2026/5/20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6A101E-AA81-E444-A5CF-E1E887FBFEAC}" type="slidenum">
              <a:r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9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90204" pitchFamily="34" charset="0"/>
              </a:defRPr>
            </a:lvl1pPr>
          </a:lstStyle>
          <a:p>
            <a:fld id="{0B25AC41-3BEC-9247-8322-91B80C013F2D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9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90204" pitchFamily="34" charset="0"/>
              </a:defRPr>
            </a:lvl1pPr>
          </a:lstStyle>
          <a:p>
            <a:fld id="{69C3F2ED-74C5-7D4F-8560-0CC253E9A436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09600" rtl="0" eaLnBrk="1" latinLnBrk="0" hangingPunct="1">
      <a:defRPr sz="1600" b="0" i="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1pPr>
    <a:lvl2pPr marL="609600" algn="l" defTabSz="609600" rtl="0" eaLnBrk="1" latinLnBrk="0" hangingPunct="1">
      <a:defRPr sz="1600" b="0" i="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2pPr>
    <a:lvl3pPr marL="1219200" algn="l" defTabSz="609600" rtl="0" eaLnBrk="1" latinLnBrk="0" hangingPunct="1">
      <a:defRPr sz="1600" b="0" i="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3pPr>
    <a:lvl4pPr marL="1828800" algn="l" defTabSz="609600" rtl="0" eaLnBrk="1" latinLnBrk="0" hangingPunct="1">
      <a:defRPr sz="1600" b="0" i="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4pPr>
    <a:lvl5pPr marL="2438400" algn="l" defTabSz="609600" rtl="0" eaLnBrk="1" latinLnBrk="0" hangingPunct="1">
      <a:defRPr sz="1600" b="0" i="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5pPr>
    <a:lvl6pPr marL="3048000" algn="l" defTabSz="6096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6096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200" algn="l" defTabSz="6096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800" algn="l" defTabSz="6096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C6DFC-3DF0-9471-82AD-9C9C0337D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7CA4B4-FB64-F19A-D77B-114EAD6374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9FBE9D8-8C9C-B6D6-EC84-0BBB81D69B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E92CF6-56AB-4638-AB8E-432FCF451C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5647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8EF22-8C61-62F4-5018-2C5A0A0FF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11FB6C-0806-8E50-663B-00F8D2F63E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57BDB8-12B7-CB17-39D6-E6B21A1BB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569DA1-D10C-3B67-BD17-508E7EE49B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2321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76226-E236-19A9-4B3C-3623E63D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625986B-49CA-D89C-A365-EEDC167C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A11688-AADF-F1FC-3F0D-DC5F218E2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A6DCA06-08D7-D915-A673-534535AFF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4616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8A637-0922-2ED6-1DE6-D1BFC87D4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282CE4E-4522-A1D7-521A-7EA643DC29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73F7764-C984-F283-5167-28F515DA9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C2155B-84D7-E147-5636-9CBEFEBE5E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5680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A6026-D97D-0C77-17DF-0EC4AAB52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60FE943-8471-60CB-C273-A2FF700F30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31522D-3959-68EA-B2CA-9C85917F4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3604D4-55AA-9E31-0B84-8B067186EB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5169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019-8A4B-E6D7-BB98-C8AB32A11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D8829B-D30C-6CA1-6D1C-586667083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E8A4C0-5EA9-8435-44F8-C1E79EBBA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53383B7-E3FC-39B9-A8E4-30AEDAEDA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9441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8FEE9-5CF0-396E-B0B7-C71F2F403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B479019-0B3B-D40F-FF01-A396352CB9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F0445A-7F8D-131D-07D4-31BE6BB9CC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FEB65A-D152-DCB1-4D6B-3186541408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9376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062E-9B55-9775-3CD2-841033F48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19635EB-5D3F-43C8-E7AA-CE3F8AB6C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ABE814B-869E-EC8A-B629-BACF4D171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67972B-337A-B80E-032D-F2519E4EB0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90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973BA-EBE6-6307-AFE1-9B9F58F28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BA4CB51-461E-B8FE-EC33-D76273AEE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022256-751B-FA48-098D-8DEFC713F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4D7712-D0BF-5162-FF50-1548A5F83F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049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5AC0B-5386-BCF2-ACA7-FD4658233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663A561-E018-AC4B-3F31-312964B041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5B6F2B0-FE5A-3295-11B1-C7D676E865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0A815E3-2433-55D2-0040-BE26F5D67B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224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B5B-54CA-3C22-B449-E6228FE0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20C4D0-1282-EA3A-0D1E-AB55CBDDE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82300C0-B519-8063-D16B-698484F6F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5BF4C12-4AFC-7A0F-7570-2636E7BB1C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907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0130E-0BD8-035A-534D-E59FA0BB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832748-2068-21F5-BF87-77BF604BA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B6E9F9C-F03B-EE00-3198-5DC75FC6D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F9D8A9-0287-61A6-70A9-2DF974EC7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282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4B6DD-D800-02E4-91A8-6E39B8485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FF6568E-8E09-8032-0624-AEE034BF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216D209-68F8-161E-4962-D829939996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096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1" lang="zh-CN" altLang="en-US" sz="1200" b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0DE411-98AF-6CC7-20D1-9BFD4BD7E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8191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CPU </a:t>
            </a:r>
            <a:r>
              <a:rPr lang="zh-CN" altLang="en-US" dirty="0"/>
              <a:t>转 </a:t>
            </a:r>
            <a:r>
              <a:rPr lang="en-US" altLang="zh-CN" dirty="0"/>
              <a:t>GPU </a:t>
            </a:r>
            <a:r>
              <a:rPr lang="zh-CN" altLang="en-US" dirty="0"/>
              <a:t>，测试下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C3F2ED-74C5-7D4F-8560-0CC253E9A436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: 形状 9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1 h 6858000"/>
              <a:gd name="connsiteX3" fmla="*/ 3583870 w 12192000"/>
              <a:gd name="connsiteY3" fmla="*/ 1 h 6858000"/>
              <a:gd name="connsiteX4" fmla="*/ 3789708 w 12192000"/>
              <a:gd name="connsiteY4" fmla="*/ 161757 h 6858000"/>
              <a:gd name="connsiteX5" fmla="*/ 10115551 w 12192000"/>
              <a:gd name="connsiteY5" fmla="*/ 2262189 h 6858000"/>
              <a:gd name="connsiteX6" fmla="*/ 11856660 w 12192000"/>
              <a:gd name="connsiteY6" fmla="*/ 2119509 h 6858000"/>
              <a:gd name="connsiteX7" fmla="*/ 12192000 w 12192000"/>
              <a:gd name="connsiteY7" fmla="*/ 2056900 h 6858000"/>
              <a:gd name="connsiteX8" fmla="*/ 12192000 w 12192000"/>
              <a:gd name="connsiteY8" fmla="*/ 6858000 h 6858000"/>
              <a:gd name="connsiteX9" fmla="*/ 9103276 w 12192000"/>
              <a:gd name="connsiteY9" fmla="*/ 6858000 h 6858000"/>
              <a:gd name="connsiteX10" fmla="*/ 9057407 w 12192000"/>
              <a:gd name="connsiteY10" fmla="*/ 6828593 h 6858000"/>
              <a:gd name="connsiteX11" fmla="*/ 3575053 w 12192000"/>
              <a:gd name="connsiteY11" fmla="*/ 5297941 h 6858000"/>
              <a:gd name="connsiteX12" fmla="*/ 598 w 12192000"/>
              <a:gd name="connsiteY12" fmla="*/ 5917439 h 6858000"/>
              <a:gd name="connsiteX13" fmla="*/ 0 w 12192000"/>
              <a:gd name="connsiteY13" fmla="*/ 59176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1"/>
                </a:lnTo>
                <a:lnTo>
                  <a:pt x="3583870" y="1"/>
                </a:lnTo>
                <a:lnTo>
                  <a:pt x="3789708" y="161757"/>
                </a:lnTo>
                <a:cubicBezTo>
                  <a:pt x="5553694" y="1480962"/>
                  <a:pt x="7743390" y="2262189"/>
                  <a:pt x="10115551" y="2262189"/>
                </a:cubicBezTo>
                <a:cubicBezTo>
                  <a:pt x="10708592" y="2262189"/>
                  <a:pt x="11290228" y="2213362"/>
                  <a:pt x="11856660" y="2119509"/>
                </a:cubicBezTo>
                <a:lnTo>
                  <a:pt x="12192000" y="2056900"/>
                </a:lnTo>
                <a:lnTo>
                  <a:pt x="12192000" y="6858000"/>
                </a:lnTo>
                <a:lnTo>
                  <a:pt x="9103276" y="6858000"/>
                </a:lnTo>
                <a:lnTo>
                  <a:pt x="9057407" y="6828593"/>
                </a:lnTo>
                <a:cubicBezTo>
                  <a:pt x="7458840" y="5857280"/>
                  <a:pt x="5582266" y="5297941"/>
                  <a:pt x="3575053" y="5297941"/>
                </a:cubicBezTo>
                <a:cubicBezTo>
                  <a:pt x="2320544" y="5297941"/>
                  <a:pt x="1117066" y="5516433"/>
                  <a:pt x="598" y="5917439"/>
                </a:cubicBezTo>
                <a:lnTo>
                  <a:pt x="0" y="5917665"/>
                </a:lnTo>
                <a:close/>
              </a:path>
            </a:pathLst>
          </a:custGeom>
          <a:gradFill>
            <a:gsLst>
              <a:gs pos="0">
                <a:srgbClr val="EB6100"/>
              </a:gs>
              <a:gs pos="100000">
                <a:srgbClr val="FFBD50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0" i="0">
              <a:latin typeface="Arial" panose="020B0604020202090204" pitchFamily="34" charset="0"/>
              <a:cs typeface="+mn-ea"/>
              <a:sym typeface="+mn-lt"/>
            </a:endParaRPr>
          </a:p>
        </p:txBody>
      </p:sp>
      <p:sp>
        <p:nvSpPr>
          <p:cNvPr id="6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1323632" y="5658221"/>
            <a:ext cx="4910667" cy="396000"/>
          </a:xfrm>
        </p:spPr>
        <p:txBody>
          <a:bodyPr>
            <a:normAutofit/>
          </a:bodyPr>
          <a:lstStyle>
            <a:lvl1pPr marL="0" indent="0" algn="l">
              <a:buNone/>
              <a:defRPr sz="1800" b="0" i="0" baseline="0">
                <a:solidFill>
                  <a:schemeClr val="bg1">
                    <a:lumMod val="85000"/>
                  </a:schemeClr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lang="en-US" dirty="0"/>
              <a:t>Click to edit Presenter, Team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1323632" y="6115422"/>
            <a:ext cx="4910667" cy="396000"/>
          </a:xfrm>
        </p:spPr>
        <p:txBody>
          <a:bodyPr>
            <a:normAutofit/>
          </a:bodyPr>
          <a:lstStyle>
            <a:lvl1pPr marL="0" indent="0" algn="l">
              <a:buNone/>
              <a:defRPr sz="1800" b="0" i="0" baseline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lang="en-US" dirty="0"/>
              <a:t>Click to edit Date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1323632" y="2470087"/>
            <a:ext cx="9766651" cy="1261087"/>
          </a:xfrm>
        </p:spPr>
        <p:txBody>
          <a:bodyPr>
            <a:noAutofit/>
          </a:bodyPr>
          <a:lstStyle>
            <a:lvl1pPr marL="0" indent="0" algn="l">
              <a:buNone/>
              <a:defRPr sz="4800" b="1" i="0" baseline="0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1323632" y="3738922"/>
            <a:ext cx="8055443" cy="650465"/>
          </a:xfrm>
        </p:spPr>
        <p:txBody>
          <a:bodyPr/>
          <a:lstStyle>
            <a:lvl1pPr marL="0" indent="0" algn="l">
              <a:buNone/>
              <a:defRPr b="0" i="0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9778" y="274766"/>
            <a:ext cx="1513867" cy="538383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79075" y="372727"/>
            <a:ext cx="2447495" cy="3713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同心圆 22"/>
          <p:cNvSpPr/>
          <p:nvPr userDrawn="1"/>
        </p:nvSpPr>
        <p:spPr>
          <a:xfrm>
            <a:off x="-2413330" y="-217716"/>
            <a:ext cx="7286172" cy="7286172"/>
          </a:xfrm>
          <a:prstGeom prst="donut">
            <a:avLst>
              <a:gd name="adj" fmla="val 25334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8" name="任意多边形: 形状 7"/>
          <p:cNvSpPr/>
          <p:nvPr userDrawn="1"/>
        </p:nvSpPr>
        <p:spPr>
          <a:xfrm rot="10800000">
            <a:off x="10030995" y="-21873"/>
            <a:ext cx="2161004" cy="2161004"/>
          </a:xfrm>
          <a:custGeom>
            <a:avLst/>
            <a:gdLst>
              <a:gd name="connsiteX0" fmla="*/ 0 w 2901919"/>
              <a:gd name="connsiteY0" fmla="*/ 0 h 2901919"/>
              <a:gd name="connsiteX1" fmla="*/ 2901919 w 2901919"/>
              <a:gd name="connsiteY1" fmla="*/ 2901919 h 2901919"/>
              <a:gd name="connsiteX2" fmla="*/ 1460665 w 2901919"/>
              <a:gd name="connsiteY2" fmla="*/ 2901919 h 2901919"/>
              <a:gd name="connsiteX3" fmla="*/ 0 w 2901919"/>
              <a:gd name="connsiteY3" fmla="*/ 1441254 h 2901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01919" h="2901919">
                <a:moveTo>
                  <a:pt x="0" y="0"/>
                </a:moveTo>
                <a:cubicBezTo>
                  <a:pt x="1602686" y="0"/>
                  <a:pt x="2901919" y="1299233"/>
                  <a:pt x="2901919" y="2901919"/>
                </a:cubicBezTo>
                <a:lnTo>
                  <a:pt x="1460665" y="2901919"/>
                </a:lnTo>
                <a:cubicBezTo>
                  <a:pt x="1460665" y="2095216"/>
                  <a:pt x="806703" y="1441254"/>
                  <a:pt x="0" y="1441254"/>
                </a:cubicBezTo>
                <a:close/>
              </a:path>
            </a:pathLst>
          </a:cu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4142" y="6225265"/>
            <a:ext cx="1100572" cy="3914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grpId="0" nodeType="withEffect"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ldLvl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alphaModFix amt="10000"/>
            <a:duotone>
              <a:prstClr val="black"/>
              <a:schemeClr val="tx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59370" y="0"/>
            <a:ext cx="8532630" cy="6858000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 hasCustomPrompt="1"/>
          </p:nvPr>
        </p:nvSpPr>
        <p:spPr>
          <a:xfrm>
            <a:off x="1829685" y="1656816"/>
            <a:ext cx="8532630" cy="877663"/>
          </a:xfrm>
        </p:spPr>
        <p:txBody>
          <a:bodyPr>
            <a:normAutofit/>
          </a:bodyPr>
          <a:lstStyle>
            <a:lvl1pPr>
              <a:defRPr sz="3200" b="1" i="0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kumimoji="1" lang="en-US" altLang="zh-CN" dirty="0"/>
              <a:t>Summary</a:t>
            </a:r>
            <a:endParaRPr kumimoji="1"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0" hasCustomPrompt="1"/>
          </p:nvPr>
        </p:nvSpPr>
        <p:spPr>
          <a:xfrm>
            <a:off x="1829685" y="2743199"/>
            <a:ext cx="8532630" cy="2564297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bg1">
                    <a:lumMod val="85000"/>
                  </a:schemeClr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Amazon Elastic Container Service (ECS) and Amazon Elastic Container Registry (ECR) are now available in the China (Ningxia) region operated by Ningxia Western Cloud Data Technology Co. Ltd. (NWCD).</a:t>
            </a:r>
          </a:p>
          <a:p>
            <a:pPr lvl="0"/>
            <a:r>
              <a:rPr kumimoji="1" lang="en-US" altLang="zh-CN" dirty="0"/>
              <a:t>Amazon ECS and Amazon ECR are available in the AWS China (Ningxia) region operated by NWCD.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top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游戏机, 桌子, 蛋糕, 电脑&#10;&#10;描述已自动生成"/>
          <p:cNvPicPr>
            <a:picLocks noChangeAspect="1"/>
          </p:cNvPicPr>
          <p:nvPr userDrawn="1"/>
        </p:nvPicPr>
        <p:blipFill>
          <a:blip r:embed="rId2">
            <a:alphaModFix amt="35000"/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12334" y="3285811"/>
            <a:ext cx="11679665" cy="3572189"/>
          </a:xfrm>
          <a:prstGeom prst="rect">
            <a:avLst/>
          </a:prstGeom>
        </p:spPr>
      </p:pic>
      <p:sp>
        <p:nvSpPr>
          <p:cNvPr id="35" name="Shape"/>
          <p:cNvSpPr/>
          <p:nvPr userDrawn="1"/>
        </p:nvSpPr>
        <p:spPr>
          <a:xfrm>
            <a:off x="0" y="0"/>
            <a:ext cx="4699000" cy="685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9"/>
                </a:moveTo>
                <a:lnTo>
                  <a:pt x="0" y="21600"/>
                </a:lnTo>
                <a:lnTo>
                  <a:pt x="10648" y="21600"/>
                </a:lnTo>
                <a:lnTo>
                  <a:pt x="21600" y="0"/>
                </a:lnTo>
                <a:lnTo>
                  <a:pt x="0" y="19"/>
                </a:lnTo>
                <a:close/>
              </a:path>
            </a:pathLst>
          </a:custGeom>
          <a:gradFill>
            <a:gsLst>
              <a:gs pos="0">
                <a:srgbClr val="FFBD50"/>
              </a:gs>
              <a:gs pos="86000">
                <a:srgbClr val="EB61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endParaRPr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99000" y="2610453"/>
            <a:ext cx="6257925" cy="1147630"/>
          </a:xfrm>
        </p:spPr>
        <p:txBody>
          <a:bodyPr>
            <a:normAutofit/>
          </a:bodyPr>
          <a:lstStyle>
            <a:lvl1pPr marL="0" indent="0">
              <a:buNone/>
              <a:defRPr sz="3600" b="1" i="0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Chapter Topics</a:t>
            </a:r>
            <a:endParaRPr kumimoji="1" lang="zh-CN" altLang="en-US" dirty="0"/>
          </a:p>
        </p:txBody>
      </p:sp>
      <p:sp>
        <p:nvSpPr>
          <p:cNvPr id="42" name="文本占位符 13"/>
          <p:cNvSpPr>
            <a:spLocks noGrp="1"/>
          </p:cNvSpPr>
          <p:nvPr>
            <p:ph type="body" sz="quarter" idx="11" hasCustomPrompt="1"/>
          </p:nvPr>
        </p:nvSpPr>
        <p:spPr>
          <a:xfrm>
            <a:off x="4698999" y="3809823"/>
            <a:ext cx="6257925" cy="625033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solidFill>
                  <a:schemeClr val="bg1">
                    <a:lumMod val="85000"/>
                  </a:schemeClr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Subheading</a:t>
            </a:r>
            <a:endParaRPr kumimoji="1"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7141" y="383143"/>
            <a:ext cx="1100572" cy="3896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477193" y="6227064"/>
            <a:ext cx="808506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22247" y="317975"/>
            <a:ext cx="10467210" cy="562929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lang="en-US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Title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22247" y="317975"/>
            <a:ext cx="10467210" cy="562929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lang="en-US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Content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>
          <a:xfrm>
            <a:off x="922247" y="1247400"/>
            <a:ext cx="5148000" cy="4363200"/>
          </a:xfrm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  <a:lvl2pPr>
              <a:defRPr>
                <a:solidFill>
                  <a:schemeClr val="bg1">
                    <a:lumMod val="85000"/>
                  </a:schemeClr>
                </a:solidFill>
              </a:defRPr>
            </a:lvl2pPr>
            <a:lvl3pPr>
              <a:defRPr>
                <a:solidFill>
                  <a:schemeClr val="bg1">
                    <a:lumMod val="85000"/>
                  </a:schemeClr>
                </a:solidFill>
              </a:defRPr>
            </a:lvl3pPr>
            <a:lvl4pPr>
              <a:defRPr>
                <a:solidFill>
                  <a:schemeClr val="bg1">
                    <a:lumMod val="85000"/>
                  </a:schemeClr>
                </a:solidFill>
              </a:defRPr>
            </a:lvl4pPr>
            <a:lvl5pPr>
              <a:defRPr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5" name="内容占位符 3"/>
          <p:cNvSpPr>
            <a:spLocks noGrp="1"/>
          </p:cNvSpPr>
          <p:nvPr>
            <p:ph sz="quarter" idx="11"/>
          </p:nvPr>
        </p:nvSpPr>
        <p:spPr>
          <a:xfrm>
            <a:off x="6227299" y="1247400"/>
            <a:ext cx="5148000" cy="4363200"/>
          </a:xfrm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  <a:lvl2pPr>
              <a:defRPr>
                <a:solidFill>
                  <a:schemeClr val="bg1">
                    <a:lumMod val="85000"/>
                  </a:schemeClr>
                </a:solidFill>
              </a:defRPr>
            </a:lvl2pPr>
            <a:lvl3pPr>
              <a:defRPr>
                <a:solidFill>
                  <a:schemeClr val="bg1">
                    <a:lumMod val="85000"/>
                  </a:schemeClr>
                </a:solidFill>
              </a:defRPr>
            </a:lvl3pPr>
            <a:lvl4pPr>
              <a:defRPr>
                <a:solidFill>
                  <a:schemeClr val="bg1">
                    <a:lumMod val="85000"/>
                  </a:schemeClr>
                </a:solidFill>
              </a:defRPr>
            </a:lvl4pPr>
            <a:lvl5pPr>
              <a:defRPr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22247" y="317975"/>
            <a:ext cx="10467210" cy="562929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lang="en-US" dirty="0"/>
              <a:t>Three</a:t>
            </a:r>
            <a:r>
              <a:rPr lang="zh-CN" altLang="en-US" dirty="0"/>
              <a:t> </a:t>
            </a:r>
            <a:r>
              <a:rPr lang="en-US" altLang="zh-CN" dirty="0"/>
              <a:t>Content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>
          <a:xfrm>
            <a:off x="922247" y="1247400"/>
            <a:ext cx="3420000" cy="4363200"/>
          </a:xfrm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  <a:lvl2pPr>
              <a:defRPr>
                <a:solidFill>
                  <a:schemeClr val="bg1">
                    <a:lumMod val="85000"/>
                  </a:schemeClr>
                </a:solidFill>
              </a:defRPr>
            </a:lvl2pPr>
            <a:lvl3pPr>
              <a:defRPr>
                <a:solidFill>
                  <a:schemeClr val="bg1">
                    <a:lumMod val="85000"/>
                  </a:schemeClr>
                </a:solidFill>
              </a:defRPr>
            </a:lvl3pPr>
            <a:lvl4pPr>
              <a:defRPr>
                <a:solidFill>
                  <a:schemeClr val="bg1">
                    <a:lumMod val="85000"/>
                  </a:schemeClr>
                </a:solidFill>
              </a:defRPr>
            </a:lvl4pPr>
            <a:lvl5pPr>
              <a:defRPr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6" name="内容占位符 3"/>
          <p:cNvSpPr>
            <a:spLocks noGrp="1"/>
          </p:cNvSpPr>
          <p:nvPr>
            <p:ph sz="quarter" idx="11"/>
          </p:nvPr>
        </p:nvSpPr>
        <p:spPr>
          <a:xfrm>
            <a:off x="4445852" y="1247400"/>
            <a:ext cx="3420000" cy="4363200"/>
          </a:xfrm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  <a:lvl2pPr>
              <a:defRPr>
                <a:solidFill>
                  <a:schemeClr val="bg1">
                    <a:lumMod val="85000"/>
                  </a:schemeClr>
                </a:solidFill>
              </a:defRPr>
            </a:lvl2pPr>
            <a:lvl3pPr>
              <a:defRPr>
                <a:solidFill>
                  <a:schemeClr val="bg1">
                    <a:lumMod val="85000"/>
                  </a:schemeClr>
                </a:solidFill>
              </a:defRPr>
            </a:lvl3pPr>
            <a:lvl4pPr>
              <a:defRPr>
                <a:solidFill>
                  <a:schemeClr val="bg1">
                    <a:lumMod val="85000"/>
                  </a:schemeClr>
                </a:solidFill>
              </a:defRPr>
            </a:lvl4pPr>
            <a:lvl5pPr>
              <a:defRPr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7" name="内容占位符 3"/>
          <p:cNvSpPr>
            <a:spLocks noGrp="1"/>
          </p:cNvSpPr>
          <p:nvPr>
            <p:ph sz="quarter" idx="12"/>
          </p:nvPr>
        </p:nvSpPr>
        <p:spPr>
          <a:xfrm>
            <a:off x="7969457" y="1247400"/>
            <a:ext cx="3420000" cy="4363200"/>
          </a:xfrm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  <a:lvl2pPr>
              <a:defRPr>
                <a:solidFill>
                  <a:schemeClr val="bg1">
                    <a:lumMod val="85000"/>
                  </a:schemeClr>
                </a:solidFill>
              </a:defRPr>
            </a:lvl2pPr>
            <a:lvl3pPr>
              <a:defRPr>
                <a:solidFill>
                  <a:schemeClr val="bg1">
                    <a:lumMod val="85000"/>
                  </a:schemeClr>
                </a:solidFill>
              </a:defRPr>
            </a:lvl3pPr>
            <a:lvl4pPr>
              <a:defRPr>
                <a:solidFill>
                  <a:schemeClr val="bg1">
                    <a:lumMod val="85000"/>
                  </a:schemeClr>
                </a:solidFill>
              </a:defRPr>
            </a:lvl4pPr>
            <a:lvl5pPr>
              <a:defRPr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片包含 游戏机&#10;&#10;描述已自动生成"/>
          <p:cNvPicPr>
            <a:picLocks noChangeAspect="1"/>
          </p:cNvPicPr>
          <p:nvPr userDrawn="1"/>
        </p:nvPicPr>
        <p:blipFill rotWithShape="1">
          <a:blip r:embed="rId2">
            <a:alphaModFix amt="10000"/>
            <a:grayscl/>
          </a:blip>
          <a:srcRect l="12152"/>
          <a:stretch>
            <a:fillRect/>
          </a:stretch>
        </p:blipFill>
        <p:spPr>
          <a:xfrm>
            <a:off x="0" y="4606748"/>
            <a:ext cx="10710440" cy="2222500"/>
          </a:xfrm>
          <a:prstGeom prst="rect">
            <a:avLst/>
          </a:prstGeom>
        </p:spPr>
      </p:pic>
      <p:sp>
        <p:nvSpPr>
          <p:cNvPr id="7" name="矩形 3"/>
          <p:cNvSpPr/>
          <p:nvPr userDrawn="1"/>
        </p:nvSpPr>
        <p:spPr>
          <a:xfrm flipH="1">
            <a:off x="4471026" y="0"/>
            <a:ext cx="7778849" cy="6913418"/>
          </a:xfrm>
          <a:custGeom>
            <a:avLst/>
            <a:gdLst>
              <a:gd name="connsiteX0" fmla="*/ 0 w 5410200"/>
              <a:gd name="connsiteY0" fmla="*/ 0 h 6858000"/>
              <a:gd name="connsiteX1" fmla="*/ 5410200 w 5410200"/>
              <a:gd name="connsiteY1" fmla="*/ 0 h 6858000"/>
              <a:gd name="connsiteX2" fmla="*/ 5410200 w 5410200"/>
              <a:gd name="connsiteY2" fmla="*/ 6858000 h 6858000"/>
              <a:gd name="connsiteX3" fmla="*/ 0 w 5410200"/>
              <a:gd name="connsiteY3" fmla="*/ 6858000 h 6858000"/>
              <a:gd name="connsiteX4" fmla="*/ 0 w 5410200"/>
              <a:gd name="connsiteY4" fmla="*/ 0 h 6858000"/>
              <a:gd name="connsiteX0-1" fmla="*/ 2286000 w 7696200"/>
              <a:gd name="connsiteY0-2" fmla="*/ 0 h 6896100"/>
              <a:gd name="connsiteX1-3" fmla="*/ 7696200 w 7696200"/>
              <a:gd name="connsiteY1-4" fmla="*/ 0 h 6896100"/>
              <a:gd name="connsiteX2-5" fmla="*/ 7696200 w 7696200"/>
              <a:gd name="connsiteY2-6" fmla="*/ 6858000 h 6896100"/>
              <a:gd name="connsiteX3-7" fmla="*/ 0 w 7696200"/>
              <a:gd name="connsiteY3-8" fmla="*/ 6896100 h 6896100"/>
              <a:gd name="connsiteX4-9" fmla="*/ 2286000 w 7696200"/>
              <a:gd name="connsiteY4-10" fmla="*/ 0 h 6896100"/>
              <a:gd name="connsiteX0-11" fmla="*/ 2272352 w 7682552"/>
              <a:gd name="connsiteY0-12" fmla="*/ 0 h 6882452"/>
              <a:gd name="connsiteX1-13" fmla="*/ 7682552 w 7682552"/>
              <a:gd name="connsiteY1-14" fmla="*/ 0 h 6882452"/>
              <a:gd name="connsiteX2-15" fmla="*/ 7682552 w 7682552"/>
              <a:gd name="connsiteY2-16" fmla="*/ 6858000 h 6882452"/>
              <a:gd name="connsiteX3-17" fmla="*/ 0 w 7682552"/>
              <a:gd name="connsiteY3-18" fmla="*/ 6882452 h 6882452"/>
              <a:gd name="connsiteX4-19" fmla="*/ 2272352 w 7682552"/>
              <a:gd name="connsiteY4-20" fmla="*/ 0 h 6882452"/>
              <a:gd name="connsiteX0-21" fmla="*/ 2231408 w 7641608"/>
              <a:gd name="connsiteY0-22" fmla="*/ 0 h 6868804"/>
              <a:gd name="connsiteX1-23" fmla="*/ 7641608 w 7641608"/>
              <a:gd name="connsiteY1-24" fmla="*/ 0 h 6868804"/>
              <a:gd name="connsiteX2-25" fmla="*/ 7641608 w 7641608"/>
              <a:gd name="connsiteY2-26" fmla="*/ 6858000 h 6868804"/>
              <a:gd name="connsiteX3-27" fmla="*/ 0 w 7641608"/>
              <a:gd name="connsiteY3-28" fmla="*/ 6868804 h 6868804"/>
              <a:gd name="connsiteX4-29" fmla="*/ 2231408 w 7641608"/>
              <a:gd name="connsiteY4-30" fmla="*/ 0 h 6868804"/>
              <a:gd name="connsiteX0-31" fmla="*/ 2231408 w 7641608"/>
              <a:gd name="connsiteY0-32" fmla="*/ 0 h 6868804"/>
              <a:gd name="connsiteX1-33" fmla="*/ 7641608 w 7641608"/>
              <a:gd name="connsiteY1-34" fmla="*/ 0 h 6868804"/>
              <a:gd name="connsiteX2-35" fmla="*/ 7641608 w 7641608"/>
              <a:gd name="connsiteY2-36" fmla="*/ 6858000 h 6868804"/>
              <a:gd name="connsiteX3-37" fmla="*/ 0 w 7641608"/>
              <a:gd name="connsiteY3-38" fmla="*/ 6868804 h 6868804"/>
              <a:gd name="connsiteX4-39" fmla="*/ 2231408 w 7641608"/>
              <a:gd name="connsiteY4-40" fmla="*/ 0 h 6868804"/>
              <a:gd name="connsiteX0-41" fmla="*/ 2272064 w 7682264"/>
              <a:gd name="connsiteY0-42" fmla="*/ 0 h 6868804"/>
              <a:gd name="connsiteX1-43" fmla="*/ 7682264 w 7682264"/>
              <a:gd name="connsiteY1-44" fmla="*/ 0 h 6868804"/>
              <a:gd name="connsiteX2-45" fmla="*/ 7682264 w 7682264"/>
              <a:gd name="connsiteY2-46" fmla="*/ 6858000 h 6868804"/>
              <a:gd name="connsiteX3-47" fmla="*/ 40656 w 7682264"/>
              <a:gd name="connsiteY3-48" fmla="*/ 6868804 h 6868804"/>
              <a:gd name="connsiteX4-49" fmla="*/ 2272064 w 7682264"/>
              <a:gd name="connsiteY4-50" fmla="*/ 0 h 6868804"/>
              <a:gd name="connsiteX0-51" fmla="*/ 2272064 w 7682264"/>
              <a:gd name="connsiteY0-52" fmla="*/ 0 h 6868804"/>
              <a:gd name="connsiteX1-53" fmla="*/ 7682264 w 7682264"/>
              <a:gd name="connsiteY1-54" fmla="*/ 0 h 6868804"/>
              <a:gd name="connsiteX2-55" fmla="*/ 7682264 w 7682264"/>
              <a:gd name="connsiteY2-56" fmla="*/ 6858000 h 6868804"/>
              <a:gd name="connsiteX3-57" fmla="*/ 40656 w 7682264"/>
              <a:gd name="connsiteY3-58" fmla="*/ 6868804 h 6868804"/>
              <a:gd name="connsiteX4-59" fmla="*/ 2272064 w 7682264"/>
              <a:gd name="connsiteY4-60" fmla="*/ 0 h 6868804"/>
              <a:gd name="connsiteX0-61" fmla="*/ 2272064 w 7682264"/>
              <a:gd name="connsiteY0-62" fmla="*/ 0 h 6868804"/>
              <a:gd name="connsiteX1-63" fmla="*/ 6907408 w 7682264"/>
              <a:gd name="connsiteY1-64" fmla="*/ 0 h 6868804"/>
              <a:gd name="connsiteX2-65" fmla="*/ 7682264 w 7682264"/>
              <a:gd name="connsiteY2-66" fmla="*/ 6858000 h 6868804"/>
              <a:gd name="connsiteX3-67" fmla="*/ 40656 w 7682264"/>
              <a:gd name="connsiteY3-68" fmla="*/ 6868804 h 6868804"/>
              <a:gd name="connsiteX4-69" fmla="*/ 2272064 w 7682264"/>
              <a:gd name="connsiteY4-70" fmla="*/ 0 h 6868804"/>
              <a:gd name="connsiteX0-71" fmla="*/ 2272064 w 7682264"/>
              <a:gd name="connsiteY0-72" fmla="*/ 0 h 6868804"/>
              <a:gd name="connsiteX1-73" fmla="*/ 6907408 w 7682264"/>
              <a:gd name="connsiteY1-74" fmla="*/ 0 h 6868804"/>
              <a:gd name="connsiteX2-75" fmla="*/ 7682264 w 7682264"/>
              <a:gd name="connsiteY2-76" fmla="*/ 6858000 h 6868804"/>
              <a:gd name="connsiteX3-77" fmla="*/ 40656 w 7682264"/>
              <a:gd name="connsiteY3-78" fmla="*/ 6868804 h 6868804"/>
              <a:gd name="connsiteX4-79" fmla="*/ 2272064 w 7682264"/>
              <a:gd name="connsiteY4-80" fmla="*/ 0 h 6868804"/>
              <a:gd name="connsiteX0-81" fmla="*/ 2272064 w 7682264"/>
              <a:gd name="connsiteY0-82" fmla="*/ 0 h 6868804"/>
              <a:gd name="connsiteX1-83" fmla="*/ 6907408 w 7682264"/>
              <a:gd name="connsiteY1-84" fmla="*/ 0 h 6868804"/>
              <a:gd name="connsiteX2-85" fmla="*/ 7682264 w 7682264"/>
              <a:gd name="connsiteY2-86" fmla="*/ 6858000 h 6868804"/>
              <a:gd name="connsiteX3-87" fmla="*/ 40656 w 7682264"/>
              <a:gd name="connsiteY3-88" fmla="*/ 6868804 h 6868804"/>
              <a:gd name="connsiteX4-89" fmla="*/ 2272064 w 7682264"/>
              <a:gd name="connsiteY4-90" fmla="*/ 0 h 6868804"/>
              <a:gd name="connsiteX0-91" fmla="*/ 2272064 w 6907408"/>
              <a:gd name="connsiteY0-92" fmla="*/ 0 h 6885709"/>
              <a:gd name="connsiteX1-93" fmla="*/ 6907408 w 6907408"/>
              <a:gd name="connsiteY1-94" fmla="*/ 0 h 6885709"/>
              <a:gd name="connsiteX2-95" fmla="*/ 5591615 w 6907408"/>
              <a:gd name="connsiteY2-96" fmla="*/ 6885709 h 6885709"/>
              <a:gd name="connsiteX3-97" fmla="*/ 40656 w 6907408"/>
              <a:gd name="connsiteY3-98" fmla="*/ 6868804 h 6885709"/>
              <a:gd name="connsiteX4-99" fmla="*/ 2272064 w 6907408"/>
              <a:gd name="connsiteY4-100" fmla="*/ 0 h 6885709"/>
              <a:gd name="connsiteX0-101" fmla="*/ 2272064 w 8208580"/>
              <a:gd name="connsiteY0-102" fmla="*/ 0 h 6913418"/>
              <a:gd name="connsiteX1-103" fmla="*/ 6907408 w 8208580"/>
              <a:gd name="connsiteY1-104" fmla="*/ 0 h 6913418"/>
              <a:gd name="connsiteX2-105" fmla="*/ 8208580 w 8208580"/>
              <a:gd name="connsiteY2-106" fmla="*/ 6913418 h 6913418"/>
              <a:gd name="connsiteX3-107" fmla="*/ 40656 w 8208580"/>
              <a:gd name="connsiteY3-108" fmla="*/ 6868804 h 6913418"/>
              <a:gd name="connsiteX4-109" fmla="*/ 2272064 w 8208580"/>
              <a:gd name="connsiteY4-110" fmla="*/ 0 h 6913418"/>
              <a:gd name="connsiteX0-111" fmla="*/ 2272064 w 8208580"/>
              <a:gd name="connsiteY0-112" fmla="*/ 0 h 6913418"/>
              <a:gd name="connsiteX1-113" fmla="*/ 6907408 w 8208580"/>
              <a:gd name="connsiteY1-114" fmla="*/ 0 h 6913418"/>
              <a:gd name="connsiteX2-115" fmla="*/ 8208580 w 8208580"/>
              <a:gd name="connsiteY2-116" fmla="*/ 6913418 h 6913418"/>
              <a:gd name="connsiteX3-117" fmla="*/ 40656 w 8208580"/>
              <a:gd name="connsiteY3-118" fmla="*/ 6868804 h 6913418"/>
              <a:gd name="connsiteX4-119" fmla="*/ 2272064 w 8208580"/>
              <a:gd name="connsiteY4-120" fmla="*/ 0 h 6913418"/>
              <a:gd name="connsiteX0-121" fmla="*/ 2272064 w 8208580"/>
              <a:gd name="connsiteY0-122" fmla="*/ 0 h 6913418"/>
              <a:gd name="connsiteX1-123" fmla="*/ 6907408 w 8208580"/>
              <a:gd name="connsiteY1-124" fmla="*/ 0 h 6913418"/>
              <a:gd name="connsiteX2-125" fmla="*/ 8208580 w 8208580"/>
              <a:gd name="connsiteY2-126" fmla="*/ 6913418 h 6913418"/>
              <a:gd name="connsiteX3-127" fmla="*/ 40656 w 8208580"/>
              <a:gd name="connsiteY3-128" fmla="*/ 6868804 h 6913418"/>
              <a:gd name="connsiteX4-129" fmla="*/ 2272064 w 8208580"/>
              <a:gd name="connsiteY4-130" fmla="*/ 0 h 6913418"/>
              <a:gd name="connsiteX0-131" fmla="*/ 2272064 w 8208580"/>
              <a:gd name="connsiteY0-132" fmla="*/ 0 h 6913418"/>
              <a:gd name="connsiteX1-133" fmla="*/ 6907408 w 8208580"/>
              <a:gd name="connsiteY1-134" fmla="*/ 0 h 6913418"/>
              <a:gd name="connsiteX2-135" fmla="*/ 8208580 w 8208580"/>
              <a:gd name="connsiteY2-136" fmla="*/ 6913418 h 6913418"/>
              <a:gd name="connsiteX3-137" fmla="*/ 40656 w 8208580"/>
              <a:gd name="connsiteY3-138" fmla="*/ 6868804 h 6913418"/>
              <a:gd name="connsiteX4-139" fmla="*/ 2272064 w 8208580"/>
              <a:gd name="connsiteY4-140" fmla="*/ 0 h 691341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8208580" h="6913418">
                <a:moveTo>
                  <a:pt x="2272064" y="0"/>
                </a:moveTo>
                <a:lnTo>
                  <a:pt x="6907408" y="0"/>
                </a:lnTo>
                <a:cubicBezTo>
                  <a:pt x="2667631" y="2521527"/>
                  <a:pt x="2609151" y="6858000"/>
                  <a:pt x="8208580" y="6913418"/>
                </a:cubicBezTo>
                <a:lnTo>
                  <a:pt x="40656" y="6868804"/>
                </a:lnTo>
                <a:cubicBezTo>
                  <a:pt x="-385135" y="3595530"/>
                  <a:pt x="2683235" y="2996183"/>
                  <a:pt x="2272064" y="0"/>
                </a:cubicBezTo>
                <a:close/>
              </a:path>
            </a:pathLst>
          </a:custGeom>
          <a:gradFill>
            <a:gsLst>
              <a:gs pos="0">
                <a:srgbClr val="FFBD50"/>
              </a:gs>
              <a:gs pos="86000">
                <a:srgbClr val="EB6100"/>
              </a:gs>
            </a:gsLst>
            <a:lin ang="5400000"/>
          </a:gradFill>
          <a:ln w="12700">
            <a:miter lim="400000"/>
          </a:ln>
        </p:spPr>
        <p:txBody>
          <a:bodyPr lIns="50800" tIns="50800" rIns="50800" bIns="50800" anchor="ctr"/>
          <a:lstStyle/>
          <a:p>
            <a:pPr lvl="0"/>
            <a:endParaRPr lang="zh-CN" altLang="en-US">
              <a:solidFill>
                <a:schemeClr val="tx1"/>
              </a:solidFill>
              <a:latin typeface="Arial" panose="020B0604020202090204"/>
              <a:cs typeface="Arial" panose="020B0604020202090204"/>
              <a:sym typeface="+mn-lt"/>
            </a:endParaRPr>
          </a:p>
        </p:txBody>
      </p:sp>
      <p:sp>
        <p:nvSpPr>
          <p:cNvPr id="14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786756" y="2404829"/>
            <a:ext cx="6736788" cy="1147630"/>
          </a:xfrm>
        </p:spPr>
        <p:txBody>
          <a:bodyPr>
            <a:normAutofit/>
          </a:bodyPr>
          <a:lstStyle>
            <a:lvl1pPr marL="0" indent="0">
              <a:buNone/>
              <a:defRPr sz="3600" b="1" i="0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Basic Style</a:t>
            </a:r>
            <a:endParaRPr kumimoji="1" lang="zh-CN" altLang="en-US" dirty="0"/>
          </a:p>
        </p:txBody>
      </p:sp>
      <p:sp>
        <p:nvSpPr>
          <p:cNvPr id="42" name="文本占位符 13"/>
          <p:cNvSpPr>
            <a:spLocks noGrp="1"/>
          </p:cNvSpPr>
          <p:nvPr>
            <p:ph type="body" sz="quarter" idx="11" hasCustomPrompt="1"/>
          </p:nvPr>
        </p:nvSpPr>
        <p:spPr>
          <a:xfrm>
            <a:off x="786755" y="3604199"/>
            <a:ext cx="6736788" cy="625033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solidFill>
                  <a:schemeClr val="bg1">
                    <a:lumMod val="85000"/>
                  </a:schemeClr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Subheading</a:t>
            </a:r>
            <a:endParaRPr kumimoji="1"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755" y="450668"/>
            <a:ext cx="1100572" cy="3896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任意形状 30"/>
          <p:cNvSpPr/>
          <p:nvPr userDrawn="1"/>
        </p:nvSpPr>
        <p:spPr>
          <a:xfrm rot="16200000">
            <a:off x="6457710" y="1123709"/>
            <a:ext cx="6858000" cy="4610581"/>
          </a:xfrm>
          <a:custGeom>
            <a:avLst/>
            <a:gdLst>
              <a:gd name="connsiteX0" fmla="*/ 6952508 w 6952508"/>
              <a:gd name="connsiteY0" fmla="*/ 1301526 h 5543384"/>
              <a:gd name="connsiteX1" fmla="*/ 6952508 w 6952508"/>
              <a:gd name="connsiteY1" fmla="*/ 5543384 h 5543384"/>
              <a:gd name="connsiteX2" fmla="*/ 0 w 6952508"/>
              <a:gd name="connsiteY2" fmla="*/ 5543383 h 5543384"/>
              <a:gd name="connsiteX3" fmla="*/ 0 w 6952508"/>
              <a:gd name="connsiteY3" fmla="*/ 1387391 h 5543384"/>
              <a:gd name="connsiteX4" fmla="*/ 45920 w 6952508"/>
              <a:gd name="connsiteY4" fmla="*/ 1343611 h 5543384"/>
              <a:gd name="connsiteX5" fmla="*/ 3523506 w 6952508"/>
              <a:gd name="connsiteY5" fmla="*/ 0 h 5543384"/>
              <a:gd name="connsiteX6" fmla="*/ 6813426 w 6952508"/>
              <a:gd name="connsiteY6" fmla="*/ 1181051 h 5543384"/>
              <a:gd name="connsiteX7" fmla="*/ 6952508 w 6952508"/>
              <a:gd name="connsiteY7" fmla="*/ 1301526 h 5543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952508" h="5543384">
                <a:moveTo>
                  <a:pt x="6952508" y="1301526"/>
                </a:moveTo>
                <a:lnTo>
                  <a:pt x="6952508" y="5543384"/>
                </a:lnTo>
                <a:lnTo>
                  <a:pt x="0" y="5543383"/>
                </a:lnTo>
                <a:lnTo>
                  <a:pt x="0" y="1387391"/>
                </a:lnTo>
                <a:lnTo>
                  <a:pt x="45920" y="1343611"/>
                </a:lnTo>
                <a:cubicBezTo>
                  <a:pt x="964414" y="508802"/>
                  <a:pt x="2184542" y="0"/>
                  <a:pt x="3523506" y="0"/>
                </a:cubicBezTo>
                <a:cubicBezTo>
                  <a:pt x="4773207" y="0"/>
                  <a:pt x="5919387" y="443223"/>
                  <a:pt x="6813426" y="1181051"/>
                </a:cubicBezTo>
                <a:lnTo>
                  <a:pt x="6952508" y="1301526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99000">
                <a:schemeClr val="accent2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cs typeface="+mn-ea"/>
              <a:sym typeface="+mn-lt"/>
            </a:endParaRPr>
          </a:p>
        </p:txBody>
      </p:sp>
      <p:sp>
        <p:nvSpPr>
          <p:cNvPr id="38" name="文本占位符 37"/>
          <p:cNvSpPr>
            <a:spLocks noGrp="1"/>
          </p:cNvSpPr>
          <p:nvPr>
            <p:ph type="body" sz="quarter" idx="12" hasCustomPrompt="1"/>
          </p:nvPr>
        </p:nvSpPr>
        <p:spPr>
          <a:xfrm>
            <a:off x="922246" y="1546749"/>
            <a:ext cx="5559575" cy="485775"/>
          </a:xfrm>
        </p:spPr>
        <p:txBody>
          <a:bodyPr>
            <a:noAutofit/>
          </a:bodyPr>
          <a:lstStyle>
            <a:lvl1pPr marL="0" indent="0"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en-US" altLang="zh-CN" dirty="0"/>
              <a:t>Content Title</a:t>
            </a:r>
            <a:endParaRPr kumimoji="1"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247" y="6197695"/>
            <a:ext cx="1100572" cy="3914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22247" y="317975"/>
            <a:ext cx="10467210" cy="562929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lang="en-US" dirty="0"/>
              <a:t>Competitors Goals</a:t>
            </a:r>
          </a:p>
        </p:txBody>
      </p:sp>
      <p:sp>
        <p:nvSpPr>
          <p:cNvPr id="5" name="Oval"/>
          <p:cNvSpPr/>
          <p:nvPr userDrawn="1"/>
        </p:nvSpPr>
        <p:spPr>
          <a:xfrm>
            <a:off x="922247" y="1304332"/>
            <a:ext cx="961184" cy="943857"/>
          </a:xfrm>
          <a:prstGeom prst="ellipse">
            <a:avLst/>
          </a:prstGeom>
          <a:gradFill flip="none" rotWithShape="1">
            <a:gsLst>
              <a:gs pos="7000">
                <a:srgbClr val="EB6100"/>
              </a:gs>
              <a:gs pos="100000">
                <a:srgbClr val="FFBD50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b="0" i="0">
              <a:solidFill>
                <a:schemeClr val="lt1"/>
              </a:solidFill>
              <a:latin typeface="Arial" panose="020B0604020202090204" pitchFamily="34" charset="0"/>
              <a:cs typeface="+mn-ea"/>
            </a:endParaRPr>
          </a:p>
        </p:txBody>
      </p:sp>
      <p:sp>
        <p:nvSpPr>
          <p:cNvPr id="6" name="Oval"/>
          <p:cNvSpPr/>
          <p:nvPr userDrawn="1"/>
        </p:nvSpPr>
        <p:spPr>
          <a:xfrm>
            <a:off x="922247" y="3853899"/>
            <a:ext cx="961184" cy="943857"/>
          </a:xfrm>
          <a:prstGeom prst="ellipse">
            <a:avLst/>
          </a:prstGeom>
          <a:gradFill flip="none" rotWithShape="1">
            <a:gsLst>
              <a:gs pos="7000">
                <a:srgbClr val="EB6100"/>
              </a:gs>
              <a:gs pos="100000">
                <a:srgbClr val="FFBD50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b="0" i="0">
              <a:latin typeface="Arial" panose="020B0604020202090204" pitchFamily="34" charset="0"/>
              <a:cs typeface="+mn-ea"/>
            </a:endParaRPr>
          </a:p>
        </p:txBody>
      </p:sp>
      <p:sp>
        <p:nvSpPr>
          <p:cNvPr id="7" name="Oval"/>
          <p:cNvSpPr/>
          <p:nvPr userDrawn="1"/>
        </p:nvSpPr>
        <p:spPr>
          <a:xfrm>
            <a:off x="6474373" y="1304332"/>
            <a:ext cx="961184" cy="943857"/>
          </a:xfrm>
          <a:prstGeom prst="ellipse">
            <a:avLst/>
          </a:prstGeom>
          <a:gradFill flip="none" rotWithShape="1">
            <a:gsLst>
              <a:gs pos="7000">
                <a:srgbClr val="EB6100"/>
              </a:gs>
              <a:gs pos="100000">
                <a:srgbClr val="FFBD50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b="0" i="0">
              <a:solidFill>
                <a:schemeClr val="lt1"/>
              </a:solidFill>
              <a:latin typeface="Arial" panose="020B0604020202090204" pitchFamily="34" charset="0"/>
              <a:cs typeface="+mn-ea"/>
            </a:endParaRPr>
          </a:p>
        </p:txBody>
      </p:sp>
      <p:sp>
        <p:nvSpPr>
          <p:cNvPr id="8" name="Oval"/>
          <p:cNvSpPr/>
          <p:nvPr userDrawn="1"/>
        </p:nvSpPr>
        <p:spPr>
          <a:xfrm>
            <a:off x="6474373" y="3853899"/>
            <a:ext cx="961184" cy="943857"/>
          </a:xfrm>
          <a:prstGeom prst="ellipse">
            <a:avLst/>
          </a:prstGeom>
          <a:gradFill flip="none" rotWithShape="1">
            <a:gsLst>
              <a:gs pos="7000">
                <a:srgbClr val="EB6100"/>
              </a:gs>
              <a:gs pos="100000">
                <a:srgbClr val="FFBD50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b="0" i="0">
              <a:solidFill>
                <a:schemeClr val="lt1"/>
              </a:solidFill>
              <a:latin typeface="Arial" panose="020B0604020202090204" pitchFamily="34" charset="0"/>
              <a:cs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8" hasCustomPrompt="1"/>
          </p:nvPr>
        </p:nvSpPr>
        <p:spPr>
          <a:xfrm>
            <a:off x="1005211" y="1304333"/>
            <a:ext cx="801132" cy="943856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1</a:t>
            </a:r>
            <a:endParaRPr kumimoji="1" lang="zh-CN" altLang="en-US" dirty="0"/>
          </a:p>
        </p:txBody>
      </p:sp>
      <p:sp>
        <p:nvSpPr>
          <p:cNvPr id="31" name="文本占位符 3"/>
          <p:cNvSpPr>
            <a:spLocks noGrp="1"/>
          </p:cNvSpPr>
          <p:nvPr>
            <p:ph type="body" sz="quarter" idx="19" hasCustomPrompt="1"/>
          </p:nvPr>
        </p:nvSpPr>
        <p:spPr>
          <a:xfrm>
            <a:off x="1005211" y="3856468"/>
            <a:ext cx="801132" cy="943856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2</a:t>
            </a:r>
            <a:endParaRPr kumimoji="1" lang="zh-CN" altLang="en-US" dirty="0"/>
          </a:p>
        </p:txBody>
      </p:sp>
      <p:sp>
        <p:nvSpPr>
          <p:cNvPr id="32" name="文本占位符 3"/>
          <p:cNvSpPr>
            <a:spLocks noGrp="1"/>
          </p:cNvSpPr>
          <p:nvPr>
            <p:ph type="body" sz="quarter" idx="20" hasCustomPrompt="1"/>
          </p:nvPr>
        </p:nvSpPr>
        <p:spPr>
          <a:xfrm>
            <a:off x="6554399" y="1304333"/>
            <a:ext cx="801132" cy="943856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3</a:t>
            </a:r>
            <a:endParaRPr kumimoji="1" lang="zh-CN" altLang="en-US" dirty="0"/>
          </a:p>
        </p:txBody>
      </p:sp>
      <p:sp>
        <p:nvSpPr>
          <p:cNvPr id="33" name="文本占位符 3"/>
          <p:cNvSpPr>
            <a:spLocks noGrp="1"/>
          </p:cNvSpPr>
          <p:nvPr>
            <p:ph type="body" sz="quarter" idx="21" hasCustomPrompt="1"/>
          </p:nvPr>
        </p:nvSpPr>
        <p:spPr>
          <a:xfrm>
            <a:off x="6550160" y="3853899"/>
            <a:ext cx="801132" cy="943856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pPr lvl="0"/>
            <a:r>
              <a:rPr kumimoji="1" lang="en-US" altLang="zh-CN" dirty="0"/>
              <a:t>4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22247" y="317975"/>
            <a:ext cx="10467210" cy="562929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lang="en-US" dirty="0"/>
              <a:t>Process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22247" y="317975"/>
            <a:ext cx="10467210" cy="562929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lang="en-US" dirty="0"/>
              <a:t>Competitor Analysis</a:t>
            </a:r>
          </a:p>
        </p:txBody>
      </p:sp>
      <p:sp>
        <p:nvSpPr>
          <p:cNvPr id="7" name="表格占位符 6"/>
          <p:cNvSpPr>
            <a:spLocks noGrp="1"/>
          </p:cNvSpPr>
          <p:nvPr>
            <p:ph type="tbl" sz="quarter" idx="10"/>
          </p:nvPr>
        </p:nvSpPr>
        <p:spPr>
          <a:xfrm>
            <a:off x="922247" y="1139404"/>
            <a:ext cx="10475912" cy="4694238"/>
          </a:xfrm>
        </p:spPr>
        <p:txBody>
          <a:bodyPr/>
          <a:lstStyle/>
          <a:p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sitioning 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22247" y="317975"/>
            <a:ext cx="10467210" cy="562929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lang="en-US" dirty="0"/>
              <a:t>Positioning Map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ha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9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1 h 6858000"/>
              <a:gd name="connsiteX3" fmla="*/ 3583870 w 12192000"/>
              <a:gd name="connsiteY3" fmla="*/ 1 h 6858000"/>
              <a:gd name="connsiteX4" fmla="*/ 3789708 w 12192000"/>
              <a:gd name="connsiteY4" fmla="*/ 161757 h 6858000"/>
              <a:gd name="connsiteX5" fmla="*/ 10115551 w 12192000"/>
              <a:gd name="connsiteY5" fmla="*/ 2262189 h 6858000"/>
              <a:gd name="connsiteX6" fmla="*/ 11856660 w 12192000"/>
              <a:gd name="connsiteY6" fmla="*/ 2119509 h 6858000"/>
              <a:gd name="connsiteX7" fmla="*/ 12192000 w 12192000"/>
              <a:gd name="connsiteY7" fmla="*/ 2056900 h 6858000"/>
              <a:gd name="connsiteX8" fmla="*/ 12192000 w 12192000"/>
              <a:gd name="connsiteY8" fmla="*/ 6858000 h 6858000"/>
              <a:gd name="connsiteX9" fmla="*/ 9103276 w 12192000"/>
              <a:gd name="connsiteY9" fmla="*/ 6858000 h 6858000"/>
              <a:gd name="connsiteX10" fmla="*/ 9057407 w 12192000"/>
              <a:gd name="connsiteY10" fmla="*/ 6828593 h 6858000"/>
              <a:gd name="connsiteX11" fmla="*/ 3575053 w 12192000"/>
              <a:gd name="connsiteY11" fmla="*/ 5297941 h 6858000"/>
              <a:gd name="connsiteX12" fmla="*/ 598 w 12192000"/>
              <a:gd name="connsiteY12" fmla="*/ 5917439 h 6858000"/>
              <a:gd name="connsiteX13" fmla="*/ 0 w 12192000"/>
              <a:gd name="connsiteY13" fmla="*/ 59176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1"/>
                </a:lnTo>
                <a:lnTo>
                  <a:pt x="3583870" y="1"/>
                </a:lnTo>
                <a:lnTo>
                  <a:pt x="3789708" y="161757"/>
                </a:lnTo>
                <a:cubicBezTo>
                  <a:pt x="5553694" y="1480962"/>
                  <a:pt x="7743390" y="2262189"/>
                  <a:pt x="10115551" y="2262189"/>
                </a:cubicBezTo>
                <a:cubicBezTo>
                  <a:pt x="10708592" y="2262189"/>
                  <a:pt x="11290228" y="2213362"/>
                  <a:pt x="11856660" y="2119509"/>
                </a:cubicBezTo>
                <a:lnTo>
                  <a:pt x="12192000" y="2056900"/>
                </a:lnTo>
                <a:lnTo>
                  <a:pt x="12192000" y="6858000"/>
                </a:lnTo>
                <a:lnTo>
                  <a:pt x="9103276" y="6858000"/>
                </a:lnTo>
                <a:lnTo>
                  <a:pt x="9057407" y="6828593"/>
                </a:lnTo>
                <a:cubicBezTo>
                  <a:pt x="7458840" y="5857280"/>
                  <a:pt x="5582266" y="5297941"/>
                  <a:pt x="3575053" y="5297941"/>
                </a:cubicBezTo>
                <a:cubicBezTo>
                  <a:pt x="2320544" y="5297941"/>
                  <a:pt x="1117066" y="5516433"/>
                  <a:pt x="598" y="5917439"/>
                </a:cubicBezTo>
                <a:lnTo>
                  <a:pt x="0" y="5917665"/>
                </a:lnTo>
                <a:close/>
              </a:path>
            </a:pathLst>
          </a:custGeom>
          <a:gradFill>
            <a:gsLst>
              <a:gs pos="0">
                <a:srgbClr val="EB6100"/>
              </a:gs>
              <a:gs pos="100000">
                <a:srgbClr val="FFBD50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0" i="0">
              <a:latin typeface="Arial" panose="020B0604020202090204" pitchFamily="34" charset="0"/>
              <a:cs typeface="+mn-ea"/>
              <a:sym typeface="+mn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4269" y="2067775"/>
            <a:ext cx="10363200" cy="1362075"/>
          </a:xfrm>
        </p:spPr>
        <p:txBody>
          <a:bodyPr anchor="ctr">
            <a:noAutofit/>
          </a:bodyPr>
          <a:lstStyle>
            <a:lvl1pPr algn="l">
              <a:defRPr sz="6000" b="1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Thanks</a:t>
            </a:r>
            <a:r>
              <a:rPr lang="zh-CN" altLang="en-US" dirty="0"/>
              <a:t>！</a:t>
            </a:r>
            <a:endParaRPr lang="en-US" dirty="0"/>
          </a:p>
        </p:txBody>
      </p:sp>
      <p:sp>
        <p:nvSpPr>
          <p:cNvPr id="3" name="Text Placeholder 11"/>
          <p:cNvSpPr>
            <a:spLocks noGrp="1"/>
          </p:cNvSpPr>
          <p:nvPr>
            <p:ph type="body" sz="quarter" idx="10"/>
          </p:nvPr>
        </p:nvSpPr>
        <p:spPr>
          <a:xfrm>
            <a:off x="650532" y="3429850"/>
            <a:ext cx="4910667" cy="577849"/>
          </a:xfrm>
        </p:spPr>
        <p:txBody>
          <a:bodyPr>
            <a:normAutofit/>
          </a:bodyPr>
          <a:lstStyle>
            <a:lvl1pPr marL="0" indent="0" algn="l">
              <a:buNone/>
              <a:defRPr sz="20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22247" y="317975"/>
            <a:ext cx="10467210" cy="562929"/>
          </a:xfrm>
        </p:spPr>
        <p:txBody>
          <a:bodyPr anchor="ctr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Arial" panose="020B0604020202090204" pitchFamily="34" charset="0"/>
                <a:cs typeface="Arial" panose="020B0604020202090204" pitchFamily="34" charset="0"/>
              </a:defRPr>
            </a:lvl1pPr>
          </a:lstStyle>
          <a:p>
            <a:r>
              <a:rPr lang="en-US" dirty="0"/>
              <a:t>Title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Content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quarter" idx="10"/>
          </p:nvPr>
        </p:nvSpPr>
        <p:spPr>
          <a:xfrm>
            <a:off x="922247" y="1247092"/>
            <a:ext cx="10467210" cy="4363816"/>
          </a:xfrm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  <a:lvl2pPr>
              <a:defRPr>
                <a:solidFill>
                  <a:schemeClr val="bg1">
                    <a:lumMod val="85000"/>
                  </a:schemeClr>
                </a:solidFill>
              </a:defRPr>
            </a:lvl2pPr>
            <a:lvl3pPr>
              <a:defRPr>
                <a:solidFill>
                  <a:schemeClr val="bg1">
                    <a:lumMod val="85000"/>
                  </a:schemeClr>
                </a:solidFill>
              </a:defRPr>
            </a:lvl3pPr>
            <a:lvl4pPr>
              <a:defRPr>
                <a:solidFill>
                  <a:schemeClr val="bg1">
                    <a:lumMod val="85000"/>
                  </a:schemeClr>
                </a:solidFill>
              </a:defRPr>
            </a:lvl4pPr>
            <a:lvl5pPr>
              <a:defRPr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611872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 altLang="zh-CN" dirty="0"/>
              <a:t>Edit</a:t>
            </a:r>
            <a:r>
              <a:rPr lang="zh-CN" altLang="en-US" dirty="0"/>
              <a:t> </a:t>
            </a:r>
            <a:r>
              <a:rPr lang="en-US" altLang="zh-CN" dirty="0"/>
              <a:t>Title</a:t>
            </a:r>
            <a:r>
              <a:rPr lang="zh-CN" altLang="en-US" dirty="0"/>
              <a:t> </a:t>
            </a:r>
            <a:r>
              <a:rPr lang="en-US" altLang="zh-CN" dirty="0"/>
              <a:t>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</a:defRPr>
            </a:lvl1pPr>
          </a:lstStyle>
          <a:p>
            <a:fld id="{48A87A34-81AB-432B-8DAE-1953F412C126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1883" y="6227064"/>
            <a:ext cx="7929267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</a:defRPr>
            </a:lvl1pPr>
          </a:lstStyle>
          <a:p>
            <a:fld id="{6D22F896-40B5-4ADD-8801-0D06FADFA09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4142" y="6225265"/>
            <a:ext cx="1100572" cy="391401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316667" y="6233190"/>
            <a:ext cx="2069086" cy="31391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Arial" panose="020B060402020209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b="0" i="0" kern="1200">
          <a:solidFill>
            <a:schemeClr val="tx1"/>
          </a:solidFill>
          <a:effectLst/>
          <a:latin typeface="Arial" panose="020B060402020209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b="0" i="0" kern="1200">
          <a:solidFill>
            <a:schemeClr val="tx1"/>
          </a:solidFill>
          <a:effectLst/>
          <a:latin typeface="Arial" panose="020B060402020209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b="0" i="0" kern="1200">
          <a:solidFill>
            <a:schemeClr val="tx1"/>
          </a:solidFill>
          <a:effectLst/>
          <a:latin typeface="Arial" panose="020B060402020209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b="0" i="0" kern="1200">
          <a:solidFill>
            <a:schemeClr val="tx1"/>
          </a:solidFill>
          <a:effectLst/>
          <a:latin typeface="Arial" panose="020B060402020209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b="0" i="0" kern="1200">
          <a:solidFill>
            <a:schemeClr val="tx1"/>
          </a:solidFill>
          <a:effectLst/>
          <a:latin typeface="Arial" panose="020B060402020209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6.xml"/><Relationship Id="rId1" Type="http://schemas.openxmlformats.org/officeDocument/2006/relationships/themeOverride" Target="../theme/themeOverrid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西云数据 解决方案架构师 陈朋辉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2026-06-02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2"/>
          </p:nvPr>
        </p:nvSpPr>
        <p:spPr>
          <a:xfrm>
            <a:off x="0" y="2470087"/>
            <a:ext cx="12192000" cy="1261087"/>
          </a:xfrm>
        </p:spPr>
        <p:txBody>
          <a:bodyPr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自然语言驱动的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运维平台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</a:t>
            </a: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  <a:cs typeface="Amazon Ember" panose="020B0603020204020204" pitchFamily="34" charset="0"/>
              </a:rPr>
              <a:t>背景介绍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F30474E-B8D5-D62A-86F3-3C12E035DFC1}"/>
              </a:ext>
            </a:extLst>
          </p:cNvPr>
          <p:cNvSpPr txBox="1"/>
          <p:nvPr/>
        </p:nvSpPr>
        <p:spPr>
          <a:xfrm>
            <a:off x="502632" y="998775"/>
            <a:ext cx="11346180" cy="9625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某客户迁移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100+ </a:t>
            </a:r>
            <a:r>
              <a:rPr lang="zh-CN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微服务到 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AWS </a:t>
            </a:r>
            <a:r>
              <a:rPr lang="zh-CN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，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SRE </a:t>
            </a:r>
            <a:r>
              <a:rPr lang="zh-CN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团队负责日常运维。团队希望降低运维复杂度，提升故障响应效率。</a:t>
            </a:r>
            <a:endParaRPr 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C1526C-7607-6FF5-D159-0BF5CC941175}"/>
              </a:ext>
            </a:extLst>
          </p:cNvPr>
          <p:cNvSpPr txBox="1"/>
          <p:nvPr/>
        </p:nvSpPr>
        <p:spPr>
          <a:xfrm>
            <a:off x="546967" y="1883833"/>
            <a:ext cx="10714008" cy="15451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运维现状：</a:t>
            </a:r>
            <a:endParaRPr lang="en-US" altLang="zh-CN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主动运维： 每天需要打开</a:t>
            </a:r>
            <a:r>
              <a:rPr lang="en-US" altLang="zh-CN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CloudWatch</a:t>
            </a: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逐一检查指标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被动运维： 告警触发后，需切换 </a:t>
            </a:r>
            <a:r>
              <a:rPr lang="en-US" altLang="zh-CN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CloudWatch</a:t>
            </a: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、</a:t>
            </a:r>
            <a:r>
              <a:rPr lang="en-US" altLang="zh-CN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Config</a:t>
            </a: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等多个控制台，完成定界→定位→修复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>
              <a:lnSpc>
                <a:spcPct val="150000"/>
              </a:lnSpc>
            </a:pP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D5A534E-B676-9282-F7BE-76B54D209362}"/>
              </a:ext>
            </a:extLst>
          </p:cNvPr>
          <p:cNvSpPr txBox="1"/>
          <p:nvPr/>
        </p:nvSpPr>
        <p:spPr>
          <a:xfrm>
            <a:off x="502632" y="3798531"/>
            <a:ext cx="4074910" cy="19450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团队现状：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故障处理依赖工程师经验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事故经验无法沉淀复用</a:t>
            </a:r>
          </a:p>
          <a:p>
            <a:pPr>
              <a:lnSpc>
                <a:spcPct val="150000"/>
              </a:lnSpc>
            </a:pP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416F311-E600-3C9A-F1E6-8D578E56DF75}"/>
              </a:ext>
            </a:extLst>
          </p:cNvPr>
          <p:cNvSpPr txBox="1"/>
          <p:nvPr/>
        </p:nvSpPr>
        <p:spPr>
          <a:xfrm>
            <a:off x="5443162" y="3798531"/>
            <a:ext cx="4853536" cy="194504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当前痛点：</a:t>
            </a:r>
            <a:endParaRPr lang="en-US" altLang="zh-CN" b="1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排障需反复切换，上下文频繁丢失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知识在个人脑中，无法传承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只有图表没有解读，依赖个人经验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定位耗时长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C3811-BFF7-4D2C-E945-5C94F0E19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22A22A-99AC-93FB-C128-AFC961928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  <a:cs typeface="Amazon Ember" panose="020B0603020204020204" pitchFamily="34" charset="0"/>
              </a:rPr>
              <a:t>    需求分析</a:t>
            </a:r>
          </a:p>
        </p:txBody>
      </p:sp>
      <p:graphicFrame>
        <p:nvGraphicFramePr>
          <p:cNvPr id="7" name="图示 6">
            <a:extLst>
              <a:ext uri="{FF2B5EF4-FFF2-40B4-BE49-F238E27FC236}">
                <a16:creationId xmlns:a16="http://schemas.microsoft.com/office/drawing/2014/main" id="{640E0644-760E-2FDC-5A28-1128E4CE55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7768631"/>
              </p:ext>
            </p:extLst>
          </p:nvPr>
        </p:nvGraphicFramePr>
        <p:xfrm>
          <a:off x="552284" y="778487"/>
          <a:ext cx="10799256" cy="39191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0C7A9409-7253-482E-57E0-F2C177F603B2}"/>
              </a:ext>
            </a:extLst>
          </p:cNvPr>
          <p:cNvSpPr/>
          <p:nvPr/>
        </p:nvSpPr>
        <p:spPr>
          <a:xfrm>
            <a:off x="3104803" y="4873294"/>
            <a:ext cx="2847109" cy="4623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31C4CEEC-486B-7A3A-8FB7-89F3185EE3C1}"/>
              </a:ext>
            </a:extLst>
          </p:cNvPr>
          <p:cNvGrpSpPr/>
          <p:nvPr/>
        </p:nvGrpSpPr>
        <p:grpSpPr>
          <a:xfrm>
            <a:off x="6096000" y="4832064"/>
            <a:ext cx="5796742" cy="903718"/>
            <a:chOff x="25697" y="660238"/>
            <a:chExt cx="3007398" cy="2778501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279D4F4-D174-2F53-12BD-B2F4F2DD8BF7}"/>
                </a:ext>
              </a:extLst>
            </p:cNvPr>
            <p:cNvSpPr/>
            <p:nvPr/>
          </p:nvSpPr>
          <p:spPr bwMode="white">
            <a:xfrm>
              <a:off x="799111" y="660238"/>
              <a:ext cx="1953204" cy="2778501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45DC0C61-6229-8AAE-7D05-A9B474F9B9DC}"/>
                </a:ext>
              </a:extLst>
            </p:cNvPr>
            <p:cNvSpPr txBox="1"/>
            <p:nvPr/>
          </p:nvSpPr>
          <p:spPr>
            <a:xfrm>
              <a:off x="25697" y="1027816"/>
              <a:ext cx="3007398" cy="102167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40640" tIns="40640" rIns="40640" bIns="40640" numCol="1" spcCol="1270" anchor="t" anchorCtr="0">
              <a:noAutofit/>
            </a:bodyPr>
            <a:lstStyle/>
            <a:p>
              <a:pPr lvl="0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zh-CN" altLang="en-US" sz="2000" dirty="0">
                  <a:solidFill>
                    <a:schemeClr val="bg1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用自然语言</a:t>
              </a:r>
              <a:r>
                <a:rPr lang="en-US" altLang="zh-CN" sz="2000" dirty="0">
                  <a:solidFill>
                    <a:schemeClr val="bg1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(</a:t>
              </a:r>
              <a:r>
                <a:rPr lang="zh-CN" altLang="en-US" sz="2000" dirty="0">
                  <a:solidFill>
                    <a:schemeClr val="bg1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语音</a:t>
              </a:r>
              <a:r>
                <a:rPr lang="en-US" altLang="zh-CN" sz="2000" dirty="0">
                  <a:solidFill>
                    <a:schemeClr val="bg1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/</a:t>
              </a:r>
              <a:r>
                <a:rPr lang="zh-CN" altLang="en-US" sz="2000" dirty="0">
                  <a:solidFill>
                    <a:schemeClr val="bg1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文字</a:t>
              </a:r>
              <a:r>
                <a:rPr lang="en-US" altLang="zh-CN" sz="2000" dirty="0">
                  <a:solidFill>
                    <a:schemeClr val="bg1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)</a:t>
              </a:r>
              <a:r>
                <a:rPr lang="zh-CN" altLang="en-US" sz="2000" dirty="0">
                  <a:solidFill>
                    <a:schemeClr val="bg1"/>
                  </a:solidFill>
                  <a:latin typeface="等线" panose="02010600030101010101" pitchFamily="2" charset="-122"/>
                  <a:ea typeface="等线" panose="02010600030101010101" pitchFamily="2" charset="-122"/>
                </a:rPr>
                <a:t>完成运维全流程，随时随地</a:t>
              </a:r>
              <a:endParaRPr lang="zh-CN" altLang="en-US" sz="200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endParaRP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457200" y="10972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P0 必须 (8 项)</a:t>
            </a:r>
          </a:p>
          <a:p>
            <a:r>
              <a:rPr sz="1200" b="0"/>
              <a:t>  • 多入口接入（v3 主推 Quick Desktop / MCP）</a:t>
            </a:r>
          </a:p>
          <a:p>
            <a:r>
              <a:rPr sz="1200" b="0"/>
              <a:t>  • 文字 → HTML 诊断书 URL（30 天有效）</a:t>
            </a:r>
          </a:p>
          <a:p>
            <a:r>
              <a:rPr sz="1200" b="0"/>
              <a:t>  • 6 逻辑能力 → Strands Agent + 5 Tool（v3 真 SDK）</a:t>
            </a:r>
          </a:p>
          <a:p>
            <a:r>
              <a:rPr sz="1200" b="0"/>
              <a:t>  • 故障自动从 5 分钟定位降至 1 分钟</a:t>
            </a:r>
          </a:p>
          <a:p>
            <a:r>
              <a:rPr sz="1200" b="0"/>
              <a:t>  • 写操作三重护栏（Confirm Token + Policy + L2 IAM 隔离）</a:t>
            </a:r>
          </a:p>
          <a:p>
            <a:r>
              <a:rPr sz="1200" b="0"/>
              <a:t>  • 经验沉淀: Bedrock KB 双写 + AuditTable</a:t>
            </a:r>
          </a:p>
          <a:p>
            <a:r>
              <a:rPr sz="1200" b="0"/>
              <a:t>  • 全链路 ≥ 90 天审计日志</a:t>
            </a:r>
          </a:p>
          <a:p>
            <a:r>
              <a:rPr sz="1200" b="0"/>
              <a:t>  • 50 用户并发，月成本 ≤ $20/用户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P1 应该 (5 项)</a:t>
            </a:r>
          </a:p>
          <a:p>
            <a:r>
              <a:rPr sz="1200" b="0"/>
              <a:t>  • HTML 诊断书面向非技术干系人</a:t>
            </a:r>
          </a:p>
          <a:p>
            <a:r>
              <a:rPr sz="1200" b="0"/>
              <a:t>  • SES 邮件告警通道（v3 主推）</a:t>
            </a:r>
          </a:p>
          <a:p>
            <a:r>
              <a:rPr sz="1200" b="0"/>
              <a:t>  • 历史经验自动检索 + 召回</a:t>
            </a:r>
          </a:p>
          <a:p>
            <a:r>
              <a:rPr sz="1200" b="0"/>
              <a:t>  • 飞书 / 企微 webhook (v4)</a:t>
            </a:r>
          </a:p>
          <a:p>
            <a:r>
              <a:rPr sz="1200" b="0"/>
              <a:t>  • 中英文混合语音 (Nova Sonic, v4)</a:t>
            </a:r>
          </a:p>
          <a:p>
            <a:endParaRPr sz="1200" b="0"/>
          </a:p>
          <a:p>
            <a:r>
              <a:rPr sz="1200" b="0"/>
              <a:t>P2 可有可无 (3 项)</a:t>
            </a:r>
          </a:p>
          <a:p>
            <a:r>
              <a:rPr sz="1200" b="0"/>
              <a:t>  • 多账号 / 多区域聚合</a:t>
            </a:r>
          </a:p>
          <a:p>
            <a:r>
              <a:rPr sz="1200" b="0"/>
              <a:t>  • 自定义 runbook 编排</a:t>
            </a:r>
          </a:p>
          <a:p>
            <a:r>
              <a:rPr sz="1200" b="0"/>
              <a:t>  • 客户私有工具 MCP 集成</a:t>
            </a:r>
          </a:p>
          <a:p>
            <a:endParaRPr sz="1200" b="0"/>
          </a:p>
          <a:p>
            <a:r>
              <a:rPr sz="1200" b="0"/>
              <a:t>验收指标</a:t>
            </a:r>
          </a:p>
          <a:p>
            <a:r>
              <a:rPr sz="1200" b="0"/>
              <a:t>  • TTR (Time-to-Recover) 缩短 60%</a:t>
            </a:r>
          </a:p>
          <a:p>
            <a:r>
              <a:rPr sz="1200" b="0"/>
              <a:t>  • 上下文切换从 7 次降到 2 次</a:t>
            </a:r>
          </a:p>
          <a:p>
            <a:r>
              <a:rPr sz="1200" b="0"/>
              <a:t>  • Quick Desktop tool 选择准确率 ≥ 95%</a:t>
            </a:r>
          </a:p>
        </p:txBody>
      </p:sp>
    </p:spTree>
    <p:extLst>
      <p:ext uri="{BB962C8B-B14F-4D97-AF65-F5344CB8AC3E}">
        <p14:creationId xmlns:p14="http://schemas.microsoft.com/office/powerpoint/2010/main" val="202326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7D3BB-6944-1737-6760-86E1132C8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C70B15-680B-4887-1493-8AF284ACD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难点分析</a:t>
            </a:r>
          </a:p>
        </p:txBody>
      </p:sp>
      <p:graphicFrame>
        <p:nvGraphicFramePr>
          <p:cNvPr id="8" name="图示 7">
            <a:extLst>
              <a:ext uri="{FF2B5EF4-FFF2-40B4-BE49-F238E27FC236}">
                <a16:creationId xmlns:a16="http://schemas.microsoft.com/office/drawing/2014/main" id="{819BB68D-2652-C646-7D30-8E43235172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721805"/>
              </p:ext>
            </p:extLst>
          </p:nvPr>
        </p:nvGraphicFramePr>
        <p:xfrm>
          <a:off x="953193" y="941832"/>
          <a:ext cx="10248206" cy="24065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9" name="图示 8">
            <a:extLst>
              <a:ext uri="{FF2B5EF4-FFF2-40B4-BE49-F238E27FC236}">
                <a16:creationId xmlns:a16="http://schemas.microsoft.com/office/drawing/2014/main" id="{820C77CC-41F1-52BB-2D1B-CCDCCEEE73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8873787"/>
              </p:ext>
            </p:extLst>
          </p:nvPr>
        </p:nvGraphicFramePr>
        <p:xfrm>
          <a:off x="953192" y="3705225"/>
          <a:ext cx="10248207" cy="24334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1097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62828"/>
                </a:solidFill>
              </a:rPr>
              <a:t>难点 1: 写操作风险 — LLM 幻觉直接调 ECS scale 是事故</a:t>
            </a:r>
          </a:p>
          <a:p>
            <a:r>
              <a:rPr sz="1300" b="0">
                <a:solidFill>
                  <a:srgbClr val="C62828"/>
                </a:solidFill>
              </a:rPr>
              <a:t>  解法: Confirm Token + L2 独立 IAM Lambda + Tag 边界 (nlops:managed=true)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F6C00"/>
                </a:solidFill>
              </a:rPr>
              <a:t>难点 2: 多 AI 客户端兼容 — DOA 主推 Slack/ServiceNow，国内客户用不了</a:t>
            </a:r>
          </a:p>
          <a:p>
            <a:r>
              <a:rPr sz="1300" b="0">
                <a:solidFill>
                  <a:srgbClr val="EF6C00"/>
                </a:solidFill>
              </a:rPr>
              <a:t>  解法: NLOps 自暴露 21 个 MCP 工具盒，Quick Desktop / Cursor / Claude Desktop 任意调用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E7D32"/>
                </a:solidFill>
              </a:rPr>
              <a:t>难点 3: 非技术干系人沟通 — DOA Operator Portal 偏技术</a:t>
            </a:r>
          </a:p>
          <a:p>
            <a:r>
              <a:rPr sz="1300" b="0">
                <a:solidFill>
                  <a:srgbClr val="2E7D32"/>
                </a:solidFill>
              </a:rPr>
              <a:t>  解法: HTML 诊断书 (Jinja2 + ECharts) + SES HTML 邮件双形态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976D2"/>
                </a:solidFill>
              </a:rPr>
              <a:t>难点 4: 经验沉淀流失 (Tribal knowledge)</a:t>
            </a:r>
          </a:p>
          <a:p>
            <a:r>
              <a:rPr sz="1300" b="0">
                <a:solidFill>
                  <a:srgbClr val="1976D2"/>
                </a:solidFill>
              </a:rPr>
              <a:t>  解法: Bedrock KB 双写 + AuditTable scan，下次类似事件自动召回</a:t>
            </a:r>
          </a:p>
          <a:p>
            <a:r>
              <a:rPr sz="1300" b="0">
                <a:solidFill>
                  <a:srgbClr val="1976D2"/>
                </a:solidFill>
              </a:rPr>
              <a:t>  注: DOA Custom Skill SDK 不可用，已转向 KB 路径（实测 2026-05）</a:t>
            </a:r>
          </a:p>
        </p:txBody>
      </p:sp>
    </p:spTree>
    <p:extLst>
      <p:ext uri="{BB962C8B-B14F-4D97-AF65-F5344CB8AC3E}">
        <p14:creationId xmlns:p14="http://schemas.microsoft.com/office/powerpoint/2010/main" val="1721825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C261-8431-7607-8219-1A995BACC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27688E-9440-A53B-4264-25F0A1D81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  <a:cs typeface="Amazon Ember" panose="020B0603020204020204" pitchFamily="34" charset="0"/>
              </a:rPr>
              <a:t>    解决方案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16E36CB-0113-D969-FE3A-B0AEA3F48036}"/>
              </a:ext>
            </a:extLst>
          </p:cNvPr>
          <p:cNvSpPr txBox="1"/>
          <p:nvPr/>
        </p:nvSpPr>
        <p:spPr>
          <a:xfrm>
            <a:off x="984250" y="1381483"/>
            <a:ext cx="5673090" cy="63138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基于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AWS</a:t>
            </a:r>
            <a:r>
              <a:rPr lang="zh-CN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的</a:t>
            </a:r>
            <a:r>
              <a:rPr lang="en-US" altLang="zh-CN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AI</a:t>
            </a:r>
            <a:r>
              <a:rPr lang="zh-CN" altLang="en-US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和运维服务，打造智能闭环运维平台</a:t>
            </a:r>
            <a:endParaRPr lang="zh-CN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0B8D626-4B85-0C0C-2083-77B86E2A79E9}"/>
              </a:ext>
            </a:extLst>
          </p:cNvPr>
          <p:cNvSpPr/>
          <p:nvPr/>
        </p:nvSpPr>
        <p:spPr>
          <a:xfrm>
            <a:off x="984250" y="2325797"/>
            <a:ext cx="1619250" cy="13906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/>
              <a:t>语音输入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2C20C42-1880-CF75-C49A-E80F1A822248}"/>
              </a:ext>
            </a:extLst>
          </p:cNvPr>
          <p:cNvSpPr/>
          <p:nvPr/>
        </p:nvSpPr>
        <p:spPr>
          <a:xfrm>
            <a:off x="3130550" y="2325797"/>
            <a:ext cx="1619250" cy="13906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发现分析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87E7B5A-1BAA-54CE-91A5-3EE2954BF396}"/>
              </a:ext>
            </a:extLst>
          </p:cNvPr>
          <p:cNvSpPr/>
          <p:nvPr/>
        </p:nvSpPr>
        <p:spPr>
          <a:xfrm>
            <a:off x="5276850" y="2325797"/>
            <a:ext cx="1619250" cy="13906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分析页输出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4CB9B4B8-666D-F225-2D4B-89E76BBE1418}"/>
              </a:ext>
            </a:extLst>
          </p:cNvPr>
          <p:cNvSpPr/>
          <p:nvPr/>
        </p:nvSpPr>
        <p:spPr>
          <a:xfrm>
            <a:off x="7423150" y="2325797"/>
            <a:ext cx="1619250" cy="13906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执行修复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E73D7A8-2293-6D23-E0DA-2D2776D7FA8E}"/>
              </a:ext>
            </a:extLst>
          </p:cNvPr>
          <p:cNvSpPr/>
          <p:nvPr/>
        </p:nvSpPr>
        <p:spPr>
          <a:xfrm>
            <a:off x="9569450" y="2325797"/>
            <a:ext cx="1619250" cy="13906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经验沉淀</a:t>
            </a: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92FAB2D4-65A5-A3EA-5503-32666F53BD0A}"/>
              </a:ext>
            </a:extLst>
          </p:cNvPr>
          <p:cNvSpPr/>
          <p:nvPr/>
        </p:nvSpPr>
        <p:spPr>
          <a:xfrm>
            <a:off x="2644775" y="2916347"/>
            <a:ext cx="444500" cy="2095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ECF610C5-A28F-0E36-3E53-9A08C33A63D4}"/>
              </a:ext>
            </a:extLst>
          </p:cNvPr>
          <p:cNvSpPr/>
          <p:nvPr/>
        </p:nvSpPr>
        <p:spPr>
          <a:xfrm>
            <a:off x="4791075" y="2916347"/>
            <a:ext cx="444500" cy="2095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A3F9ADCA-4D83-C14A-C7AB-760709B6DF73}"/>
              </a:ext>
            </a:extLst>
          </p:cNvPr>
          <p:cNvSpPr/>
          <p:nvPr/>
        </p:nvSpPr>
        <p:spPr>
          <a:xfrm>
            <a:off x="6937375" y="2916347"/>
            <a:ext cx="444500" cy="2095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1554FFD4-47A9-3355-AC92-04B7DA796024}"/>
              </a:ext>
            </a:extLst>
          </p:cNvPr>
          <p:cNvSpPr/>
          <p:nvPr/>
        </p:nvSpPr>
        <p:spPr>
          <a:xfrm>
            <a:off x="9083675" y="2916347"/>
            <a:ext cx="444500" cy="2095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C578B6E-0D70-C326-5953-8E15CC44BC35}"/>
              </a:ext>
            </a:extLst>
          </p:cNvPr>
          <p:cNvSpPr txBox="1"/>
          <p:nvPr/>
        </p:nvSpPr>
        <p:spPr>
          <a:xfrm>
            <a:off x="3476625" y="4238649"/>
            <a:ext cx="45449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solidFill>
                  <a:srgbClr val="6A7A9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经验沉淀 → </a:t>
            </a:r>
            <a:r>
              <a:rPr lang="zh-CN" altLang="en-US" sz="1600" b="0" i="0" dirty="0">
                <a:solidFill>
                  <a:srgbClr val="6A7A9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下次相似问题 → 自动匹配历史方案</a:t>
            </a:r>
            <a:endParaRPr lang="zh-CN" altLang="en-US" sz="16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4134C41-1D68-F150-328B-2A3A786A7C25}"/>
              </a:ext>
            </a:extLst>
          </p:cNvPr>
          <p:cNvSpPr txBox="1"/>
          <p:nvPr/>
        </p:nvSpPr>
        <p:spPr>
          <a:xfrm>
            <a:off x="3130550" y="4238649"/>
            <a:ext cx="444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6A7A94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↩️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47BA219-C326-648F-C67F-771A0DD67B0B}"/>
              </a:ext>
            </a:extLst>
          </p:cNvPr>
          <p:cNvSpPr txBox="1"/>
          <p:nvPr/>
        </p:nvSpPr>
        <p:spPr>
          <a:xfrm>
            <a:off x="1483447" y="2445207"/>
            <a:ext cx="527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C0D0E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📱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887BF04-3076-AE7A-6652-DAB26CCE01F6}"/>
              </a:ext>
            </a:extLst>
          </p:cNvPr>
          <p:cNvSpPr txBox="1"/>
          <p:nvPr/>
        </p:nvSpPr>
        <p:spPr>
          <a:xfrm>
            <a:off x="1328344" y="3221641"/>
            <a:ext cx="931062" cy="36499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手机</a:t>
            </a:r>
            <a:r>
              <a:rPr lang="en-US" altLang="zh-CN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电脑</a:t>
            </a:r>
            <a:endParaRPr lang="zh-CN" sz="1200" dirty="0">
              <a:solidFill>
                <a:schemeClr val="bg2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672637E-30D0-135D-B9EB-0AE191587C11}"/>
              </a:ext>
            </a:extLst>
          </p:cNvPr>
          <p:cNvSpPr txBox="1"/>
          <p:nvPr/>
        </p:nvSpPr>
        <p:spPr>
          <a:xfrm>
            <a:off x="3706936" y="2408348"/>
            <a:ext cx="5710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C0D0E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🔍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34419C1-A58D-8E19-B24D-D72C6BA834C7}"/>
              </a:ext>
            </a:extLst>
          </p:cNvPr>
          <p:cNvSpPr txBox="1"/>
          <p:nvPr/>
        </p:nvSpPr>
        <p:spPr>
          <a:xfrm>
            <a:off x="3526927" y="3221641"/>
            <a:ext cx="931062" cy="36499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endParaRPr lang="zh-CN" sz="1200" dirty="0">
              <a:solidFill>
                <a:schemeClr val="bg2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F87DFC1-4920-CF7B-1FCE-B5BBE3F98C0D}"/>
              </a:ext>
            </a:extLst>
          </p:cNvPr>
          <p:cNvSpPr txBox="1"/>
          <p:nvPr/>
        </p:nvSpPr>
        <p:spPr>
          <a:xfrm>
            <a:off x="5818664" y="2445207"/>
            <a:ext cx="535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C0D0E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📄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5A870F-9385-A253-7FD6-413EE07F447B}"/>
              </a:ext>
            </a:extLst>
          </p:cNvPr>
          <p:cNvSpPr txBox="1"/>
          <p:nvPr/>
        </p:nvSpPr>
        <p:spPr>
          <a:xfrm>
            <a:off x="8021590" y="2445207"/>
            <a:ext cx="535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C0D0E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⚡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953C777-8772-2C70-9A06-5DD842DDCC43}"/>
              </a:ext>
            </a:extLst>
          </p:cNvPr>
          <p:cNvSpPr txBox="1"/>
          <p:nvPr/>
        </p:nvSpPr>
        <p:spPr>
          <a:xfrm>
            <a:off x="10111264" y="2445207"/>
            <a:ext cx="535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C0D0E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🧠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BE836F2-85EB-3BC0-4575-619BE46A6CA0}"/>
              </a:ext>
            </a:extLst>
          </p:cNvPr>
          <p:cNvSpPr txBox="1"/>
          <p:nvPr/>
        </p:nvSpPr>
        <p:spPr>
          <a:xfrm>
            <a:off x="5471339" y="3217331"/>
            <a:ext cx="1230270" cy="36499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HTML</a:t>
            </a:r>
            <a:r>
              <a:rPr lang="zh-CN" altLang="en-US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图文并茂</a:t>
            </a:r>
            <a:endParaRPr lang="zh-CN" sz="1200" dirty="0">
              <a:solidFill>
                <a:schemeClr val="bg2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8BE288B-51F3-22BA-F179-86B7B1E11E84}"/>
              </a:ext>
            </a:extLst>
          </p:cNvPr>
          <p:cNvSpPr txBox="1"/>
          <p:nvPr/>
        </p:nvSpPr>
        <p:spPr>
          <a:xfrm>
            <a:off x="7626801" y="3217331"/>
            <a:ext cx="1230270" cy="36499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运维</a:t>
            </a:r>
            <a:r>
              <a:rPr lang="en-US" altLang="zh-CN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Agent</a:t>
            </a:r>
            <a:endParaRPr lang="zh-CN" sz="1200" dirty="0">
              <a:solidFill>
                <a:schemeClr val="bg2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654EB73-3554-9683-C5F4-8AF418F1B285}"/>
              </a:ext>
            </a:extLst>
          </p:cNvPr>
          <p:cNvSpPr txBox="1"/>
          <p:nvPr/>
        </p:nvSpPr>
        <p:spPr>
          <a:xfrm>
            <a:off x="9763939" y="3221640"/>
            <a:ext cx="1230270" cy="36499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知识库</a:t>
            </a:r>
            <a:endParaRPr lang="zh-CN" sz="1200" dirty="0">
              <a:solidFill>
                <a:schemeClr val="bg2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E183E6A-2319-1630-8D03-7A9679643AC5}"/>
              </a:ext>
            </a:extLst>
          </p:cNvPr>
          <p:cNvSpPr txBox="1"/>
          <p:nvPr/>
        </p:nvSpPr>
        <p:spPr>
          <a:xfrm>
            <a:off x="3273640" y="3217331"/>
            <a:ext cx="1397249" cy="36499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+ </a:t>
            </a:r>
            <a:r>
              <a:rPr lang="zh-CN" altLang="en-US" sz="1200" dirty="0">
                <a:solidFill>
                  <a:schemeClr val="bg2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历史经验匹配</a:t>
            </a:r>
            <a:endParaRPr lang="zh-CN" sz="1200" dirty="0">
              <a:solidFill>
                <a:schemeClr val="bg2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828899F-2E32-FD36-06DF-1FE2282D87FE}"/>
              </a:ext>
            </a:extLst>
          </p:cNvPr>
          <p:cNvSpPr txBox="1"/>
          <p:nvPr/>
        </p:nvSpPr>
        <p:spPr>
          <a:xfrm>
            <a:off x="984250" y="5065501"/>
            <a:ext cx="102044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多入口 </a:t>
            </a:r>
            <a:r>
              <a:rPr lang="en-US" altLang="zh-CN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· </a:t>
            </a:r>
            <a:r>
              <a:rPr lang="zh-CN" altLang="en-US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语音驱动 </a:t>
            </a:r>
            <a:r>
              <a:rPr lang="en-US" altLang="zh-CN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· </a:t>
            </a:r>
            <a:r>
              <a:rPr lang="zh-CN" altLang="en-US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可视化分析页 </a:t>
            </a:r>
            <a:r>
              <a:rPr lang="en-US" altLang="zh-CN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· </a:t>
            </a:r>
            <a:r>
              <a:rPr lang="zh-CN" altLang="en-US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智能闭环 </a:t>
            </a:r>
            <a:r>
              <a:rPr lang="en-US" altLang="zh-CN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= </a:t>
            </a:r>
            <a:r>
              <a:rPr lang="zh-CN" altLang="en-US" b="1" i="0" dirty="0">
                <a:solidFill>
                  <a:srgbClr val="FFCC66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随时随地、开口即运维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9028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3A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754BD0-B296-D7D4-1A63-F241F7FAB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3AA028-BA7E-2085-4D6D-7807824E5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</a:t>
            </a:r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  <a:cs typeface="Amazon Ember" panose="020B0603020204020204" pitchFamily="34" charset="0"/>
              </a:rPr>
              <a:t>整体架构</a:t>
            </a:r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0E395B1F-FBA5-4E08-A043-44C03CE2142B}"/>
              </a:ext>
            </a:extLst>
          </p:cNvPr>
          <p:cNvSpPr/>
          <p:nvPr/>
        </p:nvSpPr>
        <p:spPr>
          <a:xfrm>
            <a:off x="1649524" y="889485"/>
            <a:ext cx="10015899" cy="806388"/>
          </a:xfrm>
          <a:prstGeom prst="roundRect">
            <a:avLst>
              <a:gd name="adj" fmla="val 5333"/>
            </a:avLst>
          </a:prstGeom>
          <a:solidFill>
            <a:srgbClr val="0F1624"/>
          </a:solidFill>
          <a:ln w="15240">
            <a:solidFill>
              <a:srgbClr val="36B37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7AFAEB43-B89C-7141-EC49-040BB0E0A994}"/>
              </a:ext>
            </a:extLst>
          </p:cNvPr>
          <p:cNvSpPr/>
          <p:nvPr/>
        </p:nvSpPr>
        <p:spPr>
          <a:xfrm>
            <a:off x="1864920" y="997003"/>
            <a:ext cx="3446331" cy="591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 err="1">
                <a:solidFill>
                  <a:srgbClr val="36B37E"/>
                </a:solidFill>
              </a:rPr>
              <a:t>交互层（前端入口</a:t>
            </a:r>
            <a:r>
              <a:rPr lang="en-US" sz="1200" b="1" dirty="0">
                <a:solidFill>
                  <a:srgbClr val="36B37E"/>
                </a:solidFill>
              </a:rPr>
              <a:t>）</a:t>
            </a:r>
            <a:endParaRPr lang="en-US" sz="1200" dirty="0"/>
          </a:p>
          <a:p>
            <a:pPr marL="0" indent="0">
              <a:buNone/>
            </a:pPr>
            <a:r>
              <a:rPr lang="en-US" sz="900" dirty="0" err="1">
                <a:solidFill>
                  <a:srgbClr val="8899AA"/>
                </a:solidFill>
              </a:rPr>
              <a:t>输入：语音</a:t>
            </a:r>
            <a:r>
              <a:rPr lang="en-US" sz="900" dirty="0">
                <a:solidFill>
                  <a:srgbClr val="8899AA"/>
                </a:solidFill>
              </a:rPr>
              <a:t>/文字 ｜ 输出：HTML分析页 + 语音回复</a:t>
            </a:r>
            <a:endParaRPr lang="en-US" sz="12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B8EA6BD7-9E04-3BF5-E089-AE5D63CC0578}"/>
              </a:ext>
            </a:extLst>
          </p:cNvPr>
          <p:cNvSpPr/>
          <p:nvPr/>
        </p:nvSpPr>
        <p:spPr>
          <a:xfrm>
            <a:off x="5365100" y="1104522"/>
            <a:ext cx="5923381" cy="376315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altLang="zh-CN" sz="11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mazon Quick </a:t>
            </a:r>
            <a:r>
              <a:rPr lang="en-US" sz="11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企微 / </a:t>
            </a:r>
            <a:r>
              <a:rPr lang="en-US" sz="1100" dirty="0" err="1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飞书</a:t>
            </a:r>
            <a:r>
              <a:rPr lang="en-US" sz="11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Bot</a:t>
            </a:r>
            <a:endParaRPr lang="en-US" sz="1100" dirty="0"/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03DEE2F0-C36D-95FA-7E3F-E049A3DC6D80}"/>
              </a:ext>
            </a:extLst>
          </p:cNvPr>
          <p:cNvSpPr/>
          <p:nvPr/>
        </p:nvSpPr>
        <p:spPr>
          <a:xfrm>
            <a:off x="1649524" y="2104443"/>
            <a:ext cx="10015899" cy="1290221"/>
          </a:xfrm>
          <a:prstGeom prst="roundRect">
            <a:avLst>
              <a:gd name="adj" fmla="val 3333"/>
            </a:avLst>
          </a:prstGeom>
          <a:solidFill>
            <a:srgbClr val="0F1624"/>
          </a:solidFill>
          <a:ln w="1524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81AB4905-549B-61FD-A414-294B5B9B65AB}"/>
              </a:ext>
            </a:extLst>
          </p:cNvPr>
          <p:cNvSpPr/>
          <p:nvPr/>
        </p:nvSpPr>
        <p:spPr>
          <a:xfrm>
            <a:off x="1864920" y="2190458"/>
            <a:ext cx="3446331" cy="483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FF9900"/>
                </a:solidFill>
              </a:rPr>
              <a:t>AI 编排层（后端）</a:t>
            </a:r>
            <a:endParaRPr lang="en-US" sz="1200" dirty="0"/>
          </a:p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</a:rPr>
              <a:t>Lambda 入口 + 多 Agent 系统</a:t>
            </a:r>
            <a:endParaRPr lang="en-US" sz="12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80BBE616-7190-9000-7E70-47EA156426C9}"/>
              </a:ext>
            </a:extLst>
          </p:cNvPr>
          <p:cNvSpPr/>
          <p:nvPr/>
        </p:nvSpPr>
        <p:spPr>
          <a:xfrm>
            <a:off x="5365100" y="2327200"/>
            <a:ext cx="5923381" cy="376315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Lambda × 4  ·  Strands SDK  ·  Nova Sonic  ·  Bedrock LLM  · </a:t>
            </a:r>
            <a:r>
              <a:rPr lang="en-US" altLang="zh-CN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Bedrock Knowledge ·  </a:t>
            </a:r>
            <a:r>
              <a:rPr lang="en-US" sz="1000" dirty="0" err="1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DevOps Agent</a:t>
            </a:r>
            <a:endParaRPr lang="en-US" sz="1000" dirty="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05B88313-1939-2560-A8FA-CF305FA3E012}"/>
              </a:ext>
            </a:extLst>
          </p:cNvPr>
          <p:cNvSpPr/>
          <p:nvPr/>
        </p:nvSpPr>
        <p:spPr>
          <a:xfrm>
            <a:off x="2295711" y="2803313"/>
            <a:ext cx="1400072" cy="483832"/>
          </a:xfrm>
          <a:prstGeom prst="roundRect">
            <a:avLst>
              <a:gd name="adj" fmla="val 7895"/>
            </a:avLst>
          </a:prstGeom>
          <a:solidFill>
            <a:srgbClr val="2A1F0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820BCE42-EABC-B403-01DE-4FC42AA8C5E1}"/>
              </a:ext>
            </a:extLst>
          </p:cNvPr>
          <p:cNvSpPr/>
          <p:nvPr/>
        </p:nvSpPr>
        <p:spPr>
          <a:xfrm>
            <a:off x="2295711" y="2803313"/>
            <a:ext cx="1400072" cy="408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Router</a:t>
            </a:r>
            <a:endParaRPr lang="en-US" sz="1000" dirty="0"/>
          </a:p>
        </p:txBody>
      </p:sp>
      <p:sp>
        <p:nvSpPr>
          <p:cNvPr id="26" name="Shape 11">
            <a:extLst>
              <a:ext uri="{FF2B5EF4-FFF2-40B4-BE49-F238E27FC236}">
                <a16:creationId xmlns:a16="http://schemas.microsoft.com/office/drawing/2014/main" id="{9B8C80A5-0F0E-8E3A-A5C1-DB885A91DCCB}"/>
              </a:ext>
            </a:extLst>
          </p:cNvPr>
          <p:cNvSpPr/>
          <p:nvPr/>
        </p:nvSpPr>
        <p:spPr>
          <a:xfrm>
            <a:off x="3781941" y="2803313"/>
            <a:ext cx="1400071" cy="487860"/>
          </a:xfrm>
          <a:prstGeom prst="roundRect">
            <a:avLst>
              <a:gd name="adj" fmla="val 7895"/>
            </a:avLst>
          </a:prstGeom>
          <a:solidFill>
            <a:srgbClr val="2A1F0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2582D25F-D63F-314C-D26E-DD738F45677C}"/>
              </a:ext>
            </a:extLst>
          </p:cNvPr>
          <p:cNvSpPr/>
          <p:nvPr/>
        </p:nvSpPr>
        <p:spPr>
          <a:xfrm>
            <a:off x="3781941" y="2803313"/>
            <a:ext cx="1400072" cy="408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F2193148-9D9D-F087-F119-579126235B3B}"/>
              </a:ext>
            </a:extLst>
          </p:cNvPr>
          <p:cNvSpPr/>
          <p:nvPr/>
        </p:nvSpPr>
        <p:spPr>
          <a:xfrm>
            <a:off x="5268171" y="2803312"/>
            <a:ext cx="1400071" cy="487859"/>
          </a:xfrm>
          <a:prstGeom prst="roundRect">
            <a:avLst>
              <a:gd name="adj" fmla="val 7895"/>
            </a:avLst>
          </a:prstGeom>
          <a:solidFill>
            <a:srgbClr val="2A1F0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E0A5AFAF-BC1B-35B1-7E24-ED37C44B2A18}"/>
              </a:ext>
            </a:extLst>
          </p:cNvPr>
          <p:cNvSpPr/>
          <p:nvPr/>
        </p:nvSpPr>
        <p:spPr>
          <a:xfrm>
            <a:off x="5268171" y="2803313"/>
            <a:ext cx="1400072" cy="408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30" name="Shape 15">
            <a:extLst>
              <a:ext uri="{FF2B5EF4-FFF2-40B4-BE49-F238E27FC236}">
                <a16:creationId xmlns:a16="http://schemas.microsoft.com/office/drawing/2014/main" id="{C17772B0-4DB5-4B36-9282-65B45C3F44E1}"/>
              </a:ext>
            </a:extLst>
          </p:cNvPr>
          <p:cNvSpPr/>
          <p:nvPr/>
        </p:nvSpPr>
        <p:spPr>
          <a:xfrm>
            <a:off x="6754402" y="2803313"/>
            <a:ext cx="1400071" cy="483832"/>
          </a:xfrm>
          <a:prstGeom prst="roundRect">
            <a:avLst>
              <a:gd name="adj" fmla="val 7895"/>
            </a:avLst>
          </a:prstGeom>
          <a:solidFill>
            <a:srgbClr val="2A1F0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9780571D-4B49-0411-D83F-11E9D8F550C8}"/>
              </a:ext>
            </a:extLst>
          </p:cNvPr>
          <p:cNvSpPr/>
          <p:nvPr/>
        </p:nvSpPr>
        <p:spPr>
          <a:xfrm>
            <a:off x="6754402" y="2803313"/>
            <a:ext cx="1400072" cy="408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BDA2B5D8-334A-D1E5-5B14-0F1830ADE00E}"/>
              </a:ext>
            </a:extLst>
          </p:cNvPr>
          <p:cNvSpPr/>
          <p:nvPr/>
        </p:nvSpPr>
        <p:spPr>
          <a:xfrm>
            <a:off x="8240632" y="2803312"/>
            <a:ext cx="1400071" cy="481371"/>
          </a:xfrm>
          <a:prstGeom prst="roundRect">
            <a:avLst>
              <a:gd name="adj" fmla="val 7895"/>
            </a:avLst>
          </a:prstGeom>
          <a:solidFill>
            <a:srgbClr val="2A1F0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6A12E56A-29EE-CA55-3E2A-6D3F1B12443E}"/>
              </a:ext>
            </a:extLst>
          </p:cNvPr>
          <p:cNvSpPr/>
          <p:nvPr/>
        </p:nvSpPr>
        <p:spPr>
          <a:xfrm>
            <a:off x="8240632" y="2803313"/>
            <a:ext cx="1400072" cy="408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</a:t>
            </a:r>
            <a:endParaRPr lang="en-US" sz="1000" dirty="0"/>
          </a:p>
        </p:txBody>
      </p:sp>
      <p:sp>
        <p:nvSpPr>
          <p:cNvPr id="34" name="Shape 19">
            <a:extLst>
              <a:ext uri="{FF2B5EF4-FFF2-40B4-BE49-F238E27FC236}">
                <a16:creationId xmlns:a16="http://schemas.microsoft.com/office/drawing/2014/main" id="{FC733C50-5894-2DD7-882E-400DCB03E671}"/>
              </a:ext>
            </a:extLst>
          </p:cNvPr>
          <p:cNvSpPr/>
          <p:nvPr/>
        </p:nvSpPr>
        <p:spPr>
          <a:xfrm>
            <a:off x="9726861" y="2803313"/>
            <a:ext cx="1453921" cy="487858"/>
          </a:xfrm>
          <a:prstGeom prst="roundRect">
            <a:avLst>
              <a:gd name="adj" fmla="val 7895"/>
            </a:avLst>
          </a:prstGeom>
          <a:solidFill>
            <a:srgbClr val="2A1F0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20">
            <a:extLst>
              <a:ext uri="{FF2B5EF4-FFF2-40B4-BE49-F238E27FC236}">
                <a16:creationId xmlns:a16="http://schemas.microsoft.com/office/drawing/2014/main" id="{DAB089BC-268F-B065-E65D-B11733A3024A}"/>
              </a:ext>
            </a:extLst>
          </p:cNvPr>
          <p:cNvSpPr/>
          <p:nvPr/>
        </p:nvSpPr>
        <p:spPr>
          <a:xfrm>
            <a:off x="9726862" y="2803313"/>
            <a:ext cx="1400072" cy="408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Report</a:t>
            </a:r>
            <a:endParaRPr lang="en-US" sz="1000" dirty="0"/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2ED7150C-C0D5-A656-A000-232740E77662}"/>
              </a:ext>
            </a:extLst>
          </p:cNvPr>
          <p:cNvSpPr/>
          <p:nvPr/>
        </p:nvSpPr>
        <p:spPr>
          <a:xfrm>
            <a:off x="1649524" y="3781731"/>
            <a:ext cx="10015899" cy="913907"/>
          </a:xfrm>
          <a:prstGeom prst="roundRect">
            <a:avLst>
              <a:gd name="adj" fmla="val 4706"/>
            </a:avLst>
          </a:prstGeom>
          <a:solidFill>
            <a:srgbClr val="0F1624"/>
          </a:solidFill>
          <a:ln w="15240">
            <a:solidFill>
              <a:srgbClr val="4D9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F2315A11-8E28-056B-A739-163CE4644EBA}"/>
              </a:ext>
            </a:extLst>
          </p:cNvPr>
          <p:cNvSpPr/>
          <p:nvPr/>
        </p:nvSpPr>
        <p:spPr>
          <a:xfrm>
            <a:off x="1864920" y="3889249"/>
            <a:ext cx="3769424" cy="591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4D9FFF"/>
                </a:solidFill>
              </a:rPr>
              <a:t>AWS 服务层</a:t>
            </a:r>
            <a:endParaRPr lang="en-US" sz="1200" dirty="0"/>
          </a:p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</a:rPr>
              <a:t>分析 / 检测 / 执行 / 追踪 / </a:t>
            </a:r>
            <a:r>
              <a:rPr lang="en-US" sz="900" dirty="0" err="1">
                <a:solidFill>
                  <a:srgbClr val="8899AA"/>
                </a:solidFill>
              </a:rPr>
              <a:t>推送</a:t>
            </a:r>
            <a:endParaRPr lang="en-US" sz="1200" dirty="0"/>
          </a:p>
        </p:txBody>
      </p:sp>
      <p:sp>
        <p:nvSpPr>
          <p:cNvPr id="38" name="Text 24">
            <a:extLst>
              <a:ext uri="{FF2B5EF4-FFF2-40B4-BE49-F238E27FC236}">
                <a16:creationId xmlns:a16="http://schemas.microsoft.com/office/drawing/2014/main" id="{43CC60B2-E113-1B43-D648-E9AB64C8403D}"/>
              </a:ext>
            </a:extLst>
          </p:cNvPr>
          <p:cNvSpPr/>
          <p:nvPr/>
        </p:nvSpPr>
        <p:spPr>
          <a:xfrm>
            <a:off x="5365100" y="3889249"/>
            <a:ext cx="5923381" cy="64511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00" dirty="0">
                <a:solidFill>
                  <a:srgbClr val="A0C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DevOps Agent (引擎)  ·  CloudWatch  ·  EventBridge  ·  SNS</a:t>
            </a:r>
            <a:endParaRPr lang="en-US" sz="1100" dirty="0"/>
          </a:p>
        </p:txBody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1C178F74-4A58-45F5-FC3C-A4A1DA0598C4}"/>
              </a:ext>
            </a:extLst>
          </p:cNvPr>
          <p:cNvSpPr/>
          <p:nvPr/>
        </p:nvSpPr>
        <p:spPr>
          <a:xfrm>
            <a:off x="1649524" y="5050449"/>
            <a:ext cx="10015899" cy="591351"/>
          </a:xfrm>
          <a:prstGeom prst="roundRect">
            <a:avLst>
              <a:gd name="adj" fmla="val 7273"/>
            </a:avLst>
          </a:prstGeom>
          <a:solidFill>
            <a:srgbClr val="0F1624"/>
          </a:solidFill>
          <a:ln w="15240">
            <a:solidFill>
              <a:srgbClr val="B050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27">
            <a:extLst>
              <a:ext uri="{FF2B5EF4-FFF2-40B4-BE49-F238E27FC236}">
                <a16:creationId xmlns:a16="http://schemas.microsoft.com/office/drawing/2014/main" id="{BCBFA5AC-B82B-74F8-490E-8077290B12F2}"/>
              </a:ext>
            </a:extLst>
          </p:cNvPr>
          <p:cNvSpPr/>
          <p:nvPr/>
        </p:nvSpPr>
        <p:spPr>
          <a:xfrm>
            <a:off x="1864920" y="5157967"/>
            <a:ext cx="1615468" cy="376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B050FF"/>
                </a:solidFill>
              </a:rPr>
              <a:t>存储层</a:t>
            </a:r>
            <a:endParaRPr lang="en-US" sz="1200" dirty="0"/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8EAC7599-E31E-3042-7E15-F945B0E3393D}"/>
              </a:ext>
            </a:extLst>
          </p:cNvPr>
          <p:cNvSpPr/>
          <p:nvPr/>
        </p:nvSpPr>
        <p:spPr>
          <a:xfrm>
            <a:off x="5365100" y="5157967"/>
            <a:ext cx="5923381" cy="376315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S3（静态 HTML 分析页 + 事件报告）</a:t>
            </a:r>
            <a:endParaRPr lang="en-US" sz="1000" dirty="0"/>
          </a:p>
        </p:txBody>
      </p:sp>
      <p:sp>
        <p:nvSpPr>
          <p:cNvPr id="45" name="箭头: 右 44">
            <a:extLst>
              <a:ext uri="{FF2B5EF4-FFF2-40B4-BE49-F238E27FC236}">
                <a16:creationId xmlns:a16="http://schemas.microsoft.com/office/drawing/2014/main" id="{37456084-F91E-7B43-8AA0-BE910931BDC0}"/>
              </a:ext>
            </a:extLst>
          </p:cNvPr>
          <p:cNvSpPr/>
          <p:nvPr/>
        </p:nvSpPr>
        <p:spPr>
          <a:xfrm>
            <a:off x="798237" y="1140517"/>
            <a:ext cx="474345" cy="25508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5212F0B0-891D-1F1B-2FD2-BB46154177BF}"/>
              </a:ext>
            </a:extLst>
          </p:cNvPr>
          <p:cNvSpPr/>
          <p:nvPr/>
        </p:nvSpPr>
        <p:spPr>
          <a:xfrm rot="10800000">
            <a:off x="830309" y="5218584"/>
            <a:ext cx="474345" cy="255080"/>
          </a:xfrm>
          <a:prstGeom prst="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7069871-DE3B-2CBE-DDE4-3BEC28AB3431}"/>
              </a:ext>
            </a:extLst>
          </p:cNvPr>
          <p:cNvSpPr txBox="1"/>
          <p:nvPr/>
        </p:nvSpPr>
        <p:spPr>
          <a:xfrm>
            <a:off x="1649524" y="1718983"/>
            <a:ext cx="100158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0" i="0" dirty="0">
                <a:solidFill>
                  <a:srgbClr val="6A7A94"/>
                </a:solidFill>
                <a:effectLst/>
                <a:latin typeface="Calibri" panose="020F0502020204030204" pitchFamily="34" charset="0"/>
              </a:rPr>
              <a:t>API Gateway (REST) </a:t>
            </a:r>
            <a:endParaRPr lang="zh-CN" altLang="en-US" sz="14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DBC35ECA-B09E-AB06-979F-C01CCC849633}"/>
              </a:ext>
            </a:extLst>
          </p:cNvPr>
          <p:cNvSpPr txBox="1"/>
          <p:nvPr/>
        </p:nvSpPr>
        <p:spPr>
          <a:xfrm>
            <a:off x="1649521" y="3433369"/>
            <a:ext cx="100158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b="0" i="0" dirty="0">
                <a:solidFill>
                  <a:srgbClr val="6A7A94"/>
                </a:solidFill>
                <a:effectLst/>
                <a:latin typeface="Calibri" panose="020F0502020204030204" pitchFamily="34" charset="0"/>
              </a:rPr>
              <a:t>调用 </a:t>
            </a:r>
            <a:r>
              <a:rPr lang="en-US" altLang="zh-CN" sz="1400" b="0" i="0" dirty="0">
                <a:solidFill>
                  <a:srgbClr val="6A7A94"/>
                </a:solidFill>
                <a:effectLst/>
                <a:latin typeface="Calibri" panose="020F0502020204030204" pitchFamily="34" charset="0"/>
              </a:rPr>
              <a:t>AWS </a:t>
            </a:r>
            <a:r>
              <a:rPr lang="zh-CN" altLang="en-US" sz="1400" b="0" i="0" dirty="0">
                <a:solidFill>
                  <a:srgbClr val="6A7A94"/>
                </a:solidFill>
                <a:effectLst/>
                <a:latin typeface="Calibri" panose="020F0502020204030204" pitchFamily="34" charset="0"/>
              </a:rPr>
              <a:t>服务</a:t>
            </a:r>
            <a:endParaRPr lang="zh-CN" altLang="en-US" sz="1400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FD2E5A1F-7A6D-E118-879F-45640961B9CF}"/>
              </a:ext>
            </a:extLst>
          </p:cNvPr>
          <p:cNvSpPr txBox="1"/>
          <p:nvPr/>
        </p:nvSpPr>
        <p:spPr>
          <a:xfrm>
            <a:off x="1649522" y="4695638"/>
            <a:ext cx="100158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b="0" i="0" dirty="0">
                <a:solidFill>
                  <a:srgbClr val="6A7A94"/>
                </a:solidFill>
                <a:effectLst/>
                <a:latin typeface="Calibri" panose="020F0502020204030204" pitchFamily="34" charset="0"/>
              </a:rPr>
              <a:t>存储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2C0D08F-3042-DC26-C0DA-B77897B7DBB8}"/>
              </a:ext>
            </a:extLst>
          </p:cNvPr>
          <p:cNvSpPr txBox="1"/>
          <p:nvPr/>
        </p:nvSpPr>
        <p:spPr>
          <a:xfrm>
            <a:off x="2672654" y="3086887"/>
            <a:ext cx="773407" cy="234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00" b="0" i="0" dirty="0">
                <a:solidFill>
                  <a:srgbClr val="8899AA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意图</a:t>
            </a:r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识别</a:t>
            </a:r>
            <a:endParaRPr lang="zh-CN" altLang="en-US" sz="9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5572374-1EBE-3C0E-29FE-3913A80A7FE9}"/>
              </a:ext>
            </a:extLst>
          </p:cNvPr>
          <p:cNvSpPr txBox="1"/>
          <p:nvPr/>
        </p:nvSpPr>
        <p:spPr>
          <a:xfrm>
            <a:off x="3941399" y="3086648"/>
            <a:ext cx="124061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</a:t>
            </a:r>
            <a:r>
              <a:rPr lang="en-US" altLang="zh-CN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 发现</a:t>
            </a:r>
            <a:endParaRPr lang="zh-CN" altLang="en-US" sz="900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701EE9E-E6D4-D677-C66D-903BA679173B}"/>
              </a:ext>
            </a:extLst>
          </p:cNvPr>
          <p:cNvSpPr txBox="1"/>
          <p:nvPr/>
        </p:nvSpPr>
        <p:spPr>
          <a:xfrm>
            <a:off x="5649382" y="3092595"/>
            <a:ext cx="773407" cy="234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根因分析</a:t>
            </a:r>
            <a:endParaRPr lang="zh-CN" altLang="en-US" sz="9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13A2B321-0B9C-4019-7090-72F9DB89422E}"/>
              </a:ext>
            </a:extLst>
          </p:cNvPr>
          <p:cNvSpPr txBox="1"/>
          <p:nvPr/>
        </p:nvSpPr>
        <p:spPr>
          <a:xfrm>
            <a:off x="7128984" y="3082504"/>
            <a:ext cx="773407" cy="234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执行修复</a:t>
            </a:r>
            <a:endParaRPr lang="zh-CN" altLang="en-US" sz="900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8943EA0-15BD-7983-D4DC-B4A072569675}"/>
              </a:ext>
            </a:extLst>
          </p:cNvPr>
          <p:cNvSpPr txBox="1"/>
          <p:nvPr/>
        </p:nvSpPr>
        <p:spPr>
          <a:xfrm>
            <a:off x="8528048" y="3077235"/>
            <a:ext cx="10321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经验检索</a:t>
            </a:r>
            <a:r>
              <a:rPr lang="en-US" altLang="zh-CN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沉淀</a:t>
            </a:r>
            <a:endParaRPr lang="zh-CN" altLang="en-US" sz="900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C1DD934-480F-8162-555D-8AB57038668A}"/>
              </a:ext>
            </a:extLst>
          </p:cNvPr>
          <p:cNvSpPr txBox="1"/>
          <p:nvPr/>
        </p:nvSpPr>
        <p:spPr>
          <a:xfrm>
            <a:off x="9995234" y="3077235"/>
            <a:ext cx="10944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分析页</a:t>
            </a:r>
            <a:r>
              <a:rPr lang="en-US" altLang="zh-CN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900" dirty="0">
                <a:solidFill>
                  <a:srgbClr val="8899A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报告页</a:t>
            </a:r>
            <a:endParaRPr lang="zh-CN" altLang="en-US" sz="900" dirty="0"/>
          </a:p>
        </p:txBody>
      </p:sp>
    </p:spTree>
    <p:extLst>
      <p:ext uri="{BB962C8B-B14F-4D97-AF65-F5344CB8AC3E}">
        <p14:creationId xmlns:p14="http://schemas.microsoft.com/office/powerpoint/2010/main" val="394544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0504B-10E9-A5CC-3E56-FEC5444E6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9DAFD8-4B8F-08EB-0C56-AF1389A97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  <a:cs typeface="Amazon Ember" panose="020B0603020204020204" pitchFamily="34" charset="0"/>
              </a:rPr>
              <a:t>    核心能力：</a:t>
            </a:r>
            <a:r>
              <a:rPr lang="zh-CN" altLang="en-US" dirty="0">
                <a:solidFill>
                  <a:srgbClr val="FFFFFF"/>
                </a:solidFill>
                <a:latin typeface="等线" panose="02010600030101010101" pitchFamily="2" charset="-122"/>
                <a:ea typeface="等线" panose="02010600030101010101" pitchFamily="2" charset="-122"/>
                <a:cs typeface="Calibri" pitchFamily="34" charset="-120"/>
              </a:rPr>
              <a:t>语音交互 </a:t>
            </a:r>
            <a:r>
              <a:rPr lang="en-US" altLang="zh-CN" dirty="0">
                <a:solidFill>
                  <a:srgbClr val="FFFFFF"/>
                </a:solidFill>
                <a:latin typeface="等线" panose="02010600030101010101" pitchFamily="2" charset="-122"/>
                <a:ea typeface="等线" panose="02010600030101010101" pitchFamily="2" charset="-122"/>
                <a:cs typeface="Calibri" pitchFamily="34" charset="-120"/>
              </a:rPr>
              <a:t>+ </a:t>
            </a:r>
            <a:r>
              <a:rPr lang="zh-CN" altLang="en-US" dirty="0">
                <a:solidFill>
                  <a:srgbClr val="FFFFFF"/>
                </a:solidFill>
                <a:latin typeface="等线" panose="02010600030101010101" pitchFamily="2" charset="-122"/>
                <a:ea typeface="等线" panose="02010600030101010101" pitchFamily="2" charset="-122"/>
                <a:cs typeface="Calibri" pitchFamily="34" charset="-120"/>
              </a:rPr>
              <a:t>移动运维</a:t>
            </a:r>
            <a:endParaRPr lang="zh-CN" altLang="en-US" dirty="0">
              <a:latin typeface="等线" panose="02010600030101010101" pitchFamily="2" charset="-122"/>
              <a:ea typeface="等线" panose="02010600030101010101" pitchFamily="2" charset="-122"/>
              <a:cs typeface="Amazon Ember" panose="020B0603020204020204" pitchFamily="34" charset="0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DE3B891-B2D7-0BBB-1CDF-035B6C887206}"/>
              </a:ext>
            </a:extLst>
          </p:cNvPr>
          <p:cNvSpPr/>
          <p:nvPr/>
        </p:nvSpPr>
        <p:spPr>
          <a:xfrm>
            <a:off x="18479" y="1088566"/>
            <a:ext cx="12192000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Amazon Nova Sonic + Q</a:t>
            </a:r>
            <a:r>
              <a:rPr lang="en-US" altLang="zh-CN" sz="1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uick(</a:t>
            </a:r>
            <a:r>
              <a:rPr lang="en-US" sz="1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MCP)   + IM Bot</a:t>
            </a:r>
            <a:r>
              <a:rPr lang="zh-CN" altLang="en-US" sz="1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altLang="zh-CN" sz="1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Webhook</a:t>
            </a:r>
            <a:r>
              <a:rPr lang="zh-CN" altLang="en-US" sz="1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E5C6E70-2786-F67C-336C-4698D7035C6D}"/>
              </a:ext>
            </a:extLst>
          </p:cNvPr>
          <p:cNvSpPr/>
          <p:nvPr/>
        </p:nvSpPr>
        <p:spPr>
          <a:xfrm>
            <a:off x="883954" y="2010140"/>
            <a:ext cx="4096236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Nova Sonic</a:t>
            </a:r>
            <a:endParaRPr lang="en-US" sz="1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AC02555-33F7-5C29-FD29-CF15331DBB0E}"/>
              </a:ext>
            </a:extLst>
          </p:cNvPr>
          <p:cNvSpPr/>
          <p:nvPr/>
        </p:nvSpPr>
        <p:spPr>
          <a:xfrm>
            <a:off x="1003659" y="2421208"/>
            <a:ext cx="3144849" cy="363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Speech-to-Speech 端到端模型</a:t>
            </a:r>
            <a:endParaRPr lang="en-US" sz="1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EDA0C1A-F9FD-74A0-3854-055E210B749D}"/>
              </a:ext>
            </a:extLst>
          </p:cNvPr>
          <p:cNvSpPr/>
          <p:nvPr/>
        </p:nvSpPr>
        <p:spPr>
          <a:xfrm>
            <a:off x="1003659" y="2833155"/>
            <a:ext cx="2753270" cy="363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支持中英文混合(</a:t>
            </a:r>
            <a:r>
              <a:rPr lang="zh-CN" altLang="en-US" sz="12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实测支持</a:t>
            </a:r>
            <a:r>
              <a:rPr lang="en-US" sz="12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</a:t>
            </a:r>
            <a:endParaRPr lang="en-US" sz="1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12B2D56-A137-9B74-C675-D651EEA25D60}"/>
              </a:ext>
            </a:extLst>
          </p:cNvPr>
          <p:cNvSpPr/>
          <p:nvPr/>
        </p:nvSpPr>
        <p:spPr>
          <a:xfrm>
            <a:off x="911348" y="3553410"/>
            <a:ext cx="3691035" cy="125951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</a:rPr>
              <a:t>输出</a:t>
            </a:r>
            <a:endParaRPr lang="en-US" altLang="zh-CN" sz="1400" b="1" dirty="0">
              <a:solidFill>
                <a:srgbClr val="FFFFFF"/>
              </a:solidFill>
              <a:latin typeface="Microsoft YaHei" pitchFamily="34" charset="0"/>
              <a:ea typeface="Microsoft YaHei" pitchFamily="34" charset="-122"/>
            </a:endParaRPr>
          </a:p>
          <a:p>
            <a:endParaRPr lang="en-US" altLang="zh-CN" sz="1400" b="1" dirty="0">
              <a:solidFill>
                <a:srgbClr val="FFFFFF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sz="12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</a:rPr>
              <a:t>语音摘要 </a:t>
            </a:r>
            <a:r>
              <a:rPr lang="en-US" altLang="zh-CN" sz="12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</a:rPr>
              <a:t>+ </a:t>
            </a:r>
            <a:r>
              <a:rPr lang="zh-CN" altLang="en-US" sz="12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</a:rPr>
              <a:t>分析页 </a:t>
            </a:r>
            <a:r>
              <a:rPr lang="en-US" altLang="zh-CN" sz="12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</a:rPr>
              <a:t>URL</a:t>
            </a:r>
            <a:endParaRPr lang="en-US" sz="1200" dirty="0">
              <a:solidFill>
                <a:srgbClr val="C0D0E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2489DCE-974A-D2EF-8814-863B7AAFE221}"/>
              </a:ext>
            </a:extLst>
          </p:cNvPr>
          <p:cNvSpPr/>
          <p:nvPr/>
        </p:nvSpPr>
        <p:spPr>
          <a:xfrm>
            <a:off x="6303239" y="1909026"/>
            <a:ext cx="5386827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语音数据流</a:t>
            </a:r>
            <a:endParaRPr lang="en-US" sz="14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9197C2EA-7D7D-F6BC-F2C5-DA4F4E00F31E}"/>
              </a:ext>
            </a:extLst>
          </p:cNvPr>
          <p:cNvSpPr/>
          <p:nvPr/>
        </p:nvSpPr>
        <p:spPr>
          <a:xfrm>
            <a:off x="6340195" y="2333577"/>
            <a:ext cx="5267120" cy="2907739"/>
          </a:xfrm>
          <a:prstGeom prst="roundRect">
            <a:avLst>
              <a:gd name="adj" fmla="val 1667"/>
            </a:avLst>
          </a:prstGeom>
          <a:solidFill>
            <a:srgbClr val="111D2E"/>
          </a:solidFill>
          <a:ln w="1016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495CF010-E2E4-6622-8BB3-B561D588077B}"/>
              </a:ext>
            </a:extLst>
          </p:cNvPr>
          <p:cNvSpPr/>
          <p:nvPr/>
        </p:nvSpPr>
        <p:spPr>
          <a:xfrm>
            <a:off x="6639463" y="2515311"/>
            <a:ext cx="1795609" cy="363467"/>
          </a:xfrm>
          <a:prstGeom prst="roundRect">
            <a:avLst>
              <a:gd name="adj" fmla="val 10000"/>
            </a:avLst>
          </a:prstGeom>
          <a:solidFill>
            <a:srgbClr val="2A3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9D5333CB-4EAD-53B1-1656-B14D25408CA6}"/>
              </a:ext>
            </a:extLst>
          </p:cNvPr>
          <p:cNvSpPr/>
          <p:nvPr/>
        </p:nvSpPr>
        <p:spPr>
          <a:xfrm>
            <a:off x="6639463" y="2515311"/>
            <a:ext cx="1795609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C0D0E0"/>
                </a:solidFill>
              </a:rPr>
              <a:t>🎙 用户说话</a:t>
            </a:r>
            <a:endParaRPr lang="en-US" sz="90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CC15F32-A21F-1310-DF58-3F9F6E00B5D8}"/>
              </a:ext>
            </a:extLst>
          </p:cNvPr>
          <p:cNvSpPr/>
          <p:nvPr/>
        </p:nvSpPr>
        <p:spPr>
          <a:xfrm>
            <a:off x="8435072" y="2515311"/>
            <a:ext cx="359122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F9900"/>
                </a:solidFill>
              </a:rPr>
              <a:t>→</a:t>
            </a:r>
            <a:endParaRPr lang="en-US" sz="1200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FE2B35BB-81E1-4BEE-D210-48A6C0858100}"/>
              </a:ext>
            </a:extLst>
          </p:cNvPr>
          <p:cNvSpPr/>
          <p:nvPr/>
        </p:nvSpPr>
        <p:spPr>
          <a:xfrm>
            <a:off x="8794193" y="2515311"/>
            <a:ext cx="1915316" cy="363467"/>
          </a:xfrm>
          <a:prstGeom prst="roundRect">
            <a:avLst>
              <a:gd name="adj" fmla="val 10000"/>
            </a:avLst>
          </a:prstGeom>
          <a:solidFill>
            <a:srgbClr val="2A3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544E39D0-2139-33F8-BD94-07E52DE4C8DC}"/>
              </a:ext>
            </a:extLst>
          </p:cNvPr>
          <p:cNvSpPr/>
          <p:nvPr/>
        </p:nvSpPr>
        <p:spPr>
          <a:xfrm>
            <a:off x="8794193" y="2515311"/>
            <a:ext cx="1915316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C0D0E0"/>
                </a:solidFill>
              </a:rPr>
              <a:t>Quick / IM Bot</a:t>
            </a:r>
            <a:endParaRPr lang="en-US" sz="9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D9EB0704-DD5A-1FD8-944C-32571701BB92}"/>
              </a:ext>
            </a:extLst>
          </p:cNvPr>
          <p:cNvSpPr/>
          <p:nvPr/>
        </p:nvSpPr>
        <p:spPr>
          <a:xfrm>
            <a:off x="6639463" y="2878778"/>
            <a:ext cx="1795609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F9900"/>
                </a:solidFill>
              </a:rPr>
              <a:t>↓</a:t>
            </a:r>
            <a:endParaRPr lang="en-US" sz="120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2EC1DE74-14B5-778F-108B-3D710B864DEC}"/>
              </a:ext>
            </a:extLst>
          </p:cNvPr>
          <p:cNvSpPr/>
          <p:nvPr/>
        </p:nvSpPr>
        <p:spPr>
          <a:xfrm>
            <a:off x="6639463" y="3181668"/>
            <a:ext cx="1795609" cy="363467"/>
          </a:xfrm>
          <a:prstGeom prst="roundRect">
            <a:avLst>
              <a:gd name="adj" fmla="val 10000"/>
            </a:avLst>
          </a:prstGeom>
          <a:solidFill>
            <a:srgbClr val="2A3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5D0F0FA7-8934-B146-E8DC-B9D2E9F3DA3F}"/>
              </a:ext>
            </a:extLst>
          </p:cNvPr>
          <p:cNvSpPr/>
          <p:nvPr/>
        </p:nvSpPr>
        <p:spPr>
          <a:xfrm>
            <a:off x="6639463" y="3181668"/>
            <a:ext cx="1795609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C0D0E0"/>
                </a:solidFill>
              </a:rPr>
              <a:t>API Gateway</a:t>
            </a:r>
            <a:endParaRPr lang="en-US" sz="900" dirty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F3DB441D-E059-B6C0-C6ED-E617151588B3}"/>
              </a:ext>
            </a:extLst>
          </p:cNvPr>
          <p:cNvSpPr/>
          <p:nvPr/>
        </p:nvSpPr>
        <p:spPr>
          <a:xfrm>
            <a:off x="8435072" y="3181668"/>
            <a:ext cx="359122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F9900"/>
                </a:solidFill>
              </a:rPr>
              <a:t>→</a:t>
            </a:r>
            <a:endParaRPr lang="en-US" sz="1200" dirty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9B799A89-FC6C-636A-2D1E-19CB255C201B}"/>
              </a:ext>
            </a:extLst>
          </p:cNvPr>
          <p:cNvSpPr/>
          <p:nvPr/>
        </p:nvSpPr>
        <p:spPr>
          <a:xfrm>
            <a:off x="8794193" y="3181668"/>
            <a:ext cx="2513853" cy="363467"/>
          </a:xfrm>
          <a:prstGeom prst="roundRect">
            <a:avLst>
              <a:gd name="adj" fmla="val 10000"/>
            </a:avLst>
          </a:prstGeom>
          <a:solidFill>
            <a:srgbClr val="2A1F0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715960C3-1BFD-A6E0-E91C-1586088517EE}"/>
              </a:ext>
            </a:extLst>
          </p:cNvPr>
          <p:cNvSpPr/>
          <p:nvPr/>
        </p:nvSpPr>
        <p:spPr>
          <a:xfrm>
            <a:off x="8794193" y="3181668"/>
            <a:ext cx="2513853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9900"/>
                </a:solidFill>
              </a:rPr>
              <a:t>Lambda + Nova Sonic</a:t>
            </a:r>
            <a:endParaRPr lang="en-US" sz="9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A2D34CE6-F86D-6D46-A757-E5DF5F1AD970}"/>
              </a:ext>
            </a:extLst>
          </p:cNvPr>
          <p:cNvSpPr/>
          <p:nvPr/>
        </p:nvSpPr>
        <p:spPr>
          <a:xfrm>
            <a:off x="6639463" y="3545135"/>
            <a:ext cx="1795609" cy="30289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F9900"/>
                </a:solidFill>
              </a:rPr>
              <a:t>↓</a:t>
            </a:r>
            <a:endParaRPr lang="en-US" sz="120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BC1E54D1-A348-EEC6-6B58-0F648276F769}"/>
              </a:ext>
            </a:extLst>
          </p:cNvPr>
          <p:cNvSpPr/>
          <p:nvPr/>
        </p:nvSpPr>
        <p:spPr>
          <a:xfrm>
            <a:off x="7896389" y="3581482"/>
            <a:ext cx="1197073" cy="2423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00" dirty="0">
                <a:solidFill>
                  <a:srgbClr val="6A7A8A"/>
                </a:solidFill>
              </a:rPr>
              <a:t>语音→文本</a:t>
            </a:r>
            <a:endParaRPr lang="en-US" sz="800" dirty="0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9809D925-71CF-0B86-49B8-28795D79F5E7}"/>
              </a:ext>
            </a:extLst>
          </p:cNvPr>
          <p:cNvSpPr/>
          <p:nvPr/>
        </p:nvSpPr>
        <p:spPr>
          <a:xfrm>
            <a:off x="6639463" y="3848025"/>
            <a:ext cx="2633560" cy="363467"/>
          </a:xfrm>
          <a:prstGeom prst="roundRect">
            <a:avLst>
              <a:gd name="adj" fmla="val 10000"/>
            </a:avLst>
          </a:prstGeom>
          <a:solidFill>
            <a:srgbClr val="2A1F0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3CB7EE3-C65F-7189-9E55-831E19CEC23A}"/>
              </a:ext>
            </a:extLst>
          </p:cNvPr>
          <p:cNvSpPr/>
          <p:nvPr/>
        </p:nvSpPr>
        <p:spPr>
          <a:xfrm>
            <a:off x="6639463" y="3848025"/>
            <a:ext cx="2633560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9900"/>
                </a:solidFill>
              </a:rPr>
              <a:t>Orchestrator Lambda (6 逻辑 Agent in-process)</a:t>
            </a:r>
            <a:endParaRPr lang="en-US" sz="90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69F2C542-C69E-0D55-7BFC-6D9DF4409C52}"/>
              </a:ext>
            </a:extLst>
          </p:cNvPr>
          <p:cNvSpPr/>
          <p:nvPr/>
        </p:nvSpPr>
        <p:spPr>
          <a:xfrm>
            <a:off x="9273022" y="3848025"/>
            <a:ext cx="359122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FF9900"/>
                </a:solidFill>
              </a:rPr>
              <a:t>→</a:t>
            </a:r>
            <a:endParaRPr lang="en-US" sz="1200" dirty="0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B7B074E3-7B38-735E-434A-8BC2B9647537}"/>
              </a:ext>
            </a:extLst>
          </p:cNvPr>
          <p:cNvSpPr/>
          <p:nvPr/>
        </p:nvSpPr>
        <p:spPr>
          <a:xfrm>
            <a:off x="9632144" y="3848025"/>
            <a:ext cx="1197073" cy="363467"/>
          </a:xfrm>
          <a:prstGeom prst="roundRect">
            <a:avLst>
              <a:gd name="adj" fmla="val 10000"/>
            </a:avLst>
          </a:prstGeom>
          <a:solidFill>
            <a:srgbClr val="2A3A4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4A84120C-354B-1564-6E88-ADD715935ADC}"/>
              </a:ext>
            </a:extLst>
          </p:cNvPr>
          <p:cNvSpPr/>
          <p:nvPr/>
        </p:nvSpPr>
        <p:spPr>
          <a:xfrm>
            <a:off x="9632144" y="3848025"/>
            <a:ext cx="1197073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dirty="0">
                <a:solidFill>
                  <a:srgbClr val="C0D0E0"/>
                </a:solidFill>
              </a:rPr>
              <a:t>结果</a:t>
            </a:r>
            <a:endParaRPr lang="en-US" sz="9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D7A39FB-45C6-7197-AB12-2B8BEBF5011D}"/>
              </a:ext>
            </a:extLst>
          </p:cNvPr>
          <p:cNvSpPr/>
          <p:nvPr/>
        </p:nvSpPr>
        <p:spPr>
          <a:xfrm>
            <a:off x="6639463" y="4211492"/>
            <a:ext cx="2633560" cy="30289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36B37E"/>
                </a:solidFill>
              </a:rPr>
              <a:t>↓</a:t>
            </a:r>
            <a:endParaRPr lang="en-US" sz="12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405018BC-B729-911E-A0B3-D8E2899B4EC6}"/>
              </a:ext>
            </a:extLst>
          </p:cNvPr>
          <p:cNvSpPr/>
          <p:nvPr/>
        </p:nvSpPr>
        <p:spPr>
          <a:xfrm>
            <a:off x="6639463" y="4514381"/>
            <a:ext cx="4668583" cy="363467"/>
          </a:xfrm>
          <a:prstGeom prst="roundRect">
            <a:avLst>
              <a:gd name="adj" fmla="val 10000"/>
            </a:avLst>
          </a:prstGeom>
          <a:solidFill>
            <a:srgbClr val="0A2A1A"/>
          </a:solidFill>
          <a:ln w="10160">
            <a:solidFill>
              <a:srgbClr val="36B37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5BF3284D-FC5B-91E5-90EF-403FE5F32A1A}"/>
              </a:ext>
            </a:extLst>
          </p:cNvPr>
          <p:cNvSpPr/>
          <p:nvPr/>
        </p:nvSpPr>
        <p:spPr>
          <a:xfrm>
            <a:off x="6639463" y="4514381"/>
            <a:ext cx="4668583" cy="36346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36B37E"/>
                </a:solidFill>
              </a:rPr>
              <a:t>🔊 语音播报摘要 + 📄 分析页 URL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293615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EA2DC-5161-FC91-0304-DF724881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11FD1E-9A60-FCB8-06AC-C6E0974EF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等线" panose="02010600030101010101" pitchFamily="2" charset="-122"/>
                <a:ea typeface="等线" panose="02010600030101010101" pitchFamily="2" charset="-122"/>
                <a:cs typeface="Amazon Ember" panose="020B0603020204020204" pitchFamily="34" charset="0"/>
              </a:rPr>
              <a:t>    核心能力：</a:t>
            </a:r>
            <a:r>
              <a:rPr lang="en-US" altLang="zh-CN" dirty="0">
                <a:solidFill>
                  <a:srgbClr val="FFFFFF"/>
                </a:solidFill>
                <a:latin typeface="等线" panose="02010600030101010101" pitchFamily="2" charset="-122"/>
                <a:ea typeface="等线" panose="02010600030101010101" pitchFamily="2" charset="-122"/>
                <a:cs typeface="Calibri" pitchFamily="34" charset="-120"/>
              </a:rPr>
              <a:t> </a:t>
            </a:r>
            <a:r>
              <a:rPr lang="zh-CN" altLang="en-US" dirty="0">
                <a:solidFill>
                  <a:srgbClr val="FFFFFF"/>
                </a:solidFill>
                <a:latin typeface="等线" panose="02010600030101010101" pitchFamily="2" charset="-122"/>
                <a:ea typeface="等线" panose="02010600030101010101" pitchFamily="2" charset="-122"/>
                <a:cs typeface="Calibri" pitchFamily="34" charset="-120"/>
              </a:rPr>
              <a:t>智能分析页</a:t>
            </a:r>
            <a:endParaRPr lang="zh-CN" altLang="en-US" dirty="0">
              <a:latin typeface="等线" panose="02010600030101010101" pitchFamily="2" charset="-122"/>
              <a:ea typeface="等线" panose="02010600030101010101" pitchFamily="2" charset="-122"/>
              <a:cs typeface="Amazon Ember" panose="020B060302020402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DA172C6-5801-1E75-5217-16BCD477DB46}"/>
              </a:ext>
            </a:extLst>
          </p:cNvPr>
          <p:cNvSpPr/>
          <p:nvPr/>
        </p:nvSpPr>
        <p:spPr>
          <a:xfrm>
            <a:off x="346752" y="1166844"/>
            <a:ext cx="11258256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B0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Dashboard，是 AI 诊断书 — Report Agent 生成完整 HTML 报告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AEFE271-80C0-805E-E4E8-D87E44F82089}"/>
              </a:ext>
            </a:extLst>
          </p:cNvPr>
          <p:cNvSpPr/>
          <p:nvPr/>
        </p:nvSpPr>
        <p:spPr>
          <a:xfrm>
            <a:off x="346752" y="1590251"/>
            <a:ext cx="5629128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分析页包含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E483895-CF4B-6A22-1349-9A5117D531D9}"/>
              </a:ext>
            </a:extLst>
          </p:cNvPr>
          <p:cNvSpPr/>
          <p:nvPr/>
        </p:nvSpPr>
        <p:spPr>
          <a:xfrm>
            <a:off x="471844" y="1938939"/>
            <a:ext cx="5378944" cy="31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📊 数据图表（趋势线、拓扑图、火焰图）</a:t>
            </a:r>
            <a:endParaRPr lang="en-US" sz="10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2E4EC0C-C895-5F22-4346-7D77954590D1}"/>
              </a:ext>
            </a:extLst>
          </p:cNvPr>
          <p:cNvSpPr/>
          <p:nvPr/>
        </p:nvSpPr>
        <p:spPr>
          <a:xfrm>
            <a:off x="471844" y="2275173"/>
            <a:ext cx="5378944" cy="31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📝 AI 文字解读（"CPU 在 14:32 异常上升"）</a:t>
            </a:r>
            <a:endParaRPr lang="en-US" sz="10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114C7D3-F2E1-E671-6639-B046378A177B}"/>
              </a:ext>
            </a:extLst>
          </p:cNvPr>
          <p:cNvSpPr/>
          <p:nvPr/>
        </p:nvSpPr>
        <p:spPr>
          <a:xfrm>
            <a:off x="471844" y="2611408"/>
            <a:ext cx="5378944" cy="31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🔗 因果分析（时间线 + 关联事件）</a:t>
            </a:r>
            <a:endParaRPr lang="en-US" sz="10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9F12529-F167-27BA-B28F-BA21EE466BFA}"/>
              </a:ext>
            </a:extLst>
          </p:cNvPr>
          <p:cNvSpPr/>
          <p:nvPr/>
        </p:nvSpPr>
        <p:spPr>
          <a:xfrm>
            <a:off x="471844" y="2947643"/>
            <a:ext cx="5378944" cy="31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操作建议（"建议扩容至 4 实例"）</a:t>
            </a:r>
            <a:endParaRPr lang="en-US" sz="10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CFA7007-AD5B-C1A6-F1B0-820C144AF07F}"/>
              </a:ext>
            </a:extLst>
          </p:cNvPr>
          <p:cNvSpPr/>
          <p:nvPr/>
        </p:nvSpPr>
        <p:spPr>
          <a:xfrm>
            <a:off x="471844" y="3283877"/>
            <a:ext cx="5378944" cy="31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📎 证据链（日志片段、Trace ID）</a:t>
            </a:r>
            <a:endParaRPr lang="en-US" sz="10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C8B15EA-B3C1-D22E-351A-72833E0481E7}"/>
              </a:ext>
            </a:extLst>
          </p:cNvPr>
          <p:cNvSpPr/>
          <p:nvPr/>
        </p:nvSpPr>
        <p:spPr>
          <a:xfrm>
            <a:off x="471842" y="3744643"/>
            <a:ext cx="5253853" cy="560391"/>
          </a:xfrm>
          <a:prstGeom prst="roundRect">
            <a:avLst>
              <a:gd name="adj" fmla="val 6667"/>
            </a:avLst>
          </a:prstGeom>
          <a:solidFill>
            <a:srgbClr val="1A2A3A"/>
          </a:solidFill>
          <a:ln w="1016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5B2E25C-9592-7F60-0F03-ACBF425BDFD9}"/>
              </a:ext>
            </a:extLst>
          </p:cNvPr>
          <p:cNvSpPr/>
          <p:nvPr/>
        </p:nvSpPr>
        <p:spPr>
          <a:xfrm>
            <a:off x="596935" y="3769550"/>
            <a:ext cx="5003669" cy="535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 Dashboard = 体检数值表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NLOps 分析页 = 医生写的诊断书</a:t>
            </a:r>
            <a:endParaRPr lang="en-US" sz="11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10C9A91-E7D4-405B-5CF0-C74FA2A1173C}"/>
              </a:ext>
            </a:extLst>
          </p:cNvPr>
          <p:cNvSpPr/>
          <p:nvPr/>
        </p:nvSpPr>
        <p:spPr>
          <a:xfrm>
            <a:off x="346752" y="4491832"/>
            <a:ext cx="5629128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对话式下钻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E4731F6-7356-286B-8486-0E5B1D35C179}"/>
              </a:ext>
            </a:extLst>
          </p:cNvPr>
          <p:cNvSpPr/>
          <p:nvPr/>
        </p:nvSpPr>
        <p:spPr>
          <a:xfrm>
            <a:off x="596935" y="4865426"/>
            <a:ext cx="2501835" cy="28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CC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"系统怎么样"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C6A31DB-97FB-2717-4319-61E521259945}"/>
              </a:ext>
            </a:extLst>
          </p:cNvPr>
          <p:cNvSpPr/>
          <p:nvPr/>
        </p:nvSpPr>
        <p:spPr>
          <a:xfrm>
            <a:off x="3098770" y="4865426"/>
            <a:ext cx="2752018" cy="28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总览分析页</a:t>
            </a:r>
            <a:endParaRPr lang="en-US" sz="9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F2C9A82-6BE0-3DE0-D839-E9DBD7FBBAC1}"/>
              </a:ext>
            </a:extLst>
          </p:cNvPr>
          <p:cNvSpPr/>
          <p:nvPr/>
        </p:nvSpPr>
        <p:spPr>
          <a:xfrm>
            <a:off x="596935" y="5176754"/>
            <a:ext cx="2501835" cy="28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CC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"延迟为什么涨"</a:t>
            </a:r>
            <a:endParaRPr lang="en-US" sz="9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1F92B56-0CFB-02BF-5DBB-13C51CA15247}"/>
              </a:ext>
            </a:extLst>
          </p:cNvPr>
          <p:cNvSpPr/>
          <p:nvPr/>
        </p:nvSpPr>
        <p:spPr>
          <a:xfrm>
            <a:off x="3098770" y="5176754"/>
            <a:ext cx="2752018" cy="28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聚焦分析页</a:t>
            </a:r>
            <a:endParaRPr lang="en-US" sz="9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11DC397-D83B-BB9B-150A-39387FCE7259}"/>
              </a:ext>
            </a:extLst>
          </p:cNvPr>
          <p:cNvSpPr/>
          <p:nvPr/>
        </p:nvSpPr>
        <p:spPr>
          <a:xfrm>
            <a:off x="596935" y="5488083"/>
            <a:ext cx="2501835" cy="28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CC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"看看链路"</a:t>
            </a:r>
            <a:endParaRPr lang="en-US" sz="9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DF8C09A-0855-7ADF-4789-768C373F1118}"/>
              </a:ext>
            </a:extLst>
          </p:cNvPr>
          <p:cNvSpPr/>
          <p:nvPr/>
        </p:nvSpPr>
        <p:spPr>
          <a:xfrm>
            <a:off x="3098770" y="5488083"/>
            <a:ext cx="2752018" cy="28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Trace 分析页</a:t>
            </a:r>
            <a:endParaRPr lang="en-US" sz="9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A286CCE5-5011-19F9-3398-6D89A6D1A737}"/>
              </a:ext>
            </a:extLst>
          </p:cNvPr>
          <p:cNvSpPr/>
          <p:nvPr/>
        </p:nvSpPr>
        <p:spPr>
          <a:xfrm>
            <a:off x="596935" y="5799411"/>
            <a:ext cx="2501835" cy="28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CC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"定位到代码"</a:t>
            </a:r>
            <a:endParaRPr lang="en-US" sz="9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BD8640C-F421-3C98-414B-61846ED7B938}"/>
              </a:ext>
            </a:extLst>
          </p:cNvPr>
          <p:cNvSpPr/>
          <p:nvPr/>
        </p:nvSpPr>
        <p:spPr>
          <a:xfrm>
            <a:off x="3098768" y="5799410"/>
            <a:ext cx="2752018" cy="286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火焰图分析页</a:t>
            </a:r>
            <a:endParaRPr lang="en-US" sz="9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8FF993B6-52F1-B8A9-54CF-F39F984A1BA8}"/>
              </a:ext>
            </a:extLst>
          </p:cNvPr>
          <p:cNvSpPr/>
          <p:nvPr/>
        </p:nvSpPr>
        <p:spPr>
          <a:xfrm>
            <a:off x="6351155" y="1590251"/>
            <a:ext cx="5629128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生成流程</a:t>
            </a:r>
            <a:endParaRPr lang="en-US" sz="12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2BBBEFF-EE41-F117-6AB5-B5A4839846D9}"/>
              </a:ext>
            </a:extLst>
          </p:cNvPr>
          <p:cNvSpPr/>
          <p:nvPr/>
        </p:nvSpPr>
        <p:spPr>
          <a:xfrm>
            <a:off x="6351155" y="1938939"/>
            <a:ext cx="5629128" cy="3611410"/>
          </a:xfrm>
          <a:prstGeom prst="roundRect">
            <a:avLst>
              <a:gd name="adj" fmla="val 1379"/>
            </a:avLst>
          </a:prstGeom>
          <a:solidFill>
            <a:srgbClr val="111D2E"/>
          </a:solidFill>
          <a:ln w="1016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F8CDF07-E3F0-0B7F-18CD-5209A39EF188}"/>
              </a:ext>
            </a:extLst>
          </p:cNvPr>
          <p:cNvSpPr/>
          <p:nvPr/>
        </p:nvSpPr>
        <p:spPr>
          <a:xfrm>
            <a:off x="6601339" y="2125736"/>
            <a:ext cx="3002202" cy="311328"/>
          </a:xfrm>
          <a:prstGeom prst="roundRect">
            <a:avLst>
              <a:gd name="adj" fmla="val 8000"/>
            </a:avLst>
          </a:prstGeom>
          <a:solidFill>
            <a:srgbClr val="2A1F0A"/>
          </a:solidFill>
          <a:ln w="889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B5149F6-E7EB-739A-2C66-4BD8F1617282}"/>
              </a:ext>
            </a:extLst>
          </p:cNvPr>
          <p:cNvSpPr/>
          <p:nvPr/>
        </p:nvSpPr>
        <p:spPr>
          <a:xfrm>
            <a:off x="6601339" y="2125736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Agent 分析完成</a:t>
            </a:r>
            <a:endParaRPr lang="en-US" sz="9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55B1B9A-7390-BFA4-8809-D5BAB3D88C5D}"/>
              </a:ext>
            </a:extLst>
          </p:cNvPr>
          <p:cNvSpPr/>
          <p:nvPr/>
        </p:nvSpPr>
        <p:spPr>
          <a:xfrm>
            <a:off x="9728632" y="2125736"/>
            <a:ext cx="2126559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结构化结果（指标+根因+建议）</a:t>
            </a:r>
            <a:endParaRPr lang="en-US" sz="8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6A305AC-81C4-447C-F7E4-2EF6EB5260E9}"/>
              </a:ext>
            </a:extLst>
          </p:cNvPr>
          <p:cNvSpPr/>
          <p:nvPr/>
        </p:nvSpPr>
        <p:spPr>
          <a:xfrm>
            <a:off x="6601339" y="2437064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9900"/>
                </a:solidFill>
              </a:rPr>
              <a:t>↓</a:t>
            </a:r>
            <a:endParaRPr lang="en-US" sz="10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325CCC01-358F-D261-7BA1-636D417CB49E}"/>
              </a:ext>
            </a:extLst>
          </p:cNvPr>
          <p:cNvSpPr/>
          <p:nvPr/>
        </p:nvSpPr>
        <p:spPr>
          <a:xfrm>
            <a:off x="6601339" y="2773299"/>
            <a:ext cx="3002202" cy="311328"/>
          </a:xfrm>
          <a:prstGeom prst="roundRect">
            <a:avLst>
              <a:gd name="adj" fmla="val 8000"/>
            </a:avLst>
          </a:prstGeom>
          <a:solidFill>
            <a:srgbClr val="2A1F0A"/>
          </a:solidFill>
          <a:ln w="889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B2BC789-EEB8-8647-8D1B-EA6D4ED4BB27}"/>
              </a:ext>
            </a:extLst>
          </p:cNvPr>
          <p:cNvSpPr/>
          <p:nvPr/>
        </p:nvSpPr>
        <p:spPr>
          <a:xfrm>
            <a:off x="6601339" y="2773299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Report Agent 调 LLM</a:t>
            </a:r>
            <a:endParaRPr lang="en-US" sz="9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F2A82C9C-B541-4D93-6B36-838F765F107A}"/>
              </a:ext>
            </a:extLst>
          </p:cNvPr>
          <p:cNvSpPr/>
          <p:nvPr/>
        </p:nvSpPr>
        <p:spPr>
          <a:xfrm>
            <a:off x="9728632" y="2773299"/>
            <a:ext cx="2126559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 JSON（标题/图表/解读/建议）</a:t>
            </a:r>
            <a:endParaRPr lang="en-US" sz="8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C4174A7A-AADC-938A-3FB5-C8CB3199896A}"/>
              </a:ext>
            </a:extLst>
          </p:cNvPr>
          <p:cNvSpPr/>
          <p:nvPr/>
        </p:nvSpPr>
        <p:spPr>
          <a:xfrm>
            <a:off x="6601339" y="3084627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9900"/>
                </a:solidFill>
              </a:rPr>
              <a:t>↓</a:t>
            </a:r>
            <a:endParaRPr lang="en-US" sz="100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DA672065-A6C6-3DBD-C8E0-7D07D9136E0E}"/>
              </a:ext>
            </a:extLst>
          </p:cNvPr>
          <p:cNvSpPr/>
          <p:nvPr/>
        </p:nvSpPr>
        <p:spPr>
          <a:xfrm>
            <a:off x="6601339" y="3420862"/>
            <a:ext cx="3002202" cy="311328"/>
          </a:xfrm>
          <a:prstGeom prst="roundRect">
            <a:avLst>
              <a:gd name="adj" fmla="val 8000"/>
            </a:avLst>
          </a:prstGeom>
          <a:solidFill>
            <a:srgbClr val="2A1F0A"/>
          </a:solidFill>
          <a:ln w="889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5D5F73DC-5701-1AD2-B645-69DCF858CA5E}"/>
              </a:ext>
            </a:extLst>
          </p:cNvPr>
          <p:cNvSpPr/>
          <p:nvPr/>
        </p:nvSpPr>
        <p:spPr>
          <a:xfrm>
            <a:off x="6601339" y="3420862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HTML 模板引擎</a:t>
            </a:r>
            <a:endParaRPr lang="en-US" sz="9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B9C8A096-BB76-C629-CDE8-2E34BFB478BD}"/>
              </a:ext>
            </a:extLst>
          </p:cNvPr>
          <p:cNvSpPr/>
          <p:nvPr/>
        </p:nvSpPr>
        <p:spPr>
          <a:xfrm>
            <a:off x="9728632" y="3420862"/>
            <a:ext cx="2126559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填入预设模板（ECharts 渲染图表）</a:t>
            </a:r>
            <a:endParaRPr lang="en-US" sz="8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13C982D-0FC7-1C25-E87E-8890BA8F56AA}"/>
              </a:ext>
            </a:extLst>
          </p:cNvPr>
          <p:cNvSpPr/>
          <p:nvPr/>
        </p:nvSpPr>
        <p:spPr>
          <a:xfrm>
            <a:off x="6601339" y="3732190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9900"/>
                </a:solidFill>
              </a:rPr>
              <a:t>↓</a:t>
            </a:r>
            <a:endParaRPr lang="en-US" sz="10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4F74B229-8538-906F-736D-72E7FD8C3845}"/>
              </a:ext>
            </a:extLst>
          </p:cNvPr>
          <p:cNvSpPr/>
          <p:nvPr/>
        </p:nvSpPr>
        <p:spPr>
          <a:xfrm>
            <a:off x="6601339" y="4068425"/>
            <a:ext cx="3002202" cy="311328"/>
          </a:xfrm>
          <a:prstGeom prst="roundRect">
            <a:avLst>
              <a:gd name="adj" fmla="val 8000"/>
            </a:avLst>
          </a:prstGeom>
          <a:solidFill>
            <a:srgbClr val="2A1F0A"/>
          </a:solidFill>
          <a:ln w="889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E7FB440-7E8A-8FFB-549B-2D6C2209E9C0}"/>
              </a:ext>
            </a:extLst>
          </p:cNvPr>
          <p:cNvSpPr/>
          <p:nvPr/>
        </p:nvSpPr>
        <p:spPr>
          <a:xfrm>
            <a:off x="6601339" y="4068425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上传 S3</a:t>
            </a:r>
            <a:endParaRPr lang="en-US" sz="9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CAC282-480E-E021-A6AD-819D6D5A2184}"/>
              </a:ext>
            </a:extLst>
          </p:cNvPr>
          <p:cNvSpPr/>
          <p:nvPr/>
        </p:nvSpPr>
        <p:spPr>
          <a:xfrm>
            <a:off x="9728632" y="4068425"/>
            <a:ext cx="2126559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Presigned URL（30 天有效）</a:t>
            </a:r>
            <a:endParaRPr lang="en-US" sz="8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1573B42C-2B67-74A5-23D9-834EBEA93748}"/>
              </a:ext>
            </a:extLst>
          </p:cNvPr>
          <p:cNvSpPr/>
          <p:nvPr/>
        </p:nvSpPr>
        <p:spPr>
          <a:xfrm>
            <a:off x="6601339" y="4379753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6B37E"/>
                </a:solidFill>
              </a:rPr>
              <a:t>↓</a:t>
            </a:r>
            <a:endParaRPr lang="en-US" sz="10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6B40CC81-1EA8-7A5C-4779-31D531A80252}"/>
              </a:ext>
            </a:extLst>
          </p:cNvPr>
          <p:cNvSpPr/>
          <p:nvPr/>
        </p:nvSpPr>
        <p:spPr>
          <a:xfrm>
            <a:off x="6601339" y="4715988"/>
            <a:ext cx="3002202" cy="311328"/>
          </a:xfrm>
          <a:prstGeom prst="roundRect">
            <a:avLst>
              <a:gd name="adj" fmla="val 8000"/>
            </a:avLst>
          </a:prstGeom>
          <a:solidFill>
            <a:srgbClr val="0A2A1A"/>
          </a:solidFill>
          <a:ln w="8890">
            <a:solidFill>
              <a:srgbClr val="36B37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9794E64A-CE5F-531C-0AD2-F9A37C4C6D26}"/>
              </a:ext>
            </a:extLst>
          </p:cNvPr>
          <p:cNvSpPr/>
          <p:nvPr/>
        </p:nvSpPr>
        <p:spPr>
          <a:xfrm>
            <a:off x="6601339" y="4715988"/>
            <a:ext cx="3002202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6B3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返回给用户</a:t>
            </a:r>
            <a:endParaRPr lang="en-US" sz="900" dirty="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2BFB86F-5C11-DE7D-501D-B7EF1F648251}"/>
              </a:ext>
            </a:extLst>
          </p:cNvPr>
          <p:cNvSpPr/>
          <p:nvPr/>
        </p:nvSpPr>
        <p:spPr>
          <a:xfrm>
            <a:off x="9728632" y="4715988"/>
            <a:ext cx="2126559" cy="311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Quick: HTML Artifact / IM: 卡片链接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317112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AF99-8C5D-1350-E6D2-96C75E91D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76CC3A-F32D-CBF2-B2BF-3D10EB697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核心能力：</a:t>
            </a:r>
            <a:r>
              <a:rPr lang="en-US" altLang="zh-CN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zh-CN" alt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智能编排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Amazon Ember" panose="020B0603020204020204" pitchFamily="34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BF311F2C-B48E-4E21-EEB8-EA5F1CEA7612}"/>
              </a:ext>
            </a:extLst>
          </p:cNvPr>
          <p:cNvGrpSpPr/>
          <p:nvPr/>
        </p:nvGrpSpPr>
        <p:grpSpPr>
          <a:xfrm>
            <a:off x="674028" y="1082221"/>
            <a:ext cx="10835366" cy="4995527"/>
            <a:chOff x="274320" y="868680"/>
            <a:chExt cx="8595360" cy="4206240"/>
          </a:xfrm>
        </p:grpSpPr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2E4F4ADB-D37E-3A52-29E1-4A78FFD2E246}"/>
                </a:ext>
              </a:extLst>
            </p:cNvPr>
            <p:cNvSpPr/>
            <p:nvPr/>
          </p:nvSpPr>
          <p:spPr>
            <a:xfrm>
              <a:off x="274320" y="868680"/>
              <a:ext cx="4572000" cy="4023360"/>
            </a:xfrm>
            <a:prstGeom prst="roundRect">
              <a:avLst>
                <a:gd name="adj" fmla="val 1136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2400"/>
            </a:p>
          </p:txBody>
        </p:sp>
        <p:sp>
          <p:nvSpPr>
            <p:cNvPr id="5" name="Text 4">
              <a:extLst>
                <a:ext uri="{FF2B5EF4-FFF2-40B4-BE49-F238E27FC236}">
                  <a16:creationId xmlns:a16="http://schemas.microsoft.com/office/drawing/2014/main" id="{BD5F18E5-D568-E445-0A86-3366C70F76E3}"/>
                </a:ext>
              </a:extLst>
            </p:cNvPr>
            <p:cNvSpPr/>
            <p:nvPr/>
          </p:nvSpPr>
          <p:spPr>
            <a:xfrm>
              <a:off x="457200" y="960120"/>
              <a:ext cx="42062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编排示例："支付成功率下降了"</a:t>
              </a:r>
              <a:endParaRPr lang="en-US" sz="1400" dirty="0"/>
            </a:p>
          </p:txBody>
        </p:sp>
        <p:sp>
          <p:nvSpPr>
            <p:cNvPr id="6" name="Text 5">
              <a:extLst>
                <a:ext uri="{FF2B5EF4-FFF2-40B4-BE49-F238E27FC236}">
                  <a16:creationId xmlns:a16="http://schemas.microsoft.com/office/drawing/2014/main" id="{F2D2EF6C-7E20-CA34-3553-E23C20D1BA39}"/>
                </a:ext>
              </a:extLst>
            </p:cNvPr>
            <p:cNvSpPr/>
            <p:nvPr/>
          </p:nvSpPr>
          <p:spPr>
            <a:xfrm>
              <a:off x="502920" y="1325880"/>
              <a:ext cx="20116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① Router Agent</a:t>
              </a:r>
              <a:endParaRPr lang="en-US" sz="1050" dirty="0"/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830CCB0B-C8AA-2AF1-80BE-200EAC094B88}"/>
                </a:ext>
              </a:extLst>
            </p:cNvPr>
            <p:cNvSpPr/>
            <p:nvPr/>
          </p:nvSpPr>
          <p:spPr>
            <a:xfrm>
              <a:off x="2468880" y="1325880"/>
              <a:ext cx="1828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识别意图 → 故障排查</a:t>
              </a:r>
              <a:endParaRPr lang="en-US" sz="1000" dirty="0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61CE6BB9-5A89-5C78-02D0-6298968B6CA7}"/>
                </a:ext>
              </a:extLst>
            </p:cNvPr>
            <p:cNvSpPr/>
            <p:nvPr/>
          </p:nvSpPr>
          <p:spPr>
            <a:xfrm>
              <a:off x="502920" y="1810512"/>
              <a:ext cx="20116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② Discovery Agent</a:t>
              </a:r>
              <a:endParaRPr lang="en-US" sz="1050" dirty="0"/>
            </a:p>
          </p:txBody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AB066A47-86B3-7FB7-BE96-ED8C9C7F2072}"/>
                </a:ext>
              </a:extLst>
            </p:cNvPr>
            <p:cNvSpPr/>
            <p:nvPr/>
          </p:nvSpPr>
          <p:spPr>
            <a:xfrm>
              <a:off x="2468880" y="1810512"/>
              <a:ext cx="1828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获取指标，确认异常</a:t>
              </a:r>
              <a:endParaRPr lang="en-US" sz="1000" dirty="0"/>
            </a:p>
          </p:txBody>
        </p:sp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B4881B9E-5F0E-2FA2-8B18-AC232A2AC161}"/>
                </a:ext>
              </a:extLst>
            </p:cNvPr>
            <p:cNvSpPr/>
            <p:nvPr/>
          </p:nvSpPr>
          <p:spPr>
            <a:xfrm>
              <a:off x="662940" y="2029966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AWS DevOps Agent · chat</a:t>
              </a:r>
              <a:endParaRPr lang="en-US" sz="900" dirty="0"/>
            </a:p>
          </p:txBody>
        </p:sp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7046326F-CB91-65D3-5AEA-65470F47F543}"/>
                </a:ext>
              </a:extLst>
            </p:cNvPr>
            <p:cNvSpPr/>
            <p:nvPr/>
          </p:nvSpPr>
          <p:spPr>
            <a:xfrm>
              <a:off x="502920" y="2295144"/>
              <a:ext cx="20116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③ Knowledge Agent</a:t>
              </a:r>
              <a:endParaRPr lang="en-US" sz="1050" dirty="0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69115390-C05D-751E-F8E2-601CA66CCADC}"/>
                </a:ext>
              </a:extLst>
            </p:cNvPr>
            <p:cNvSpPr/>
            <p:nvPr/>
          </p:nvSpPr>
          <p:spPr>
            <a:xfrm>
              <a:off x="2468880" y="2295144"/>
              <a:ext cx="1828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检索历史相似案例</a:t>
              </a:r>
              <a:endParaRPr lang="en-US" sz="100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1C478D24-FDF4-1C8A-1295-B7B2D3C5AB5B}"/>
                </a:ext>
              </a:extLst>
            </p:cNvPr>
            <p:cNvSpPr/>
            <p:nvPr/>
          </p:nvSpPr>
          <p:spPr>
            <a:xfrm>
              <a:off x="662940" y="2532887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DevOps Agent Skills + Bedrock KB</a:t>
              </a:r>
              <a:endParaRPr lang="en-US" sz="900" dirty="0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7D5ADDA4-CB41-FF61-64BC-C5D96E70FBD8}"/>
                </a:ext>
              </a:extLst>
            </p:cNvPr>
            <p:cNvSpPr/>
            <p:nvPr/>
          </p:nvSpPr>
          <p:spPr>
            <a:xfrm>
              <a:off x="502920" y="2779776"/>
              <a:ext cx="20116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④ Analysis Agent</a:t>
              </a:r>
              <a:endParaRPr lang="en-US" sz="1050" dirty="0"/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7A55AC1B-FBBC-D8F3-843D-AC5224B8E1DC}"/>
                </a:ext>
              </a:extLst>
            </p:cNvPr>
            <p:cNvSpPr/>
            <p:nvPr/>
          </p:nvSpPr>
          <p:spPr>
            <a:xfrm>
              <a:off x="2468880" y="2779776"/>
              <a:ext cx="1828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分析根因（只读）</a:t>
              </a:r>
              <a:endParaRPr lang="en-US" sz="1000" dirty="0"/>
            </a:p>
          </p:txBody>
        </p:sp>
        <p:sp>
          <p:nvSpPr>
            <p:cNvPr id="16" name="Text 15">
              <a:extLst>
                <a:ext uri="{FF2B5EF4-FFF2-40B4-BE49-F238E27FC236}">
                  <a16:creationId xmlns:a16="http://schemas.microsoft.com/office/drawing/2014/main" id="{DD779662-7C2B-AA4D-85A5-4507F3910FDB}"/>
                </a:ext>
              </a:extLst>
            </p:cNvPr>
            <p:cNvSpPr/>
            <p:nvPr/>
          </p:nvSpPr>
          <p:spPr>
            <a:xfrm>
              <a:off x="640080" y="3017519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AWS DevOps Agent · investigation</a:t>
              </a:r>
              <a:endParaRPr lang="en-US" sz="900" dirty="0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4786BB06-B9C1-BFDB-BA08-D3388DF18100}"/>
                </a:ext>
              </a:extLst>
            </p:cNvPr>
            <p:cNvSpPr/>
            <p:nvPr/>
          </p:nvSpPr>
          <p:spPr>
            <a:xfrm>
              <a:off x="502920" y="3264408"/>
              <a:ext cx="20116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⑤ Report Agent</a:t>
              </a:r>
              <a:endParaRPr lang="en-US" sz="1050" dirty="0"/>
            </a:p>
          </p:txBody>
        </p:sp>
        <p:sp>
          <p:nvSpPr>
            <p:cNvPr id="18" name="Text 17">
              <a:extLst>
                <a:ext uri="{FF2B5EF4-FFF2-40B4-BE49-F238E27FC236}">
                  <a16:creationId xmlns:a16="http://schemas.microsoft.com/office/drawing/2014/main" id="{4B23D403-9DF4-8C34-CB88-9C4D2DF02ECD}"/>
                </a:ext>
              </a:extLst>
            </p:cNvPr>
            <p:cNvSpPr/>
            <p:nvPr/>
          </p:nvSpPr>
          <p:spPr>
            <a:xfrm>
              <a:off x="2468880" y="3264408"/>
              <a:ext cx="1828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生成 HTML 分析页 + 语音播报</a:t>
              </a:r>
              <a:endParaRPr lang="en-US" sz="1000" dirty="0"/>
            </a:p>
          </p:txBody>
        </p:sp>
        <p:sp>
          <p:nvSpPr>
            <p:cNvPr id="19" name="Text 18">
              <a:extLst>
                <a:ext uri="{FF2B5EF4-FFF2-40B4-BE49-F238E27FC236}">
                  <a16:creationId xmlns:a16="http://schemas.microsoft.com/office/drawing/2014/main" id="{485128FC-7306-12E9-DA2B-59C77FD46FAE}"/>
                </a:ext>
              </a:extLst>
            </p:cNvPr>
            <p:cNvSpPr/>
            <p:nvPr/>
          </p:nvSpPr>
          <p:spPr>
            <a:xfrm>
              <a:off x="640080" y="3520440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S3 + SNS</a:t>
              </a:r>
              <a:endParaRPr lang="en-US" sz="900" dirty="0"/>
            </a:p>
          </p:txBody>
        </p:sp>
        <p:sp>
          <p:nvSpPr>
            <p:cNvPr id="20" name="Text 19">
              <a:extLst>
                <a:ext uri="{FF2B5EF4-FFF2-40B4-BE49-F238E27FC236}">
                  <a16:creationId xmlns:a16="http://schemas.microsoft.com/office/drawing/2014/main" id="{C93312B4-4DF3-D643-E8E1-18B4C9B1AF27}"/>
                </a:ext>
              </a:extLst>
            </p:cNvPr>
            <p:cNvSpPr/>
            <p:nvPr/>
          </p:nvSpPr>
          <p:spPr>
            <a:xfrm>
              <a:off x="502920" y="3749040"/>
              <a:ext cx="20116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⑥ Execution Agent</a:t>
              </a:r>
              <a:endParaRPr lang="en-US" sz="1050" dirty="0"/>
            </a:p>
          </p:txBody>
        </p:sp>
        <p:sp>
          <p:nvSpPr>
            <p:cNvPr id="21" name="Text 20">
              <a:extLst>
                <a:ext uri="{FF2B5EF4-FFF2-40B4-BE49-F238E27FC236}">
                  <a16:creationId xmlns:a16="http://schemas.microsoft.com/office/drawing/2014/main" id="{58D69119-AC83-BF0E-34DA-15FE6BC22956}"/>
                </a:ext>
              </a:extLst>
            </p:cNvPr>
            <p:cNvSpPr/>
            <p:nvPr/>
          </p:nvSpPr>
          <p:spPr>
            <a:xfrm>
              <a:off x="2468880" y="3749040"/>
              <a:ext cx="1828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用户确认后执行修复</a:t>
              </a:r>
              <a:endParaRPr lang="en-US" sz="1000" dirty="0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5CC22857-6EA1-7485-4645-3679C7E55C0D}"/>
                </a:ext>
              </a:extLst>
            </p:cNvPr>
            <p:cNvSpPr/>
            <p:nvPr/>
          </p:nvSpPr>
          <p:spPr>
            <a:xfrm>
              <a:off x="640080" y="3986784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Execution Lambda + Confirm Token</a:t>
              </a:r>
              <a:endParaRPr lang="en-US" sz="900" dirty="0"/>
            </a:p>
          </p:txBody>
        </p:sp>
        <p:sp>
          <p:nvSpPr>
            <p:cNvPr id="23" name="Text 22">
              <a:extLst>
                <a:ext uri="{FF2B5EF4-FFF2-40B4-BE49-F238E27FC236}">
                  <a16:creationId xmlns:a16="http://schemas.microsoft.com/office/drawing/2014/main" id="{2351C5C4-A630-2285-1702-AF522864432B}"/>
                </a:ext>
              </a:extLst>
            </p:cNvPr>
            <p:cNvSpPr/>
            <p:nvPr/>
          </p:nvSpPr>
          <p:spPr>
            <a:xfrm>
              <a:off x="502920" y="4233672"/>
              <a:ext cx="20116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⑦ Knowledge Agent</a:t>
              </a:r>
              <a:endParaRPr lang="en-US" sz="1050" dirty="0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09C902FB-19D1-EDBD-2425-8AE7142AB6C7}"/>
                </a:ext>
              </a:extLst>
            </p:cNvPr>
            <p:cNvSpPr/>
            <p:nvPr/>
          </p:nvSpPr>
          <p:spPr>
            <a:xfrm>
              <a:off x="2468880" y="4233672"/>
              <a:ext cx="18288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沉淀事件报告到 KB</a:t>
              </a:r>
              <a:endParaRPr lang="en-US" sz="1000" dirty="0"/>
            </a:p>
          </p:txBody>
        </p:sp>
        <p:sp>
          <p:nvSpPr>
            <p:cNvPr id="25" name="Text 24">
              <a:extLst>
                <a:ext uri="{FF2B5EF4-FFF2-40B4-BE49-F238E27FC236}">
                  <a16:creationId xmlns:a16="http://schemas.microsoft.com/office/drawing/2014/main" id="{BB467E2A-C136-3440-25FC-4E5D12AFB845}"/>
                </a:ext>
              </a:extLst>
            </p:cNvPr>
            <p:cNvSpPr/>
            <p:nvPr/>
          </p:nvSpPr>
          <p:spPr>
            <a:xfrm>
              <a:off x="685801" y="4467062"/>
              <a:ext cx="18288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DevOps Agent Skills + Bedrock KB</a:t>
              </a:r>
              <a:endParaRPr lang="en-US" sz="900" dirty="0"/>
            </a:p>
          </p:txBody>
        </p:sp>
        <p:sp>
          <p:nvSpPr>
            <p:cNvPr id="26" name="Shape 25">
              <a:extLst>
                <a:ext uri="{FF2B5EF4-FFF2-40B4-BE49-F238E27FC236}">
                  <a16:creationId xmlns:a16="http://schemas.microsoft.com/office/drawing/2014/main" id="{D7540522-F380-3A7E-A9AB-BF962029AD9F}"/>
                </a:ext>
              </a:extLst>
            </p:cNvPr>
            <p:cNvSpPr/>
            <p:nvPr/>
          </p:nvSpPr>
          <p:spPr>
            <a:xfrm>
              <a:off x="640080" y="1600200"/>
              <a:ext cx="0" cy="3017520"/>
            </a:xfrm>
            <a:prstGeom prst="line">
              <a:avLst/>
            </a:prstGeom>
            <a:noFill/>
            <a:ln w="12700">
              <a:solidFill>
                <a:srgbClr val="FF9900"/>
              </a:solidFill>
              <a:prstDash val="dash"/>
            </a:ln>
          </p:spPr>
          <p:txBody>
            <a:bodyPr/>
            <a:lstStyle/>
            <a:p>
              <a:endParaRPr lang="zh-CN" altLang="en-US" sz="2400"/>
            </a:p>
          </p:txBody>
        </p:sp>
        <p:sp>
          <p:nvSpPr>
            <p:cNvPr id="27" name="Shape 26">
              <a:extLst>
                <a:ext uri="{FF2B5EF4-FFF2-40B4-BE49-F238E27FC236}">
                  <a16:creationId xmlns:a16="http://schemas.microsoft.com/office/drawing/2014/main" id="{98636B6C-7724-73A2-C693-81DD2954DA93}"/>
                </a:ext>
              </a:extLst>
            </p:cNvPr>
            <p:cNvSpPr/>
            <p:nvPr/>
          </p:nvSpPr>
          <p:spPr>
            <a:xfrm>
              <a:off x="5029200" y="868680"/>
              <a:ext cx="3840480" cy="4023360"/>
            </a:xfrm>
            <a:prstGeom prst="roundRect">
              <a:avLst>
                <a:gd name="adj" fmla="val 1190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2400"/>
            </a:p>
          </p:txBody>
        </p:sp>
        <p:sp>
          <p:nvSpPr>
            <p:cNvPr id="28" name="Text 27">
              <a:extLst>
                <a:ext uri="{FF2B5EF4-FFF2-40B4-BE49-F238E27FC236}">
                  <a16:creationId xmlns:a16="http://schemas.microsoft.com/office/drawing/2014/main" id="{F7CF5645-AE54-DF04-6075-6A8B05FDF0DE}"/>
                </a:ext>
              </a:extLst>
            </p:cNvPr>
            <p:cNvSpPr/>
            <p:nvPr/>
          </p:nvSpPr>
          <p:spPr>
            <a:xfrm>
              <a:off x="5212080" y="960120"/>
              <a:ext cx="3474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编排机制</a:t>
              </a:r>
              <a:endParaRPr lang="en-US" sz="1400" dirty="0"/>
            </a:p>
          </p:txBody>
        </p:sp>
        <p:sp>
          <p:nvSpPr>
            <p:cNvPr id="29" name="Shape 28">
              <a:extLst>
                <a:ext uri="{FF2B5EF4-FFF2-40B4-BE49-F238E27FC236}">
                  <a16:creationId xmlns:a16="http://schemas.microsoft.com/office/drawing/2014/main" id="{162B5869-7442-2638-C206-D45309B38BB3}"/>
                </a:ext>
              </a:extLst>
            </p:cNvPr>
            <p:cNvSpPr/>
            <p:nvPr/>
          </p:nvSpPr>
          <p:spPr>
            <a:xfrm>
              <a:off x="5212080" y="1325880"/>
              <a:ext cx="3474720" cy="822960"/>
            </a:xfrm>
            <a:prstGeom prst="roundRect">
              <a:avLst>
                <a:gd name="adj" fmla="val 3333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2400"/>
            </a:p>
          </p:txBody>
        </p:sp>
        <p:sp>
          <p:nvSpPr>
            <p:cNvPr id="30" name="Text 29">
              <a:extLst>
                <a:ext uri="{FF2B5EF4-FFF2-40B4-BE49-F238E27FC236}">
                  <a16:creationId xmlns:a16="http://schemas.microsoft.com/office/drawing/2014/main" id="{ECB1E109-784B-5527-0B82-1F60D6982468}"/>
                </a:ext>
              </a:extLst>
            </p:cNvPr>
            <p:cNvSpPr/>
            <p:nvPr/>
          </p:nvSpPr>
          <p:spPr>
            <a:xfrm>
              <a:off x="5349240" y="1371600"/>
              <a:ext cx="320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Tool-as-Agent (Strands SDK)</a:t>
              </a:r>
              <a:endParaRPr lang="en-US" sz="1050" dirty="0"/>
            </a:p>
          </p:txBody>
        </p:sp>
        <p:sp>
          <p:nvSpPr>
            <p:cNvPr id="31" name="Text 30">
              <a:extLst>
                <a:ext uri="{FF2B5EF4-FFF2-40B4-BE49-F238E27FC236}">
                  <a16:creationId xmlns:a16="http://schemas.microsoft.com/office/drawing/2014/main" id="{79CC71BC-2962-30CE-4D51-B15351B55B00}"/>
                </a:ext>
              </a:extLst>
            </p:cNvPr>
            <p:cNvSpPr/>
            <p:nvPr/>
          </p:nvSpPr>
          <p:spPr>
            <a:xfrm>
              <a:off x="5349240" y="1600200"/>
              <a:ext cx="32004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Orchestrator Lambda 内 Strands SDK 编排</a:t>
              </a:r>
              <a:endParaRPr lang="en-US" sz="100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5 个逻辑 Agent 作为 Tool 互相可调</a:t>
              </a:r>
              <a:endParaRPr lang="en-US" sz="100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例: Analysis → Knowledge → DevOps Agent Skills</a:t>
              </a:r>
              <a:endParaRPr lang="en-US" sz="1000" dirty="0"/>
            </a:p>
          </p:txBody>
        </p:sp>
        <p:sp>
          <p:nvSpPr>
            <p:cNvPr id="32" name="Shape 31">
              <a:extLst>
                <a:ext uri="{FF2B5EF4-FFF2-40B4-BE49-F238E27FC236}">
                  <a16:creationId xmlns:a16="http://schemas.microsoft.com/office/drawing/2014/main" id="{D574688B-185A-2508-DB75-A68F4F1C0462}"/>
                </a:ext>
              </a:extLst>
            </p:cNvPr>
            <p:cNvSpPr/>
            <p:nvPr/>
          </p:nvSpPr>
          <p:spPr>
            <a:xfrm>
              <a:off x="5212080" y="2286000"/>
              <a:ext cx="3474720" cy="822960"/>
            </a:xfrm>
            <a:prstGeom prst="roundRect">
              <a:avLst>
                <a:gd name="adj" fmla="val 3333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2400"/>
            </a:p>
          </p:txBody>
        </p:sp>
        <p:sp>
          <p:nvSpPr>
            <p:cNvPr id="33" name="Text 32">
              <a:extLst>
                <a:ext uri="{FF2B5EF4-FFF2-40B4-BE49-F238E27FC236}">
                  <a16:creationId xmlns:a16="http://schemas.microsoft.com/office/drawing/2014/main" id="{48CF2121-74C5-8B7D-F659-26AF5B2EF537}"/>
                </a:ext>
              </a:extLst>
            </p:cNvPr>
            <p:cNvSpPr/>
            <p:nvPr/>
          </p:nvSpPr>
          <p:spPr>
            <a:xfrm>
              <a:off x="5349240" y="2331720"/>
              <a:ext cx="320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Policy 护栏 + IAM 物理隔离</a:t>
              </a:r>
              <a:endParaRPr lang="en-US" sz="1050" dirty="0"/>
            </a:p>
          </p:txBody>
        </p:sp>
        <p:sp>
          <p:nvSpPr>
            <p:cNvPr id="34" name="Text 33">
              <a:extLst>
                <a:ext uri="{FF2B5EF4-FFF2-40B4-BE49-F238E27FC236}">
                  <a16:creationId xmlns:a16="http://schemas.microsoft.com/office/drawing/2014/main" id="{12CE6B6F-49EF-AC61-6CF6-66F7E4F344BE}"/>
                </a:ext>
              </a:extLst>
            </p:cNvPr>
            <p:cNvSpPr/>
            <p:nvPr/>
          </p:nvSpPr>
          <p:spPr>
            <a:xfrm>
              <a:off x="5349240" y="2560320"/>
              <a:ext cx="32004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Orchestrator Lambda: 只读（无写权限）</a:t>
              </a:r>
              <a:endParaRPr lang="en-US" sz="100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Execution Lambda: 独立 IAM + Confirm Token</a:t>
              </a:r>
              <a:endParaRPr lang="en-US" sz="100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Policy Guard + IAM 双重护栏；越权操作拦截+审计</a:t>
              </a:r>
              <a:endParaRPr lang="en-US" sz="1000" dirty="0"/>
            </a:p>
          </p:txBody>
        </p:sp>
        <p:sp>
          <p:nvSpPr>
            <p:cNvPr id="35" name="Shape 34">
              <a:extLst>
                <a:ext uri="{FF2B5EF4-FFF2-40B4-BE49-F238E27FC236}">
                  <a16:creationId xmlns:a16="http://schemas.microsoft.com/office/drawing/2014/main" id="{C5FC11FE-2F03-C11F-91CE-202FE315990C}"/>
                </a:ext>
              </a:extLst>
            </p:cNvPr>
            <p:cNvSpPr/>
            <p:nvPr/>
          </p:nvSpPr>
          <p:spPr>
            <a:xfrm>
              <a:off x="5212080" y="3246120"/>
              <a:ext cx="3474720" cy="822960"/>
            </a:xfrm>
            <a:prstGeom prst="roundRect">
              <a:avLst>
                <a:gd name="adj" fmla="val 3333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2400"/>
            </a:p>
          </p:txBody>
        </p:sp>
        <p:sp>
          <p:nvSpPr>
            <p:cNvPr id="36" name="Text 35">
              <a:extLst>
                <a:ext uri="{FF2B5EF4-FFF2-40B4-BE49-F238E27FC236}">
                  <a16:creationId xmlns:a16="http://schemas.microsoft.com/office/drawing/2014/main" id="{EA538244-3826-2637-30BF-E4677B71F684}"/>
                </a:ext>
              </a:extLst>
            </p:cNvPr>
            <p:cNvSpPr/>
            <p:nvPr/>
          </p:nvSpPr>
          <p:spPr>
            <a:xfrm>
              <a:off x="5349240" y="3291840"/>
              <a:ext cx="3200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DevOps Agent 引擎</a:t>
              </a:r>
              <a:endParaRPr lang="en-US" sz="1050" dirty="0"/>
            </a:p>
          </p:txBody>
        </p:sp>
        <p:sp>
          <p:nvSpPr>
            <p:cNvPr id="37" name="Text 36">
              <a:extLst>
                <a:ext uri="{FF2B5EF4-FFF2-40B4-BE49-F238E27FC236}">
                  <a16:creationId xmlns:a16="http://schemas.microsoft.com/office/drawing/2014/main" id="{D0C54300-2B82-EC7C-3697-625992958FE2}"/>
                </a:ext>
              </a:extLst>
            </p:cNvPr>
            <p:cNvSpPr/>
            <p:nvPr/>
          </p:nvSpPr>
          <p:spPr>
            <a:xfrm>
              <a:off x="5349240" y="3520440"/>
              <a:ext cx="320040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AWS DevOps Agent (GA 2026-03-31)</a:t>
              </a:r>
              <a:endParaRPr lang="en-US" sz="100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94% 根因准确率 · 75% MTTR 下降</a:t>
              </a:r>
              <a:endParaRPr lang="en-US" sz="100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本方案直接调用，不重复造轮子</a:t>
              </a:r>
              <a:endParaRPr lang="en-US" sz="1000" dirty="0"/>
            </a:p>
          </p:txBody>
        </p:sp>
        <p:sp>
          <p:nvSpPr>
            <p:cNvPr id="38" name="Shape 37">
              <a:extLst>
                <a:ext uri="{FF2B5EF4-FFF2-40B4-BE49-F238E27FC236}">
                  <a16:creationId xmlns:a16="http://schemas.microsoft.com/office/drawing/2014/main" id="{EC5443B8-987A-43DA-A294-B02EAD15F2E3}"/>
                </a:ext>
              </a:extLst>
            </p:cNvPr>
            <p:cNvSpPr/>
            <p:nvPr/>
          </p:nvSpPr>
          <p:spPr>
            <a:xfrm>
              <a:off x="5212080" y="4206240"/>
              <a:ext cx="3474720" cy="594360"/>
            </a:xfrm>
            <a:prstGeom prst="roundRect">
              <a:avLst>
                <a:gd name="adj" fmla="val 4615"/>
              </a:avLst>
            </a:prstGeom>
            <a:solidFill>
              <a:srgbClr val="0F1624"/>
            </a:solidFill>
            <a:ln w="1016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zh-CN" altLang="en-US" sz="2400"/>
            </a:p>
          </p:txBody>
        </p:sp>
        <p:sp>
          <p:nvSpPr>
            <p:cNvPr id="39" name="Text 38">
              <a:extLst>
                <a:ext uri="{FF2B5EF4-FFF2-40B4-BE49-F238E27FC236}">
                  <a16:creationId xmlns:a16="http://schemas.microsoft.com/office/drawing/2014/main" id="{8EC82046-8ACA-5ECD-E003-0D3CCFF5AF12}"/>
                </a:ext>
              </a:extLst>
            </p:cNvPr>
            <p:cNvSpPr/>
            <p:nvPr/>
          </p:nvSpPr>
          <p:spPr>
            <a:xfrm>
              <a:off x="5349240" y="4251960"/>
              <a:ext cx="320040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为什么 6 逻辑 Agent / 4 物理 Lambda？</a:t>
              </a:r>
              <a:endParaRPr lang="en-US" sz="1050" dirty="0"/>
            </a:p>
          </p:txBody>
        </p:sp>
        <p:sp>
          <p:nvSpPr>
            <p:cNvPr id="40" name="Text 39">
              <a:extLst>
                <a:ext uri="{FF2B5EF4-FFF2-40B4-BE49-F238E27FC236}">
                  <a16:creationId xmlns:a16="http://schemas.microsoft.com/office/drawing/2014/main" id="{3F8AB60C-D971-1523-3D64-5606C310209D}"/>
                </a:ext>
              </a:extLst>
            </p:cNvPr>
            <p:cNvSpPr/>
            <p:nvPr/>
          </p:nvSpPr>
          <p:spPr>
            <a:xfrm>
              <a:off x="5349240" y="4453128"/>
              <a:ext cx="3200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6 逻辑 Agent 在 Orchestrator Lambda 内 Strands SDK 编排，仅 Execution 因写权限独立 Lambda；DevOps Agent 作为 Discovery / Analysis / Knowledge 引擎</a:t>
              </a:r>
              <a:endParaRPr lang="en-US" sz="900" dirty="0"/>
            </a:p>
          </p:txBody>
        </p:sp>
        <p:sp>
          <p:nvSpPr>
            <p:cNvPr id="41" name="Text 40">
              <a:extLst>
                <a:ext uri="{FF2B5EF4-FFF2-40B4-BE49-F238E27FC236}">
                  <a16:creationId xmlns:a16="http://schemas.microsoft.com/office/drawing/2014/main" id="{90F65E8A-C94D-DE9A-8B13-2D4172D780F9}"/>
                </a:ext>
              </a:extLst>
            </p:cNvPr>
            <p:cNvSpPr/>
            <p:nvPr/>
          </p:nvSpPr>
          <p:spPr>
            <a:xfrm>
              <a:off x="274320" y="4846320"/>
              <a:ext cx="7772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A6A8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涉及服务：Strands SDK (编排) · AWS DevOps Agent (Discovery+Analysis+Skills) · Execution Lambda (写隔离) · Bedrock KB (双写) · S3+SNS (报告)</a:t>
              </a:r>
              <a:endParaRPr lang="en-US" sz="1100" dirty="0"/>
            </a:p>
          </p:txBody>
        </p:sp>
      </p:grpSp>
      <p:sp>
        <p:nvSpPr>
          <p:cNvPr id="42" name="Text 2">
            <a:extLst>
              <a:ext uri="{FF2B5EF4-FFF2-40B4-BE49-F238E27FC236}">
                <a16:creationId xmlns:a16="http://schemas.microsoft.com/office/drawing/2014/main" id="{84D909FC-2C8C-91D1-589A-06DC19FD34C8}"/>
              </a:ext>
            </a:extLst>
          </p:cNvPr>
          <p:cNvSpPr/>
          <p:nvPr/>
        </p:nvSpPr>
        <p:spPr>
          <a:xfrm>
            <a:off x="674028" y="776733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B0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逻辑 Agent · Strands SDK · DevOps Agent 引擎 · Confirm Token 护栏</a:t>
            </a:r>
            <a:endParaRPr lang="en-US" sz="1200" dirty="0"/>
          </a:p>
        </p:txBody>
      </p:sp>
      <p:sp>
        <p:nvSpPr>
          <p:cNvPr id="43" name="TextBox 42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v3 编排架构: 1 Strands Agent + 5 Tool</a:t>
            </a:r>
          </a:p>
          <a:p>
            <a:endParaRPr sz="1200" b="0"/>
          </a:p>
          <a:p>
            <a:r>
              <a:rPr sz="1200" b="0"/>
              <a:t>Strands Agents 1.40 SDK (AWS 开源)</a:t>
            </a:r>
          </a:p>
          <a:p>
            <a:r>
              <a:rPr sz="1200" b="0"/>
              <a:t>  • LLM-driven routing (Bedrock Nova Pro)</a:t>
            </a:r>
          </a:p>
          <a:p>
            <a:r>
              <a:rPr sz="1200" b="0"/>
              <a:t>  • @tool 装饰器，automatic schema inference</a:t>
            </a:r>
          </a:p>
          <a:p>
            <a:r>
              <a:rPr sz="1200" b="0"/>
              <a:t>  • 内置 MCP server 兼容性</a:t>
            </a:r>
          </a:p>
          <a:p>
            <a:endParaRPr sz="1200" b="0"/>
          </a:p>
          <a:p>
            <a:r>
              <a:rPr sz="1200" b="0"/>
              <a:t>5 个 Tool</a:t>
            </a:r>
          </a:p>
          <a:p>
            <a:r>
              <a:rPr sz="1200" b="0"/>
              <a:t>  • discover_service → DOA chat</a:t>
            </a:r>
          </a:p>
          <a:p>
            <a:r>
              <a:rPr sz="1200" b="0"/>
              <a:t>  • deep_investigate → DOA CreateBacklogTask</a:t>
            </a:r>
          </a:p>
          <a:p>
            <a:r>
              <a:rPr sz="1200" b="0"/>
              <a:t>  • search_knowledge → Bedrock KB</a:t>
            </a:r>
          </a:p>
          <a:p>
            <a:r>
              <a:rPr sz="1200" b="0"/>
              <a:t>  • render_report → Jinja2 → S3</a:t>
            </a:r>
          </a:p>
          <a:p>
            <a:r>
              <a:rPr sz="1200" b="0"/>
              <a:t>  • request_execute → invoke L2 (写隔离)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调用流程示例</a:t>
            </a:r>
          </a:p>
          <a:p>
            <a:endParaRPr sz="1200" b="0"/>
          </a:p>
          <a:p>
            <a:r>
              <a:rPr sz="1200" b="0"/>
              <a:t>用户: "demo-api 为什么慢"</a:t>
            </a:r>
          </a:p>
          <a:p>
            <a:r>
              <a:rPr sz="1200" b="0"/>
              <a:t>    ↓</a:t>
            </a:r>
          </a:p>
          <a:p>
            <a:r>
              <a:rPr sz="1200" b="0"/>
              <a:t>Strands LLM 自动决定:</a:t>
            </a:r>
          </a:p>
          <a:p>
            <a:r>
              <a:rPr sz="1200" b="0"/>
              <a:t>  Plan = [discover, investigate, report]</a:t>
            </a:r>
          </a:p>
          <a:p>
            <a:r>
              <a:rPr sz="1200" b="0"/>
              <a:t>    ↓</a:t>
            </a:r>
          </a:p>
          <a:p>
            <a:r>
              <a:rPr sz="1200" b="0"/>
              <a:t>并发执行（Strands 内置）</a:t>
            </a:r>
          </a:p>
          <a:p>
            <a:r>
              <a:rPr sz="1200" b="0"/>
              <a:t>  • discover → DOA chat 5-30s</a:t>
            </a:r>
          </a:p>
          <a:p>
            <a:r>
              <a:rPr sz="1200" b="0"/>
              <a:t>  • investigate → DOA RCA 5-15min (异步)</a:t>
            </a:r>
          </a:p>
          <a:p>
            <a:r>
              <a:rPr sz="1200" b="0"/>
              <a:t>  • report → HTML → S3</a:t>
            </a:r>
          </a:p>
          <a:p>
            <a:r>
              <a:rPr sz="1200" b="0"/>
              <a:t>    ↓</a:t>
            </a:r>
          </a:p>
          <a:p>
            <a:r>
              <a:rPr sz="1200" b="0"/>
              <a:t>返回中文摘要 + 诊断书 URL</a:t>
            </a:r>
          </a:p>
          <a:p>
            <a:endParaRPr sz="1200" b="0"/>
          </a:p>
          <a:p>
            <a:r>
              <a:rPr sz="1200" b="0"/>
              <a:t>写操作三重护栏:</a:t>
            </a:r>
          </a:p>
          <a:p>
            <a:r>
              <a:rPr sz="1200" b="0"/>
              <a:t>  ① request_confirm_token (软, DDB 写 token)</a:t>
            </a:r>
          </a:p>
          <a:p>
            <a:r>
              <a:rPr sz="1200" b="0"/>
              <a:t>  ② 用户显式 "确认" (人在回路)</a:t>
            </a:r>
          </a:p>
          <a:p>
            <a:r>
              <a:rPr sz="1200" b="0"/>
              <a:t>  ③ L2 ExecutionFn IAM + Tag 边界 (硬)</a:t>
            </a:r>
          </a:p>
        </p:txBody>
      </p:sp>
    </p:spTree>
    <p:extLst>
      <p:ext uri="{BB962C8B-B14F-4D97-AF65-F5344CB8AC3E}">
        <p14:creationId xmlns:p14="http://schemas.microsoft.com/office/powerpoint/2010/main" val="42925262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B84E1-19D3-4644-9C73-639639EE5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BB296C-64C8-5644-959E-5DE536879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核心能力：</a:t>
            </a:r>
            <a:r>
              <a:rPr lang="en-US" altLang="zh-CN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zh-CN" alt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经验闭环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Amazon Ember" panose="020B0603020204020204" pitchFamily="34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57B9055-1B42-113D-0502-80A4124C2971}"/>
              </a:ext>
            </a:extLst>
          </p:cNvPr>
          <p:cNvGrpSpPr/>
          <p:nvPr/>
        </p:nvGrpSpPr>
        <p:grpSpPr>
          <a:xfrm>
            <a:off x="444058" y="787644"/>
            <a:ext cx="11322681" cy="5355810"/>
            <a:chOff x="274320" y="502920"/>
            <a:chExt cx="8595360" cy="4297680"/>
          </a:xfrm>
        </p:grpSpPr>
        <p:sp>
          <p:nvSpPr>
            <p:cNvPr id="4" name="Text 2">
              <a:extLst>
                <a:ext uri="{FF2B5EF4-FFF2-40B4-BE49-F238E27FC236}">
                  <a16:creationId xmlns:a16="http://schemas.microsoft.com/office/drawing/2014/main" id="{8D0938A6-15A6-6F18-EA61-87611EF651DC}"/>
                </a:ext>
              </a:extLst>
            </p:cNvPr>
            <p:cNvSpPr/>
            <p:nvPr/>
          </p:nvSpPr>
          <p:spPr>
            <a:xfrm>
              <a:off x="365760" y="502920"/>
              <a:ext cx="6400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Knowledge Tool — 沉淀到 DevOps Agent Skills + Bedrock KB 双写 · 越用越聪明</a:t>
              </a:r>
              <a:endParaRPr lang="en-US" sz="1400" dirty="0"/>
            </a:p>
          </p:txBody>
        </p:sp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9DA1FE3F-0D41-E20E-8CCC-DC4AA3817A19}"/>
                </a:ext>
              </a:extLst>
            </p:cNvPr>
            <p:cNvSpPr/>
            <p:nvPr/>
          </p:nvSpPr>
          <p:spPr>
            <a:xfrm>
              <a:off x="274320" y="868680"/>
              <a:ext cx="4480560" cy="3378315"/>
            </a:xfrm>
            <a:prstGeom prst="roundRect">
              <a:avLst>
                <a:gd name="adj" fmla="val 1563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63C46CCF-F7BC-091F-9060-0E2B5215A25E}"/>
                </a:ext>
              </a:extLst>
            </p:cNvPr>
            <p:cNvSpPr/>
            <p:nvPr/>
          </p:nvSpPr>
          <p:spPr>
            <a:xfrm>
              <a:off x="457200" y="960120"/>
              <a:ext cx="4114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沉淀流程</a:t>
              </a:r>
              <a:endParaRPr lang="en-US" sz="200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9CB4DBA8-837E-9410-E1E7-E594B3237F3A}"/>
                </a:ext>
              </a:extLst>
            </p:cNvPr>
            <p:cNvSpPr/>
            <p:nvPr/>
          </p:nvSpPr>
          <p:spPr>
            <a:xfrm>
              <a:off x="502920" y="1280160"/>
              <a:ext cx="2743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① 故障处理完成</a:t>
              </a:r>
              <a:endParaRPr lang="en-US" sz="14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8EA8B749-49EC-956B-C89A-8B391E4C8D00}"/>
                </a:ext>
              </a:extLst>
            </p:cNvPr>
            <p:cNvSpPr/>
            <p:nvPr/>
          </p:nvSpPr>
          <p:spPr>
            <a:xfrm>
              <a:off x="3200400" y="1280160"/>
              <a:ext cx="1371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Execution Agent</a:t>
              </a:r>
              <a:endParaRPr lang="en-US" sz="11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5C79EA60-43EF-04FF-3A2B-CE2D148CE350}"/>
                </a:ext>
              </a:extLst>
            </p:cNvPr>
            <p:cNvSpPr/>
            <p:nvPr/>
          </p:nvSpPr>
          <p:spPr>
            <a:xfrm>
              <a:off x="685800" y="1508760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FF9900"/>
                  </a:solidFill>
                </a:rPr>
                <a:t>↓</a:t>
              </a:r>
              <a:endParaRPr lang="en-US" sz="16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A6BF38FF-C500-40F7-3879-6D8DC9C50CD2}"/>
                </a:ext>
              </a:extLst>
            </p:cNvPr>
            <p:cNvSpPr/>
            <p:nvPr/>
          </p:nvSpPr>
          <p:spPr>
            <a:xfrm>
              <a:off x="502920" y="1755648"/>
              <a:ext cx="2743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② 生成结构化事件报告</a:t>
              </a:r>
              <a:endParaRPr lang="en-US" sz="14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01DBDA26-51CB-6136-8BBD-F55FE4456737}"/>
                </a:ext>
              </a:extLst>
            </p:cNvPr>
            <p:cNvSpPr/>
            <p:nvPr/>
          </p:nvSpPr>
          <p:spPr>
            <a:xfrm>
              <a:off x="3200400" y="1755648"/>
              <a:ext cx="1371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Knowledge Tool + Bedrock LLM</a:t>
              </a:r>
              <a:endParaRPr lang="en-US" sz="1100" dirty="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287DDD78-174E-5B6F-2502-85D4FB657F93}"/>
                </a:ext>
              </a:extLst>
            </p:cNvPr>
            <p:cNvSpPr/>
            <p:nvPr/>
          </p:nvSpPr>
          <p:spPr>
            <a:xfrm>
              <a:off x="685800" y="1984248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FF9900"/>
                  </a:solidFill>
                </a:rPr>
                <a:t>↓</a:t>
              </a:r>
              <a:endParaRPr lang="en-US" sz="1600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CBC9A62-59E7-4B81-FB41-9A780C4F5A8C}"/>
                </a:ext>
              </a:extLst>
            </p:cNvPr>
            <p:cNvSpPr/>
            <p:nvPr/>
          </p:nvSpPr>
          <p:spPr>
            <a:xfrm>
              <a:off x="502920" y="2231136"/>
              <a:ext cx="2743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③ 注册为 DevOps Agent Custom Skill + 双写 Bedrock KB</a:t>
              </a:r>
              <a:endParaRPr lang="en-US" sz="1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4A94D685-16F5-3326-D131-C07B84C6963C}"/>
                </a:ext>
              </a:extLst>
            </p:cNvPr>
            <p:cNvSpPr/>
            <p:nvPr/>
          </p:nvSpPr>
          <p:spPr>
            <a:xfrm>
              <a:off x="3200400" y="2231136"/>
              <a:ext cx="1371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DevOps Agent Skills + KB</a:t>
              </a:r>
              <a:endParaRPr lang="en-US" sz="11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4C2DBDDC-3DED-09C3-F13F-80DC7E0D8212}"/>
                </a:ext>
              </a:extLst>
            </p:cNvPr>
            <p:cNvSpPr/>
            <p:nvPr/>
          </p:nvSpPr>
          <p:spPr>
            <a:xfrm>
              <a:off x="685800" y="2459736"/>
              <a:ext cx="2743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FF9900"/>
                  </a:solidFill>
                </a:rPr>
                <a:t>↓</a:t>
              </a:r>
              <a:endParaRPr lang="en-US" sz="1600" dirty="0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63CBC055-F350-CD26-123F-C5C9A86A2BFC}"/>
                </a:ext>
              </a:extLst>
            </p:cNvPr>
            <p:cNvSpPr/>
            <p:nvPr/>
          </p:nvSpPr>
          <p:spPr>
            <a:xfrm>
              <a:off x="502920" y="2706624"/>
              <a:ext cx="27432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④ 下次语义检索匹配</a:t>
              </a:r>
              <a:endParaRPr lang="en-US" sz="14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21BB6ECD-62A3-12BC-40A9-61BDD4F5E707}"/>
                </a:ext>
              </a:extLst>
            </p:cNvPr>
            <p:cNvSpPr/>
            <p:nvPr/>
          </p:nvSpPr>
          <p:spPr>
            <a:xfrm>
              <a:off x="3200400" y="2706624"/>
              <a:ext cx="1371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Top-K 相似案例</a:t>
              </a:r>
              <a:endParaRPr lang="en-US" sz="1100" dirty="0"/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6C9258B5-BB9E-B340-2D83-5B3B72EC8738}"/>
                </a:ext>
              </a:extLst>
            </p:cNvPr>
            <p:cNvSpPr/>
            <p:nvPr/>
          </p:nvSpPr>
          <p:spPr>
            <a:xfrm>
              <a:off x="457200" y="3246120"/>
              <a:ext cx="4114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事件报告字段</a:t>
              </a:r>
              <a:endParaRPr lang="en-US" sz="1400" dirty="0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01F21F04-EC90-82A3-A871-236F70839638}"/>
                </a:ext>
              </a:extLst>
            </p:cNvPr>
            <p:cNvSpPr/>
            <p:nvPr/>
          </p:nvSpPr>
          <p:spPr>
            <a:xfrm>
              <a:off x="502920" y="3520440"/>
              <a:ext cx="1280160" cy="228600"/>
            </a:xfrm>
            <a:prstGeom prst="roundRect">
              <a:avLst>
                <a:gd name="adj" fmla="val 8000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时间线</a:t>
              </a:r>
              <a:endParaRPr lang="en-US" sz="1200" dirty="0"/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96019A43-524C-38D0-229F-A5D4EB7F7BE3}"/>
                </a:ext>
              </a:extLst>
            </p:cNvPr>
            <p:cNvSpPr/>
            <p:nvPr/>
          </p:nvSpPr>
          <p:spPr>
            <a:xfrm>
              <a:off x="1874520" y="3520440"/>
              <a:ext cx="1280160" cy="228600"/>
            </a:xfrm>
            <a:prstGeom prst="roundRect">
              <a:avLst>
                <a:gd name="adj" fmla="val 8000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根因</a:t>
              </a:r>
              <a:endParaRPr lang="en-US" sz="1200" dirty="0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9B07D172-5CAB-456F-7F3A-1F7CEEE37D21}"/>
                </a:ext>
              </a:extLst>
            </p:cNvPr>
            <p:cNvSpPr/>
            <p:nvPr/>
          </p:nvSpPr>
          <p:spPr>
            <a:xfrm>
              <a:off x="3246120" y="3520440"/>
              <a:ext cx="1280160" cy="228600"/>
            </a:xfrm>
            <a:prstGeom prst="roundRect">
              <a:avLst>
                <a:gd name="adj" fmla="val 8000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影响范围</a:t>
              </a:r>
              <a:endParaRPr lang="en-US" sz="1200" dirty="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23313F2E-AFBA-591E-309F-A258A06A4D9E}"/>
                </a:ext>
              </a:extLst>
            </p:cNvPr>
            <p:cNvSpPr/>
            <p:nvPr/>
          </p:nvSpPr>
          <p:spPr>
            <a:xfrm>
              <a:off x="502920" y="3813048"/>
              <a:ext cx="1280160" cy="228600"/>
            </a:xfrm>
            <a:prstGeom prst="roundRect">
              <a:avLst>
                <a:gd name="adj" fmla="val 8000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修复步骤</a:t>
              </a:r>
              <a:endParaRPr lang="en-US" sz="1200" dirty="0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A6D4D5C2-D9B7-C15B-6955-2418A3DA78C4}"/>
                </a:ext>
              </a:extLst>
            </p:cNvPr>
            <p:cNvSpPr/>
            <p:nvPr/>
          </p:nvSpPr>
          <p:spPr>
            <a:xfrm>
              <a:off x="1874520" y="3813048"/>
              <a:ext cx="1280160" cy="228600"/>
            </a:xfrm>
            <a:prstGeom prst="roundRect">
              <a:avLst>
                <a:gd name="adj" fmla="val 8000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验证结果</a:t>
              </a:r>
              <a:endParaRPr lang="en-US" sz="1200" dirty="0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98901CCE-6EC7-C29F-4B92-CA97DCDC9508}"/>
                </a:ext>
              </a:extLst>
            </p:cNvPr>
            <p:cNvSpPr/>
            <p:nvPr/>
          </p:nvSpPr>
          <p:spPr>
            <a:xfrm>
              <a:off x="3246120" y="3813048"/>
              <a:ext cx="1280160" cy="228600"/>
            </a:xfrm>
            <a:prstGeom prst="roundRect">
              <a:avLst>
                <a:gd name="adj" fmla="val 8000"/>
              </a:avLst>
            </a:prstGeom>
            <a:solidFill>
              <a:srgbClr val="0F1624"/>
            </a:solidFill>
            <a:ln w="635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证据链</a:t>
              </a:r>
              <a:endParaRPr lang="en-US" sz="1200" dirty="0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94A1DA6B-AFA9-A884-CDC3-2FE0F2CD9A32}"/>
                </a:ext>
              </a:extLst>
            </p:cNvPr>
            <p:cNvSpPr/>
            <p:nvPr/>
          </p:nvSpPr>
          <p:spPr>
            <a:xfrm>
              <a:off x="365760" y="4326067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i="1" dirty="0">
                  <a:solidFill>
                    <a:srgbClr val="5A6A7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Skills 立即生效；KB 双写做兼容；1 年后转 Glacier</a:t>
              </a:r>
              <a:endParaRPr lang="en-US" sz="1100" dirty="0"/>
            </a:p>
          </p:txBody>
        </p:sp>
        <p:sp>
          <p:nvSpPr>
            <p:cNvPr id="26" name="Shape 24">
              <a:extLst>
                <a:ext uri="{FF2B5EF4-FFF2-40B4-BE49-F238E27FC236}">
                  <a16:creationId xmlns:a16="http://schemas.microsoft.com/office/drawing/2014/main" id="{3FDEF933-5674-9EA6-E906-E76EA6330050}"/>
                </a:ext>
              </a:extLst>
            </p:cNvPr>
            <p:cNvSpPr/>
            <p:nvPr/>
          </p:nvSpPr>
          <p:spPr>
            <a:xfrm>
              <a:off x="4937760" y="868680"/>
              <a:ext cx="3931920" cy="2011680"/>
            </a:xfrm>
            <a:prstGeom prst="roundRect">
              <a:avLst>
                <a:gd name="adj" fmla="val 2273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8CA83D0E-FCF0-BEF6-8859-61F1C447B6E5}"/>
                </a:ext>
              </a:extLst>
            </p:cNvPr>
            <p:cNvSpPr/>
            <p:nvPr/>
          </p:nvSpPr>
          <p:spPr>
            <a:xfrm>
              <a:off x="5120640" y="960120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自动匹配</a:t>
              </a:r>
              <a:endParaRPr lang="en-US" sz="2000" dirty="0"/>
            </a:p>
          </p:txBody>
        </p:sp>
        <p:sp>
          <p:nvSpPr>
            <p:cNvPr id="28" name="Shape 26">
              <a:extLst>
                <a:ext uri="{FF2B5EF4-FFF2-40B4-BE49-F238E27FC236}">
                  <a16:creationId xmlns:a16="http://schemas.microsoft.com/office/drawing/2014/main" id="{E33E6932-9AB3-2D1B-B739-61D468302DA8}"/>
                </a:ext>
              </a:extLst>
            </p:cNvPr>
            <p:cNvSpPr/>
            <p:nvPr/>
          </p:nvSpPr>
          <p:spPr>
            <a:xfrm>
              <a:off x="5120640" y="1261872"/>
              <a:ext cx="3566160" cy="411480"/>
            </a:xfrm>
            <a:prstGeom prst="roundRect">
              <a:avLst>
                <a:gd name="adj" fmla="val 6667"/>
              </a:avLst>
            </a:prstGeom>
            <a:solidFill>
              <a:srgbClr val="1A1A0A"/>
            </a:solidFill>
            <a:ln w="1016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8A461B96-9253-BD5D-2766-A4792A4F6F60}"/>
                </a:ext>
              </a:extLst>
            </p:cNvPr>
            <p:cNvSpPr/>
            <p:nvPr/>
          </p:nvSpPr>
          <p:spPr>
            <a:xfrm>
              <a:off x="5212080" y="1280160"/>
              <a:ext cx="33832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"与3月12日事件相似度92%，当时切换备用通道解决，是否执行？"</a:t>
              </a:r>
              <a:endParaRPr lang="en-US" sz="1200" dirty="0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DF79B689-3EBC-C6E7-30DF-9C7B3B888DD0}"/>
                </a:ext>
              </a:extLst>
            </p:cNvPr>
            <p:cNvSpPr/>
            <p:nvPr/>
          </p:nvSpPr>
          <p:spPr>
            <a:xfrm>
              <a:off x="5120640" y="1755648"/>
              <a:ext cx="35661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score &gt; 85%  → 推荐历史方案，一键复用</a:t>
              </a:r>
              <a:endParaRPr lang="en-US" sz="12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score 60~85% → 辅助参考，仍需分析</a:t>
              </a:r>
              <a:endParaRPr lang="en-US" sz="12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score &lt; 60%  → 正常分析流程，完成后自动沉淀</a:t>
              </a:r>
              <a:endParaRPr lang="en-US" sz="12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C62D108B-3086-9875-6614-B85959473B1D}"/>
                </a:ext>
              </a:extLst>
            </p:cNvPr>
            <p:cNvSpPr/>
            <p:nvPr/>
          </p:nvSpPr>
          <p:spPr>
            <a:xfrm>
              <a:off x="5120640" y="2468880"/>
              <a:ext cx="35661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匹配失败 → 正常分析 → 处理完自动入库（永不白跑）</a:t>
              </a:r>
              <a:endParaRPr lang="en-US" sz="1100" dirty="0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554A1A65-184E-B703-C97F-026F2CBECA58}"/>
                </a:ext>
              </a:extLst>
            </p:cNvPr>
            <p:cNvSpPr/>
            <p:nvPr/>
          </p:nvSpPr>
          <p:spPr>
            <a:xfrm>
              <a:off x="4937760" y="3017520"/>
              <a:ext cx="3931920" cy="1783080"/>
            </a:xfrm>
            <a:prstGeom prst="roundRect">
              <a:avLst>
                <a:gd name="adj" fmla="val 2564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4AEA4E42-FE61-2E70-22E1-2FCEE463616D}"/>
                </a:ext>
              </a:extLst>
            </p:cNvPr>
            <p:cNvSpPr/>
            <p:nvPr/>
          </p:nvSpPr>
          <p:spPr>
            <a:xfrm>
              <a:off x="5120640" y="3108960"/>
              <a:ext cx="3566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成长曲线</a:t>
              </a:r>
              <a:endParaRPr lang="en-US" sz="200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8466D911-08C2-82F8-7560-68C47E938B26}"/>
                </a:ext>
              </a:extLst>
            </p:cNvPr>
            <p:cNvSpPr/>
            <p:nvPr/>
          </p:nvSpPr>
          <p:spPr>
            <a:xfrm>
              <a:off x="5166360" y="3429000"/>
              <a:ext cx="640080" cy="274320"/>
            </a:xfrm>
            <a:prstGeom prst="roundRect">
              <a:avLst>
                <a:gd name="adj" fmla="val 6667"/>
              </a:avLst>
            </a:prstGeom>
            <a:solidFill>
              <a:srgbClr val="2A1F0A"/>
            </a:solidFill>
            <a:ln w="6350">
              <a:solidFill>
                <a:srgbClr val="FF9900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冷启动</a:t>
              </a:r>
              <a:endParaRPr lang="en-US" sz="1200" dirty="0"/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08FAA29C-F30C-3243-DF50-983BF55CEC91}"/>
                </a:ext>
              </a:extLst>
            </p:cNvPr>
            <p:cNvSpPr/>
            <p:nvPr/>
          </p:nvSpPr>
          <p:spPr>
            <a:xfrm>
              <a:off x="5943600" y="3429000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预置 50+ Custom Skills (DevOps Agent)</a:t>
              </a:r>
              <a:endParaRPr lang="en-US" sz="1200" dirty="0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D63D5802-8C64-94B0-8182-FB675E26C0EB}"/>
                </a:ext>
              </a:extLst>
            </p:cNvPr>
            <p:cNvSpPr/>
            <p:nvPr/>
          </p:nvSpPr>
          <p:spPr>
            <a:xfrm>
              <a:off x="5166360" y="3813048"/>
              <a:ext cx="640080" cy="274320"/>
            </a:xfrm>
            <a:prstGeom prst="roundRect">
              <a:avLst>
                <a:gd name="adj" fmla="val 6667"/>
              </a:avLst>
            </a:prstGeom>
            <a:solidFill>
              <a:srgbClr val="0A2A1A"/>
            </a:solidFill>
            <a:ln w="6350">
              <a:solidFill>
                <a:srgbClr val="36B37E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使用中</a:t>
              </a:r>
              <a:endParaRPr lang="en-US" sz="1200" dirty="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2DACBBA3-0544-84C4-1B6B-8E13FB6E9C7B}"/>
                </a:ext>
              </a:extLst>
            </p:cNvPr>
            <p:cNvSpPr/>
            <p:nvPr/>
          </p:nvSpPr>
          <p:spPr>
            <a:xfrm>
              <a:off x="5943600" y="3813048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团队处理经验持续积累</a:t>
              </a:r>
              <a:endParaRPr lang="en-US" sz="1200" dirty="0"/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EAE8D147-FE59-BF15-0F80-811A25EEF1A7}"/>
                </a:ext>
              </a:extLst>
            </p:cNvPr>
            <p:cNvSpPr/>
            <p:nvPr/>
          </p:nvSpPr>
          <p:spPr>
            <a:xfrm>
              <a:off x="5166360" y="4197096"/>
              <a:ext cx="640080" cy="274320"/>
            </a:xfrm>
            <a:prstGeom prst="roundRect">
              <a:avLst>
                <a:gd name="adj" fmla="val 6667"/>
              </a:avLst>
            </a:prstGeom>
            <a:solidFill>
              <a:srgbClr val="0A1A2A"/>
            </a:solidFill>
            <a:ln w="6350">
              <a:solidFill>
                <a:srgbClr val="4D9FFF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成熟期</a:t>
              </a:r>
              <a:endParaRPr lang="en-US" sz="1200" dirty="0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C2674FF0-C8C8-11D4-35FF-E7AC3C46D1C5}"/>
                </a:ext>
              </a:extLst>
            </p:cNvPr>
            <p:cNvSpPr/>
            <p:nvPr/>
          </p:nvSpPr>
          <p:spPr>
            <a:xfrm>
              <a:off x="5943600" y="4197096"/>
              <a:ext cx="2743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80%+ 常见问题秒级匹配</a:t>
              </a:r>
              <a:endParaRPr lang="en-US" sz="1200" dirty="0"/>
            </a:p>
          </p:txBody>
        </p:sp>
        <p:sp>
          <p:nvSpPr>
            <p:cNvPr id="40" name="Shape 38">
              <a:extLst>
                <a:ext uri="{FF2B5EF4-FFF2-40B4-BE49-F238E27FC236}">
                  <a16:creationId xmlns:a16="http://schemas.microsoft.com/office/drawing/2014/main" id="{938A8E31-C832-2AEC-EAD2-439AE0E1E4C7}"/>
                </a:ext>
              </a:extLst>
            </p:cNvPr>
            <p:cNvSpPr/>
            <p:nvPr/>
          </p:nvSpPr>
          <p:spPr>
            <a:xfrm>
              <a:off x="5120640" y="4572000"/>
              <a:ext cx="3566160" cy="182880"/>
            </a:xfrm>
            <a:prstGeom prst="roundRect">
              <a:avLst>
                <a:gd name="adj" fmla="val 10000"/>
              </a:avLst>
            </a:prstGeom>
            <a:solidFill>
              <a:srgbClr val="0F1624"/>
            </a:solidFill>
            <a:ln w="635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1A5BC3ED-4264-58C8-517C-0ADC002D443F}"/>
                </a:ext>
              </a:extLst>
            </p:cNvPr>
            <p:cNvSpPr/>
            <p:nvPr/>
          </p:nvSpPr>
          <p:spPr>
            <a:xfrm>
              <a:off x="5166360" y="4572000"/>
              <a:ext cx="34747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效果：故障平均处理时间 30min → 2min（匹配成功时）</a:t>
              </a:r>
              <a:endParaRPr lang="en-US" sz="1100" dirty="0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事件触发 → 调查 → 解决 → 沉淀 → 复用</a:t>
            </a:r>
          </a:p>
          <a:p>
            <a:endParaRPr sz="1200" b="0"/>
          </a:p>
          <a:p>
            <a:r>
              <a:rPr sz="1200" b="0"/>
              <a:t>1. CloudWatch alarm → DOA 自动 investigation</a:t>
            </a:r>
          </a:p>
          <a:p>
            <a:r>
              <a:rPr sz="1200" b="0"/>
              <a:t>2. EventBridge (source=aws.aidevops) → L1 OrchestratorFn</a:t>
            </a:r>
          </a:p>
          <a:p>
            <a:r>
              <a:rPr sz="1200" b="0"/>
              <a:t>3. L1.eventbridge_handler 进程内做：</a:t>
            </a:r>
          </a:p>
          <a:p>
            <a:r>
              <a:rPr sz="1200" b="0"/>
              <a:t>     - DOA GetBacklogTask 拉调查详情</a:t>
            </a:r>
          </a:p>
          <a:p>
            <a:r>
              <a:rPr sz="1200" b="0"/>
              <a:t>     - Bedrock Nova Pro 写 "非技术解读"</a:t>
            </a:r>
          </a:p>
          <a:p>
            <a:r>
              <a:rPr sz="1200" b="0"/>
              <a:t>     - Jinja2 渲染 HTML 诊断书 → S3</a:t>
            </a:r>
          </a:p>
          <a:p>
            <a:r>
              <a:rPr sz="1200" b="0"/>
              <a:t>     - SES SendEmail 发 HTML 邮件 → 收件人</a:t>
            </a:r>
          </a:p>
          <a:p>
            <a:r>
              <a:rPr sz="1200" b="0"/>
              <a:t>     - Bedrock KB 双写 + AuditTable 记录</a:t>
            </a:r>
          </a:p>
          <a:p>
            <a:r>
              <a:rPr sz="1200" b="0"/>
              <a:t>4. 下次类似告警 → search_knowledge → KB.retrieve 召回</a:t>
            </a:r>
          </a:p>
          <a:p>
            <a:r>
              <a:rPr sz="1200" b="0"/>
              <a:t>5. Quick Desktop 用户问 "上次类似怎么解决" → 自动给出 RB 引用</a:t>
            </a:r>
          </a:p>
          <a:p>
            <a:endParaRPr sz="1200" b="0"/>
          </a:p>
          <a:p>
            <a:r>
              <a:rPr sz="1200" b="0"/>
              <a:t>效果指标:</a:t>
            </a:r>
          </a:p>
          <a:p>
            <a:r>
              <a:rPr sz="1200" b="0"/>
              <a:t>  • 重复故障 MTTR 下降 70%</a:t>
            </a:r>
          </a:p>
          <a:p>
            <a:r>
              <a:rPr sz="1200" b="0"/>
              <a:t>  • 知识不再依赖个人脑子（v3 实测 KB 双写已通）</a:t>
            </a:r>
          </a:p>
          <a:p>
            <a:r>
              <a:rPr sz="1200" b="0"/>
              <a:t>  • 跨设备触达：邮件 / Quick Desktop 邮件连接器 / 手机推送</a:t>
            </a:r>
          </a:p>
          <a:p>
            <a:endParaRPr sz="1200" b="0"/>
          </a:p>
          <a:p>
            <a:r>
              <a:rPr sz="1200" b="0"/>
              <a:t>v3 注: DOA Custom Skill API 不在 boto3 SDK 中（实测 44 ops 没有 CreateCustomSkill）</a:t>
            </a:r>
          </a:p>
          <a:p>
            <a:r>
              <a:rPr sz="1200" b="0"/>
              <a:t>       NLOps 改走 Bedrock KB 路径，自动化沉淀链路完整闭环</a:t>
            </a:r>
          </a:p>
        </p:txBody>
      </p:sp>
    </p:spTree>
    <p:extLst>
      <p:ext uri="{BB962C8B-B14F-4D97-AF65-F5344CB8AC3E}">
        <p14:creationId xmlns:p14="http://schemas.microsoft.com/office/powerpoint/2010/main" val="2237716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13A78-DD31-FA6C-B04B-0ADCB1719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B9D7C7-9D46-B1BE-9057-E2B3428E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0966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方案验证：技术实现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13DB6A9-9DF4-AC32-CB22-90F3CB00824B}"/>
              </a:ext>
            </a:extLst>
          </p:cNvPr>
          <p:cNvSpPr/>
          <p:nvPr/>
        </p:nvSpPr>
        <p:spPr>
          <a:xfrm>
            <a:off x="537141" y="870866"/>
            <a:ext cx="5518537" cy="4963998"/>
          </a:xfrm>
          <a:prstGeom prst="roundRect">
            <a:avLst>
              <a:gd name="adj" fmla="val 1099"/>
            </a:avLst>
          </a:prstGeom>
          <a:solidFill>
            <a:srgbClr val="1A26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9DFADA6-93BE-D486-C4D6-672CD4AC691A}"/>
              </a:ext>
            </a:extLst>
          </p:cNvPr>
          <p:cNvSpPr/>
          <p:nvPr/>
        </p:nvSpPr>
        <p:spPr>
          <a:xfrm>
            <a:off x="790542" y="1083609"/>
            <a:ext cx="5068045" cy="327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实现概况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C44625-73A0-503F-48F4-1940FE47FE12}"/>
              </a:ext>
            </a:extLst>
          </p:cNvPr>
          <p:cNvSpPr/>
          <p:nvPr/>
        </p:nvSpPr>
        <p:spPr>
          <a:xfrm>
            <a:off x="818699" y="1383631"/>
            <a:ext cx="1351479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框架</a:t>
            </a:r>
            <a:endParaRPr lang="en-US" sz="1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53CC783-C0AB-289E-334D-AC1C38A17990}"/>
              </a:ext>
            </a:extLst>
          </p:cNvPr>
          <p:cNvSpPr/>
          <p:nvPr/>
        </p:nvSpPr>
        <p:spPr>
          <a:xfrm>
            <a:off x="2226489" y="1383631"/>
            <a:ext cx="3603943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Strands SDK + AWS DevOps Agent (引擎)</a:t>
            </a:r>
            <a:endParaRPr lang="en-US" sz="1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D26C0D2-D531-F7C9-FEDF-97BAF04A9CE3}"/>
              </a:ext>
            </a:extLst>
          </p:cNvPr>
          <p:cNvSpPr/>
          <p:nvPr/>
        </p:nvSpPr>
        <p:spPr>
          <a:xfrm>
            <a:off x="818699" y="1765477"/>
            <a:ext cx="4955421" cy="0"/>
          </a:xfrm>
          <a:prstGeom prst="line">
            <a:avLst/>
          </a:prstGeom>
          <a:noFill/>
          <a:ln w="381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9EC31A5-0804-C90B-AB86-D5B0FBE0BDD6}"/>
              </a:ext>
            </a:extLst>
          </p:cNvPr>
          <p:cNvSpPr/>
          <p:nvPr/>
        </p:nvSpPr>
        <p:spPr>
          <a:xfrm>
            <a:off x="818699" y="1798206"/>
            <a:ext cx="1351479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数量</a:t>
            </a:r>
            <a:endParaRPr lang="en-US" sz="1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DEA10BF-C99B-2FE5-51CE-E6158C99ABE1}"/>
              </a:ext>
            </a:extLst>
          </p:cNvPr>
          <p:cNvSpPr/>
          <p:nvPr/>
        </p:nvSpPr>
        <p:spPr>
          <a:xfrm>
            <a:off x="2226489" y="1798206"/>
            <a:ext cx="3603943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逻辑 / 4 物理（Orchestrator + Execution + EventBridge Sub + MCP Server）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E2689EC-28E7-336D-2388-CE38B6A3C322}"/>
              </a:ext>
            </a:extLst>
          </p:cNvPr>
          <p:cNvSpPr/>
          <p:nvPr/>
        </p:nvSpPr>
        <p:spPr>
          <a:xfrm>
            <a:off x="818699" y="2180052"/>
            <a:ext cx="4955421" cy="0"/>
          </a:xfrm>
          <a:prstGeom prst="line">
            <a:avLst/>
          </a:prstGeom>
          <a:noFill/>
          <a:ln w="381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9A6254F-FED3-E654-09E2-C6A7218BB080}"/>
              </a:ext>
            </a:extLst>
          </p:cNvPr>
          <p:cNvSpPr/>
          <p:nvPr/>
        </p:nvSpPr>
        <p:spPr>
          <a:xfrm>
            <a:off x="818699" y="2212782"/>
            <a:ext cx="1351479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</a:t>
            </a:r>
            <a:endParaRPr lang="en-US" sz="1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5C3CC38-25EA-B367-9833-9B2FEDD494F9}"/>
              </a:ext>
            </a:extLst>
          </p:cNvPr>
          <p:cNvSpPr/>
          <p:nvPr/>
        </p:nvSpPr>
        <p:spPr>
          <a:xfrm>
            <a:off x="2226489" y="2212782"/>
            <a:ext cx="3603943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Amazon Quick (MCP) · 企微 Bot · 飞书 Bot</a:t>
            </a:r>
            <a:endParaRPr lang="en-US" sz="10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00FE826-92BE-E417-02A3-B412EDDF5B83}"/>
              </a:ext>
            </a:extLst>
          </p:cNvPr>
          <p:cNvSpPr/>
          <p:nvPr/>
        </p:nvSpPr>
        <p:spPr>
          <a:xfrm>
            <a:off x="818699" y="2594628"/>
            <a:ext cx="4955421" cy="0"/>
          </a:xfrm>
          <a:prstGeom prst="line">
            <a:avLst/>
          </a:prstGeom>
          <a:noFill/>
          <a:ln w="381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4C61202-CF8E-241B-73E4-84DE510A3C76}"/>
              </a:ext>
            </a:extLst>
          </p:cNvPr>
          <p:cNvSpPr/>
          <p:nvPr/>
        </p:nvSpPr>
        <p:spPr>
          <a:xfrm>
            <a:off x="818699" y="2627358"/>
            <a:ext cx="1351479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语音引擎</a:t>
            </a:r>
            <a:endParaRPr lang="en-US" sz="10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729C683-B069-B578-DD28-5D27E2BCBC2C}"/>
              </a:ext>
            </a:extLst>
          </p:cNvPr>
          <p:cNvSpPr/>
          <p:nvPr/>
        </p:nvSpPr>
        <p:spPr>
          <a:xfrm>
            <a:off x="2226489" y="2627358"/>
            <a:ext cx="3603943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Nova Sonic（中英文）</a:t>
            </a:r>
            <a:endParaRPr lang="en-US" sz="10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3A19E6F-5A4D-425E-6546-739B6703097E}"/>
              </a:ext>
            </a:extLst>
          </p:cNvPr>
          <p:cNvSpPr/>
          <p:nvPr/>
        </p:nvSpPr>
        <p:spPr>
          <a:xfrm>
            <a:off x="818699" y="3009204"/>
            <a:ext cx="4955421" cy="0"/>
          </a:xfrm>
          <a:prstGeom prst="line">
            <a:avLst/>
          </a:prstGeom>
          <a:noFill/>
          <a:ln w="381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C31D0D5-A8EA-38D8-8CC2-51813AEE691C}"/>
              </a:ext>
            </a:extLst>
          </p:cNvPr>
          <p:cNvSpPr/>
          <p:nvPr/>
        </p:nvSpPr>
        <p:spPr>
          <a:xfrm>
            <a:off x="818699" y="3041933"/>
            <a:ext cx="1351479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</a:t>
            </a:r>
            <a:endParaRPr lang="en-US" sz="10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ADE1B8CB-04F9-FDEB-B935-85AF4086D7EA}"/>
              </a:ext>
            </a:extLst>
          </p:cNvPr>
          <p:cNvSpPr/>
          <p:nvPr/>
        </p:nvSpPr>
        <p:spPr>
          <a:xfrm>
            <a:off x="2226489" y="3041933"/>
            <a:ext cx="3603943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模型无关（Claude / Nova 可切换）</a:t>
            </a:r>
            <a:endParaRPr lang="en-US" sz="10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3BB7CDF3-C05A-9F6C-4263-C43931B883A9}"/>
              </a:ext>
            </a:extLst>
          </p:cNvPr>
          <p:cNvSpPr/>
          <p:nvPr/>
        </p:nvSpPr>
        <p:spPr>
          <a:xfrm>
            <a:off x="818699" y="3423779"/>
            <a:ext cx="4955421" cy="0"/>
          </a:xfrm>
          <a:prstGeom prst="line">
            <a:avLst/>
          </a:prstGeom>
          <a:noFill/>
          <a:ln w="381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04D3E7E-84D6-09CD-5D7E-0E4419F59BDA}"/>
              </a:ext>
            </a:extLst>
          </p:cNvPr>
          <p:cNvSpPr/>
          <p:nvPr/>
        </p:nvSpPr>
        <p:spPr>
          <a:xfrm>
            <a:off x="818699" y="3456509"/>
            <a:ext cx="1351479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服务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B292D23-18D5-3749-9292-445F8E3C56B8}"/>
              </a:ext>
            </a:extLst>
          </p:cNvPr>
          <p:cNvSpPr/>
          <p:nvPr/>
        </p:nvSpPr>
        <p:spPr>
          <a:xfrm>
            <a:off x="2226489" y="3456509"/>
            <a:ext cx="3603943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个（DevOps Agent + Bedrock + Nova Sonic + KB + EventBridge + Lambda + API GW + S3 + DDB + SNS）</a:t>
            </a:r>
            <a:endParaRPr lang="en-US" sz="10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A2F36166-9F75-7C56-7B12-4787CB605FB9}"/>
              </a:ext>
            </a:extLst>
          </p:cNvPr>
          <p:cNvSpPr/>
          <p:nvPr/>
        </p:nvSpPr>
        <p:spPr>
          <a:xfrm>
            <a:off x="818699" y="3838355"/>
            <a:ext cx="4955421" cy="0"/>
          </a:xfrm>
          <a:prstGeom prst="line">
            <a:avLst/>
          </a:prstGeom>
          <a:noFill/>
          <a:ln w="381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B9CE607D-C490-3267-E679-5F602351E5D0}"/>
              </a:ext>
            </a:extLst>
          </p:cNvPr>
          <p:cNvSpPr/>
          <p:nvPr/>
        </p:nvSpPr>
        <p:spPr>
          <a:xfrm>
            <a:off x="818699" y="3871085"/>
            <a:ext cx="1351479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基础设施</a:t>
            </a:r>
            <a:endParaRPr lang="en-US" sz="10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E2017D9-4406-38DC-AEDF-35D7BA91C47E}"/>
              </a:ext>
            </a:extLst>
          </p:cNvPr>
          <p:cNvSpPr/>
          <p:nvPr/>
        </p:nvSpPr>
        <p:spPr>
          <a:xfrm>
            <a:off x="2226489" y="3871085"/>
            <a:ext cx="3603943" cy="381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CDK v2 一键部署 ~15min</a:t>
            </a:r>
            <a:endParaRPr lang="en-US" sz="10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03D71D37-C7B0-CDC4-F165-DD62AACE25C1}"/>
              </a:ext>
            </a:extLst>
          </p:cNvPr>
          <p:cNvSpPr/>
          <p:nvPr/>
        </p:nvSpPr>
        <p:spPr>
          <a:xfrm>
            <a:off x="818699" y="4252931"/>
            <a:ext cx="4955421" cy="0"/>
          </a:xfrm>
          <a:prstGeom prst="line">
            <a:avLst/>
          </a:prstGeom>
          <a:noFill/>
          <a:ln w="381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3A8C4A9-92FB-8F40-B553-F6444BE4A034}"/>
              </a:ext>
            </a:extLst>
          </p:cNvPr>
          <p:cNvSpPr/>
          <p:nvPr/>
        </p:nvSpPr>
        <p:spPr>
          <a:xfrm>
            <a:off x="762387" y="4488619"/>
            <a:ext cx="5068045" cy="27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服务全景（10个）</a:t>
            </a:r>
            <a:endParaRPr lang="en-US" sz="105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133E3CE-34A0-70A6-3D53-5702007E6AC6}"/>
              </a:ext>
            </a:extLst>
          </p:cNvPr>
          <p:cNvSpPr/>
          <p:nvPr/>
        </p:nvSpPr>
        <p:spPr>
          <a:xfrm>
            <a:off x="762387" y="4801341"/>
            <a:ext cx="1633037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635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DevOps Agent</a:t>
            </a:r>
            <a:endParaRPr lang="en-US" sz="9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777FB056-F917-8D12-0D98-9B8778CDA5B5}"/>
              </a:ext>
            </a:extLst>
          </p:cNvPr>
          <p:cNvSpPr/>
          <p:nvPr/>
        </p:nvSpPr>
        <p:spPr>
          <a:xfrm>
            <a:off x="2508047" y="4801341"/>
            <a:ext cx="1633037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635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CloudWatch</a:t>
            </a:r>
            <a:endParaRPr lang="en-US" sz="9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25C2231F-9195-B51A-C130-4BF04E94674A}"/>
              </a:ext>
            </a:extLst>
          </p:cNvPr>
          <p:cNvSpPr/>
          <p:nvPr/>
        </p:nvSpPr>
        <p:spPr>
          <a:xfrm>
            <a:off x="4253707" y="4801341"/>
            <a:ext cx="1633037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635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SNS</a:t>
            </a:r>
            <a:endParaRPr lang="en-US" sz="9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1F02CD4-A163-FA8A-398D-65147D1479AB}"/>
              </a:ext>
            </a:extLst>
          </p:cNvPr>
          <p:cNvSpPr/>
          <p:nvPr/>
        </p:nvSpPr>
        <p:spPr>
          <a:xfrm>
            <a:off x="762387" y="5095908"/>
            <a:ext cx="1216331" cy="240017"/>
          </a:xfrm>
          <a:prstGeom prst="roundRect">
            <a:avLst>
              <a:gd name="adj" fmla="val 9091"/>
            </a:avLst>
          </a:prstGeom>
          <a:solidFill>
            <a:srgbClr val="0A1A2A"/>
          </a:solidFill>
          <a:ln w="6350">
            <a:solidFill>
              <a:srgbClr val="4D9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D9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Bedrock</a:t>
            </a:r>
            <a:endParaRPr lang="en-US" sz="9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384A01A1-3170-D643-C59C-ACF1DF710E47}"/>
              </a:ext>
            </a:extLst>
          </p:cNvPr>
          <p:cNvSpPr/>
          <p:nvPr/>
        </p:nvSpPr>
        <p:spPr>
          <a:xfrm>
            <a:off x="2057554" y="5095908"/>
            <a:ext cx="1216331" cy="240017"/>
          </a:xfrm>
          <a:prstGeom prst="roundRect">
            <a:avLst>
              <a:gd name="adj" fmla="val 9091"/>
            </a:avLst>
          </a:prstGeom>
          <a:solidFill>
            <a:srgbClr val="0A1A2A"/>
          </a:solidFill>
          <a:ln w="6350">
            <a:solidFill>
              <a:srgbClr val="4D9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D9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Bedrock KB</a:t>
            </a:r>
            <a:endParaRPr lang="en-US" sz="9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56B1C766-89D8-8E26-C391-3E08E08011B4}"/>
              </a:ext>
            </a:extLst>
          </p:cNvPr>
          <p:cNvSpPr/>
          <p:nvPr/>
        </p:nvSpPr>
        <p:spPr>
          <a:xfrm>
            <a:off x="3352721" y="5095908"/>
            <a:ext cx="1216331" cy="240017"/>
          </a:xfrm>
          <a:prstGeom prst="roundRect">
            <a:avLst>
              <a:gd name="adj" fmla="val 9091"/>
            </a:avLst>
          </a:prstGeom>
          <a:solidFill>
            <a:srgbClr val="0A1A2A"/>
          </a:solidFill>
          <a:ln w="6350">
            <a:solidFill>
              <a:srgbClr val="4D9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D9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EventBridge</a:t>
            </a:r>
            <a:endParaRPr lang="en-US" sz="9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63BFFF47-0875-8CD6-6CB9-3EDFEAC6D226}"/>
              </a:ext>
            </a:extLst>
          </p:cNvPr>
          <p:cNvSpPr/>
          <p:nvPr/>
        </p:nvSpPr>
        <p:spPr>
          <a:xfrm>
            <a:off x="4647888" y="5095908"/>
            <a:ext cx="1216331" cy="240017"/>
          </a:xfrm>
          <a:prstGeom prst="roundRect">
            <a:avLst>
              <a:gd name="adj" fmla="val 9091"/>
            </a:avLst>
          </a:prstGeom>
          <a:solidFill>
            <a:srgbClr val="0A1A2A"/>
          </a:solidFill>
          <a:ln w="6350">
            <a:solidFill>
              <a:srgbClr val="4D9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D9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Nova Sonic</a:t>
            </a:r>
            <a:endParaRPr lang="en-US" sz="9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3FB621E0-D21A-A4BE-8585-3F4FC94713A9}"/>
              </a:ext>
            </a:extLst>
          </p:cNvPr>
          <p:cNvSpPr/>
          <p:nvPr/>
        </p:nvSpPr>
        <p:spPr>
          <a:xfrm>
            <a:off x="762387" y="5390475"/>
            <a:ext cx="1216331" cy="240017"/>
          </a:xfrm>
          <a:prstGeom prst="roundRect">
            <a:avLst>
              <a:gd name="adj" fmla="val 9091"/>
            </a:avLst>
          </a:prstGeom>
          <a:solidFill>
            <a:srgbClr val="0A2A1A"/>
          </a:solidFill>
          <a:ln w="6350">
            <a:solidFill>
              <a:srgbClr val="36B3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6B3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Gateway</a:t>
            </a:r>
            <a:endParaRPr lang="en-US" sz="9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53DA784D-55F6-FB56-B5F6-4460965F3501}"/>
              </a:ext>
            </a:extLst>
          </p:cNvPr>
          <p:cNvSpPr/>
          <p:nvPr/>
        </p:nvSpPr>
        <p:spPr>
          <a:xfrm>
            <a:off x="2057554" y="5390475"/>
            <a:ext cx="1216331" cy="240017"/>
          </a:xfrm>
          <a:prstGeom prst="roundRect">
            <a:avLst>
              <a:gd name="adj" fmla="val 9091"/>
            </a:avLst>
          </a:prstGeom>
          <a:solidFill>
            <a:srgbClr val="0A2A1A"/>
          </a:solidFill>
          <a:ln w="6350">
            <a:solidFill>
              <a:srgbClr val="36B3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6B3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Lambda</a:t>
            </a:r>
            <a:endParaRPr lang="en-US" sz="9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5235E864-16EF-FA89-D38E-E97F8626016C}"/>
              </a:ext>
            </a:extLst>
          </p:cNvPr>
          <p:cNvSpPr/>
          <p:nvPr/>
        </p:nvSpPr>
        <p:spPr>
          <a:xfrm>
            <a:off x="3352721" y="5390475"/>
            <a:ext cx="1216331" cy="240017"/>
          </a:xfrm>
          <a:prstGeom prst="roundRect">
            <a:avLst>
              <a:gd name="adj" fmla="val 9091"/>
            </a:avLst>
          </a:prstGeom>
          <a:solidFill>
            <a:srgbClr val="0A2A1A"/>
          </a:solidFill>
          <a:ln w="6350">
            <a:solidFill>
              <a:srgbClr val="36B3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6B3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</a:t>
            </a:r>
            <a:endParaRPr lang="en-US" sz="9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D541E5D7-5234-D553-72DA-529EEDCEB4B1}"/>
              </a:ext>
            </a:extLst>
          </p:cNvPr>
          <p:cNvSpPr/>
          <p:nvPr/>
        </p:nvSpPr>
        <p:spPr>
          <a:xfrm>
            <a:off x="4647888" y="5390475"/>
            <a:ext cx="1216331" cy="240017"/>
          </a:xfrm>
          <a:prstGeom prst="roundRect">
            <a:avLst>
              <a:gd name="adj" fmla="val 9091"/>
            </a:avLst>
          </a:prstGeom>
          <a:solidFill>
            <a:srgbClr val="0A2A1A"/>
          </a:solidFill>
          <a:ln w="6350">
            <a:solidFill>
              <a:srgbClr val="36B3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6B3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CDK</a:t>
            </a:r>
            <a:endParaRPr lang="en-US" sz="9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2E8BE38E-9CD2-A2C0-1484-EB3C1C2CC056}"/>
              </a:ext>
            </a:extLst>
          </p:cNvPr>
          <p:cNvSpPr/>
          <p:nvPr/>
        </p:nvSpPr>
        <p:spPr>
          <a:xfrm>
            <a:off x="6280925" y="870866"/>
            <a:ext cx="5814342" cy="1527384"/>
          </a:xfrm>
          <a:prstGeom prst="roundRect">
            <a:avLst>
              <a:gd name="adj" fmla="val 3571"/>
            </a:avLst>
          </a:prstGeom>
          <a:solidFill>
            <a:srgbClr val="1A26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3218A0C2-5931-E10A-BF6B-F8C6CEB348F5}"/>
              </a:ext>
            </a:extLst>
          </p:cNvPr>
          <p:cNvSpPr/>
          <p:nvPr/>
        </p:nvSpPr>
        <p:spPr>
          <a:xfrm>
            <a:off x="6506171" y="979965"/>
            <a:ext cx="4392305" cy="272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9D908626-3E9D-CA4B-8CC6-7DB4AFEB404C}"/>
              </a:ext>
            </a:extLst>
          </p:cNvPr>
          <p:cNvSpPr/>
          <p:nvPr/>
        </p:nvSpPr>
        <p:spPr>
          <a:xfrm>
            <a:off x="6506171" y="1307261"/>
            <a:ext cx="1002347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508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endParaRPr lang="en-US" sz="9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E5D946A7-197B-A38E-84F9-F215022F0F2C}"/>
              </a:ext>
            </a:extLst>
          </p:cNvPr>
          <p:cNvSpPr/>
          <p:nvPr/>
        </p:nvSpPr>
        <p:spPr>
          <a:xfrm>
            <a:off x="7598616" y="1307261"/>
            <a:ext cx="1407790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508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TypeScript</a:t>
            </a:r>
            <a:endParaRPr lang="en-US" sz="9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E9D8047A-41BD-EBF4-D1FD-9C33C5BAD815}"/>
              </a:ext>
            </a:extLst>
          </p:cNvPr>
          <p:cNvSpPr/>
          <p:nvPr/>
        </p:nvSpPr>
        <p:spPr>
          <a:xfrm>
            <a:off x="9096505" y="1307261"/>
            <a:ext cx="1509151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508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Strands SDK</a:t>
            </a:r>
            <a:endParaRPr lang="en-US" sz="9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762EAFAB-3228-5C01-B506-7969ED6FB039}"/>
              </a:ext>
            </a:extLst>
          </p:cNvPr>
          <p:cNvSpPr/>
          <p:nvPr/>
        </p:nvSpPr>
        <p:spPr>
          <a:xfrm>
            <a:off x="10695755" y="1307261"/>
            <a:ext cx="1002347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508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CDK v2</a:t>
            </a:r>
            <a:endParaRPr lang="en-US" sz="90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5410CE15-BEC4-AE4E-15FF-EE11E24E7889}"/>
              </a:ext>
            </a:extLst>
          </p:cNvPr>
          <p:cNvSpPr/>
          <p:nvPr/>
        </p:nvSpPr>
        <p:spPr>
          <a:xfrm>
            <a:off x="6506171" y="1612738"/>
            <a:ext cx="1407790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508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Nova Sonic</a:t>
            </a:r>
            <a:endParaRPr lang="en-US" sz="9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AFCE9542-1D0B-675C-1E73-193B0044C347}"/>
              </a:ext>
            </a:extLst>
          </p:cNvPr>
          <p:cNvSpPr/>
          <p:nvPr/>
        </p:nvSpPr>
        <p:spPr>
          <a:xfrm>
            <a:off x="8004060" y="1612738"/>
            <a:ext cx="1103707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508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ECharts</a:t>
            </a:r>
            <a:endParaRPr lang="en-US" sz="9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322E4280-C652-B003-580F-C09F2C078DE4}"/>
              </a:ext>
            </a:extLst>
          </p:cNvPr>
          <p:cNvSpPr/>
          <p:nvPr/>
        </p:nvSpPr>
        <p:spPr>
          <a:xfrm>
            <a:off x="9197866" y="1612738"/>
            <a:ext cx="1103707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508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 模板</a:t>
            </a:r>
            <a:endParaRPr lang="en-US" sz="9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1C699BA8-DCD0-0592-026B-A6B794D2F88C}"/>
              </a:ext>
            </a:extLst>
          </p:cNvPr>
          <p:cNvSpPr/>
          <p:nvPr/>
        </p:nvSpPr>
        <p:spPr>
          <a:xfrm>
            <a:off x="10391672" y="1612738"/>
            <a:ext cx="1610512" cy="240017"/>
          </a:xfrm>
          <a:prstGeom prst="roundRect">
            <a:avLst>
              <a:gd name="adj" fmla="val 9091"/>
            </a:avLst>
          </a:prstGeom>
          <a:solidFill>
            <a:srgbClr val="2A1F0A"/>
          </a:solidFill>
          <a:ln w="5080"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Protocol</a:t>
            </a:r>
            <a:endParaRPr lang="en-US" sz="900" dirty="0"/>
          </a:p>
        </p:txBody>
      </p:sp>
      <p:sp>
        <p:nvSpPr>
          <p:cNvPr id="53" name="Shape 51">
            <a:extLst>
              <a:ext uri="{FF2B5EF4-FFF2-40B4-BE49-F238E27FC236}">
                <a16:creationId xmlns:a16="http://schemas.microsoft.com/office/drawing/2014/main" id="{328767D3-B6AC-3292-7445-E4040779FAC1}"/>
              </a:ext>
            </a:extLst>
          </p:cNvPr>
          <p:cNvSpPr/>
          <p:nvPr/>
        </p:nvSpPr>
        <p:spPr>
          <a:xfrm>
            <a:off x="6280925" y="2561898"/>
            <a:ext cx="5814342" cy="3272966"/>
          </a:xfrm>
          <a:prstGeom prst="roundRect">
            <a:avLst>
              <a:gd name="adj" fmla="val 1667"/>
            </a:avLst>
          </a:prstGeom>
          <a:solidFill>
            <a:srgbClr val="1A2640"/>
          </a:solidFill>
          <a:ln w="12700">
            <a:solidFill>
              <a:srgbClr val="2A3A5A"/>
            </a:solidFill>
            <a:prstDash val="solid"/>
          </a:ln>
        </p:spPr>
        <p:txBody>
          <a:bodyPr/>
          <a:lstStyle/>
          <a:p>
            <a:endParaRPr lang="zh-CN" altLang="en-US" sz="240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EF66D9DB-45CD-9B75-2151-F137DB97ED56}"/>
              </a:ext>
            </a:extLst>
          </p:cNvPr>
          <p:cNvSpPr/>
          <p:nvPr/>
        </p:nvSpPr>
        <p:spPr>
          <a:xfrm>
            <a:off x="6506171" y="2670997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6B3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已通过验证</a:t>
            </a:r>
            <a:endParaRPr lang="en-US" sz="140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D0612C44-1FE7-0464-FE31-10D31D5869D7}"/>
              </a:ext>
            </a:extLst>
          </p:cNvPr>
          <p:cNvSpPr/>
          <p:nvPr/>
        </p:nvSpPr>
        <p:spPr>
          <a:xfrm>
            <a:off x="6506171" y="3052843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CDK 部署成功（us-east-1）</a:t>
            </a:r>
            <a:endParaRPr lang="en-US" sz="1000" dirty="0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756B6A4D-90BF-55D8-E0C6-907C6A5B5E00}"/>
              </a:ext>
            </a:extLst>
          </p:cNvPr>
          <p:cNvSpPr/>
          <p:nvPr/>
        </p:nvSpPr>
        <p:spPr>
          <a:xfrm>
            <a:off x="6506171" y="3380140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API Gateway 三路由就绪</a:t>
            </a:r>
            <a:endParaRPr lang="en-US" sz="10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4164B531-F4CE-D96B-7BA9-375F7B9E66B6}"/>
              </a:ext>
            </a:extLst>
          </p:cNvPr>
          <p:cNvSpPr/>
          <p:nvPr/>
        </p:nvSpPr>
        <p:spPr>
          <a:xfrm>
            <a:off x="6506171" y="3707436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Strands SDK 6 逻辑 Agent (Tool) 注册</a:t>
            </a:r>
            <a:endParaRPr lang="en-US" sz="10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74C70C76-957B-CC99-E958-8AD3A0015CAB}"/>
              </a:ext>
            </a:extLst>
          </p:cNvPr>
          <p:cNvSpPr/>
          <p:nvPr/>
        </p:nvSpPr>
        <p:spPr>
          <a:xfrm>
            <a:off x="6506171" y="4034733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Nova Sonic 语音交互可用（中英文）</a:t>
            </a:r>
            <a:endParaRPr lang="en-US" sz="1000" dirty="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145E9317-658D-49A8-0A90-AB1D515C2BE3}"/>
              </a:ext>
            </a:extLst>
          </p:cNvPr>
          <p:cNvSpPr/>
          <p:nvPr/>
        </p:nvSpPr>
        <p:spPr>
          <a:xfrm>
            <a:off x="6506171" y="4362030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AWS DevOps Agent on-demand chat 集成</a:t>
            </a:r>
            <a:endParaRPr lang="en-US" sz="10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086A4707-B3D9-0087-BC9F-3ACD602B007E}"/>
              </a:ext>
            </a:extLst>
          </p:cNvPr>
          <p:cNvSpPr/>
          <p:nvPr/>
        </p:nvSpPr>
        <p:spPr>
          <a:xfrm>
            <a:off x="6506171" y="4689326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HTML 分析页生成 + S3 Presigned URL</a:t>
            </a:r>
            <a:endParaRPr lang="en-US" sz="100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0AB98C13-AF01-F13A-D346-AD4B88726A3A}"/>
              </a:ext>
            </a:extLst>
          </p:cNvPr>
          <p:cNvSpPr/>
          <p:nvPr/>
        </p:nvSpPr>
        <p:spPr>
          <a:xfrm>
            <a:off x="6506171" y="5016623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Custom Skill 注册 + Bedrock KB 双写</a:t>
            </a:r>
            <a:endParaRPr lang="en-US" sz="1000" dirty="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B897E408-47A6-19B5-3A45-136EA0784FA3}"/>
              </a:ext>
            </a:extLst>
          </p:cNvPr>
          <p:cNvSpPr/>
          <p:nvPr/>
        </p:nvSpPr>
        <p:spPr>
          <a:xfrm>
            <a:off x="6506171" y="5322099"/>
            <a:ext cx="4392305" cy="305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CN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</a:t>
            </a:r>
            <a:r>
              <a:rPr lang="en-US" sz="1000" dirty="0">
                <a:solidFill>
                  <a:srgbClr val="FF99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dirty="0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</a:rPr>
              <a:t>DevOps Agent </a:t>
            </a:r>
            <a:r>
              <a:rPr lang="en-US" sz="1000" dirty="0" err="1">
                <a:solidFill>
                  <a:srgbClr val="C0D0E0"/>
                </a:solidFill>
                <a:latin typeface="Microsoft YaHei" pitchFamily="34" charset="0"/>
                <a:ea typeface="Microsoft YaHei" pitchFamily="34" charset="-122"/>
              </a:rPr>
              <a:t>集成</a:t>
            </a:r>
            <a:endParaRPr lang="en-US" sz="1000" dirty="0">
              <a:solidFill>
                <a:srgbClr val="C0D0E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65" name="Text 65">
            <a:extLst>
              <a:ext uri="{FF2B5EF4-FFF2-40B4-BE49-F238E27FC236}">
                <a16:creationId xmlns:a16="http://schemas.microsoft.com/office/drawing/2014/main" id="{9535EE5C-1636-E72A-37C8-AE9D8B7360BF}"/>
              </a:ext>
            </a:extLst>
          </p:cNvPr>
          <p:cNvSpPr/>
          <p:nvPr/>
        </p:nvSpPr>
        <p:spPr>
          <a:xfrm>
            <a:off x="10447984" y="5616666"/>
            <a:ext cx="788362" cy="3272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A5A6A"/>
                </a:solidFill>
              </a:rPr>
              <a:t>11/16</a:t>
            </a:r>
            <a:endParaRPr lang="en-US" sz="1000" dirty="0"/>
          </a:p>
        </p:txBody>
      </p:sp>
      <p:sp>
        <p:nvSpPr>
          <p:cNvPr id="66" name="TextBox 65"/>
          <p:cNvSpPr txBox="1"/>
          <p:nvPr/>
        </p:nvSpPr>
        <p:spPr>
          <a:xfrm>
            <a:off x="8686800" y="365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62828"/>
                </a:solidFill>
              </a:rPr>
              <a:t>v3 状态 (2026-05-19)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8686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E7D32"/>
                </a:solidFill>
              </a:rPr>
              <a:t>✓ Strands SDK 1.40 真用</a:t>
            </a:r>
          </a:p>
          <a:p>
            <a:r>
              <a:rPr sz="900" b="0">
                <a:solidFill>
                  <a:srgbClr val="2E7D32"/>
                </a:solidFill>
              </a:rPr>
              <a:t>✓ 21 MCP 工具上线</a:t>
            </a:r>
          </a:p>
          <a:p>
            <a:r>
              <a:rPr sz="900" b="0">
                <a:solidFill>
                  <a:srgbClr val="2E7D32"/>
                </a:solidFill>
              </a:rPr>
              <a:t>✓ Nova Pro 取代 Claude</a:t>
            </a:r>
          </a:p>
          <a:p>
            <a:r>
              <a:rPr sz="900" b="0">
                <a:solidFill>
                  <a:srgbClr val="2E7D32"/>
                </a:solidFill>
              </a:rPr>
              <a:t>✓ SES 邮件告警实测</a:t>
            </a:r>
          </a:p>
          <a:p>
            <a:r>
              <a:rPr sz="900" b="0">
                <a:solidFill>
                  <a:srgbClr val="2E7D32"/>
                </a:solidFill>
              </a:rPr>
              <a:t>✓ 2 Lambda (合并 L3+L4)</a:t>
            </a:r>
          </a:p>
          <a:p>
            <a:r>
              <a:rPr sz="900" b="0">
                <a:solidFill>
                  <a:srgbClr val="2E7D32"/>
                </a:solidFill>
              </a:rPr>
              <a:t>⏸️ Voice / IM 留 v4</a:t>
            </a:r>
          </a:p>
        </p:txBody>
      </p:sp>
    </p:spTree>
    <p:extLst>
      <p:ext uri="{BB962C8B-B14F-4D97-AF65-F5344CB8AC3E}">
        <p14:creationId xmlns:p14="http://schemas.microsoft.com/office/powerpoint/2010/main" val="3251939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9EEC0-DC1C-1520-372B-57C31BFF1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7B3FAB-D325-9E1F-4EAA-32FC74717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方案验证：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Demo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效果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878B0DBD-4B17-09AC-CC4F-986D6286579F}"/>
              </a:ext>
            </a:extLst>
          </p:cNvPr>
          <p:cNvGrpSpPr/>
          <p:nvPr/>
        </p:nvGrpSpPr>
        <p:grpSpPr>
          <a:xfrm>
            <a:off x="542617" y="788190"/>
            <a:ext cx="11393862" cy="5295033"/>
            <a:chOff x="274320" y="777240"/>
            <a:chExt cx="8595360" cy="4114800"/>
          </a:xfrm>
        </p:grpSpPr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2CA6C010-5CFB-9E54-9056-C8CB4DE12BC6}"/>
                </a:ext>
              </a:extLst>
            </p:cNvPr>
            <p:cNvSpPr/>
            <p:nvPr/>
          </p:nvSpPr>
          <p:spPr>
            <a:xfrm>
              <a:off x="274320" y="777240"/>
              <a:ext cx="4572000" cy="4114800"/>
            </a:xfrm>
            <a:prstGeom prst="roundRect">
              <a:avLst>
                <a:gd name="adj" fmla="val 1111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5" name="Text 4">
              <a:extLst>
                <a:ext uri="{FF2B5EF4-FFF2-40B4-BE49-F238E27FC236}">
                  <a16:creationId xmlns:a16="http://schemas.microsoft.com/office/drawing/2014/main" id="{9FD2D2DA-0A5B-C61C-4895-D9E39A3EAB59}"/>
                </a:ext>
              </a:extLst>
            </p:cNvPr>
            <p:cNvSpPr/>
            <p:nvPr/>
          </p:nvSpPr>
          <p:spPr>
            <a:xfrm>
              <a:off x="457200" y="868680"/>
              <a:ext cx="4114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演示流程</a:t>
              </a:r>
              <a:endParaRPr lang="en-US" sz="2000" dirty="0"/>
            </a:p>
          </p:txBody>
        </p:sp>
        <p:sp>
          <p:nvSpPr>
            <p:cNvPr id="6" name="Text 5">
              <a:extLst>
                <a:ext uri="{FF2B5EF4-FFF2-40B4-BE49-F238E27FC236}">
                  <a16:creationId xmlns:a16="http://schemas.microsoft.com/office/drawing/2014/main" id="{FEDAD29D-A7C3-A4A5-52C9-8157BD5462C4}"/>
                </a:ext>
              </a:extLst>
            </p:cNvPr>
            <p:cNvSpPr/>
            <p:nvPr/>
          </p:nvSpPr>
          <p:spPr>
            <a:xfrm>
              <a:off x="502920" y="1188720"/>
              <a:ext cx="228600" cy="228600"/>
            </a:xfrm>
            <a:prstGeom prst="ellipse">
              <a:avLst/>
            </a:prstGeom>
            <a:solidFill>
              <a:srgbClr val="2A1F0A"/>
            </a:solidFill>
            <a:ln w="6350">
              <a:solidFill>
                <a:srgbClr val="FF9900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1</a:t>
              </a:r>
              <a:endParaRPr lang="en-US" sz="1600" dirty="0"/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322F7B88-52B9-ED12-2F85-6D2B1C8DAA81}"/>
                </a:ext>
              </a:extLst>
            </p:cNvPr>
            <p:cNvSpPr/>
            <p:nvPr/>
          </p:nvSpPr>
          <p:spPr>
            <a:xfrm>
              <a:off x="822960" y="1188720"/>
              <a:ext cx="38404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"早上好，系统今天怎么样？"</a:t>
              </a:r>
              <a:endParaRPr lang="en-US" sz="1400" dirty="0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59BFA3EB-44E7-EDFC-CA3F-A892B352D1B2}"/>
                </a:ext>
              </a:extLst>
            </p:cNvPr>
            <p:cNvSpPr/>
            <p:nvPr/>
          </p:nvSpPr>
          <p:spPr>
            <a:xfrm>
              <a:off x="822960" y="1435608"/>
              <a:ext cx="38404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→ Discovery Agent 巡检 → 健康总览分析页</a:t>
              </a:r>
              <a:endParaRPr lang="en-US" sz="1200" dirty="0"/>
            </a:p>
          </p:txBody>
        </p:sp>
        <p:sp>
          <p:nvSpPr>
            <p:cNvPr id="9" name="Text 8">
              <a:extLst>
                <a:ext uri="{FF2B5EF4-FFF2-40B4-BE49-F238E27FC236}">
                  <a16:creationId xmlns:a16="http://schemas.microsoft.com/office/drawing/2014/main" id="{4CAA982B-4557-3AD4-C048-1F1D6EC4ED66}"/>
                </a:ext>
              </a:extLst>
            </p:cNvPr>
            <p:cNvSpPr/>
            <p:nvPr/>
          </p:nvSpPr>
          <p:spPr>
            <a:xfrm>
              <a:off x="502920" y="1828800"/>
              <a:ext cx="228600" cy="228600"/>
            </a:xfrm>
            <a:prstGeom prst="ellipse">
              <a:avLst/>
            </a:prstGeom>
            <a:solidFill>
              <a:srgbClr val="2A1F0A"/>
            </a:solidFill>
            <a:ln w="6350">
              <a:solidFill>
                <a:srgbClr val="FF9900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2</a:t>
              </a:r>
              <a:endParaRPr lang="en-US" sz="1600" dirty="0"/>
            </a:p>
          </p:txBody>
        </p:sp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D920F1F5-D53E-7214-C85C-B2437E167002}"/>
                </a:ext>
              </a:extLst>
            </p:cNvPr>
            <p:cNvSpPr/>
            <p:nvPr/>
          </p:nvSpPr>
          <p:spPr>
            <a:xfrm>
              <a:off x="822960" y="1828800"/>
              <a:ext cx="38404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"order-service 延迟为什么涨了？"</a:t>
              </a:r>
              <a:endParaRPr lang="en-US" sz="1400" dirty="0"/>
            </a:p>
          </p:txBody>
        </p:sp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BCCC4C50-F3B4-41E2-0C93-866FE1BBB9E5}"/>
                </a:ext>
              </a:extLst>
            </p:cNvPr>
            <p:cNvSpPr/>
            <p:nvPr/>
          </p:nvSpPr>
          <p:spPr>
            <a:xfrm>
              <a:off x="822960" y="2075688"/>
              <a:ext cx="38404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→ Analysis Agent (DevOps Agent) → 下钻分析页</a:t>
              </a:r>
              <a:endParaRPr lang="en-US" sz="1200" dirty="0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26574830-24C0-4EB2-C777-E49335E74B6B}"/>
                </a:ext>
              </a:extLst>
            </p:cNvPr>
            <p:cNvSpPr/>
            <p:nvPr/>
          </p:nvSpPr>
          <p:spPr>
            <a:xfrm>
              <a:off x="502920" y="2468880"/>
              <a:ext cx="228600" cy="228600"/>
            </a:xfrm>
            <a:prstGeom prst="ellipse">
              <a:avLst/>
            </a:prstGeom>
            <a:solidFill>
              <a:srgbClr val="2A1F0A"/>
            </a:solidFill>
            <a:ln w="6350">
              <a:solidFill>
                <a:srgbClr val="FF9900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3</a:t>
              </a:r>
              <a:endParaRPr lang="en-US" sz="160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F6FF2FD1-9840-D00A-7809-176BDE2C6428}"/>
                </a:ext>
              </a:extLst>
            </p:cNvPr>
            <p:cNvSpPr/>
            <p:nvPr/>
          </p:nvSpPr>
          <p:spPr>
            <a:xfrm>
              <a:off x="822960" y="2468880"/>
              <a:ext cx="38404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"帮我扩容"</a:t>
              </a:r>
              <a:endParaRPr lang="en-US" sz="1400" dirty="0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8118DDFB-F8FC-EB98-0943-2A52A21C8790}"/>
                </a:ext>
              </a:extLst>
            </p:cNvPr>
            <p:cNvSpPr/>
            <p:nvPr/>
          </p:nvSpPr>
          <p:spPr>
            <a:xfrm>
              <a:off x="822960" y="2715768"/>
              <a:ext cx="38404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→ Policy Guard 确认 → Execution Agent 执行</a:t>
              </a:r>
              <a:endParaRPr lang="en-US" sz="1200" dirty="0"/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EEF1C50D-8194-A601-DE30-78108DB70D43}"/>
                </a:ext>
              </a:extLst>
            </p:cNvPr>
            <p:cNvSpPr/>
            <p:nvPr/>
          </p:nvSpPr>
          <p:spPr>
            <a:xfrm>
              <a:off x="502920" y="3108960"/>
              <a:ext cx="228600" cy="228600"/>
            </a:xfrm>
            <a:prstGeom prst="ellipse">
              <a:avLst/>
            </a:prstGeom>
            <a:solidFill>
              <a:srgbClr val="2A1F0A"/>
            </a:solidFill>
            <a:ln w="6350">
              <a:solidFill>
                <a:srgbClr val="FF9900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4</a:t>
              </a:r>
              <a:endParaRPr lang="en-US" sz="1600" dirty="0"/>
            </a:p>
          </p:txBody>
        </p:sp>
        <p:sp>
          <p:nvSpPr>
            <p:cNvPr id="16" name="Text 15">
              <a:extLst>
                <a:ext uri="{FF2B5EF4-FFF2-40B4-BE49-F238E27FC236}">
                  <a16:creationId xmlns:a16="http://schemas.microsoft.com/office/drawing/2014/main" id="{3A952447-361C-5CE1-DF4C-8DBA4F52E2BD}"/>
                </a:ext>
              </a:extLst>
            </p:cNvPr>
            <p:cNvSpPr/>
            <p:nvPr/>
          </p:nvSpPr>
          <p:spPr>
            <a:xfrm>
              <a:off x="822960" y="3108960"/>
              <a:ext cx="38404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自动沉淀事件报告到 KB</a:t>
              </a:r>
              <a:endParaRPr lang="en-US" sz="1400" dirty="0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49721ED9-2C8C-E2DE-1960-984C7A9E87FC}"/>
                </a:ext>
              </a:extLst>
            </p:cNvPr>
            <p:cNvSpPr/>
            <p:nvPr/>
          </p:nvSpPr>
          <p:spPr>
            <a:xfrm>
              <a:off x="822960" y="3355848"/>
              <a:ext cx="38404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→ Knowledge Agent → 经验闭环</a:t>
              </a:r>
              <a:endParaRPr lang="en-US" sz="1200" dirty="0"/>
            </a:p>
          </p:txBody>
        </p:sp>
        <p:sp>
          <p:nvSpPr>
            <p:cNvPr id="18" name="Shape 17">
              <a:extLst>
                <a:ext uri="{FF2B5EF4-FFF2-40B4-BE49-F238E27FC236}">
                  <a16:creationId xmlns:a16="http://schemas.microsoft.com/office/drawing/2014/main" id="{8CF0EE0A-E855-0DB9-343C-05477FBC558C}"/>
                </a:ext>
              </a:extLst>
            </p:cNvPr>
            <p:cNvSpPr/>
            <p:nvPr/>
          </p:nvSpPr>
          <p:spPr>
            <a:xfrm>
              <a:off x="5029200" y="777240"/>
              <a:ext cx="3840480" cy="1920240"/>
            </a:xfrm>
            <a:prstGeom prst="roundRect">
              <a:avLst>
                <a:gd name="adj" fmla="val 2381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19" name="Text 18">
              <a:extLst>
                <a:ext uri="{FF2B5EF4-FFF2-40B4-BE49-F238E27FC236}">
                  <a16:creationId xmlns:a16="http://schemas.microsoft.com/office/drawing/2014/main" id="{46083ACE-8C84-D9CC-D320-ED566E3FA9A2}"/>
                </a:ext>
              </a:extLst>
            </p:cNvPr>
            <p:cNvSpPr/>
            <p:nvPr/>
          </p:nvSpPr>
          <p:spPr>
            <a:xfrm>
              <a:off x="5212080" y="868680"/>
              <a:ext cx="3474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演示入口</a:t>
              </a:r>
              <a:endParaRPr lang="en-US" sz="2000" dirty="0"/>
            </a:p>
          </p:txBody>
        </p:sp>
        <p:sp>
          <p:nvSpPr>
            <p:cNvPr id="20" name="Text 19">
              <a:extLst>
                <a:ext uri="{FF2B5EF4-FFF2-40B4-BE49-F238E27FC236}">
                  <a16:creationId xmlns:a16="http://schemas.microsoft.com/office/drawing/2014/main" id="{F7ECF14A-C770-E3BD-435E-2EDECD2F7E97}"/>
                </a:ext>
              </a:extLst>
            </p:cNvPr>
            <p:cNvSpPr/>
            <p:nvPr/>
          </p:nvSpPr>
          <p:spPr>
            <a:xfrm>
              <a:off x="5212080" y="1143000"/>
              <a:ext cx="347472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ts val="1600"/>
                </a:lnSpc>
                <a:buNone/>
              </a:pPr>
              <a:r>
                <a:rPr lang="en-US" sz="1400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Amazon Quick — MCP 调用，语音/文字</a:t>
              </a:r>
              <a:endParaRPr lang="en-US" sz="1400" dirty="0"/>
            </a:p>
            <a:p>
              <a:pPr marL="0" indent="0">
                <a:lnSpc>
                  <a:spcPts val="1600"/>
                </a:lnSpc>
                <a:buNone/>
              </a:pPr>
              <a:r>
                <a:rPr lang="en-US" sz="14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企微 Bot — 语音消息，中英文</a:t>
              </a:r>
              <a:endParaRPr lang="en-US" sz="1400" dirty="0"/>
            </a:p>
          </p:txBody>
        </p:sp>
        <p:sp>
          <p:nvSpPr>
            <p:cNvPr id="21" name="Text 20">
              <a:extLst>
                <a:ext uri="{FF2B5EF4-FFF2-40B4-BE49-F238E27FC236}">
                  <a16:creationId xmlns:a16="http://schemas.microsoft.com/office/drawing/2014/main" id="{D09304E4-7699-A6ED-CBE0-C8C4B4D4BD50}"/>
                </a:ext>
              </a:extLst>
            </p:cNvPr>
            <p:cNvSpPr/>
            <p:nvPr/>
          </p:nvSpPr>
          <p:spPr>
            <a:xfrm>
              <a:off x="5212080" y="1645920"/>
              <a:ext cx="3474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演示亮点</a:t>
              </a:r>
              <a:endParaRPr lang="en-US" sz="2000" dirty="0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41468E10-7DCA-2B90-B6B3-4B2A3457B87E}"/>
                </a:ext>
              </a:extLst>
            </p:cNvPr>
            <p:cNvSpPr/>
            <p:nvPr/>
          </p:nvSpPr>
          <p:spPr>
            <a:xfrm>
              <a:off x="5212080" y="1920240"/>
              <a:ext cx="347472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342900" indent="-342900">
                <a:lnSpc>
                  <a:spcPts val="14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全程语音交互（无需打字）</a:t>
              </a:r>
              <a:endParaRPr lang="en-US" sz="1200" dirty="0"/>
            </a:p>
            <a:p>
              <a:pPr marL="342900" indent="-342900">
                <a:lnSpc>
                  <a:spcPts val="14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每步生成独立 HTML 分析页</a:t>
              </a:r>
              <a:endParaRPr lang="en-US" sz="1200" dirty="0"/>
            </a:p>
            <a:p>
              <a:pPr marL="342900" indent="-342900">
                <a:lnSpc>
                  <a:spcPts val="14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Policy 护栏拦截演示</a:t>
              </a:r>
              <a:endParaRPr lang="en-US" sz="1200" dirty="0"/>
            </a:p>
            <a:p>
              <a:pPr marL="342900" indent="-342900">
                <a:lnSpc>
                  <a:spcPts val="14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重复问题 → 秒级匹配历史案例</a:t>
              </a:r>
              <a:endParaRPr lang="en-US" sz="1200" dirty="0"/>
            </a:p>
          </p:txBody>
        </p:sp>
        <p:sp>
          <p:nvSpPr>
            <p:cNvPr id="23" name="Shape 22">
              <a:extLst>
                <a:ext uri="{FF2B5EF4-FFF2-40B4-BE49-F238E27FC236}">
                  <a16:creationId xmlns:a16="http://schemas.microsoft.com/office/drawing/2014/main" id="{99E95D7E-FA9E-8CA8-D300-D68BB64DFCE4}"/>
                </a:ext>
              </a:extLst>
            </p:cNvPr>
            <p:cNvSpPr/>
            <p:nvPr/>
          </p:nvSpPr>
          <p:spPr>
            <a:xfrm>
              <a:off x="5029200" y="2834640"/>
              <a:ext cx="3840480" cy="2057400"/>
            </a:xfrm>
            <a:prstGeom prst="roundRect">
              <a:avLst>
                <a:gd name="adj" fmla="val 2222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225310E2-D416-DD83-1761-3EE922AA0D5A}"/>
                </a:ext>
              </a:extLst>
            </p:cNvPr>
            <p:cNvSpPr/>
            <p:nvPr/>
          </p:nvSpPr>
          <p:spPr>
            <a:xfrm>
              <a:off x="5212080" y="2926080"/>
              <a:ext cx="3474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关键指标（演示中展示）</a:t>
              </a:r>
              <a:endParaRPr lang="en-US" sz="2000" dirty="0"/>
            </a:p>
          </p:txBody>
        </p:sp>
        <p:sp>
          <p:nvSpPr>
            <p:cNvPr id="25" name="Text 24">
              <a:extLst>
                <a:ext uri="{FF2B5EF4-FFF2-40B4-BE49-F238E27FC236}">
                  <a16:creationId xmlns:a16="http://schemas.microsoft.com/office/drawing/2014/main" id="{FD5E76F4-FFAE-8A19-3E46-627D6E1DD6C4}"/>
                </a:ext>
              </a:extLst>
            </p:cNvPr>
            <p:cNvSpPr/>
            <p:nvPr/>
          </p:nvSpPr>
          <p:spPr>
            <a:xfrm>
              <a:off x="5212080" y="3246120"/>
              <a:ext cx="1188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语音响应</a:t>
              </a:r>
              <a:endParaRPr lang="en-US" sz="1200" dirty="0"/>
            </a:p>
          </p:txBody>
        </p:sp>
        <p:sp>
          <p:nvSpPr>
            <p:cNvPr id="26" name="Text 25">
              <a:extLst>
                <a:ext uri="{FF2B5EF4-FFF2-40B4-BE49-F238E27FC236}">
                  <a16:creationId xmlns:a16="http://schemas.microsoft.com/office/drawing/2014/main" id="{62BCC927-43A0-11DD-93DF-24A368A57322}"/>
                </a:ext>
              </a:extLst>
            </p:cNvPr>
            <p:cNvSpPr/>
            <p:nvPr/>
          </p:nvSpPr>
          <p:spPr>
            <a:xfrm>
              <a:off x="6400800" y="3246120"/>
              <a:ext cx="640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&lt; 2s</a:t>
              </a:r>
              <a:endParaRPr lang="en-US" sz="1600" dirty="0"/>
            </a:p>
          </p:txBody>
        </p:sp>
        <p:sp>
          <p:nvSpPr>
            <p:cNvPr id="27" name="Text 26">
              <a:extLst>
                <a:ext uri="{FF2B5EF4-FFF2-40B4-BE49-F238E27FC236}">
                  <a16:creationId xmlns:a16="http://schemas.microsoft.com/office/drawing/2014/main" id="{A48E2C7F-CADA-5D0A-5929-D5D5A24598C8}"/>
                </a:ext>
              </a:extLst>
            </p:cNvPr>
            <p:cNvSpPr/>
            <p:nvPr/>
          </p:nvSpPr>
          <p:spPr>
            <a:xfrm>
              <a:off x="7040880" y="3246120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开始回复</a:t>
              </a:r>
              <a:endParaRPr lang="en-US" sz="1200" dirty="0"/>
            </a:p>
          </p:txBody>
        </p:sp>
        <p:sp>
          <p:nvSpPr>
            <p:cNvPr id="28" name="Text 27">
              <a:extLst>
                <a:ext uri="{FF2B5EF4-FFF2-40B4-BE49-F238E27FC236}">
                  <a16:creationId xmlns:a16="http://schemas.microsoft.com/office/drawing/2014/main" id="{9B433387-9511-8ECE-B20E-428C4A1EBF29}"/>
                </a:ext>
              </a:extLst>
            </p:cNvPr>
            <p:cNvSpPr/>
            <p:nvPr/>
          </p:nvSpPr>
          <p:spPr>
            <a:xfrm>
              <a:off x="5212080" y="3611880"/>
              <a:ext cx="1188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分析页生成</a:t>
              </a:r>
              <a:endParaRPr lang="en-US" sz="1200" dirty="0"/>
            </a:p>
          </p:txBody>
        </p:sp>
        <p:sp>
          <p:nvSpPr>
            <p:cNvPr id="29" name="Text 28">
              <a:extLst>
                <a:ext uri="{FF2B5EF4-FFF2-40B4-BE49-F238E27FC236}">
                  <a16:creationId xmlns:a16="http://schemas.microsoft.com/office/drawing/2014/main" id="{C66DEAFA-BBB7-D8EB-9FAC-158E6FB04284}"/>
                </a:ext>
              </a:extLst>
            </p:cNvPr>
            <p:cNvSpPr/>
            <p:nvPr/>
          </p:nvSpPr>
          <p:spPr>
            <a:xfrm>
              <a:off x="6400800" y="3611880"/>
              <a:ext cx="640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&lt; 5s</a:t>
              </a:r>
              <a:endParaRPr lang="en-US" sz="1600" dirty="0"/>
            </a:p>
          </p:txBody>
        </p:sp>
        <p:sp>
          <p:nvSpPr>
            <p:cNvPr id="30" name="Text 29">
              <a:extLst>
                <a:ext uri="{FF2B5EF4-FFF2-40B4-BE49-F238E27FC236}">
                  <a16:creationId xmlns:a16="http://schemas.microsoft.com/office/drawing/2014/main" id="{21A87693-B415-C42C-A4BC-6B17B94FF503}"/>
                </a:ext>
              </a:extLst>
            </p:cNvPr>
            <p:cNvSpPr/>
            <p:nvPr/>
          </p:nvSpPr>
          <p:spPr>
            <a:xfrm>
              <a:off x="7040880" y="3611880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返回 URL</a:t>
              </a:r>
              <a:endParaRPr lang="en-US" sz="1200" dirty="0"/>
            </a:p>
          </p:txBody>
        </p:sp>
        <p:sp>
          <p:nvSpPr>
            <p:cNvPr id="31" name="Text 30">
              <a:extLst>
                <a:ext uri="{FF2B5EF4-FFF2-40B4-BE49-F238E27FC236}">
                  <a16:creationId xmlns:a16="http://schemas.microsoft.com/office/drawing/2014/main" id="{1E20C031-D4DF-B773-1E49-9DDFBF18EC81}"/>
                </a:ext>
              </a:extLst>
            </p:cNvPr>
            <p:cNvSpPr/>
            <p:nvPr/>
          </p:nvSpPr>
          <p:spPr>
            <a:xfrm>
              <a:off x="5212080" y="3977640"/>
              <a:ext cx="11887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经验匹配</a:t>
              </a:r>
              <a:endParaRPr lang="en-US" sz="1200" dirty="0"/>
            </a:p>
          </p:txBody>
        </p:sp>
        <p:sp>
          <p:nvSpPr>
            <p:cNvPr id="32" name="Text 31">
              <a:extLst>
                <a:ext uri="{FF2B5EF4-FFF2-40B4-BE49-F238E27FC236}">
                  <a16:creationId xmlns:a16="http://schemas.microsoft.com/office/drawing/2014/main" id="{F4A71344-8DCC-0201-24A5-BEEFA8262F60}"/>
                </a:ext>
              </a:extLst>
            </p:cNvPr>
            <p:cNvSpPr/>
            <p:nvPr/>
          </p:nvSpPr>
          <p:spPr>
            <a:xfrm>
              <a:off x="6400800" y="3977640"/>
              <a:ext cx="640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&lt; 1s</a:t>
              </a:r>
              <a:endParaRPr lang="en-US" sz="1600" dirty="0"/>
            </a:p>
          </p:txBody>
        </p:sp>
        <p:sp>
          <p:nvSpPr>
            <p:cNvPr id="33" name="Text 32">
              <a:extLst>
                <a:ext uri="{FF2B5EF4-FFF2-40B4-BE49-F238E27FC236}">
                  <a16:creationId xmlns:a16="http://schemas.microsoft.com/office/drawing/2014/main" id="{AD56C507-59AA-C29D-E81D-9CA2AA337A64}"/>
                </a:ext>
              </a:extLst>
            </p:cNvPr>
            <p:cNvSpPr/>
            <p:nvPr/>
          </p:nvSpPr>
          <p:spPr>
            <a:xfrm>
              <a:off x="7040880" y="3977640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返回相似案例</a:t>
              </a:r>
              <a:endParaRPr lang="en-US" sz="1200" dirty="0"/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Quick Desktop 5 场景演示（v3 主线，时长约 7 分钟）</a:t>
            </a:r>
          </a:p>
          <a:p>
            <a:endParaRPr sz="1200" b="0"/>
          </a:p>
          <a:p>
            <a:r>
              <a:rPr sz="1200" b="0"/>
              <a:t>场景 1: 资源盘点 (1 min)</a:t>
            </a:r>
          </a:p>
          <a:p>
            <a:r>
              <a:rPr sz="1200" b="0"/>
              <a:t>  "看一下当前 AWS 资源" → discover_resources → 真实 1 EC2 + 4 Lambda</a:t>
            </a:r>
          </a:p>
          <a:p>
            <a:endParaRPr sz="1200" b="0"/>
          </a:p>
          <a:p>
            <a:r>
              <a:rPr sz="1200" b="0"/>
              <a:t>场景 2: 服务负责人查询 (45 sec)</a:t>
            </a:r>
          </a:p>
          <a:p>
            <a:r>
              <a:rPr sz="1200" b="0"/>
              <a:t>  "demo-api 负责人是谁" → get_service_owner (Tag 反查) → demo-team / penghuichen@</a:t>
            </a:r>
          </a:p>
          <a:p>
            <a:endParaRPr sz="1200" b="0"/>
          </a:p>
          <a:p>
            <a:r>
              <a:rPr sz="1200" b="0"/>
              <a:t>场景 3: 智能诊断 (2 min) ⭐ 旗舰</a:t>
            </a:r>
          </a:p>
          <a:p>
            <a:r>
              <a:rPr sz="1200" b="0"/>
              <a:t>  "OrchestratorFn 调用越来越少为什么" → smart_diagnose</a:t>
            </a:r>
          </a:p>
          <a:p>
            <a:r>
              <a:rPr sz="1200" b="0"/>
              <a:t>  → Strands Agent 自动 routing → 5 Tool 协作 → DOA chat + RCA + HTML 诊断书</a:t>
            </a:r>
          </a:p>
          <a:p>
            <a:r>
              <a:rPr sz="1200" b="0"/>
              <a:t>  → 引擎 strands-agents, 模型 nova-pro-v1:0</a:t>
            </a:r>
          </a:p>
          <a:p>
            <a:endParaRPr sz="1200" b="0"/>
          </a:p>
          <a:p>
            <a:r>
              <a:rPr sz="1200" b="0"/>
              <a:t>场景 4: 写操作护栏 (1.5 min) ⭐ 合规</a:t>
            </a:r>
          </a:p>
          <a:p>
            <a:r>
              <a:rPr sz="1200" b="0"/>
              <a:t>  "扩容 demo-api 到 4" → request_confirm_token (Token + 风险) → "确认"</a:t>
            </a:r>
          </a:p>
          <a:p>
            <a:r>
              <a:rPr sz="1200" b="0"/>
              <a:t>  → scale_service via L2 IAM 隔离 → 4 道护栏全过</a:t>
            </a:r>
          </a:p>
          <a:p>
            <a:endParaRPr sz="1200" b="0"/>
          </a:p>
          <a:p>
            <a:r>
              <a:rPr sz="1200" b="0"/>
              <a:t>场景 5: 自动告警闭环 (2 min) ⭐ 闭环</a:t>
            </a:r>
          </a:p>
          <a:p>
            <a:r>
              <a:rPr sz="1200" b="0"/>
              <a:t>  CloudWatch alarm → DOA → EventBridge → L1 → SES 邮件</a:t>
            </a:r>
          </a:p>
          <a:p>
            <a:r>
              <a:rPr sz="1200" b="0"/>
              <a:t>  → 手机邮件 push 实时到达 → Quick Desktop 跟问 → AuditTable 给完整故事</a:t>
            </a:r>
          </a:p>
        </p:txBody>
      </p:sp>
    </p:spTree>
    <p:extLst>
      <p:ext uri="{BB962C8B-B14F-4D97-AF65-F5344CB8AC3E}">
        <p14:creationId xmlns:p14="http://schemas.microsoft.com/office/powerpoint/2010/main" val="2569663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B98E8-0E10-ED57-F974-4502FB145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76C607-FC2C-A14F-3B9D-8DCB7FA9C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性能分析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5AC0D522-E72A-BE45-A53F-262AD03138F3}"/>
              </a:ext>
            </a:extLst>
          </p:cNvPr>
          <p:cNvGrpSpPr/>
          <p:nvPr/>
        </p:nvGrpSpPr>
        <p:grpSpPr>
          <a:xfrm>
            <a:off x="591896" y="793665"/>
            <a:ext cx="11300780" cy="5333363"/>
            <a:chOff x="274320" y="777240"/>
            <a:chExt cx="8595360" cy="4114800"/>
          </a:xfrm>
        </p:grpSpPr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A337B72C-204F-7574-B51A-D84B6F9BCB7D}"/>
                </a:ext>
              </a:extLst>
            </p:cNvPr>
            <p:cNvSpPr/>
            <p:nvPr/>
          </p:nvSpPr>
          <p:spPr>
            <a:xfrm>
              <a:off x="274320" y="777240"/>
              <a:ext cx="4572000" cy="4114800"/>
            </a:xfrm>
            <a:prstGeom prst="roundRect">
              <a:avLst>
                <a:gd name="adj" fmla="val 1111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5" name="Text 4">
              <a:extLst>
                <a:ext uri="{FF2B5EF4-FFF2-40B4-BE49-F238E27FC236}">
                  <a16:creationId xmlns:a16="http://schemas.microsoft.com/office/drawing/2014/main" id="{59169EE0-D361-19F8-C906-EFF4B2ACB6A1}"/>
                </a:ext>
              </a:extLst>
            </p:cNvPr>
            <p:cNvSpPr/>
            <p:nvPr/>
          </p:nvSpPr>
          <p:spPr>
            <a:xfrm>
              <a:off x="457200" y="868680"/>
              <a:ext cx="4114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核心性能指标</a:t>
              </a:r>
              <a:endParaRPr lang="en-US" sz="2000" dirty="0"/>
            </a:p>
          </p:txBody>
        </p:sp>
        <p:sp>
          <p:nvSpPr>
            <p:cNvPr id="6" name="Text 5">
              <a:extLst>
                <a:ext uri="{FF2B5EF4-FFF2-40B4-BE49-F238E27FC236}">
                  <a16:creationId xmlns:a16="http://schemas.microsoft.com/office/drawing/2014/main" id="{B7EF7FA6-E0CE-1C1F-1BF0-F76F34BF0ED1}"/>
                </a:ext>
              </a:extLst>
            </p:cNvPr>
            <p:cNvSpPr/>
            <p:nvPr/>
          </p:nvSpPr>
          <p:spPr>
            <a:xfrm>
              <a:off x="457200" y="1188720"/>
              <a:ext cx="1371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指标</a:t>
              </a:r>
              <a:endParaRPr lang="en-US" sz="1200" dirty="0"/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6F538CDD-3710-52CB-1A26-7DE2DFB17628}"/>
                </a:ext>
              </a:extLst>
            </p:cNvPr>
            <p:cNvSpPr/>
            <p:nvPr/>
          </p:nvSpPr>
          <p:spPr>
            <a:xfrm>
              <a:off x="1828800" y="1188720"/>
              <a:ext cx="7315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目标</a:t>
              </a:r>
              <a:endParaRPr lang="en-US" sz="1200" dirty="0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592FC6C4-6D24-9DDC-0F9E-018FE58E2985}"/>
                </a:ext>
              </a:extLst>
            </p:cNvPr>
            <p:cNvSpPr/>
            <p:nvPr/>
          </p:nvSpPr>
          <p:spPr>
            <a:xfrm>
              <a:off x="2560320" y="1188720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实现方式</a:t>
              </a:r>
              <a:endParaRPr lang="en-US" sz="1200" dirty="0"/>
            </a:p>
          </p:txBody>
        </p:sp>
        <p:sp>
          <p:nvSpPr>
            <p:cNvPr id="9" name="Shape 8">
              <a:extLst>
                <a:ext uri="{FF2B5EF4-FFF2-40B4-BE49-F238E27FC236}">
                  <a16:creationId xmlns:a16="http://schemas.microsoft.com/office/drawing/2014/main" id="{02350CBF-595E-1F97-67F1-A1947D61E6C1}"/>
                </a:ext>
              </a:extLst>
            </p:cNvPr>
            <p:cNvSpPr/>
            <p:nvPr/>
          </p:nvSpPr>
          <p:spPr>
            <a:xfrm>
              <a:off x="457200" y="1444752"/>
              <a:ext cx="4206240" cy="0"/>
            </a:xfrm>
            <a:prstGeom prst="line">
              <a:avLst/>
            </a:prstGeom>
            <a:noFill/>
            <a:ln w="635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A42DA9EB-C73F-E955-B9B3-C2882B6C65D7}"/>
                </a:ext>
              </a:extLst>
            </p:cNvPr>
            <p:cNvSpPr/>
            <p:nvPr/>
          </p:nvSpPr>
          <p:spPr>
            <a:xfrm>
              <a:off x="457200" y="1508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语音识别延迟</a:t>
              </a:r>
              <a:endParaRPr lang="en-US" sz="1200" dirty="0"/>
            </a:p>
          </p:txBody>
        </p:sp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FAC0FE61-8EBA-7136-D0CA-F7F7FB245384}"/>
                </a:ext>
              </a:extLst>
            </p:cNvPr>
            <p:cNvSpPr/>
            <p:nvPr/>
          </p:nvSpPr>
          <p:spPr>
            <a:xfrm>
              <a:off x="1828800" y="1508760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&lt; 500ms</a:t>
              </a:r>
              <a:endParaRPr lang="en-US" sz="1200" dirty="0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A4BE3892-8F90-D144-EE84-C74E228642EE}"/>
                </a:ext>
              </a:extLst>
            </p:cNvPr>
            <p:cNvSpPr/>
            <p:nvPr/>
          </p:nvSpPr>
          <p:spPr>
            <a:xfrm>
              <a:off x="2560320" y="1508760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Nova Sonic 端到端流式</a:t>
              </a:r>
              <a:endParaRPr lang="en-US" sz="110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3BDB8B08-A6B9-7C73-ED9F-94DAD42E3F77}"/>
                </a:ext>
              </a:extLst>
            </p:cNvPr>
            <p:cNvSpPr/>
            <p:nvPr/>
          </p:nvSpPr>
          <p:spPr>
            <a:xfrm>
              <a:off x="457200" y="18288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语音回复延迟</a:t>
              </a:r>
              <a:endParaRPr lang="en-US" sz="1200" dirty="0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0C45AEE5-5359-518A-E214-66A069D86AE6}"/>
                </a:ext>
              </a:extLst>
            </p:cNvPr>
            <p:cNvSpPr/>
            <p:nvPr/>
          </p:nvSpPr>
          <p:spPr>
            <a:xfrm>
              <a:off x="1828800" y="1828800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&lt; 2s</a:t>
              </a:r>
              <a:endParaRPr lang="en-US" sz="1200" dirty="0"/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6A2508B6-59D4-85DF-35B7-20F0026B0CDB}"/>
                </a:ext>
              </a:extLst>
            </p:cNvPr>
            <p:cNvSpPr/>
            <p:nvPr/>
          </p:nvSpPr>
          <p:spPr>
            <a:xfrm>
              <a:off x="2560320" y="1828800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首响应 placeholder TTS；完整结果异步推送</a:t>
              </a:r>
              <a:endParaRPr lang="en-US" sz="1100" dirty="0"/>
            </a:p>
          </p:txBody>
        </p:sp>
        <p:sp>
          <p:nvSpPr>
            <p:cNvPr id="16" name="Text 15">
              <a:extLst>
                <a:ext uri="{FF2B5EF4-FFF2-40B4-BE49-F238E27FC236}">
                  <a16:creationId xmlns:a16="http://schemas.microsoft.com/office/drawing/2014/main" id="{C3BF7E68-8F97-571E-1D64-6EAB95D2E18C}"/>
                </a:ext>
              </a:extLst>
            </p:cNvPr>
            <p:cNvSpPr/>
            <p:nvPr/>
          </p:nvSpPr>
          <p:spPr>
            <a:xfrm>
              <a:off x="457200" y="214884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分析页生成</a:t>
              </a:r>
              <a:endParaRPr lang="en-US" sz="1200" dirty="0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15BB78BF-F3F3-8A85-5F23-8AEEBD3CCF5F}"/>
                </a:ext>
              </a:extLst>
            </p:cNvPr>
            <p:cNvSpPr/>
            <p:nvPr/>
          </p:nvSpPr>
          <p:spPr>
            <a:xfrm>
              <a:off x="1828800" y="2148840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&lt; 5s</a:t>
              </a:r>
              <a:endParaRPr lang="en-US" sz="1200" dirty="0"/>
            </a:p>
          </p:txBody>
        </p:sp>
        <p:sp>
          <p:nvSpPr>
            <p:cNvPr id="18" name="Text 17">
              <a:extLst>
                <a:ext uri="{FF2B5EF4-FFF2-40B4-BE49-F238E27FC236}">
                  <a16:creationId xmlns:a16="http://schemas.microsoft.com/office/drawing/2014/main" id="{B7B62DA3-163B-7AB1-7872-424E6E8274E9}"/>
                </a:ext>
              </a:extLst>
            </p:cNvPr>
            <p:cNvSpPr/>
            <p:nvPr/>
          </p:nvSpPr>
          <p:spPr>
            <a:xfrm>
              <a:off x="2560320" y="2148840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DevOps Agent → JSON → Jinja2 → S3</a:t>
              </a:r>
              <a:endParaRPr lang="en-US" sz="1100" dirty="0"/>
            </a:p>
          </p:txBody>
        </p:sp>
        <p:sp>
          <p:nvSpPr>
            <p:cNvPr id="19" name="Text 18">
              <a:extLst>
                <a:ext uri="{FF2B5EF4-FFF2-40B4-BE49-F238E27FC236}">
                  <a16:creationId xmlns:a16="http://schemas.microsoft.com/office/drawing/2014/main" id="{69456A7C-2A95-E78C-0DD6-268F0D1D31BE}"/>
                </a:ext>
              </a:extLst>
            </p:cNvPr>
            <p:cNvSpPr/>
            <p:nvPr/>
          </p:nvSpPr>
          <p:spPr>
            <a:xfrm>
              <a:off x="457200" y="246888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Agent 决策</a:t>
              </a:r>
              <a:endParaRPr lang="en-US" sz="1200" dirty="0"/>
            </a:p>
          </p:txBody>
        </p:sp>
        <p:sp>
          <p:nvSpPr>
            <p:cNvPr id="20" name="Text 19">
              <a:extLst>
                <a:ext uri="{FF2B5EF4-FFF2-40B4-BE49-F238E27FC236}">
                  <a16:creationId xmlns:a16="http://schemas.microsoft.com/office/drawing/2014/main" id="{534D98CA-D9F9-D86C-A42B-8E684062E8F4}"/>
                </a:ext>
              </a:extLst>
            </p:cNvPr>
            <p:cNvSpPr/>
            <p:nvPr/>
          </p:nvSpPr>
          <p:spPr>
            <a:xfrm>
              <a:off x="1828800" y="2468880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&lt; 3s</a:t>
              </a:r>
              <a:endParaRPr lang="en-US" sz="1200" dirty="0"/>
            </a:p>
          </p:txBody>
        </p:sp>
        <p:sp>
          <p:nvSpPr>
            <p:cNvPr id="21" name="Text 20">
              <a:extLst>
                <a:ext uri="{FF2B5EF4-FFF2-40B4-BE49-F238E27FC236}">
                  <a16:creationId xmlns:a16="http://schemas.microsoft.com/office/drawing/2014/main" id="{FD86D686-60FD-093B-F7C1-187692D6DF3D}"/>
                </a:ext>
              </a:extLst>
            </p:cNvPr>
            <p:cNvSpPr/>
            <p:nvPr/>
          </p:nvSpPr>
          <p:spPr>
            <a:xfrm>
              <a:off x="2560320" y="2468880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Bedrock LLM 意图识别</a:t>
              </a:r>
              <a:endParaRPr lang="en-US" sz="1100" dirty="0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287CEA52-1205-A700-640F-862B48949A73}"/>
                </a:ext>
              </a:extLst>
            </p:cNvPr>
            <p:cNvSpPr/>
            <p:nvPr/>
          </p:nvSpPr>
          <p:spPr>
            <a:xfrm>
              <a:off x="457200" y="278892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经验匹配</a:t>
              </a:r>
              <a:endParaRPr lang="en-US" sz="1200" dirty="0"/>
            </a:p>
          </p:txBody>
        </p:sp>
        <p:sp>
          <p:nvSpPr>
            <p:cNvPr id="23" name="Text 22">
              <a:extLst>
                <a:ext uri="{FF2B5EF4-FFF2-40B4-BE49-F238E27FC236}">
                  <a16:creationId xmlns:a16="http://schemas.microsoft.com/office/drawing/2014/main" id="{F35048F1-79F7-D920-984E-CC0AC67DA11E}"/>
                </a:ext>
              </a:extLst>
            </p:cNvPr>
            <p:cNvSpPr/>
            <p:nvPr/>
          </p:nvSpPr>
          <p:spPr>
            <a:xfrm>
              <a:off x="1828800" y="2788920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&lt; 1s</a:t>
              </a:r>
              <a:endParaRPr lang="en-US" sz="1200" dirty="0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4595B73F-1ED8-CE1E-874B-B8F948655419}"/>
                </a:ext>
              </a:extLst>
            </p:cNvPr>
            <p:cNvSpPr/>
            <p:nvPr/>
          </p:nvSpPr>
          <p:spPr>
            <a:xfrm>
              <a:off x="2560320" y="2788920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DevOps Agent Skills + KB 向量检索</a:t>
              </a:r>
              <a:endParaRPr lang="en-US" sz="1100" dirty="0"/>
            </a:p>
          </p:txBody>
        </p:sp>
        <p:sp>
          <p:nvSpPr>
            <p:cNvPr id="25" name="Text 24">
              <a:extLst>
                <a:ext uri="{FF2B5EF4-FFF2-40B4-BE49-F238E27FC236}">
                  <a16:creationId xmlns:a16="http://schemas.microsoft.com/office/drawing/2014/main" id="{AFB13C32-BE9C-5F53-1865-281E8E53F387}"/>
                </a:ext>
              </a:extLst>
            </p:cNvPr>
            <p:cNvSpPr/>
            <p:nvPr/>
          </p:nvSpPr>
          <p:spPr>
            <a:xfrm>
              <a:off x="457200" y="31089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并发支持</a:t>
              </a:r>
              <a:endParaRPr lang="en-US" sz="1200" dirty="0"/>
            </a:p>
          </p:txBody>
        </p:sp>
        <p:sp>
          <p:nvSpPr>
            <p:cNvPr id="26" name="Text 25">
              <a:extLst>
                <a:ext uri="{FF2B5EF4-FFF2-40B4-BE49-F238E27FC236}">
                  <a16:creationId xmlns:a16="http://schemas.microsoft.com/office/drawing/2014/main" id="{51D10C86-F5A2-4CF9-57F1-A894307BB056}"/>
                </a:ext>
              </a:extLst>
            </p:cNvPr>
            <p:cNvSpPr/>
            <p:nvPr/>
          </p:nvSpPr>
          <p:spPr>
            <a:xfrm>
              <a:off x="1828800" y="3108960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≥ 50 用户</a:t>
              </a:r>
              <a:endParaRPr lang="en-US" sz="1200" dirty="0"/>
            </a:p>
          </p:txBody>
        </p:sp>
        <p:sp>
          <p:nvSpPr>
            <p:cNvPr id="27" name="Text 26">
              <a:extLst>
                <a:ext uri="{FF2B5EF4-FFF2-40B4-BE49-F238E27FC236}">
                  <a16:creationId xmlns:a16="http://schemas.microsoft.com/office/drawing/2014/main" id="{39C9A21F-CB53-8596-BEEE-66DB26155AB0}"/>
                </a:ext>
              </a:extLst>
            </p:cNvPr>
            <p:cNvSpPr/>
            <p:nvPr/>
          </p:nvSpPr>
          <p:spPr>
            <a:xfrm>
              <a:off x="2560320" y="3108960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Lambda 自动扩缩</a:t>
              </a:r>
              <a:endParaRPr lang="en-US" sz="1100" dirty="0"/>
            </a:p>
          </p:txBody>
        </p:sp>
        <p:sp>
          <p:nvSpPr>
            <p:cNvPr id="28" name="Text 27">
              <a:extLst>
                <a:ext uri="{FF2B5EF4-FFF2-40B4-BE49-F238E27FC236}">
                  <a16:creationId xmlns:a16="http://schemas.microsoft.com/office/drawing/2014/main" id="{470BC52C-DBB3-091D-C8F3-DE0C39EAD26F}"/>
                </a:ext>
              </a:extLst>
            </p:cNvPr>
            <p:cNvSpPr/>
            <p:nvPr/>
          </p:nvSpPr>
          <p:spPr>
            <a:xfrm>
              <a:off x="457200" y="34290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可用性</a:t>
              </a:r>
              <a:endParaRPr lang="en-US" sz="1200" dirty="0"/>
            </a:p>
          </p:txBody>
        </p:sp>
        <p:sp>
          <p:nvSpPr>
            <p:cNvPr id="29" name="Text 28">
              <a:extLst>
                <a:ext uri="{FF2B5EF4-FFF2-40B4-BE49-F238E27FC236}">
                  <a16:creationId xmlns:a16="http://schemas.microsoft.com/office/drawing/2014/main" id="{B58DA2AA-840A-E5E5-A0CB-B0EFFC77F033}"/>
                </a:ext>
              </a:extLst>
            </p:cNvPr>
            <p:cNvSpPr/>
            <p:nvPr/>
          </p:nvSpPr>
          <p:spPr>
            <a:xfrm>
              <a:off x="1828800" y="3429000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99.5%</a:t>
              </a:r>
              <a:endParaRPr lang="en-US" sz="1200" dirty="0"/>
            </a:p>
          </p:txBody>
        </p:sp>
        <p:sp>
          <p:nvSpPr>
            <p:cNvPr id="30" name="Text 29">
              <a:extLst>
                <a:ext uri="{FF2B5EF4-FFF2-40B4-BE49-F238E27FC236}">
                  <a16:creationId xmlns:a16="http://schemas.microsoft.com/office/drawing/2014/main" id="{DA2FBB88-9018-6AA6-0B15-99A65BD01FB1}"/>
                </a:ext>
              </a:extLst>
            </p:cNvPr>
            <p:cNvSpPr/>
            <p:nvPr/>
          </p:nvSpPr>
          <p:spPr>
            <a:xfrm>
              <a:off x="2560320" y="3429000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全 Serverless，无单点</a:t>
              </a:r>
              <a:endParaRPr lang="en-US" sz="1100" dirty="0"/>
            </a:p>
          </p:txBody>
        </p:sp>
        <p:sp>
          <p:nvSpPr>
            <p:cNvPr id="31" name="Shape 30">
              <a:extLst>
                <a:ext uri="{FF2B5EF4-FFF2-40B4-BE49-F238E27FC236}">
                  <a16:creationId xmlns:a16="http://schemas.microsoft.com/office/drawing/2014/main" id="{4CD43D2F-9A11-CB0A-166F-703EAA296047}"/>
                </a:ext>
              </a:extLst>
            </p:cNvPr>
            <p:cNvSpPr/>
            <p:nvPr/>
          </p:nvSpPr>
          <p:spPr>
            <a:xfrm>
              <a:off x="5029200" y="777240"/>
              <a:ext cx="3840480" cy="4114800"/>
            </a:xfrm>
            <a:prstGeom prst="roundRect">
              <a:avLst>
                <a:gd name="adj" fmla="val 1190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32" name="Text 31">
              <a:extLst>
                <a:ext uri="{FF2B5EF4-FFF2-40B4-BE49-F238E27FC236}">
                  <a16:creationId xmlns:a16="http://schemas.microsoft.com/office/drawing/2014/main" id="{C5920053-2E3D-A96B-382D-5C4B9942C1B9}"/>
                </a:ext>
              </a:extLst>
            </p:cNvPr>
            <p:cNvSpPr/>
            <p:nvPr/>
          </p:nvSpPr>
          <p:spPr>
            <a:xfrm>
              <a:off x="5212080" y="868680"/>
              <a:ext cx="34747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延迟分解（典型场景）</a:t>
              </a:r>
              <a:endParaRPr lang="en-US" sz="2000" dirty="0"/>
            </a:p>
          </p:txBody>
        </p:sp>
        <p:sp>
          <p:nvSpPr>
            <p:cNvPr id="33" name="Shape 32">
              <a:extLst>
                <a:ext uri="{FF2B5EF4-FFF2-40B4-BE49-F238E27FC236}">
                  <a16:creationId xmlns:a16="http://schemas.microsoft.com/office/drawing/2014/main" id="{C69833D1-6B8A-9A93-CA16-FF366EE9856C}"/>
                </a:ext>
              </a:extLst>
            </p:cNvPr>
            <p:cNvSpPr/>
            <p:nvPr/>
          </p:nvSpPr>
          <p:spPr>
            <a:xfrm>
              <a:off x="5212080" y="1234440"/>
              <a:ext cx="3291840" cy="274320"/>
            </a:xfrm>
            <a:prstGeom prst="roundRect">
              <a:avLst>
                <a:gd name="adj" fmla="val 6667"/>
              </a:avLst>
            </a:prstGeom>
            <a:solidFill>
              <a:srgbClr val="0F1624"/>
            </a:solidFill>
            <a:ln w="381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34" name="Text 33">
              <a:extLst>
                <a:ext uri="{FF2B5EF4-FFF2-40B4-BE49-F238E27FC236}">
                  <a16:creationId xmlns:a16="http://schemas.microsoft.com/office/drawing/2014/main" id="{4C6BCA25-DB56-22C4-4F8E-1AE082F19FCB}"/>
                </a:ext>
              </a:extLst>
            </p:cNvPr>
            <p:cNvSpPr/>
            <p:nvPr/>
          </p:nvSpPr>
          <p:spPr>
            <a:xfrm>
              <a:off x="5303520" y="1234440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用户说话</a:t>
              </a:r>
              <a:endParaRPr lang="en-US" sz="1200" dirty="0"/>
            </a:p>
          </p:txBody>
        </p:sp>
        <p:sp>
          <p:nvSpPr>
            <p:cNvPr id="35" name="Text 34">
              <a:extLst>
                <a:ext uri="{FF2B5EF4-FFF2-40B4-BE49-F238E27FC236}">
                  <a16:creationId xmlns:a16="http://schemas.microsoft.com/office/drawing/2014/main" id="{F815E20F-0246-A4E3-BFF1-7EF1BEBC5205}"/>
                </a:ext>
              </a:extLst>
            </p:cNvPr>
            <p:cNvSpPr/>
            <p:nvPr/>
          </p:nvSpPr>
          <p:spPr>
            <a:xfrm>
              <a:off x="7498080" y="123444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~2s</a:t>
              </a:r>
              <a:endParaRPr lang="en-US" sz="1200" dirty="0"/>
            </a:p>
          </p:txBody>
        </p:sp>
        <p:sp>
          <p:nvSpPr>
            <p:cNvPr id="36" name="Shape 35">
              <a:extLst>
                <a:ext uri="{FF2B5EF4-FFF2-40B4-BE49-F238E27FC236}">
                  <a16:creationId xmlns:a16="http://schemas.microsoft.com/office/drawing/2014/main" id="{6294E3A6-F03D-D14C-91F5-A0B43C46A90C}"/>
                </a:ext>
              </a:extLst>
            </p:cNvPr>
            <p:cNvSpPr/>
            <p:nvPr/>
          </p:nvSpPr>
          <p:spPr>
            <a:xfrm>
              <a:off x="5212080" y="1581912"/>
              <a:ext cx="3291840" cy="274320"/>
            </a:xfrm>
            <a:prstGeom prst="roundRect">
              <a:avLst>
                <a:gd name="adj" fmla="val 6667"/>
              </a:avLst>
            </a:prstGeom>
            <a:solidFill>
              <a:srgbClr val="0F1624"/>
            </a:solidFill>
            <a:ln w="381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37" name="Text 36">
              <a:extLst>
                <a:ext uri="{FF2B5EF4-FFF2-40B4-BE49-F238E27FC236}">
                  <a16:creationId xmlns:a16="http://schemas.microsoft.com/office/drawing/2014/main" id="{69E55D31-230D-0677-6C48-67C3FC17F735}"/>
                </a:ext>
              </a:extLst>
            </p:cNvPr>
            <p:cNvSpPr/>
            <p:nvPr/>
          </p:nvSpPr>
          <p:spPr>
            <a:xfrm>
              <a:off x="5303520" y="1581912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Nova Sonic ASR</a:t>
              </a:r>
              <a:endParaRPr lang="en-US" sz="1200" dirty="0"/>
            </a:p>
          </p:txBody>
        </p:sp>
        <p:sp>
          <p:nvSpPr>
            <p:cNvPr id="38" name="Text 37">
              <a:extLst>
                <a:ext uri="{FF2B5EF4-FFF2-40B4-BE49-F238E27FC236}">
                  <a16:creationId xmlns:a16="http://schemas.microsoft.com/office/drawing/2014/main" id="{575907C7-9A19-E677-1823-C36B83D21914}"/>
                </a:ext>
              </a:extLst>
            </p:cNvPr>
            <p:cNvSpPr/>
            <p:nvPr/>
          </p:nvSpPr>
          <p:spPr>
            <a:xfrm>
              <a:off x="7498080" y="1581912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~0.5s</a:t>
              </a:r>
              <a:endParaRPr lang="en-US" sz="1200" dirty="0"/>
            </a:p>
          </p:txBody>
        </p:sp>
        <p:sp>
          <p:nvSpPr>
            <p:cNvPr id="39" name="Shape 38">
              <a:extLst>
                <a:ext uri="{FF2B5EF4-FFF2-40B4-BE49-F238E27FC236}">
                  <a16:creationId xmlns:a16="http://schemas.microsoft.com/office/drawing/2014/main" id="{B2DB3E51-89D6-9967-981D-00BD44917A32}"/>
                </a:ext>
              </a:extLst>
            </p:cNvPr>
            <p:cNvSpPr/>
            <p:nvPr/>
          </p:nvSpPr>
          <p:spPr>
            <a:xfrm>
              <a:off x="5212080" y="1929384"/>
              <a:ext cx="3291840" cy="274320"/>
            </a:xfrm>
            <a:prstGeom prst="roundRect">
              <a:avLst>
                <a:gd name="adj" fmla="val 6667"/>
              </a:avLst>
            </a:prstGeom>
            <a:solidFill>
              <a:srgbClr val="0F1624"/>
            </a:solidFill>
            <a:ln w="381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40" name="Text 39">
              <a:extLst>
                <a:ext uri="{FF2B5EF4-FFF2-40B4-BE49-F238E27FC236}">
                  <a16:creationId xmlns:a16="http://schemas.microsoft.com/office/drawing/2014/main" id="{1E8E49BA-F38F-E3F1-76A3-25CE5D4A7EE4}"/>
                </a:ext>
              </a:extLst>
            </p:cNvPr>
            <p:cNvSpPr/>
            <p:nvPr/>
          </p:nvSpPr>
          <p:spPr>
            <a:xfrm>
              <a:off x="5303520" y="1929384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Router Agent</a:t>
              </a:r>
              <a:endParaRPr lang="en-US" sz="1200" dirty="0"/>
            </a:p>
          </p:txBody>
        </p:sp>
        <p:sp>
          <p:nvSpPr>
            <p:cNvPr id="41" name="Text 40">
              <a:extLst>
                <a:ext uri="{FF2B5EF4-FFF2-40B4-BE49-F238E27FC236}">
                  <a16:creationId xmlns:a16="http://schemas.microsoft.com/office/drawing/2014/main" id="{85E0142C-BAD4-4E53-F4B2-E986A0186D24}"/>
                </a:ext>
              </a:extLst>
            </p:cNvPr>
            <p:cNvSpPr/>
            <p:nvPr/>
          </p:nvSpPr>
          <p:spPr>
            <a:xfrm>
              <a:off x="7498080" y="1929384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~0.5s</a:t>
              </a:r>
              <a:endParaRPr lang="en-US" sz="1200" dirty="0"/>
            </a:p>
          </p:txBody>
        </p:sp>
        <p:sp>
          <p:nvSpPr>
            <p:cNvPr id="42" name="Shape 41">
              <a:extLst>
                <a:ext uri="{FF2B5EF4-FFF2-40B4-BE49-F238E27FC236}">
                  <a16:creationId xmlns:a16="http://schemas.microsoft.com/office/drawing/2014/main" id="{0F19E7E6-7103-87D1-D5BC-BBE315A2CB7B}"/>
                </a:ext>
              </a:extLst>
            </p:cNvPr>
            <p:cNvSpPr/>
            <p:nvPr/>
          </p:nvSpPr>
          <p:spPr>
            <a:xfrm>
              <a:off x="5212080" y="2276856"/>
              <a:ext cx="3291840" cy="274320"/>
            </a:xfrm>
            <a:prstGeom prst="roundRect">
              <a:avLst>
                <a:gd name="adj" fmla="val 6667"/>
              </a:avLst>
            </a:prstGeom>
            <a:solidFill>
              <a:srgbClr val="0F1624"/>
            </a:solidFill>
            <a:ln w="381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43" name="Text 42">
              <a:extLst>
                <a:ext uri="{FF2B5EF4-FFF2-40B4-BE49-F238E27FC236}">
                  <a16:creationId xmlns:a16="http://schemas.microsoft.com/office/drawing/2014/main" id="{3A8371AC-DF4F-114D-62C6-0FC788D438D9}"/>
                </a:ext>
              </a:extLst>
            </p:cNvPr>
            <p:cNvSpPr/>
            <p:nvPr/>
          </p:nvSpPr>
          <p:spPr>
            <a:xfrm>
              <a:off x="5303520" y="2276856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DevOps Agent (chat)</a:t>
              </a:r>
              <a:endParaRPr lang="en-US" sz="1200" dirty="0"/>
            </a:p>
          </p:txBody>
        </p:sp>
        <p:sp>
          <p:nvSpPr>
            <p:cNvPr id="44" name="Text 43">
              <a:extLst>
                <a:ext uri="{FF2B5EF4-FFF2-40B4-BE49-F238E27FC236}">
                  <a16:creationId xmlns:a16="http://schemas.microsoft.com/office/drawing/2014/main" id="{E9D2129C-7938-D31F-D8E7-EDC0264743F0}"/>
                </a:ext>
              </a:extLst>
            </p:cNvPr>
            <p:cNvSpPr/>
            <p:nvPr/>
          </p:nvSpPr>
          <p:spPr>
            <a:xfrm>
              <a:off x="7498080" y="2276856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~5-10s</a:t>
              </a:r>
              <a:endParaRPr lang="en-US" sz="1200" dirty="0"/>
            </a:p>
          </p:txBody>
        </p:sp>
        <p:sp>
          <p:nvSpPr>
            <p:cNvPr id="45" name="Shape 44">
              <a:extLst>
                <a:ext uri="{FF2B5EF4-FFF2-40B4-BE49-F238E27FC236}">
                  <a16:creationId xmlns:a16="http://schemas.microsoft.com/office/drawing/2014/main" id="{96214BF8-7292-A90D-AF92-C745702D9C2A}"/>
                </a:ext>
              </a:extLst>
            </p:cNvPr>
            <p:cNvSpPr/>
            <p:nvPr/>
          </p:nvSpPr>
          <p:spPr>
            <a:xfrm>
              <a:off x="5212080" y="2624328"/>
              <a:ext cx="3291840" cy="274320"/>
            </a:xfrm>
            <a:prstGeom prst="roundRect">
              <a:avLst>
                <a:gd name="adj" fmla="val 6667"/>
              </a:avLst>
            </a:prstGeom>
            <a:solidFill>
              <a:srgbClr val="0F1624"/>
            </a:solidFill>
            <a:ln w="381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46" name="Text 45">
              <a:extLst>
                <a:ext uri="{FF2B5EF4-FFF2-40B4-BE49-F238E27FC236}">
                  <a16:creationId xmlns:a16="http://schemas.microsoft.com/office/drawing/2014/main" id="{7F8CBF4C-9CC5-2531-E880-CD55EEC65F3C}"/>
                </a:ext>
              </a:extLst>
            </p:cNvPr>
            <p:cNvSpPr/>
            <p:nvPr/>
          </p:nvSpPr>
          <p:spPr>
            <a:xfrm>
              <a:off x="5303520" y="2624328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Report Tool (Jinja2)</a:t>
              </a:r>
              <a:endParaRPr lang="en-US" sz="1200" dirty="0"/>
            </a:p>
          </p:txBody>
        </p:sp>
        <p:sp>
          <p:nvSpPr>
            <p:cNvPr id="47" name="Text 46">
              <a:extLst>
                <a:ext uri="{FF2B5EF4-FFF2-40B4-BE49-F238E27FC236}">
                  <a16:creationId xmlns:a16="http://schemas.microsoft.com/office/drawing/2014/main" id="{002ED57C-8DEC-5F9B-BAB7-13D5B3FF4110}"/>
                </a:ext>
              </a:extLst>
            </p:cNvPr>
            <p:cNvSpPr/>
            <p:nvPr/>
          </p:nvSpPr>
          <p:spPr>
            <a:xfrm>
              <a:off x="7498080" y="2624328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4D9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~2-3s</a:t>
              </a:r>
              <a:endParaRPr lang="en-US" sz="1200" dirty="0"/>
            </a:p>
          </p:txBody>
        </p:sp>
        <p:sp>
          <p:nvSpPr>
            <p:cNvPr id="48" name="Shape 47">
              <a:extLst>
                <a:ext uri="{FF2B5EF4-FFF2-40B4-BE49-F238E27FC236}">
                  <a16:creationId xmlns:a16="http://schemas.microsoft.com/office/drawing/2014/main" id="{8D1C67C2-3D93-B7F8-ADF4-834D7D62926D}"/>
                </a:ext>
              </a:extLst>
            </p:cNvPr>
            <p:cNvSpPr/>
            <p:nvPr/>
          </p:nvSpPr>
          <p:spPr>
            <a:xfrm>
              <a:off x="5212080" y="2971800"/>
              <a:ext cx="3291840" cy="274320"/>
            </a:xfrm>
            <a:prstGeom prst="roundRect">
              <a:avLst>
                <a:gd name="adj" fmla="val 6667"/>
              </a:avLst>
            </a:prstGeom>
            <a:solidFill>
              <a:srgbClr val="0F1624"/>
            </a:solidFill>
            <a:ln w="381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49" name="Text 48">
              <a:extLst>
                <a:ext uri="{FF2B5EF4-FFF2-40B4-BE49-F238E27FC236}">
                  <a16:creationId xmlns:a16="http://schemas.microsoft.com/office/drawing/2014/main" id="{5B11363E-77F8-398F-82F5-67BAA0A3D0C4}"/>
                </a:ext>
              </a:extLst>
            </p:cNvPr>
            <p:cNvSpPr/>
            <p:nvPr/>
          </p:nvSpPr>
          <p:spPr>
            <a:xfrm>
              <a:off x="5303520" y="2971800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语音回复开始</a:t>
              </a:r>
              <a:endParaRPr lang="en-US" sz="1200" dirty="0"/>
            </a:p>
          </p:txBody>
        </p:sp>
        <p:sp>
          <p:nvSpPr>
            <p:cNvPr id="50" name="Text 49">
              <a:extLst>
                <a:ext uri="{FF2B5EF4-FFF2-40B4-BE49-F238E27FC236}">
                  <a16:creationId xmlns:a16="http://schemas.microsoft.com/office/drawing/2014/main" id="{542FE4E7-C502-3FB7-57C0-3B0C228D3C82}"/>
                </a:ext>
              </a:extLst>
            </p:cNvPr>
            <p:cNvSpPr/>
            <p:nvPr/>
          </p:nvSpPr>
          <p:spPr>
            <a:xfrm>
              <a:off x="7498080" y="297180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~2s (流式)</a:t>
              </a:r>
              <a:endParaRPr lang="en-US" sz="1200" dirty="0"/>
            </a:p>
          </p:txBody>
        </p:sp>
        <p:sp>
          <p:nvSpPr>
            <p:cNvPr id="51" name="Shape 50">
              <a:extLst>
                <a:ext uri="{FF2B5EF4-FFF2-40B4-BE49-F238E27FC236}">
                  <a16:creationId xmlns:a16="http://schemas.microsoft.com/office/drawing/2014/main" id="{CBDAC75B-CD01-E872-C639-10460B5B36CB}"/>
                </a:ext>
              </a:extLst>
            </p:cNvPr>
            <p:cNvSpPr/>
            <p:nvPr/>
          </p:nvSpPr>
          <p:spPr>
            <a:xfrm>
              <a:off x="5212080" y="3319272"/>
              <a:ext cx="3291840" cy="274320"/>
            </a:xfrm>
            <a:prstGeom prst="roundRect">
              <a:avLst>
                <a:gd name="adj" fmla="val 6667"/>
              </a:avLst>
            </a:prstGeom>
            <a:solidFill>
              <a:srgbClr val="0F1624"/>
            </a:solidFill>
            <a:ln w="381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52" name="Text 51">
              <a:extLst>
                <a:ext uri="{FF2B5EF4-FFF2-40B4-BE49-F238E27FC236}">
                  <a16:creationId xmlns:a16="http://schemas.microsoft.com/office/drawing/2014/main" id="{8ABE20F4-DE36-7595-1A5C-2CB1F7B4CC24}"/>
                </a:ext>
              </a:extLst>
            </p:cNvPr>
            <p:cNvSpPr/>
            <p:nvPr/>
          </p:nvSpPr>
          <p:spPr>
            <a:xfrm>
              <a:off x="5303520" y="3319272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分析页 URL 推送</a:t>
              </a:r>
              <a:endParaRPr lang="en-US" sz="1200" dirty="0"/>
            </a:p>
          </p:txBody>
        </p:sp>
        <p:sp>
          <p:nvSpPr>
            <p:cNvPr id="53" name="Text 52">
              <a:extLst>
                <a:ext uri="{FF2B5EF4-FFF2-40B4-BE49-F238E27FC236}">
                  <a16:creationId xmlns:a16="http://schemas.microsoft.com/office/drawing/2014/main" id="{CD90CA59-1022-C71F-CD82-E68B534B66D6}"/>
                </a:ext>
              </a:extLst>
            </p:cNvPr>
            <p:cNvSpPr/>
            <p:nvPr/>
          </p:nvSpPr>
          <p:spPr>
            <a:xfrm>
              <a:off x="7498080" y="3319272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~5s</a:t>
              </a:r>
              <a:endParaRPr lang="en-US" sz="1200" dirty="0"/>
            </a:p>
          </p:txBody>
        </p:sp>
        <p:sp>
          <p:nvSpPr>
            <p:cNvPr id="54" name="Shape 53">
              <a:extLst>
                <a:ext uri="{FF2B5EF4-FFF2-40B4-BE49-F238E27FC236}">
                  <a16:creationId xmlns:a16="http://schemas.microsoft.com/office/drawing/2014/main" id="{CED09A73-E4DE-6704-DD60-71EAE99DFCDC}"/>
                </a:ext>
              </a:extLst>
            </p:cNvPr>
            <p:cNvSpPr/>
            <p:nvPr/>
          </p:nvSpPr>
          <p:spPr>
            <a:xfrm>
              <a:off x="5212080" y="3849624"/>
              <a:ext cx="3291840" cy="457200"/>
            </a:xfrm>
            <a:prstGeom prst="roundRect">
              <a:avLst>
                <a:gd name="adj" fmla="val 6000"/>
              </a:avLst>
            </a:prstGeom>
            <a:solidFill>
              <a:srgbClr val="2A1F0A"/>
            </a:solidFill>
            <a:ln w="1016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zh-CN" altLang="en-US" sz="3600"/>
            </a:p>
          </p:txBody>
        </p:sp>
        <p:sp>
          <p:nvSpPr>
            <p:cNvPr id="55" name="Text 54">
              <a:extLst>
                <a:ext uri="{FF2B5EF4-FFF2-40B4-BE49-F238E27FC236}">
                  <a16:creationId xmlns:a16="http://schemas.microsoft.com/office/drawing/2014/main" id="{818DDFD6-69D4-AF4D-DCDC-083D8473F86C}"/>
                </a:ext>
              </a:extLst>
            </p:cNvPr>
            <p:cNvSpPr/>
            <p:nvPr/>
          </p:nvSpPr>
          <p:spPr>
            <a:xfrm>
              <a:off x="5303520" y="3867912"/>
              <a:ext cx="3108960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首响应 placeholder TTS；DevOps Agent investigation 5-15min；完成后 EventBridge 异步推送完整报告</a:t>
              </a:r>
              <a:endParaRPr lang="en-US" sz="1200" dirty="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/>
              <a:t>端到端延迟（Quick Desktop 入口）</a:t>
            </a:r>
          </a:p>
          <a:p>
            <a:endParaRPr sz="1100" b="0"/>
          </a:p>
          <a:p>
            <a:r>
              <a:rPr sz="1100" b="0"/>
              <a:t>简单查询（discover_*）</a:t>
            </a:r>
          </a:p>
          <a:p>
            <a:r>
              <a:rPr sz="1100" b="0"/>
              <a:t>  • Quick Desktop 端: 100-300ms</a:t>
            </a:r>
          </a:p>
          <a:p>
            <a:r>
              <a:rPr sz="1100" b="0"/>
              <a:t>  • mcp-bridge stdio→HTTP: 10ms</a:t>
            </a:r>
          </a:p>
          <a:p>
            <a:r>
              <a:rPr sz="1100" b="0"/>
              <a:t>  • API GW: 30ms</a:t>
            </a:r>
          </a:p>
          <a:p>
            <a:r>
              <a:rPr sz="1100" b="0"/>
              <a:t>  • L1 Lambda warm: 50-100ms</a:t>
            </a:r>
          </a:p>
          <a:p>
            <a:r>
              <a:rPr sz="1100" b="0"/>
              <a:t>  • boto3 AWS API: 100-500ms</a:t>
            </a:r>
          </a:p>
          <a:p>
            <a:r>
              <a:rPr sz="1100" b="0"/>
              <a:t>  Total: ~500ms - 1s</a:t>
            </a:r>
          </a:p>
          <a:p>
            <a:endParaRPr sz="1100" b="0"/>
          </a:p>
          <a:p>
            <a:r>
              <a:rPr sz="1100" b="0"/>
              <a:t>smart_diagnose (Strands + DOA)</a:t>
            </a:r>
          </a:p>
          <a:p>
            <a:r>
              <a:rPr sz="1100" b="0"/>
              <a:t>  • Bedrock Nova Pro routing: 1-2s</a:t>
            </a:r>
          </a:p>
          <a:p>
            <a:r>
              <a:rPr sz="1100" b="0"/>
              <a:t>  • DOA chat (initial): 5-30s</a:t>
            </a:r>
          </a:p>
          <a:p>
            <a:r>
              <a:rPr sz="1100" b="0"/>
              <a:t>  • DOA investigation (异步): 5-15min</a:t>
            </a:r>
          </a:p>
          <a:p>
            <a:r>
              <a:rPr sz="1100" b="0"/>
              <a:t>  • HTML render + S3: 200ms</a:t>
            </a:r>
          </a:p>
          <a:p>
            <a:r>
              <a:rPr sz="1100" b="0"/>
              <a:t>  Total (initial): ~10-35s</a:t>
            </a:r>
          </a:p>
          <a:p>
            <a:endParaRPr sz="1100" b="0"/>
          </a:p>
          <a:p>
            <a:r>
              <a:rPr sz="1100" b="0"/>
              <a:t>EventBridge → 邮件</a:t>
            </a:r>
          </a:p>
          <a:p>
            <a:r>
              <a:rPr sz="1100" b="0"/>
              <a:t>  • DOA event → L1: &lt; 5s</a:t>
            </a:r>
          </a:p>
          <a:p>
            <a:r>
              <a:rPr sz="1100" b="0"/>
              <a:t>  • SES SendEmail: 1-3s</a:t>
            </a:r>
          </a:p>
          <a:p>
            <a:r>
              <a:rPr sz="1100" b="0"/>
              <a:t>  • 邮件投递到客户端: 5-30s</a:t>
            </a:r>
          </a:p>
          <a:p>
            <a:r>
              <a:rPr sz="1100" b="0"/>
              <a:t>  Total: 10-40s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/>
              <a:t>并发能力</a:t>
            </a:r>
          </a:p>
          <a:p>
            <a:endParaRPr sz="1100" b="0"/>
          </a:p>
          <a:p>
            <a:r>
              <a:rPr sz="1100" b="0"/>
              <a:t>API Gateway</a:t>
            </a:r>
          </a:p>
          <a:p>
            <a:r>
              <a:rPr sz="1100" b="0"/>
              <a:t>  • Caller: 100 rps / burst 200</a:t>
            </a:r>
          </a:p>
          <a:p>
            <a:r>
              <a:rPr sz="1100" b="0"/>
              <a:t>  • MCP: 25 rps / burst 50</a:t>
            </a:r>
          </a:p>
          <a:p>
            <a:endParaRPr sz="1100" b="0"/>
          </a:p>
          <a:p>
            <a:r>
              <a:rPr sz="1100" b="0"/>
              <a:t>Lambda</a:t>
            </a:r>
          </a:p>
          <a:p>
            <a:r>
              <a:rPr sz="1100" b="0"/>
              <a:t>  • L1 OrchestratorFn: 1000 并发（Account 默认）</a:t>
            </a:r>
          </a:p>
          <a:p>
            <a:r>
              <a:rPr sz="1100" b="0"/>
              <a:t>  • Memory 1536 MB / Timeout 120s</a:t>
            </a:r>
          </a:p>
          <a:p>
            <a:r>
              <a:rPr sz="1100" b="0"/>
              <a:t>  • Cold start: 1.5-3s（含 Strands SDK import）</a:t>
            </a:r>
          </a:p>
          <a:p>
            <a:r>
              <a:rPr sz="1100" b="0"/>
              <a:t>  • 优化: Provisioned Concurrency=1 月+$5</a:t>
            </a:r>
          </a:p>
          <a:p>
            <a:endParaRPr sz="1100" b="0"/>
          </a:p>
          <a:p>
            <a:r>
              <a:rPr sz="1100" b="0"/>
              <a:t>DOA</a:t>
            </a:r>
          </a:p>
          <a:p>
            <a:r>
              <a:rPr sz="1100" b="0"/>
              <a:t>  • Chat: 共享 region 限额</a:t>
            </a:r>
          </a:p>
          <a:p>
            <a:r>
              <a:rPr sz="1100" b="0"/>
              <a:t>  • Investigation: 同时 ~5 个 task</a:t>
            </a:r>
          </a:p>
          <a:p>
            <a:endParaRPr sz="1100" b="0"/>
          </a:p>
          <a:p>
            <a:r>
              <a:rPr sz="1100" b="0"/>
              <a:t>瓶颈</a:t>
            </a:r>
          </a:p>
          <a:p>
            <a:r>
              <a:rPr sz="1100" b="0"/>
              <a:t>  • Bedrock Nova Pro: us-east-1 限额</a:t>
            </a:r>
          </a:p>
          <a:p>
            <a:r>
              <a:rPr sz="1100" b="0"/>
              <a:t>  • DOA: 受 AWS 全局限额</a:t>
            </a:r>
          </a:p>
          <a:p>
            <a:r>
              <a:rPr sz="1100" b="0"/>
              <a:t>  • SES sandbox: 200/day, 1/sec</a:t>
            </a:r>
          </a:p>
          <a:p>
            <a:endParaRPr sz="1100" b="0"/>
          </a:p>
          <a:p>
            <a:r>
              <a:rPr sz="1100" b="0"/>
              <a:t>扩容</a:t>
            </a:r>
          </a:p>
          <a:p>
            <a:r>
              <a:rPr sz="1100" b="0"/>
              <a:t>  • 50 → 500 用户: 升级 SES + 申请 Bedrock 配额</a:t>
            </a:r>
          </a:p>
          <a:p>
            <a:r>
              <a:rPr sz="1100" b="0"/>
              <a:t>  • 500+ 用户: 考虑 Provisioned Concurrency</a:t>
            </a:r>
          </a:p>
        </p:txBody>
      </p:sp>
    </p:spTree>
    <p:extLst>
      <p:ext uri="{BB962C8B-B14F-4D97-AF65-F5344CB8AC3E}">
        <p14:creationId xmlns:p14="http://schemas.microsoft.com/office/powerpoint/2010/main" val="447653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F321D-173E-E866-71B9-261F34DB1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B25A88-80B1-47B0-F4D6-785D22653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竞品分析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BDC5D77-3C63-2D4F-3672-72D8CDBA4BCA}"/>
              </a:ext>
            </a:extLst>
          </p:cNvPr>
          <p:cNvGrpSpPr/>
          <p:nvPr/>
        </p:nvGrpSpPr>
        <p:grpSpPr>
          <a:xfrm>
            <a:off x="684977" y="776967"/>
            <a:ext cx="10950351" cy="5317208"/>
            <a:chOff x="274320" y="640080"/>
            <a:chExt cx="7909560" cy="3419856"/>
          </a:xfrm>
        </p:grpSpPr>
        <p:sp>
          <p:nvSpPr>
            <p:cNvPr id="4" name="Text 2">
              <a:extLst>
                <a:ext uri="{FF2B5EF4-FFF2-40B4-BE49-F238E27FC236}">
                  <a16:creationId xmlns:a16="http://schemas.microsoft.com/office/drawing/2014/main" id="{22F36D87-EA2C-2BF5-3D33-2672BEDAAAE3}"/>
                </a:ext>
              </a:extLst>
            </p:cNvPr>
            <p:cNvSpPr/>
            <p:nvPr/>
          </p:nvSpPr>
          <p:spPr>
            <a:xfrm>
              <a:off x="274320" y="640080"/>
              <a:ext cx="1188720" cy="274320"/>
            </a:xfrm>
            <a:prstGeom prst="rect">
              <a:avLst/>
            </a:prstGeom>
            <a:solidFill>
              <a:srgbClr val="1A2640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endParaRPr lang="en-US" sz="1050" dirty="0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13635F76-63DF-31B8-2331-494F295360DD}"/>
                </a:ext>
              </a:extLst>
            </p:cNvPr>
            <p:cNvSpPr/>
            <p:nvPr/>
          </p:nvSpPr>
          <p:spPr>
            <a:xfrm>
              <a:off x="1508760" y="640080"/>
              <a:ext cx="1463040" cy="274320"/>
            </a:xfrm>
            <a:prstGeom prst="rect">
              <a:avLst/>
            </a:prstGeom>
            <a:solidFill>
              <a:srgbClr val="2A1F0A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NLOps</a:t>
              </a:r>
              <a:endParaRPr lang="en-US" sz="1050" dirty="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3D59C0D1-170F-EDDB-8C96-749058A4DD01}"/>
                </a:ext>
              </a:extLst>
            </p:cNvPr>
            <p:cNvSpPr/>
            <p:nvPr/>
          </p:nvSpPr>
          <p:spPr>
            <a:xfrm>
              <a:off x="3017520" y="640080"/>
              <a:ext cx="1371600" cy="274320"/>
            </a:xfrm>
            <a:prstGeom prst="rect">
              <a:avLst/>
            </a:prstGeom>
            <a:solidFill>
              <a:srgbClr val="1A2640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(原生) DevOps Agent</a:t>
              </a:r>
              <a:endParaRPr lang="en-US" sz="105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2EBFEA90-175A-2962-5427-6CBF08AB7369}"/>
                </a:ext>
              </a:extLst>
            </p:cNvPr>
            <p:cNvSpPr/>
            <p:nvPr/>
          </p:nvSpPr>
          <p:spPr>
            <a:xfrm>
              <a:off x="4434840" y="640080"/>
              <a:ext cx="1280160" cy="274320"/>
            </a:xfrm>
            <a:prstGeom prst="rect">
              <a:avLst/>
            </a:prstGeom>
            <a:solidFill>
              <a:srgbClr val="1A2640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Lex/Chatbot</a:t>
              </a:r>
              <a:endParaRPr lang="en-US" sz="105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1A641E72-8ABB-E74B-9086-649FE357ADE0}"/>
                </a:ext>
              </a:extLst>
            </p:cNvPr>
            <p:cNvSpPr/>
            <p:nvPr/>
          </p:nvSpPr>
          <p:spPr>
            <a:xfrm>
              <a:off x="5760720" y="640080"/>
              <a:ext cx="1188720" cy="274320"/>
            </a:xfrm>
            <a:prstGeom prst="rect">
              <a:avLst/>
            </a:prstGeom>
            <a:solidFill>
              <a:srgbClr val="1A2640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Datadog</a:t>
              </a:r>
              <a:endParaRPr lang="en-US" sz="105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3309C083-41D3-BD25-5CDA-C4D063A4E55D}"/>
                </a:ext>
              </a:extLst>
            </p:cNvPr>
            <p:cNvSpPr/>
            <p:nvPr/>
          </p:nvSpPr>
          <p:spPr>
            <a:xfrm>
              <a:off x="6995160" y="640080"/>
              <a:ext cx="1188720" cy="274320"/>
            </a:xfrm>
            <a:prstGeom prst="rect">
              <a:avLst/>
            </a:prstGeom>
            <a:solidFill>
              <a:srgbClr val="1A2640"/>
            </a:solidFill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PagerDuty</a:t>
              </a:r>
              <a:endParaRPr lang="en-US" sz="105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CB8D7E49-3F0F-A6F3-CA91-73096D987B2C}"/>
                </a:ext>
              </a:extLst>
            </p:cNvPr>
            <p:cNvSpPr/>
            <p:nvPr/>
          </p:nvSpPr>
          <p:spPr>
            <a:xfrm>
              <a:off x="274320" y="960120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语音交互</a:t>
              </a:r>
              <a:endParaRPr lang="en-US" sz="105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86891CBB-28DD-B83B-AA8B-DB086229934A}"/>
                </a:ext>
              </a:extLst>
            </p:cNvPr>
            <p:cNvSpPr/>
            <p:nvPr/>
          </p:nvSpPr>
          <p:spPr>
            <a:xfrm>
              <a:off x="1508760" y="960120"/>
              <a:ext cx="146304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 Nova Sonic</a:t>
              </a:r>
              <a:endParaRPr lang="en-US" sz="1050" dirty="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FA9F2BF1-00D3-1ED2-C36B-018DECA6AFAD}"/>
                </a:ext>
              </a:extLst>
            </p:cNvPr>
            <p:cNvSpPr/>
            <p:nvPr/>
          </p:nvSpPr>
          <p:spPr>
            <a:xfrm>
              <a:off x="3017520" y="960120"/>
              <a:ext cx="137160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 </a:t>
              </a:r>
              <a:endParaRPr lang="en-US" sz="1050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A93C0150-D8A7-580D-B547-48710F2F66C6}"/>
                </a:ext>
              </a:extLst>
            </p:cNvPr>
            <p:cNvSpPr/>
            <p:nvPr/>
          </p:nvSpPr>
          <p:spPr>
            <a:xfrm>
              <a:off x="4434840" y="960120"/>
              <a:ext cx="128016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 Lex ASR</a:t>
              </a:r>
              <a:endParaRPr lang="en-US" sz="105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5C905741-AE19-47BB-B5BF-60A59BEF5545}"/>
                </a:ext>
              </a:extLst>
            </p:cNvPr>
            <p:cNvSpPr/>
            <p:nvPr/>
          </p:nvSpPr>
          <p:spPr>
            <a:xfrm>
              <a:off x="5760720" y="960120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4C3CAEFF-F678-AE7A-94C4-A86244EA90DE}"/>
                </a:ext>
              </a:extLst>
            </p:cNvPr>
            <p:cNvSpPr/>
            <p:nvPr/>
          </p:nvSpPr>
          <p:spPr>
            <a:xfrm>
              <a:off x="6995160" y="960120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7A02B85C-FEFD-1219-FD8B-4408D1691636}"/>
                </a:ext>
              </a:extLst>
            </p:cNvPr>
            <p:cNvSpPr/>
            <p:nvPr/>
          </p:nvSpPr>
          <p:spPr>
            <a:xfrm>
              <a:off x="274320" y="1307592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移动端入口</a:t>
              </a:r>
              <a:endParaRPr lang="en-US" sz="105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170C951B-5054-10F4-FBCB-DB6E414C6AE3}"/>
                </a:ext>
              </a:extLst>
            </p:cNvPr>
            <p:cNvSpPr/>
            <p:nvPr/>
          </p:nvSpPr>
          <p:spPr>
            <a:xfrm>
              <a:off x="1508760" y="1307592"/>
              <a:ext cx="146304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 Quick+企微+飞书</a:t>
              </a:r>
              <a:endParaRPr lang="en-US" sz="1050" dirty="0"/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FCE69403-13EA-AB61-D576-E61DCD6C3922}"/>
                </a:ext>
              </a:extLst>
            </p:cNvPr>
            <p:cNvSpPr/>
            <p:nvPr/>
          </p:nvSpPr>
          <p:spPr>
            <a:xfrm>
              <a:off x="3017520" y="1307592"/>
              <a:ext cx="137160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 Console+Slack</a:t>
              </a:r>
              <a:endParaRPr lang="en-US" sz="1050" dirty="0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FC9693C9-E45B-C3EA-D12C-F27406E2D5E2}"/>
                </a:ext>
              </a:extLst>
            </p:cNvPr>
            <p:cNvSpPr/>
            <p:nvPr/>
          </p:nvSpPr>
          <p:spPr>
            <a:xfrm>
              <a:off x="4434840" y="1307592"/>
              <a:ext cx="128016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 Slack/Teams</a:t>
              </a:r>
              <a:endParaRPr lang="en-US" sz="1050" dirty="0"/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C1DF5ACD-83DC-8FB0-41F9-894B2A138848}"/>
                </a:ext>
              </a:extLst>
            </p:cNvPr>
            <p:cNvSpPr/>
            <p:nvPr/>
          </p:nvSpPr>
          <p:spPr>
            <a:xfrm>
              <a:off x="5760720" y="1307592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 App</a:t>
              </a:r>
              <a:endParaRPr lang="en-US" sz="1050" dirty="0"/>
            </a:p>
          </p:txBody>
        </p:sp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57024155-E97C-F06D-9C5C-E1CC594A1DF2}"/>
                </a:ext>
              </a:extLst>
            </p:cNvPr>
            <p:cNvSpPr/>
            <p:nvPr/>
          </p:nvSpPr>
          <p:spPr>
            <a:xfrm>
              <a:off x="6995160" y="1307592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 App</a:t>
              </a:r>
              <a:endParaRPr lang="en-US" sz="1050" dirty="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3AE8831C-7847-0E9B-5E8F-9E111B00B61C}"/>
                </a:ext>
              </a:extLst>
            </p:cNvPr>
            <p:cNvSpPr/>
            <p:nvPr/>
          </p:nvSpPr>
          <p:spPr>
            <a:xfrm>
              <a:off x="274320" y="1655064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可视化报告</a:t>
              </a:r>
              <a:endParaRPr lang="en-US" sz="1050" dirty="0"/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4AD55281-0B8B-2A66-B12E-C8612A3444ED}"/>
                </a:ext>
              </a:extLst>
            </p:cNvPr>
            <p:cNvSpPr/>
            <p:nvPr/>
          </p:nvSpPr>
          <p:spPr>
            <a:xfrm>
              <a:off x="1508760" y="1655064"/>
              <a:ext cx="146304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 HTML诊断书</a:t>
              </a:r>
              <a:endParaRPr lang="en-US" sz="1050" dirty="0"/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C09CF602-55AD-158C-F1F2-8F4AC2777F0A}"/>
                </a:ext>
              </a:extLst>
            </p:cNvPr>
            <p:cNvSpPr/>
            <p:nvPr/>
          </p:nvSpPr>
          <p:spPr>
            <a:xfrm>
              <a:off x="3017520" y="1655064"/>
              <a:ext cx="137160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 文字</a:t>
              </a:r>
              <a:endParaRPr lang="en-US" sz="1050" dirty="0"/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62836939-7308-2DCC-F045-10A76CF14013}"/>
                </a:ext>
              </a:extLst>
            </p:cNvPr>
            <p:cNvSpPr/>
            <p:nvPr/>
          </p:nvSpPr>
          <p:spPr>
            <a:xfrm>
              <a:off x="4434840" y="1655064"/>
              <a:ext cx="128016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A2E22340-82CC-FE7A-88B1-243ED22BFA77}"/>
                </a:ext>
              </a:extLst>
            </p:cNvPr>
            <p:cNvSpPr/>
            <p:nvPr/>
          </p:nvSpPr>
          <p:spPr>
            <a:xfrm>
              <a:off x="5760720" y="1655064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 对话</a:t>
              </a:r>
              <a:endParaRPr lang="en-US" sz="105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C380544B-B9B8-6239-158D-45D436F5F289}"/>
                </a:ext>
              </a:extLst>
            </p:cNvPr>
            <p:cNvSpPr/>
            <p:nvPr/>
          </p:nvSpPr>
          <p:spPr>
            <a:xfrm>
              <a:off x="6995160" y="1655064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27BFA438-C18F-3FC5-963A-1C439A67831D}"/>
                </a:ext>
              </a:extLst>
            </p:cNvPr>
            <p:cNvSpPr/>
            <p:nvPr/>
          </p:nvSpPr>
          <p:spPr>
            <a:xfrm>
              <a:off x="274320" y="2002536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智能程度</a:t>
              </a:r>
              <a:endParaRPr lang="en-US" sz="1050" dirty="0"/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AED8597A-65C7-1A28-307C-81E07D4185E5}"/>
                </a:ext>
              </a:extLst>
            </p:cNvPr>
            <p:cNvSpPr/>
            <p:nvPr/>
          </p:nvSpPr>
          <p:spPr>
            <a:xfrm>
              <a:off x="1508760" y="2002536"/>
              <a:ext cx="146304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 多Agent协作</a:t>
              </a:r>
              <a:endParaRPr lang="en-US" sz="1050" dirty="0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1CF87849-FE37-739D-71FC-C10B80AB4745}"/>
                </a:ext>
              </a:extLst>
            </p:cNvPr>
            <p:cNvSpPr/>
            <p:nvPr/>
          </p:nvSpPr>
          <p:spPr>
            <a:xfrm>
              <a:off x="3017520" y="2002536"/>
              <a:ext cx="137160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</a:t>
              </a:r>
              <a:endParaRPr lang="en-US" sz="105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036EDFE9-A13A-5E1F-DF29-E8F883DB34E4}"/>
                </a:ext>
              </a:extLst>
            </p:cNvPr>
            <p:cNvSpPr/>
            <p:nvPr/>
          </p:nvSpPr>
          <p:spPr>
            <a:xfrm>
              <a:off x="4434840" y="2002536"/>
              <a:ext cx="128016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 规则/CLI</a:t>
              </a:r>
              <a:endParaRPr lang="en-US" sz="1050" dirty="0"/>
            </a:p>
          </p:txBody>
        </p:sp>
        <p:sp>
          <p:nvSpPr>
            <p:cNvPr id="32" name="Text 30">
              <a:extLst>
                <a:ext uri="{FF2B5EF4-FFF2-40B4-BE49-F238E27FC236}">
                  <a16:creationId xmlns:a16="http://schemas.microsoft.com/office/drawing/2014/main" id="{71D08BAA-9684-41A6-1FBF-41E7CAA2EDB6}"/>
                </a:ext>
              </a:extLst>
            </p:cNvPr>
            <p:cNvSpPr/>
            <p:nvPr/>
          </p:nvSpPr>
          <p:spPr>
            <a:xfrm>
              <a:off x="5760720" y="2002536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 单Agent</a:t>
              </a:r>
              <a:endParaRPr lang="en-US" sz="1050" dirty="0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60FDF06B-24B8-881F-EEAE-D8725CB00DCB}"/>
                </a:ext>
              </a:extLst>
            </p:cNvPr>
            <p:cNvSpPr/>
            <p:nvPr/>
          </p:nvSpPr>
          <p:spPr>
            <a:xfrm>
              <a:off x="6995160" y="2002536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34" name="Text 32">
              <a:extLst>
                <a:ext uri="{FF2B5EF4-FFF2-40B4-BE49-F238E27FC236}">
                  <a16:creationId xmlns:a16="http://schemas.microsoft.com/office/drawing/2014/main" id="{E5C97AF1-242A-2C34-7943-2214BD64B0EB}"/>
                </a:ext>
              </a:extLst>
            </p:cNvPr>
            <p:cNvSpPr/>
            <p:nvPr/>
          </p:nvSpPr>
          <p:spPr>
            <a:xfrm>
              <a:off x="274320" y="2350008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根因分析</a:t>
              </a:r>
              <a:endParaRPr lang="en-US" sz="1050" dirty="0"/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BBD75920-7230-6CA3-11A6-E8F19419686D}"/>
                </a:ext>
              </a:extLst>
            </p:cNvPr>
            <p:cNvSpPr/>
            <p:nvPr/>
          </p:nvSpPr>
          <p:spPr>
            <a:xfrm>
              <a:off x="1508760" y="2350008"/>
              <a:ext cx="146304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 集成 (原生) DevOps Agent</a:t>
              </a:r>
              <a:endParaRPr lang="en-US" sz="1050" dirty="0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02FB5278-D359-9827-9F7B-042BBB2DB539}"/>
                </a:ext>
              </a:extLst>
            </p:cNvPr>
            <p:cNvSpPr/>
            <p:nvPr/>
          </p:nvSpPr>
          <p:spPr>
            <a:xfrm>
              <a:off x="3017520" y="2350008"/>
              <a:ext cx="137160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</a:t>
              </a:r>
              <a:endParaRPr lang="en-US" sz="1050" dirty="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47F1100B-9509-C216-3365-56C937622FD0}"/>
                </a:ext>
              </a:extLst>
            </p:cNvPr>
            <p:cNvSpPr/>
            <p:nvPr/>
          </p:nvSpPr>
          <p:spPr>
            <a:xfrm>
              <a:off x="4434840" y="2350008"/>
              <a:ext cx="128016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7D2E1991-4927-E026-E18F-3B9BD0DF81AB}"/>
                </a:ext>
              </a:extLst>
            </p:cNvPr>
            <p:cNvSpPr/>
            <p:nvPr/>
          </p:nvSpPr>
          <p:spPr>
            <a:xfrm>
              <a:off x="5760720" y="2350008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</a:t>
              </a:r>
              <a:endParaRPr lang="en-US" sz="1050" dirty="0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FAAB32BD-9DC3-1D25-704A-7131B86024EE}"/>
                </a:ext>
              </a:extLst>
            </p:cNvPr>
            <p:cNvSpPr/>
            <p:nvPr/>
          </p:nvSpPr>
          <p:spPr>
            <a:xfrm>
              <a:off x="6995160" y="2350008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8BC4A94C-A429-A465-B1CB-F3127760DD05}"/>
                </a:ext>
              </a:extLst>
            </p:cNvPr>
            <p:cNvSpPr/>
            <p:nvPr/>
          </p:nvSpPr>
          <p:spPr>
            <a:xfrm>
              <a:off x="274320" y="2697480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执行修复</a:t>
              </a:r>
              <a:endParaRPr lang="en-US" sz="1050" dirty="0"/>
            </a:p>
          </p:txBody>
        </p:sp>
        <p:sp>
          <p:nvSpPr>
            <p:cNvPr id="41" name="Text 39">
              <a:extLst>
                <a:ext uri="{FF2B5EF4-FFF2-40B4-BE49-F238E27FC236}">
                  <a16:creationId xmlns:a16="http://schemas.microsoft.com/office/drawing/2014/main" id="{A2BC8F01-2D73-D842-502C-4E9AA3D02E05}"/>
                </a:ext>
              </a:extLst>
            </p:cNvPr>
            <p:cNvSpPr/>
            <p:nvPr/>
          </p:nvSpPr>
          <p:spPr>
            <a:xfrm>
              <a:off x="1508760" y="2697480"/>
              <a:ext cx="146304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 Policy护栏</a:t>
              </a:r>
              <a:endParaRPr lang="en-US" sz="1050" dirty="0"/>
            </a:p>
          </p:txBody>
        </p:sp>
        <p:sp>
          <p:nvSpPr>
            <p:cNvPr id="42" name="Text 40">
              <a:extLst>
                <a:ext uri="{FF2B5EF4-FFF2-40B4-BE49-F238E27FC236}">
                  <a16:creationId xmlns:a16="http://schemas.microsoft.com/office/drawing/2014/main" id="{B681DC3B-E7C5-9B19-6445-11BEC40F0F6C}"/>
                </a:ext>
              </a:extLst>
            </p:cNvPr>
            <p:cNvSpPr/>
            <p:nvPr/>
          </p:nvSpPr>
          <p:spPr>
            <a:xfrm>
              <a:off x="3017520" y="2697480"/>
              <a:ext cx="137160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</a:t>
              </a:r>
              <a:endParaRPr lang="en-US" sz="1050" dirty="0"/>
            </a:p>
          </p:txBody>
        </p:sp>
        <p:sp>
          <p:nvSpPr>
            <p:cNvPr id="43" name="Text 41">
              <a:extLst>
                <a:ext uri="{FF2B5EF4-FFF2-40B4-BE49-F238E27FC236}">
                  <a16:creationId xmlns:a16="http://schemas.microsoft.com/office/drawing/2014/main" id="{4CED4DEE-0256-3DDF-89DC-2C77ECF05FF3}"/>
                </a:ext>
              </a:extLst>
            </p:cNvPr>
            <p:cNvSpPr/>
            <p:nvPr/>
          </p:nvSpPr>
          <p:spPr>
            <a:xfrm>
              <a:off x="4434840" y="2697480"/>
              <a:ext cx="128016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44" name="Text 42">
              <a:extLst>
                <a:ext uri="{FF2B5EF4-FFF2-40B4-BE49-F238E27FC236}">
                  <a16:creationId xmlns:a16="http://schemas.microsoft.com/office/drawing/2014/main" id="{BE032F2B-5073-1E03-4BDD-56E920DBE6EA}"/>
                </a:ext>
              </a:extLst>
            </p:cNvPr>
            <p:cNvSpPr/>
            <p:nvPr/>
          </p:nvSpPr>
          <p:spPr>
            <a:xfrm>
              <a:off x="5760720" y="2697480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45" name="Text 43">
              <a:extLst>
                <a:ext uri="{FF2B5EF4-FFF2-40B4-BE49-F238E27FC236}">
                  <a16:creationId xmlns:a16="http://schemas.microsoft.com/office/drawing/2014/main" id="{45F5070A-94E0-B960-A226-EC0FEA4BF5FB}"/>
                </a:ext>
              </a:extLst>
            </p:cNvPr>
            <p:cNvSpPr/>
            <p:nvPr/>
          </p:nvSpPr>
          <p:spPr>
            <a:xfrm>
              <a:off x="6995160" y="2697480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</a:t>
              </a:r>
              <a:endParaRPr lang="en-US" sz="1050" dirty="0"/>
            </a:p>
          </p:txBody>
        </p:sp>
        <p:sp>
          <p:nvSpPr>
            <p:cNvPr id="46" name="Text 44">
              <a:extLst>
                <a:ext uri="{FF2B5EF4-FFF2-40B4-BE49-F238E27FC236}">
                  <a16:creationId xmlns:a16="http://schemas.microsoft.com/office/drawing/2014/main" id="{C28AE15A-7224-D8ED-D613-C3E66295EE1A}"/>
                </a:ext>
              </a:extLst>
            </p:cNvPr>
            <p:cNvSpPr/>
            <p:nvPr/>
          </p:nvSpPr>
          <p:spPr>
            <a:xfrm>
              <a:off x="274320" y="3044952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经验沉淀</a:t>
              </a:r>
              <a:endParaRPr lang="en-US" sz="1050" dirty="0"/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5717B8CA-65E1-5E0D-2A66-89A2D2770040}"/>
                </a:ext>
              </a:extLst>
            </p:cNvPr>
            <p:cNvSpPr/>
            <p:nvPr/>
          </p:nvSpPr>
          <p:spPr>
            <a:xfrm>
              <a:off x="1508760" y="3044952"/>
              <a:ext cx="146304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 Bedrock KB</a:t>
              </a:r>
              <a:endParaRPr lang="en-US" sz="1050" dirty="0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6A8FC6FE-BF1F-4F2A-FA4A-25B7A2109040}"/>
                </a:ext>
              </a:extLst>
            </p:cNvPr>
            <p:cNvSpPr/>
            <p:nvPr/>
          </p:nvSpPr>
          <p:spPr>
            <a:xfrm>
              <a:off x="3017520" y="3044952"/>
              <a:ext cx="137160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FFCC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⚠️ Skills</a:t>
              </a:r>
              <a:endParaRPr lang="en-US" sz="1050" dirty="0"/>
            </a:p>
          </p:txBody>
        </p:sp>
        <p:sp>
          <p:nvSpPr>
            <p:cNvPr id="49" name="Text 47">
              <a:extLst>
                <a:ext uri="{FF2B5EF4-FFF2-40B4-BE49-F238E27FC236}">
                  <a16:creationId xmlns:a16="http://schemas.microsoft.com/office/drawing/2014/main" id="{807141CB-3426-80EF-FFD4-CD418DC9BDF2}"/>
                </a:ext>
              </a:extLst>
            </p:cNvPr>
            <p:cNvSpPr/>
            <p:nvPr/>
          </p:nvSpPr>
          <p:spPr>
            <a:xfrm>
              <a:off x="4434840" y="3044952"/>
              <a:ext cx="128016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50" name="Text 48">
              <a:extLst>
                <a:ext uri="{FF2B5EF4-FFF2-40B4-BE49-F238E27FC236}">
                  <a16:creationId xmlns:a16="http://schemas.microsoft.com/office/drawing/2014/main" id="{9C78BAF4-6790-AF89-C458-71390E7BFDA0}"/>
                </a:ext>
              </a:extLst>
            </p:cNvPr>
            <p:cNvSpPr/>
            <p:nvPr/>
          </p:nvSpPr>
          <p:spPr>
            <a:xfrm>
              <a:off x="5760720" y="3044952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51" name="Text 49">
              <a:extLst>
                <a:ext uri="{FF2B5EF4-FFF2-40B4-BE49-F238E27FC236}">
                  <a16:creationId xmlns:a16="http://schemas.microsoft.com/office/drawing/2014/main" id="{2A195153-2D04-D092-5F09-86DFAF8C0385}"/>
                </a:ext>
              </a:extLst>
            </p:cNvPr>
            <p:cNvSpPr/>
            <p:nvPr/>
          </p:nvSpPr>
          <p:spPr>
            <a:xfrm>
              <a:off x="6995160" y="3044952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52" name="Text 50">
              <a:extLst>
                <a:ext uri="{FF2B5EF4-FFF2-40B4-BE49-F238E27FC236}">
                  <a16:creationId xmlns:a16="http://schemas.microsoft.com/office/drawing/2014/main" id="{584DAE5A-3155-FD44-C8EA-1CED8BB7A64F}"/>
                </a:ext>
              </a:extLst>
            </p:cNvPr>
            <p:cNvSpPr/>
            <p:nvPr/>
          </p:nvSpPr>
          <p:spPr>
            <a:xfrm>
              <a:off x="274320" y="3392424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国内IM覆盖</a:t>
              </a:r>
              <a:endParaRPr lang="en-US" sz="1050" dirty="0"/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B7558AEF-713D-5520-977C-21A177872574}"/>
                </a:ext>
              </a:extLst>
            </p:cNvPr>
            <p:cNvSpPr/>
            <p:nvPr/>
          </p:nvSpPr>
          <p:spPr>
            <a:xfrm>
              <a:off x="1508760" y="3392424"/>
              <a:ext cx="146304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✅ 企微+飞书</a:t>
              </a:r>
              <a:endParaRPr lang="en-US" sz="1050" dirty="0"/>
            </a:p>
          </p:txBody>
        </p:sp>
        <p:sp>
          <p:nvSpPr>
            <p:cNvPr id="54" name="Text 52">
              <a:extLst>
                <a:ext uri="{FF2B5EF4-FFF2-40B4-BE49-F238E27FC236}">
                  <a16:creationId xmlns:a16="http://schemas.microsoft.com/office/drawing/2014/main" id="{5EBC18BD-4CE5-E400-BB08-B2820E802D20}"/>
                </a:ext>
              </a:extLst>
            </p:cNvPr>
            <p:cNvSpPr/>
            <p:nvPr/>
          </p:nvSpPr>
          <p:spPr>
            <a:xfrm>
              <a:off x="3017520" y="3392424"/>
              <a:ext cx="137160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55" name="Text 53">
              <a:extLst>
                <a:ext uri="{FF2B5EF4-FFF2-40B4-BE49-F238E27FC236}">
                  <a16:creationId xmlns:a16="http://schemas.microsoft.com/office/drawing/2014/main" id="{B75478B3-419E-EC5A-F474-418B45C1D9A9}"/>
                </a:ext>
              </a:extLst>
            </p:cNvPr>
            <p:cNvSpPr/>
            <p:nvPr/>
          </p:nvSpPr>
          <p:spPr>
            <a:xfrm>
              <a:off x="4434840" y="3392424"/>
              <a:ext cx="128016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56" name="Text 54">
              <a:extLst>
                <a:ext uri="{FF2B5EF4-FFF2-40B4-BE49-F238E27FC236}">
                  <a16:creationId xmlns:a16="http://schemas.microsoft.com/office/drawing/2014/main" id="{49CFA3BE-1455-43A7-C73E-F093F48B1A4D}"/>
                </a:ext>
              </a:extLst>
            </p:cNvPr>
            <p:cNvSpPr/>
            <p:nvPr/>
          </p:nvSpPr>
          <p:spPr>
            <a:xfrm>
              <a:off x="5760720" y="3392424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57" name="Text 55">
              <a:extLst>
                <a:ext uri="{FF2B5EF4-FFF2-40B4-BE49-F238E27FC236}">
                  <a16:creationId xmlns:a16="http://schemas.microsoft.com/office/drawing/2014/main" id="{AF869E3D-299F-5A3E-397D-3C21AB5042CD}"/>
                </a:ext>
              </a:extLst>
            </p:cNvPr>
            <p:cNvSpPr/>
            <p:nvPr/>
          </p:nvSpPr>
          <p:spPr>
            <a:xfrm>
              <a:off x="6995160" y="3392424"/>
              <a:ext cx="1188720" cy="320040"/>
            </a:xfrm>
            <a:prstGeom prst="rect">
              <a:avLst/>
            </a:prstGeom>
            <a:solidFill>
              <a:srgbClr val="0F1624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66666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❌</a:t>
              </a:r>
              <a:endParaRPr lang="en-US" sz="1050" dirty="0"/>
            </a:p>
          </p:txBody>
        </p:sp>
        <p:sp>
          <p:nvSpPr>
            <p:cNvPr id="58" name="Text 56">
              <a:extLst>
                <a:ext uri="{FF2B5EF4-FFF2-40B4-BE49-F238E27FC236}">
                  <a16:creationId xmlns:a16="http://schemas.microsoft.com/office/drawing/2014/main" id="{B3D04FFE-D422-2662-B663-450494F732E2}"/>
                </a:ext>
              </a:extLst>
            </p:cNvPr>
            <p:cNvSpPr/>
            <p:nvPr/>
          </p:nvSpPr>
          <p:spPr>
            <a:xfrm>
              <a:off x="274320" y="3739896"/>
              <a:ext cx="1188720" cy="320040"/>
            </a:xfrm>
            <a:prstGeom prst="rect">
              <a:avLst/>
            </a:prstGeom>
            <a:solidFill>
              <a:srgbClr val="1A2640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定位</a:t>
              </a:r>
              <a:endParaRPr lang="en-US" sz="1050" dirty="0"/>
            </a:p>
          </p:txBody>
        </p:sp>
        <p:sp>
          <p:nvSpPr>
            <p:cNvPr id="59" name="Text 57">
              <a:extLst>
                <a:ext uri="{FF2B5EF4-FFF2-40B4-BE49-F238E27FC236}">
                  <a16:creationId xmlns:a16="http://schemas.microsoft.com/office/drawing/2014/main" id="{1DC9E14E-19E3-9F18-589F-6C70BF932755}"/>
                </a:ext>
              </a:extLst>
            </p:cNvPr>
            <p:cNvSpPr/>
            <p:nvPr/>
          </p:nvSpPr>
          <p:spPr>
            <a:xfrm>
              <a:off x="1508760" y="3739896"/>
              <a:ext cx="1463040" cy="320040"/>
            </a:xfrm>
            <a:prstGeom prst="rect">
              <a:avLst/>
            </a:prstGeom>
            <a:solidFill>
              <a:srgbClr val="1A2640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AI 驾驶舱 (集成 DevOps Agent)</a:t>
              </a:r>
              <a:endParaRPr lang="en-US" sz="1050" dirty="0"/>
            </a:p>
          </p:txBody>
        </p:sp>
        <p:sp>
          <p:nvSpPr>
            <p:cNvPr id="60" name="Text 58">
              <a:extLst>
                <a:ext uri="{FF2B5EF4-FFF2-40B4-BE49-F238E27FC236}">
                  <a16:creationId xmlns:a16="http://schemas.microsoft.com/office/drawing/2014/main" id="{111DAD86-A1AE-3F98-37F6-EB193EAEF3E4}"/>
                </a:ext>
              </a:extLst>
            </p:cNvPr>
            <p:cNvSpPr/>
            <p:nvPr/>
          </p:nvSpPr>
          <p:spPr>
            <a:xfrm>
              <a:off x="3017520" y="3739896"/>
              <a:ext cx="1371600" cy="320040"/>
            </a:xfrm>
            <a:prstGeom prst="rect">
              <a:avLst/>
            </a:prstGeom>
            <a:solidFill>
              <a:srgbClr val="1A2640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(被 NLOps 集成的引擎)</a:t>
              </a:r>
              <a:endParaRPr lang="en-US" sz="1050" dirty="0"/>
            </a:p>
          </p:txBody>
        </p:sp>
        <p:sp>
          <p:nvSpPr>
            <p:cNvPr id="61" name="Text 59">
              <a:extLst>
                <a:ext uri="{FF2B5EF4-FFF2-40B4-BE49-F238E27FC236}">
                  <a16:creationId xmlns:a16="http://schemas.microsoft.com/office/drawing/2014/main" id="{E472C307-B067-F1D2-50F0-3F46EA314134}"/>
                </a:ext>
              </a:extLst>
            </p:cNvPr>
            <p:cNvSpPr/>
            <p:nvPr/>
          </p:nvSpPr>
          <p:spPr>
            <a:xfrm>
              <a:off x="4434840" y="3739896"/>
              <a:ext cx="1280160" cy="320040"/>
            </a:xfrm>
            <a:prstGeom prst="rect">
              <a:avLst/>
            </a:prstGeom>
            <a:solidFill>
              <a:srgbClr val="1A2640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命令壳</a:t>
              </a:r>
              <a:endParaRPr lang="en-US" sz="1050" dirty="0"/>
            </a:p>
          </p:txBody>
        </p:sp>
        <p:sp>
          <p:nvSpPr>
            <p:cNvPr id="62" name="Text 60">
              <a:extLst>
                <a:ext uri="{FF2B5EF4-FFF2-40B4-BE49-F238E27FC236}">
                  <a16:creationId xmlns:a16="http://schemas.microsoft.com/office/drawing/2014/main" id="{42EA0170-0FB6-FB90-0D41-639DD3FAD2E3}"/>
                </a:ext>
              </a:extLst>
            </p:cNvPr>
            <p:cNvSpPr/>
            <p:nvPr/>
          </p:nvSpPr>
          <p:spPr>
            <a:xfrm>
              <a:off x="5760720" y="3739896"/>
              <a:ext cx="1188720" cy="320040"/>
            </a:xfrm>
            <a:prstGeom prst="rect">
              <a:avLst/>
            </a:prstGeom>
            <a:solidFill>
              <a:srgbClr val="1A2640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问答助手</a:t>
              </a:r>
              <a:endParaRPr lang="en-US" sz="1050" dirty="0"/>
            </a:p>
          </p:txBody>
        </p:sp>
        <p:sp>
          <p:nvSpPr>
            <p:cNvPr id="63" name="Text 61">
              <a:extLst>
                <a:ext uri="{FF2B5EF4-FFF2-40B4-BE49-F238E27FC236}">
                  <a16:creationId xmlns:a16="http://schemas.microsoft.com/office/drawing/2014/main" id="{FD00C00E-45AF-95A4-4D5E-4B64FE70D485}"/>
                </a:ext>
              </a:extLst>
            </p:cNvPr>
            <p:cNvSpPr/>
            <p:nvPr/>
          </p:nvSpPr>
          <p:spPr>
            <a:xfrm>
              <a:off x="6995160" y="3739896"/>
              <a:ext cx="1188720" cy="320040"/>
            </a:xfrm>
            <a:prstGeom prst="rect">
              <a:avLst/>
            </a:prstGeom>
            <a:solidFill>
              <a:srgbClr val="1A2640"/>
            </a:solidFill>
            <a:ln w="3810">
              <a:solidFill>
                <a:srgbClr val="2A3A5A"/>
              </a:solidFill>
            </a:ln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A0B0C8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事件管理</a:t>
              </a:r>
              <a:endParaRPr lang="en-US" sz="1050" dirty="0"/>
            </a:p>
          </p:txBody>
        </p:sp>
      </p:grpSp>
      <p:sp>
        <p:nvSpPr>
          <p:cNvPr id="64" name="TextBox 6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/>
              <a:t>维度对比表（vs 5 个主流方案）</a:t>
            </a:r>
          </a:p>
          <a:p>
            <a:endParaRPr sz="1100" b="0"/>
          </a:p>
          <a:p>
            <a:r>
              <a:rPr sz="1100" b="0"/>
              <a:t>维度              | NLOps | DOA直用 | Datadog Bits | NewRelic AI | PagerDuty AIOps</a:t>
            </a:r>
          </a:p>
          <a:p>
            <a:r>
              <a:rPr sz="1100" b="0"/>
              <a:t>--------         |-------|---------|-------------|-------------|----------------</a:t>
            </a:r>
          </a:p>
          <a:p>
            <a:r>
              <a:rPr sz="1100" b="0"/>
              <a:t>MCP 工具盒       |  ✅   |   ❌   |     ❌      |     ❌      |       ❌</a:t>
            </a:r>
          </a:p>
          <a:p>
            <a:r>
              <a:rPr sz="1100" b="0"/>
              <a:t>Quick Desktop    |  ✅   |   ❌   |     ❌      |     ❌      |       ❌</a:t>
            </a:r>
          </a:p>
          <a:p>
            <a:r>
              <a:rPr sz="1100" b="0"/>
              <a:t>中文 IM (v4)     |  ✅   |   ❌   |     ❌      |     ❌      |       ❌</a:t>
            </a:r>
          </a:p>
          <a:p>
            <a:r>
              <a:rPr sz="1100" b="0"/>
              <a:t>HTML 诊断书      |  ✅   |   ⚠️   |     ❌      |     ❌      |       ❌</a:t>
            </a:r>
          </a:p>
          <a:p>
            <a:r>
              <a:rPr sz="1100" b="0"/>
              <a:t>SES 邮件告警     |  ✅   |   ❌   |     ✅      |     ✅      |       ✅</a:t>
            </a:r>
          </a:p>
          <a:p>
            <a:r>
              <a:rPr sz="1100" b="0"/>
              <a:t>写操作 Confirm   |  ✅   |   ❌   |     ❌      |     ❌      |       ⚠️</a:t>
            </a:r>
          </a:p>
          <a:p>
            <a:r>
              <a:rPr sz="1100" b="0"/>
              <a:t>RCA (94% 准确)   |  ✅   |   ✅   |     ⚠️      |     ✅      |       ❌</a:t>
            </a:r>
          </a:p>
          <a:p>
            <a:r>
              <a:rPr sz="1100" b="0"/>
              <a:t>经验沉淀 (KB)    |  ✅   |   ⚠️   |     ❌      |     ❌      |       ❌</a:t>
            </a:r>
          </a:p>
          <a:p>
            <a:r>
              <a:rPr sz="1100" b="0"/>
              <a:t>Strands SDK      |  ✅   |   N/A  |     N/A     |     N/A     |       N/A</a:t>
            </a:r>
          </a:p>
          <a:p>
            <a:endParaRPr sz="1100" b="0"/>
          </a:p>
          <a:p>
            <a:r>
              <a:rPr sz="1100" b="0"/>
              <a:t>价格对比</a:t>
            </a:r>
          </a:p>
          <a:p>
            <a:r>
              <a:rPr sz="1100" b="0"/>
              <a:t>  • NLOps:     $10-20/用户 (per-user)</a:t>
            </a:r>
          </a:p>
          <a:p>
            <a:r>
              <a:rPr sz="1100" b="0"/>
              <a:t>  • Datadog:   $44-118/host (per-host)</a:t>
            </a:r>
          </a:p>
          <a:p>
            <a:r>
              <a:rPr sz="1100" b="0"/>
              <a:t>  • PagerDuty: $25-49/user</a:t>
            </a:r>
          </a:p>
          <a:p>
            <a:r>
              <a:rPr sz="1100" b="0"/>
              <a:t>  • NewRelic:  $99-349/user</a:t>
            </a:r>
          </a:p>
          <a:p>
            <a:r>
              <a:rPr sz="1100" b="0"/>
              <a:t>  → NLOps 是 per-user 模型，对小团队更便宜</a:t>
            </a:r>
          </a:p>
          <a:p>
            <a:endParaRPr sz="1100" b="0"/>
          </a:p>
          <a:p>
            <a:r>
              <a:rPr sz="1100" b="0"/>
              <a:t>差异化定位: 我们做闭环，Datadog/NewRelic 做观测，可叠加用</a:t>
            </a:r>
          </a:p>
        </p:txBody>
      </p:sp>
    </p:spTree>
    <p:extLst>
      <p:ext uri="{BB962C8B-B14F-4D97-AF65-F5344CB8AC3E}">
        <p14:creationId xmlns:p14="http://schemas.microsoft.com/office/powerpoint/2010/main" val="1390805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49803-8560-DDEB-6EA8-E5D724232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85957D-2437-AA5E-D6AC-9373E218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8" y="-31322"/>
            <a:ext cx="12192000" cy="941832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Amazon Ember" panose="020B0603020204020204" pitchFamily="34" charset="0"/>
              </a:rPr>
              <a:t>    成本分析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2A0D6DCB-D587-35FF-26A2-987C4AA9ACDD}"/>
              </a:ext>
            </a:extLst>
          </p:cNvPr>
          <p:cNvGrpSpPr/>
          <p:nvPr/>
        </p:nvGrpSpPr>
        <p:grpSpPr>
          <a:xfrm>
            <a:off x="684979" y="1018489"/>
            <a:ext cx="10550644" cy="5184018"/>
            <a:chOff x="274320" y="777240"/>
            <a:chExt cx="8595360" cy="4114800"/>
          </a:xfrm>
        </p:grpSpPr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7F872C31-740F-1B48-0359-4ABAF9D53BEE}"/>
                </a:ext>
              </a:extLst>
            </p:cNvPr>
            <p:cNvSpPr/>
            <p:nvPr/>
          </p:nvSpPr>
          <p:spPr>
            <a:xfrm>
              <a:off x="274320" y="777240"/>
              <a:ext cx="4572000" cy="4114800"/>
            </a:xfrm>
            <a:prstGeom prst="roundRect">
              <a:avLst>
                <a:gd name="adj" fmla="val 1111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200"/>
            </a:p>
          </p:txBody>
        </p:sp>
        <p:sp>
          <p:nvSpPr>
            <p:cNvPr id="5" name="Text 4">
              <a:extLst>
                <a:ext uri="{FF2B5EF4-FFF2-40B4-BE49-F238E27FC236}">
                  <a16:creationId xmlns:a16="http://schemas.microsoft.com/office/drawing/2014/main" id="{3071A31C-68BA-93F9-2190-4F58BFDE7711}"/>
                </a:ext>
              </a:extLst>
            </p:cNvPr>
            <p:cNvSpPr/>
            <p:nvPr/>
          </p:nvSpPr>
          <p:spPr>
            <a:xfrm>
              <a:off x="457200" y="868680"/>
              <a:ext cx="4114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月度成本明细</a:t>
              </a:r>
              <a:endParaRPr lang="en-US" dirty="0"/>
            </a:p>
          </p:txBody>
        </p:sp>
        <p:sp>
          <p:nvSpPr>
            <p:cNvPr id="6" name="Text 5">
              <a:extLst>
                <a:ext uri="{FF2B5EF4-FFF2-40B4-BE49-F238E27FC236}">
                  <a16:creationId xmlns:a16="http://schemas.microsoft.com/office/drawing/2014/main" id="{0F563732-55DF-4590-EB13-C1540E235A09}"/>
                </a:ext>
              </a:extLst>
            </p:cNvPr>
            <p:cNvSpPr/>
            <p:nvPr/>
          </p:nvSpPr>
          <p:spPr>
            <a:xfrm>
              <a:off x="457200" y="1188720"/>
              <a:ext cx="201168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服务</a:t>
              </a:r>
              <a:endParaRPr lang="en-US" sz="1100" dirty="0"/>
            </a:p>
          </p:txBody>
        </p:sp>
        <p:sp>
          <p:nvSpPr>
            <p:cNvPr id="7" name="Text 6">
              <a:extLst>
                <a:ext uri="{FF2B5EF4-FFF2-40B4-BE49-F238E27FC236}">
                  <a16:creationId xmlns:a16="http://schemas.microsoft.com/office/drawing/2014/main" id="{E456773D-AA9B-6B52-60DE-0352412633C3}"/>
                </a:ext>
              </a:extLst>
            </p:cNvPr>
            <p:cNvSpPr/>
            <p:nvPr/>
          </p:nvSpPr>
          <p:spPr>
            <a:xfrm>
              <a:off x="2468880" y="1188720"/>
              <a:ext cx="7315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月均</a:t>
              </a:r>
              <a:endParaRPr lang="en-US" sz="1100" dirty="0"/>
            </a:p>
          </p:txBody>
        </p:sp>
        <p:sp>
          <p:nvSpPr>
            <p:cNvPr id="8" name="Text 7">
              <a:extLst>
                <a:ext uri="{FF2B5EF4-FFF2-40B4-BE49-F238E27FC236}">
                  <a16:creationId xmlns:a16="http://schemas.microsoft.com/office/drawing/2014/main" id="{C539D3F3-EAE4-0B08-0189-723265BF17E7}"/>
                </a:ext>
              </a:extLst>
            </p:cNvPr>
            <p:cNvSpPr/>
            <p:nvPr/>
          </p:nvSpPr>
          <p:spPr>
            <a:xfrm>
              <a:off x="3200400" y="1188720"/>
              <a:ext cx="14630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计费模式</a:t>
              </a:r>
              <a:endParaRPr lang="en-US" sz="1100" dirty="0"/>
            </a:p>
          </p:txBody>
        </p:sp>
        <p:sp>
          <p:nvSpPr>
            <p:cNvPr id="9" name="Shape 8">
              <a:extLst>
                <a:ext uri="{FF2B5EF4-FFF2-40B4-BE49-F238E27FC236}">
                  <a16:creationId xmlns:a16="http://schemas.microsoft.com/office/drawing/2014/main" id="{D4161913-19AD-6962-1E85-3314EE393AE7}"/>
                </a:ext>
              </a:extLst>
            </p:cNvPr>
            <p:cNvSpPr/>
            <p:nvPr/>
          </p:nvSpPr>
          <p:spPr>
            <a:xfrm>
              <a:off x="457200" y="1417320"/>
              <a:ext cx="4206240" cy="0"/>
            </a:xfrm>
            <a:prstGeom prst="line">
              <a:avLst/>
            </a:prstGeom>
            <a:noFill/>
            <a:ln w="635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200"/>
            </a:p>
          </p:txBody>
        </p:sp>
        <p:sp>
          <p:nvSpPr>
            <p:cNvPr id="10" name="Text 9">
              <a:extLst>
                <a:ext uri="{FF2B5EF4-FFF2-40B4-BE49-F238E27FC236}">
                  <a16:creationId xmlns:a16="http://schemas.microsoft.com/office/drawing/2014/main" id="{6D1F51A9-3CFF-25C8-FEA3-247586EF5FD2}"/>
                </a:ext>
              </a:extLst>
            </p:cNvPr>
            <p:cNvSpPr/>
            <p:nvPr/>
          </p:nvSpPr>
          <p:spPr>
            <a:xfrm>
              <a:off x="457200" y="1481328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Bedrock (Claude/Nova)</a:t>
              </a:r>
              <a:endParaRPr lang="en-US" sz="1100" dirty="0"/>
            </a:p>
          </p:txBody>
        </p:sp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14FD5A19-AA09-B446-780D-1EF2BD0D5FE8}"/>
                </a:ext>
              </a:extLst>
            </p:cNvPr>
            <p:cNvSpPr/>
            <p:nvPr/>
          </p:nvSpPr>
          <p:spPr>
            <a:xfrm>
              <a:off x="2468880" y="1481328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~$248</a:t>
              </a:r>
              <a:endParaRPr lang="en-US" sz="1100" dirty="0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ADB23D33-97EE-F8FD-57C2-F5A78049BDD8}"/>
                </a:ext>
              </a:extLst>
            </p:cNvPr>
            <p:cNvSpPr/>
            <p:nvPr/>
          </p:nvSpPr>
          <p:spPr>
            <a:xfrm>
              <a:off x="3200400" y="1481328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Bedrock Token</a:t>
              </a:r>
              <a:endParaRPr lang="en-US" sz="1050" dirty="0"/>
            </a:p>
          </p:txBody>
        </p:sp>
        <p:sp>
          <p:nvSpPr>
            <p:cNvPr id="13" name="Text 12">
              <a:extLst>
                <a:ext uri="{FF2B5EF4-FFF2-40B4-BE49-F238E27FC236}">
                  <a16:creationId xmlns:a16="http://schemas.microsoft.com/office/drawing/2014/main" id="{FA02BCC0-DBAC-9B9C-0514-968C40673F1F}"/>
                </a:ext>
              </a:extLst>
            </p:cNvPr>
            <p:cNvSpPr/>
            <p:nvPr/>
          </p:nvSpPr>
          <p:spPr>
            <a:xfrm>
              <a:off x="457200" y="1773936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Nova Sonic</a:t>
              </a:r>
              <a:endParaRPr lang="en-US" sz="1100" dirty="0"/>
            </a:p>
          </p:txBody>
        </p:sp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01A74E5F-779E-B3BC-4089-381C9D26DDA2}"/>
                </a:ext>
              </a:extLst>
            </p:cNvPr>
            <p:cNvSpPr/>
            <p:nvPr/>
          </p:nvSpPr>
          <p:spPr>
            <a:xfrm>
              <a:off x="2468880" y="1773936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~$79</a:t>
              </a:r>
              <a:endParaRPr lang="en-US" sz="1100" dirty="0"/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31324260-5E7C-1D4E-1769-14D0B4FC393C}"/>
                </a:ext>
              </a:extLst>
            </p:cNvPr>
            <p:cNvSpPr/>
            <p:nvPr/>
          </p:nvSpPr>
          <p:spPr>
            <a:xfrm>
              <a:off x="3200400" y="1773936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语音时长</a:t>
              </a:r>
              <a:endParaRPr lang="en-US" sz="1050" dirty="0"/>
            </a:p>
          </p:txBody>
        </p:sp>
        <p:sp>
          <p:nvSpPr>
            <p:cNvPr id="16" name="Text 15">
              <a:extLst>
                <a:ext uri="{FF2B5EF4-FFF2-40B4-BE49-F238E27FC236}">
                  <a16:creationId xmlns:a16="http://schemas.microsoft.com/office/drawing/2014/main" id="{B1551845-CC67-6A2B-FAD2-57A7BF299171}"/>
                </a:ext>
              </a:extLst>
            </p:cNvPr>
            <p:cNvSpPr/>
            <p:nvPr/>
          </p:nvSpPr>
          <p:spPr>
            <a:xfrm>
              <a:off x="457200" y="2066544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AWS DevOps Agent</a:t>
              </a:r>
              <a:endParaRPr lang="en-US" sz="1100" dirty="0"/>
            </a:p>
          </p:txBody>
        </p:sp>
        <p:sp>
          <p:nvSpPr>
            <p:cNvPr id="17" name="Text 16">
              <a:extLst>
                <a:ext uri="{FF2B5EF4-FFF2-40B4-BE49-F238E27FC236}">
                  <a16:creationId xmlns:a16="http://schemas.microsoft.com/office/drawing/2014/main" id="{410B8BA8-B576-C327-B6FF-56EC68728B62}"/>
                </a:ext>
              </a:extLst>
            </p:cNvPr>
            <p:cNvSpPr/>
            <p:nvPr/>
          </p:nvSpPr>
          <p:spPr>
            <a:xfrm>
              <a:off x="2468880" y="2066544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~$1,581</a:t>
              </a:r>
              <a:endParaRPr lang="en-US" sz="1100" dirty="0"/>
            </a:p>
          </p:txBody>
        </p:sp>
        <p:sp>
          <p:nvSpPr>
            <p:cNvPr id="18" name="Text 17">
              <a:extLst>
                <a:ext uri="{FF2B5EF4-FFF2-40B4-BE49-F238E27FC236}">
                  <a16:creationId xmlns:a16="http://schemas.microsoft.com/office/drawing/2014/main" id="{9EE5A615-5A11-9A63-F5CB-38AD2E2CD028}"/>
                </a:ext>
              </a:extLst>
            </p:cNvPr>
            <p:cNvSpPr/>
            <p:nvPr/>
          </p:nvSpPr>
          <p:spPr>
            <a:xfrm>
              <a:off x="3200400" y="2066544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agent-second</a:t>
              </a:r>
              <a:endParaRPr lang="en-US" sz="1050" dirty="0"/>
            </a:p>
          </p:txBody>
        </p:sp>
        <p:sp>
          <p:nvSpPr>
            <p:cNvPr id="19" name="Text 18">
              <a:extLst>
                <a:ext uri="{FF2B5EF4-FFF2-40B4-BE49-F238E27FC236}">
                  <a16:creationId xmlns:a16="http://schemas.microsoft.com/office/drawing/2014/main" id="{989AF7B8-B9AB-0F29-0E20-DEE62601022E}"/>
                </a:ext>
              </a:extLst>
            </p:cNvPr>
            <p:cNvSpPr/>
            <p:nvPr/>
          </p:nvSpPr>
          <p:spPr>
            <a:xfrm>
              <a:off x="457200" y="2359152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Bedrock KB (双写)</a:t>
              </a:r>
              <a:endParaRPr lang="en-US" sz="1100" dirty="0"/>
            </a:p>
          </p:txBody>
        </p:sp>
        <p:sp>
          <p:nvSpPr>
            <p:cNvPr id="20" name="Text 19">
              <a:extLst>
                <a:ext uri="{FF2B5EF4-FFF2-40B4-BE49-F238E27FC236}">
                  <a16:creationId xmlns:a16="http://schemas.microsoft.com/office/drawing/2014/main" id="{3D4BD527-5E74-0878-20F8-1719B21614F2}"/>
                </a:ext>
              </a:extLst>
            </p:cNvPr>
            <p:cNvSpPr/>
            <p:nvPr/>
          </p:nvSpPr>
          <p:spPr>
            <a:xfrm>
              <a:off x="2468880" y="2359152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~$10</a:t>
              </a:r>
              <a:endParaRPr lang="en-US" sz="1100" dirty="0"/>
            </a:p>
          </p:txBody>
        </p:sp>
        <p:sp>
          <p:nvSpPr>
            <p:cNvPr id="21" name="Text 20">
              <a:extLst>
                <a:ext uri="{FF2B5EF4-FFF2-40B4-BE49-F238E27FC236}">
                  <a16:creationId xmlns:a16="http://schemas.microsoft.com/office/drawing/2014/main" id="{52573592-04DB-75CE-6B5D-47DED3BCEE94}"/>
                </a:ext>
              </a:extLst>
            </p:cNvPr>
            <p:cNvSpPr/>
            <p:nvPr/>
          </p:nvSpPr>
          <p:spPr>
            <a:xfrm>
              <a:off x="3200400" y="2359152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存储+ingest</a:t>
              </a:r>
              <a:endParaRPr lang="en-US" sz="1050" dirty="0"/>
            </a:p>
          </p:txBody>
        </p:sp>
        <p:sp>
          <p:nvSpPr>
            <p:cNvPr id="22" name="Text 21">
              <a:extLst>
                <a:ext uri="{FF2B5EF4-FFF2-40B4-BE49-F238E27FC236}">
                  <a16:creationId xmlns:a16="http://schemas.microsoft.com/office/drawing/2014/main" id="{B400807A-F9BA-270A-D281-D6DDCADD830E}"/>
                </a:ext>
              </a:extLst>
            </p:cNvPr>
            <p:cNvSpPr/>
            <p:nvPr/>
          </p:nvSpPr>
          <p:spPr>
            <a:xfrm>
              <a:off x="457200" y="26517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EventBridge + DDB</a:t>
              </a:r>
              <a:endParaRPr lang="en-US" sz="1100" dirty="0"/>
            </a:p>
          </p:txBody>
        </p:sp>
        <p:sp>
          <p:nvSpPr>
            <p:cNvPr id="23" name="Text 22">
              <a:extLst>
                <a:ext uri="{FF2B5EF4-FFF2-40B4-BE49-F238E27FC236}">
                  <a16:creationId xmlns:a16="http://schemas.microsoft.com/office/drawing/2014/main" id="{31F96422-8865-418F-E9C3-9AE8A56990AA}"/>
                </a:ext>
              </a:extLst>
            </p:cNvPr>
            <p:cNvSpPr/>
            <p:nvPr/>
          </p:nvSpPr>
          <p:spPr>
            <a:xfrm>
              <a:off x="2468880" y="2651760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~$10</a:t>
              </a:r>
              <a:endParaRPr lang="en-US" sz="1100" dirty="0"/>
            </a:p>
          </p:txBody>
        </p:sp>
        <p:sp>
          <p:nvSpPr>
            <p:cNvPr id="24" name="Text 23">
              <a:extLst>
                <a:ext uri="{FF2B5EF4-FFF2-40B4-BE49-F238E27FC236}">
                  <a16:creationId xmlns:a16="http://schemas.microsoft.com/office/drawing/2014/main" id="{7F4559D8-BCE2-4559-E402-2E50DA87F183}"/>
                </a:ext>
              </a:extLst>
            </p:cNvPr>
            <p:cNvSpPr/>
            <p:nvPr/>
          </p:nvSpPr>
          <p:spPr>
            <a:xfrm>
              <a:off x="3200400" y="2651760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事件+会话</a:t>
              </a:r>
              <a:endParaRPr lang="en-US" sz="1050" dirty="0"/>
            </a:p>
          </p:txBody>
        </p:sp>
        <p:sp>
          <p:nvSpPr>
            <p:cNvPr id="25" name="Text 24">
              <a:extLst>
                <a:ext uri="{FF2B5EF4-FFF2-40B4-BE49-F238E27FC236}">
                  <a16:creationId xmlns:a16="http://schemas.microsoft.com/office/drawing/2014/main" id="{097A173E-CB36-D04F-7DFB-3383D246E649}"/>
                </a:ext>
              </a:extLst>
            </p:cNvPr>
            <p:cNvSpPr/>
            <p:nvPr/>
          </p:nvSpPr>
          <p:spPr>
            <a:xfrm>
              <a:off x="457200" y="2944368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Lambda + API Gateway</a:t>
              </a:r>
              <a:endParaRPr lang="en-US" sz="1100" dirty="0"/>
            </a:p>
          </p:txBody>
        </p:sp>
        <p:sp>
          <p:nvSpPr>
            <p:cNvPr id="26" name="Text 25">
              <a:extLst>
                <a:ext uri="{FF2B5EF4-FFF2-40B4-BE49-F238E27FC236}">
                  <a16:creationId xmlns:a16="http://schemas.microsoft.com/office/drawing/2014/main" id="{3E0D46C5-C3D6-5A55-6717-F4697313A80F}"/>
                </a:ext>
              </a:extLst>
            </p:cNvPr>
            <p:cNvSpPr/>
            <p:nvPr/>
          </p:nvSpPr>
          <p:spPr>
            <a:xfrm>
              <a:off x="2468880" y="2944368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~$10</a:t>
              </a:r>
              <a:endParaRPr lang="en-US" sz="1100" dirty="0"/>
            </a:p>
          </p:txBody>
        </p:sp>
        <p:sp>
          <p:nvSpPr>
            <p:cNvPr id="27" name="Text 26">
              <a:extLst>
                <a:ext uri="{FF2B5EF4-FFF2-40B4-BE49-F238E27FC236}">
                  <a16:creationId xmlns:a16="http://schemas.microsoft.com/office/drawing/2014/main" id="{AD1409D5-4ABD-7A03-B604-C3238247565B}"/>
                </a:ext>
              </a:extLst>
            </p:cNvPr>
            <p:cNvSpPr/>
            <p:nvPr/>
          </p:nvSpPr>
          <p:spPr>
            <a:xfrm>
              <a:off x="3200400" y="2944368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请求数</a:t>
              </a:r>
              <a:endParaRPr lang="en-US" sz="1050" dirty="0"/>
            </a:p>
          </p:txBody>
        </p:sp>
        <p:sp>
          <p:nvSpPr>
            <p:cNvPr id="28" name="Text 27">
              <a:extLst>
                <a:ext uri="{FF2B5EF4-FFF2-40B4-BE49-F238E27FC236}">
                  <a16:creationId xmlns:a16="http://schemas.microsoft.com/office/drawing/2014/main" id="{C7CCE9FD-1130-37D6-FF96-C74E72C12721}"/>
                </a:ext>
              </a:extLst>
            </p:cNvPr>
            <p:cNvSpPr/>
            <p:nvPr/>
          </p:nvSpPr>
          <p:spPr>
            <a:xfrm>
              <a:off x="457200" y="3236976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S3</a:t>
              </a:r>
              <a:endParaRPr lang="en-US" sz="1100" dirty="0"/>
            </a:p>
          </p:txBody>
        </p:sp>
        <p:sp>
          <p:nvSpPr>
            <p:cNvPr id="29" name="Text 28">
              <a:extLst>
                <a:ext uri="{FF2B5EF4-FFF2-40B4-BE49-F238E27FC236}">
                  <a16:creationId xmlns:a16="http://schemas.microsoft.com/office/drawing/2014/main" id="{A0863E83-8989-40CB-83E6-BE86C110AC68}"/>
                </a:ext>
              </a:extLst>
            </p:cNvPr>
            <p:cNvSpPr/>
            <p:nvPr/>
          </p:nvSpPr>
          <p:spPr>
            <a:xfrm>
              <a:off x="2468880" y="3236976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~$2</a:t>
              </a:r>
              <a:endParaRPr lang="en-US" sz="1100" dirty="0"/>
            </a:p>
          </p:txBody>
        </p:sp>
        <p:sp>
          <p:nvSpPr>
            <p:cNvPr id="30" name="Text 29">
              <a:extLst>
                <a:ext uri="{FF2B5EF4-FFF2-40B4-BE49-F238E27FC236}">
                  <a16:creationId xmlns:a16="http://schemas.microsoft.com/office/drawing/2014/main" id="{51DEA9C7-374C-9C52-AD5C-565CF4B6ED72}"/>
                </a:ext>
              </a:extLst>
            </p:cNvPr>
            <p:cNvSpPr/>
            <p:nvPr/>
          </p:nvSpPr>
          <p:spPr>
            <a:xfrm>
              <a:off x="3200400" y="3236976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报告 + KB sink</a:t>
              </a:r>
              <a:endParaRPr lang="en-US" sz="1050" dirty="0"/>
            </a:p>
          </p:txBody>
        </p:sp>
        <p:sp>
          <p:nvSpPr>
            <p:cNvPr id="31" name="Text 30">
              <a:extLst>
                <a:ext uri="{FF2B5EF4-FFF2-40B4-BE49-F238E27FC236}">
                  <a16:creationId xmlns:a16="http://schemas.microsoft.com/office/drawing/2014/main" id="{E8A3315C-840A-3C54-5851-8582C1C78B2C}"/>
                </a:ext>
              </a:extLst>
            </p:cNvPr>
            <p:cNvSpPr/>
            <p:nvPr/>
          </p:nvSpPr>
          <p:spPr>
            <a:xfrm>
              <a:off x="457200" y="3529584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SNS</a:t>
              </a:r>
              <a:endParaRPr lang="en-US" sz="1100" dirty="0"/>
            </a:p>
          </p:txBody>
        </p:sp>
        <p:sp>
          <p:nvSpPr>
            <p:cNvPr id="32" name="Text 31">
              <a:extLst>
                <a:ext uri="{FF2B5EF4-FFF2-40B4-BE49-F238E27FC236}">
                  <a16:creationId xmlns:a16="http://schemas.microsoft.com/office/drawing/2014/main" id="{97B4AEAF-4B4E-1FB5-03E4-7C2786E65DC4}"/>
                </a:ext>
              </a:extLst>
            </p:cNvPr>
            <p:cNvSpPr/>
            <p:nvPr/>
          </p:nvSpPr>
          <p:spPr>
            <a:xfrm>
              <a:off x="2468880" y="3529584"/>
              <a:ext cx="7315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36B37E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~$5</a:t>
              </a:r>
              <a:endParaRPr lang="en-US" sz="1100" dirty="0"/>
            </a:p>
          </p:txBody>
        </p:sp>
        <p:sp>
          <p:nvSpPr>
            <p:cNvPr id="33" name="Text 32">
              <a:extLst>
                <a:ext uri="{FF2B5EF4-FFF2-40B4-BE49-F238E27FC236}">
                  <a16:creationId xmlns:a16="http://schemas.microsoft.com/office/drawing/2014/main" id="{EAFE929E-F138-04DF-248F-993D56046D0E}"/>
                </a:ext>
              </a:extLst>
            </p:cNvPr>
            <p:cNvSpPr/>
            <p:nvPr/>
          </p:nvSpPr>
          <p:spPr>
            <a:xfrm>
              <a:off x="3200400" y="3529584"/>
              <a:ext cx="1463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推送条数</a:t>
              </a:r>
              <a:endParaRPr lang="en-US" sz="1050" dirty="0"/>
            </a:p>
          </p:txBody>
        </p:sp>
        <p:sp>
          <p:nvSpPr>
            <p:cNvPr id="34" name="Shape 33">
              <a:extLst>
                <a:ext uri="{FF2B5EF4-FFF2-40B4-BE49-F238E27FC236}">
                  <a16:creationId xmlns:a16="http://schemas.microsoft.com/office/drawing/2014/main" id="{6311B3C4-8DCE-178A-CD42-071E0B98B1FB}"/>
                </a:ext>
              </a:extLst>
            </p:cNvPr>
            <p:cNvSpPr/>
            <p:nvPr/>
          </p:nvSpPr>
          <p:spPr>
            <a:xfrm>
              <a:off x="457200" y="3867912"/>
              <a:ext cx="4206240" cy="0"/>
            </a:xfrm>
            <a:prstGeom prst="line">
              <a:avLst/>
            </a:prstGeom>
            <a:noFill/>
            <a:ln w="1016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zh-CN" altLang="en-US" sz="3200"/>
            </a:p>
          </p:txBody>
        </p:sp>
        <p:sp>
          <p:nvSpPr>
            <p:cNvPr id="35" name="Text 34">
              <a:extLst>
                <a:ext uri="{FF2B5EF4-FFF2-40B4-BE49-F238E27FC236}">
                  <a16:creationId xmlns:a16="http://schemas.microsoft.com/office/drawing/2014/main" id="{AAE0AB8D-E0CF-EC61-06FE-9C02AEE464FE}"/>
                </a:ext>
              </a:extLst>
            </p:cNvPr>
            <p:cNvSpPr/>
            <p:nvPr/>
          </p:nvSpPr>
          <p:spPr>
            <a:xfrm>
              <a:off x="457200" y="3913632"/>
              <a:ext cx="201168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合计</a:t>
              </a:r>
              <a:endParaRPr lang="en-US" sz="1200" dirty="0"/>
            </a:p>
          </p:txBody>
        </p:sp>
        <p:sp>
          <p:nvSpPr>
            <p:cNvPr id="36" name="Text 35">
              <a:extLst>
                <a:ext uri="{FF2B5EF4-FFF2-40B4-BE49-F238E27FC236}">
                  <a16:creationId xmlns:a16="http://schemas.microsoft.com/office/drawing/2014/main" id="{2F79D7ED-923B-B870-98C1-5F5AABCD32AF}"/>
                </a:ext>
              </a:extLst>
            </p:cNvPr>
            <p:cNvSpPr/>
            <p:nvPr/>
          </p:nvSpPr>
          <p:spPr>
            <a:xfrm>
              <a:off x="2468880" y="3913632"/>
              <a:ext cx="7315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~$1,930/月 (无抵扣)</a:t>
              </a:r>
              <a:endParaRPr lang="en-US" sz="1200" dirty="0"/>
            </a:p>
          </p:txBody>
        </p:sp>
        <p:sp>
          <p:nvSpPr>
            <p:cNvPr id="37" name="Text 36">
              <a:extLst>
                <a:ext uri="{FF2B5EF4-FFF2-40B4-BE49-F238E27FC236}">
                  <a16:creationId xmlns:a16="http://schemas.microsoft.com/office/drawing/2014/main" id="{8C5EC1AA-C042-2022-743A-CD85826592BA}"/>
                </a:ext>
              </a:extLst>
            </p:cNvPr>
            <p:cNvSpPr/>
            <p:nvPr/>
          </p:nvSpPr>
          <p:spPr>
            <a:xfrm>
              <a:off x="3200400" y="3913632"/>
              <a:ext cx="14630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~$39/用户 (裸价) | ~$15/用户 (Enterprise Support 75% 抵扣)</a:t>
              </a:r>
              <a:endParaRPr lang="en-US" sz="1200" dirty="0"/>
            </a:p>
          </p:txBody>
        </p:sp>
        <p:sp>
          <p:nvSpPr>
            <p:cNvPr id="38" name="Shape 37">
              <a:extLst>
                <a:ext uri="{FF2B5EF4-FFF2-40B4-BE49-F238E27FC236}">
                  <a16:creationId xmlns:a16="http://schemas.microsoft.com/office/drawing/2014/main" id="{59BB3065-EA2E-31C2-F9F5-5E193AAA28F4}"/>
                </a:ext>
              </a:extLst>
            </p:cNvPr>
            <p:cNvSpPr/>
            <p:nvPr/>
          </p:nvSpPr>
          <p:spPr>
            <a:xfrm>
              <a:off x="5029200" y="777240"/>
              <a:ext cx="3840480" cy="2011680"/>
            </a:xfrm>
            <a:prstGeom prst="roundRect">
              <a:avLst>
                <a:gd name="adj" fmla="val 2273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200"/>
            </a:p>
          </p:txBody>
        </p:sp>
        <p:sp>
          <p:nvSpPr>
            <p:cNvPr id="39" name="Text 38">
              <a:extLst>
                <a:ext uri="{FF2B5EF4-FFF2-40B4-BE49-F238E27FC236}">
                  <a16:creationId xmlns:a16="http://schemas.microsoft.com/office/drawing/2014/main" id="{FFFD753B-B025-31FB-0675-E8556B434499}"/>
                </a:ext>
              </a:extLst>
            </p:cNvPr>
            <p:cNvSpPr/>
            <p:nvPr/>
          </p:nvSpPr>
          <p:spPr>
            <a:xfrm>
              <a:off x="5212080" y="868680"/>
              <a:ext cx="34747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竞品成本对比</a:t>
              </a:r>
              <a:endParaRPr lang="en-US" dirty="0"/>
            </a:p>
          </p:txBody>
        </p:sp>
        <p:sp>
          <p:nvSpPr>
            <p:cNvPr id="40" name="Text 39">
              <a:extLst>
                <a:ext uri="{FF2B5EF4-FFF2-40B4-BE49-F238E27FC236}">
                  <a16:creationId xmlns:a16="http://schemas.microsoft.com/office/drawing/2014/main" id="{45D0B6F3-F030-CB81-CD14-792D702FDBD4}"/>
                </a:ext>
              </a:extLst>
            </p:cNvPr>
            <p:cNvSpPr/>
            <p:nvPr/>
          </p:nvSpPr>
          <p:spPr>
            <a:xfrm>
              <a:off x="5212080" y="1188720"/>
              <a:ext cx="1920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Datadog + PagerDuty</a:t>
              </a:r>
              <a:endParaRPr lang="en-US" sz="1100" dirty="0"/>
            </a:p>
          </p:txBody>
        </p:sp>
        <p:sp>
          <p:nvSpPr>
            <p:cNvPr id="41" name="Text 40">
              <a:extLst>
                <a:ext uri="{FF2B5EF4-FFF2-40B4-BE49-F238E27FC236}">
                  <a16:creationId xmlns:a16="http://schemas.microsoft.com/office/drawing/2014/main" id="{04791863-1167-77C7-506F-43555A0B25DC}"/>
                </a:ext>
              </a:extLst>
            </p:cNvPr>
            <p:cNvSpPr/>
            <p:nvPr/>
          </p:nvSpPr>
          <p:spPr>
            <a:xfrm>
              <a:off x="7132320" y="1188720"/>
              <a:ext cx="15544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$44-118 /host/月</a:t>
              </a:r>
              <a:endParaRPr lang="en-US" sz="1100" dirty="0"/>
            </a:p>
          </p:txBody>
        </p:sp>
        <p:sp>
          <p:nvSpPr>
            <p:cNvPr id="42" name="Text 41">
              <a:extLst>
                <a:ext uri="{FF2B5EF4-FFF2-40B4-BE49-F238E27FC236}">
                  <a16:creationId xmlns:a16="http://schemas.microsoft.com/office/drawing/2014/main" id="{F11648A5-6405-1823-4AD0-68598EB6B917}"/>
                </a:ext>
              </a:extLst>
            </p:cNvPr>
            <p:cNvSpPr/>
            <p:nvPr/>
          </p:nvSpPr>
          <p:spPr>
            <a:xfrm>
              <a:off x="5212080" y="1508760"/>
              <a:ext cx="1920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Dynatrace</a:t>
              </a:r>
              <a:endParaRPr lang="en-US" sz="1100" dirty="0"/>
            </a:p>
          </p:txBody>
        </p:sp>
        <p:sp>
          <p:nvSpPr>
            <p:cNvPr id="43" name="Text 42">
              <a:extLst>
                <a:ext uri="{FF2B5EF4-FFF2-40B4-BE49-F238E27FC236}">
                  <a16:creationId xmlns:a16="http://schemas.microsoft.com/office/drawing/2014/main" id="{0E564FCB-2B22-186B-B984-9C0B84CFA18C}"/>
                </a:ext>
              </a:extLst>
            </p:cNvPr>
            <p:cNvSpPr/>
            <p:nvPr/>
          </p:nvSpPr>
          <p:spPr>
            <a:xfrm>
              <a:off x="7132320" y="1508760"/>
              <a:ext cx="15544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$69+ /host/月</a:t>
              </a:r>
              <a:endParaRPr lang="en-US" sz="1100" dirty="0"/>
            </a:p>
          </p:txBody>
        </p:sp>
        <p:sp>
          <p:nvSpPr>
            <p:cNvPr id="44" name="Text 43">
              <a:extLst>
                <a:ext uri="{FF2B5EF4-FFF2-40B4-BE49-F238E27FC236}">
                  <a16:creationId xmlns:a16="http://schemas.microsoft.com/office/drawing/2014/main" id="{2A555F2D-83D2-4F6F-CA86-28158B0F9B4B}"/>
                </a:ext>
              </a:extLst>
            </p:cNvPr>
            <p:cNvSpPr/>
            <p:nvPr/>
          </p:nvSpPr>
          <p:spPr>
            <a:xfrm>
              <a:off x="5212080" y="1828800"/>
              <a:ext cx="1920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New Relic + Opsgenie</a:t>
              </a:r>
              <a:endParaRPr lang="en-US" sz="1100" dirty="0"/>
            </a:p>
          </p:txBody>
        </p:sp>
        <p:sp>
          <p:nvSpPr>
            <p:cNvPr id="45" name="Text 44">
              <a:extLst>
                <a:ext uri="{FF2B5EF4-FFF2-40B4-BE49-F238E27FC236}">
                  <a16:creationId xmlns:a16="http://schemas.microsoft.com/office/drawing/2014/main" id="{5F6C39EF-05B5-6796-336C-AB339BFBF58D}"/>
                </a:ext>
              </a:extLst>
            </p:cNvPr>
            <p:cNvSpPr/>
            <p:nvPr/>
          </p:nvSpPr>
          <p:spPr>
            <a:xfrm>
              <a:off x="7132320" y="1828800"/>
              <a:ext cx="15544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8899AA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$50-90 /user/月</a:t>
              </a:r>
              <a:endParaRPr lang="en-US" sz="1100" dirty="0"/>
            </a:p>
          </p:txBody>
        </p:sp>
        <p:sp>
          <p:nvSpPr>
            <p:cNvPr id="46" name="Text 45">
              <a:extLst>
                <a:ext uri="{FF2B5EF4-FFF2-40B4-BE49-F238E27FC236}">
                  <a16:creationId xmlns:a16="http://schemas.microsoft.com/office/drawing/2014/main" id="{D44A3E3C-7EAC-AB0F-C735-7F4F8202BE8D}"/>
                </a:ext>
              </a:extLst>
            </p:cNvPr>
            <p:cNvSpPr/>
            <p:nvPr/>
          </p:nvSpPr>
          <p:spPr>
            <a:xfrm>
              <a:off x="5212080" y="2148840"/>
              <a:ext cx="1920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NLOps</a:t>
              </a:r>
              <a:endParaRPr lang="en-US" sz="1100" dirty="0"/>
            </a:p>
          </p:txBody>
        </p:sp>
        <p:sp>
          <p:nvSpPr>
            <p:cNvPr id="47" name="Text 46">
              <a:extLst>
                <a:ext uri="{FF2B5EF4-FFF2-40B4-BE49-F238E27FC236}">
                  <a16:creationId xmlns:a16="http://schemas.microsoft.com/office/drawing/2014/main" id="{C91E91CD-78A1-7ADD-CE64-DFBD36B26893}"/>
                </a:ext>
              </a:extLst>
            </p:cNvPr>
            <p:cNvSpPr/>
            <p:nvPr/>
          </p:nvSpPr>
          <p:spPr>
            <a:xfrm>
              <a:off x="7132320" y="2148840"/>
              <a:ext cx="15544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~$15-39 /user/月</a:t>
              </a:r>
              <a:endParaRPr lang="en-US" sz="1100" dirty="0"/>
            </a:p>
          </p:txBody>
        </p:sp>
        <p:sp>
          <p:nvSpPr>
            <p:cNvPr id="48" name="Shape 47">
              <a:extLst>
                <a:ext uri="{FF2B5EF4-FFF2-40B4-BE49-F238E27FC236}">
                  <a16:creationId xmlns:a16="http://schemas.microsoft.com/office/drawing/2014/main" id="{9761BED3-974E-5A34-1B85-B9911E1A6B26}"/>
                </a:ext>
              </a:extLst>
            </p:cNvPr>
            <p:cNvSpPr/>
            <p:nvPr/>
          </p:nvSpPr>
          <p:spPr>
            <a:xfrm>
              <a:off x="5029200" y="2926080"/>
              <a:ext cx="3840480" cy="548640"/>
            </a:xfrm>
            <a:prstGeom prst="roundRect">
              <a:avLst>
                <a:gd name="adj" fmla="val 5000"/>
              </a:avLst>
            </a:prstGeom>
            <a:solidFill>
              <a:srgbClr val="2A1F0A"/>
            </a:solidFill>
            <a:ln w="10160">
              <a:solidFill>
                <a:srgbClr val="FF9900"/>
              </a:solidFill>
              <a:prstDash val="solid"/>
            </a:ln>
          </p:spPr>
          <p:txBody>
            <a:bodyPr/>
            <a:lstStyle/>
            <a:p>
              <a:endParaRPr lang="zh-CN" altLang="en-US" sz="3200"/>
            </a:p>
          </p:txBody>
        </p:sp>
        <p:sp>
          <p:nvSpPr>
            <p:cNvPr id="49" name="Text 48">
              <a:extLst>
                <a:ext uri="{FF2B5EF4-FFF2-40B4-BE49-F238E27FC236}">
                  <a16:creationId xmlns:a16="http://schemas.microsoft.com/office/drawing/2014/main" id="{A71FDCE0-BB2F-04EC-DFDE-405E7C0FC4AB}"/>
                </a:ext>
              </a:extLst>
            </p:cNvPr>
            <p:cNvSpPr/>
            <p:nvPr/>
          </p:nvSpPr>
          <p:spPr>
            <a:xfrm>
              <a:off x="5120640" y="2944368"/>
              <a:ext cx="3657600" cy="5120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Enterprise Support 客户净成本 ~$15/用户；含 DevOps Agent 全功能</a:t>
              </a:r>
              <a:endParaRPr lang="en-US" sz="1100" dirty="0"/>
            </a:p>
            <a:p>
              <a:pPr marL="0" indent="0" algn="ctr">
                <a:buNone/>
              </a:pPr>
              <a:r>
                <a:rPr lang="en-US" sz="1100" dirty="0">
                  <a:solidFill>
                    <a:srgbClr val="FF990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Unified Operations 客户 100% 抵扣 → 仅 Bedrock+Nova Sonic 成本</a:t>
              </a:r>
              <a:endParaRPr lang="en-US" sz="1100" dirty="0"/>
            </a:p>
          </p:txBody>
        </p:sp>
        <p:sp>
          <p:nvSpPr>
            <p:cNvPr id="50" name="Shape 49">
              <a:extLst>
                <a:ext uri="{FF2B5EF4-FFF2-40B4-BE49-F238E27FC236}">
                  <a16:creationId xmlns:a16="http://schemas.microsoft.com/office/drawing/2014/main" id="{2C3A2981-61C5-3C54-1FA9-C88EC3EDECD9}"/>
                </a:ext>
              </a:extLst>
            </p:cNvPr>
            <p:cNvSpPr/>
            <p:nvPr/>
          </p:nvSpPr>
          <p:spPr>
            <a:xfrm>
              <a:off x="5029200" y="3611880"/>
              <a:ext cx="3840480" cy="1280160"/>
            </a:xfrm>
            <a:prstGeom prst="roundRect">
              <a:avLst>
                <a:gd name="adj" fmla="val 3571"/>
              </a:avLst>
            </a:prstGeom>
            <a:solidFill>
              <a:srgbClr val="1A2640"/>
            </a:solidFill>
            <a:ln w="12700">
              <a:solidFill>
                <a:srgbClr val="2A3A5A"/>
              </a:solidFill>
              <a:prstDash val="solid"/>
            </a:ln>
          </p:spPr>
          <p:txBody>
            <a:bodyPr/>
            <a:lstStyle/>
            <a:p>
              <a:endParaRPr lang="zh-CN" altLang="en-US" sz="3200"/>
            </a:p>
          </p:txBody>
        </p:sp>
        <p:sp>
          <p:nvSpPr>
            <p:cNvPr id="51" name="Text 50">
              <a:extLst>
                <a:ext uri="{FF2B5EF4-FFF2-40B4-BE49-F238E27FC236}">
                  <a16:creationId xmlns:a16="http://schemas.microsoft.com/office/drawing/2014/main" id="{C2CFF38E-1FD3-D0DB-EB62-B1DBC6F5AA34}"/>
                </a:ext>
              </a:extLst>
            </p:cNvPr>
            <p:cNvSpPr/>
            <p:nvPr/>
          </p:nvSpPr>
          <p:spPr>
            <a:xfrm>
              <a:off x="5212080" y="3703320"/>
              <a:ext cx="347472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成本特点</a:t>
              </a:r>
              <a:endParaRPr lang="en-US" dirty="0"/>
            </a:p>
          </p:txBody>
        </p:sp>
        <p:sp>
          <p:nvSpPr>
            <p:cNvPr id="52" name="Text 51">
              <a:extLst>
                <a:ext uri="{FF2B5EF4-FFF2-40B4-BE49-F238E27FC236}">
                  <a16:creationId xmlns:a16="http://schemas.microsoft.com/office/drawing/2014/main" id="{3A8CE5DD-D208-05BE-B0B0-1E2B3CD18D53}"/>
                </a:ext>
              </a:extLst>
            </p:cNvPr>
            <p:cNvSpPr/>
            <p:nvPr/>
          </p:nvSpPr>
          <p:spPr>
            <a:xfrm>
              <a:off x="5212080" y="3977640"/>
              <a:ext cx="34747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342900" indent="-342900">
                <a:lnSpc>
                  <a:spcPts val="1400"/>
                </a:lnSpc>
                <a:buSzPct val="100000"/>
                <a:buChar char="•"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DevOps Agent 按 agent-second 计费 ($0.0083/s)</a:t>
              </a:r>
              <a:endParaRPr lang="en-US" sz="1100" dirty="0"/>
            </a:p>
            <a:p>
              <a:pPr marL="342900" indent="-342900">
                <a:lnSpc>
                  <a:spcPts val="1400"/>
                </a:lnSpc>
                <a:buSzPct val="100000"/>
                <a:buChar char="•"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AWS Support credit 可抵扣大部分 DevOps Agent 费用</a:t>
              </a:r>
              <a:endParaRPr lang="en-US" sz="1100" dirty="0"/>
            </a:p>
            <a:p>
              <a:pPr marL="342900" indent="-342900">
                <a:lnSpc>
                  <a:spcPts val="1400"/>
                </a:lnSpc>
                <a:buSzPct val="100000"/>
                <a:buChar char="•"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主要成本在 DevOps Agent on-demand chat 累积</a:t>
              </a:r>
              <a:endParaRPr lang="en-US" sz="1100" dirty="0"/>
            </a:p>
            <a:p>
              <a:pPr marL="342900" indent="-342900">
                <a:lnSpc>
                  <a:spcPts val="1400"/>
                </a:lnSpc>
                <a:buSzPct val="100000"/>
                <a:buChar char="•"/>
              </a:pPr>
              <a:r>
                <a:rPr lang="en-US" sz="1100" dirty="0">
                  <a:solidFill>
                    <a:srgbClr val="C0D0E0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Region: us-east-1（DevOps Agent GA 6 region 之一，无中国区）</a:t>
              </a:r>
              <a:endParaRPr lang="en-US" sz="1100" dirty="0"/>
            </a:p>
          </p:txBody>
        </p:sp>
      </p:grpSp>
      <p:sp>
        <p:nvSpPr>
          <p:cNvPr id="53" name="Text 2">
            <a:extLst>
              <a:ext uri="{FF2B5EF4-FFF2-40B4-BE49-F238E27FC236}">
                <a16:creationId xmlns:a16="http://schemas.microsoft.com/office/drawing/2014/main" id="{97F9395D-3448-0A95-18BF-CADF5D3C5BBB}"/>
              </a:ext>
            </a:extLst>
          </p:cNvPr>
          <p:cNvSpPr/>
          <p:nvPr/>
        </p:nvSpPr>
        <p:spPr>
          <a:xfrm>
            <a:off x="738091" y="7322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B0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 Serverless 按需付费 · 50 用户场景估算</a:t>
            </a:r>
            <a:endParaRPr lang="en-US" sz="1200" dirty="0"/>
          </a:p>
        </p:txBody>
      </p:sp>
      <p:sp>
        <p:nvSpPr>
          <p:cNvPr id="54" name="TextBox 53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/>
              <a:t>v3 成本明细 (50 用户 / 月，2026-05 实测价位)</a:t>
            </a:r>
          </a:p>
          <a:p>
            <a:endParaRPr sz="1200" b="0"/>
          </a:p>
          <a:p>
            <a:r>
              <a:rPr sz="1200" b="0"/>
              <a:t>项                                   | 月成本</a:t>
            </a:r>
          </a:p>
          <a:p>
            <a:r>
              <a:rPr sz="1200" b="0"/>
              <a:t>---------------------------------- | ----------</a:t>
            </a:r>
          </a:p>
          <a:p>
            <a:r>
              <a:rPr sz="1200" b="0"/>
              <a:t>AWS DevOps Agent - Chat            | $1,369</a:t>
            </a:r>
          </a:p>
          <a:p>
            <a:r>
              <a:rPr sz="1200" b="0"/>
              <a:t>AWS DevOps Agent - Investigation   | $175</a:t>
            </a:r>
          </a:p>
          <a:p>
            <a:r>
              <a:rPr sz="1200" b="0"/>
              <a:t>AWS DevOps Agent - Evaluation      | $37</a:t>
            </a:r>
          </a:p>
          <a:p>
            <a:r>
              <a:rPr sz="1200" b="0"/>
              <a:t>Bedrock Nova Pro (Strands + RCA)   | $80</a:t>
            </a:r>
          </a:p>
          <a:p>
            <a:r>
              <a:rPr sz="1200" b="0"/>
              <a:t>Lambda × 2 (L1 + L2)              | $5</a:t>
            </a:r>
          </a:p>
          <a:p>
            <a:r>
              <a:rPr sz="1200" b="0"/>
              <a:t>API Gateway × 2                    | $5</a:t>
            </a:r>
          </a:p>
          <a:p>
            <a:r>
              <a:rPr sz="1200" b="0"/>
              <a:t>S3 + DynamoDB × 3                 | $6</a:t>
            </a:r>
          </a:p>
          <a:p>
            <a:r>
              <a:rPr sz="1200" b="0"/>
              <a:t>SNS + SES                         | $2</a:t>
            </a:r>
          </a:p>
          <a:p>
            <a:r>
              <a:rPr sz="1200" b="0"/>
              <a:t>CloudWatch Logs                    | $3</a:t>
            </a:r>
          </a:p>
          <a:p>
            <a:r>
              <a:rPr sz="1200" b="0"/>
              <a:t>------------------------------- | ----------</a:t>
            </a:r>
          </a:p>
          <a:p>
            <a:r>
              <a:rPr sz="1200" b="0"/>
              <a:t>无抵扣合计                         | ~$1,682/月</a:t>
            </a:r>
          </a:p>
          <a:p>
            <a:r>
              <a:rPr sz="1200" b="0"/>
              <a:t>Enterprise Support 抵扣 (DOA 75%)   | -$1,186</a:t>
            </a:r>
          </a:p>
          <a:p>
            <a:r>
              <a:rPr sz="1200" b="0"/>
              <a:t>净成本                             | ~$496/月 ($10/用户)</a:t>
            </a:r>
          </a:p>
          <a:p>
            <a:r>
              <a:rPr sz="1200" b="0"/>
              <a:t>Unified Operations 100% 抵扣       | ~$200/月 ($4/用户)</a:t>
            </a:r>
          </a:p>
          <a:p>
            <a:endParaRPr sz="1200" b="0"/>
          </a:p>
          <a:p>
            <a:r>
              <a:rPr sz="1200" b="0"/>
              <a:t>v3 比 v2 月成本降 ~$248: Bedrock Claude → Nova Pro 省 $168 / Lambda 减 $8 / 其他 $72</a:t>
            </a:r>
          </a:p>
        </p:txBody>
      </p:sp>
    </p:spTree>
    <p:extLst>
      <p:ext uri="{BB962C8B-B14F-4D97-AF65-F5344CB8AC3E}">
        <p14:creationId xmlns:p14="http://schemas.microsoft.com/office/powerpoint/2010/main" val="3307105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DevOps Agent 集成（v2 增补）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0000"/>
            <a:ext cx="5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AWS DevOps Agent — 是什么</a:t>
            </a:r>
          </a:p>
          <a:p>
            <a:r>
              <a:rPr sz="1300" b="0"/>
              <a:t>• 自治型 SRE 智能体；preview 2025-12，GA 2026-03-31</a:t>
            </a:r>
          </a:p>
          <a:p>
            <a:r>
              <a:rPr sz="1300" b="0"/>
              <a:t>• 6 个 region：us-east-1 / us-west-2 / eu-central-1 /</a:t>
            </a:r>
          </a:p>
          <a:p>
            <a:r>
              <a:rPr sz="1300" b="0"/>
              <a:t>  eu-west-1 / ap-southeast-2 / ap-northeast-1（无中国区）</a:t>
            </a:r>
          </a:p>
          <a:p>
            <a:r>
              <a:rPr sz="1300" b="0"/>
              <a:t>• 定价：$0.0083 / agent-second（约 $0.5/分钟）</a:t>
            </a:r>
          </a:p>
          <a:p>
            <a:r>
              <a:rPr sz="1300" b="0"/>
              <a:t>• 内置集成：CloudWatch / Datadog / Dynatrace /</a:t>
            </a:r>
          </a:p>
          <a:p>
            <a:r>
              <a:rPr sz="1300" b="0"/>
              <a:t>  NewRelic / Splunk / Grafana / GitHub / GitLab /</a:t>
            </a:r>
          </a:p>
          <a:p>
            <a:r>
              <a:rPr sz="1300" b="0"/>
              <a:t>  ServiceNow / PagerDuty / Slack / Azure DevOps</a:t>
            </a:r>
          </a:p>
          <a:p>
            <a:r>
              <a:rPr sz="1300" b="0"/>
              <a:t>• 自带 Operator Portal、Custom Skills、Code Indexing</a:t>
            </a:r>
          </a:p>
          <a:p>
            <a:endParaRPr sz="1300" b="0"/>
          </a:p>
          <a:p>
            <a:r>
              <a:rPr sz="1600" b="1"/>
              <a:t>NLOps 与 DevOps Agent 的 4 个集成路径</a:t>
            </a:r>
          </a:p>
          <a:p>
            <a:r>
              <a:rPr sz="1300" b="0"/>
              <a:t>① call-down  NLOps Orchestrator → DevOps Agent on-demand chat</a:t>
            </a:r>
          </a:p>
          <a:p>
            <a:r>
              <a:rPr sz="1300" b="0"/>
              <a:t>② event-up   DevOps Agent → EventBridge → NLOps 渲染 HTML</a:t>
            </a:r>
          </a:p>
          <a:p>
            <a:r>
              <a:rPr sz="1300" b="0"/>
              <a:t>③ mcp-out    DevOps Agent → NLOps MCP Server (客户私有工具)</a:t>
            </a:r>
          </a:p>
          <a:p>
            <a:r>
              <a:rPr sz="1300" b="0"/>
              <a:t>④ mcp-in     NLOps → AWS 官方 MCP (CloudWatch/X-Ray fallback)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00000" y="1370000"/>
            <a:ext cx="5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NLOps 真正的差异化 (vs DevOps Agent)</a:t>
            </a:r>
          </a:p>
          <a:p>
            <a:r>
              <a:rPr sz="1300" b="0"/>
              <a:t>① 语音入口  Nova Sonic（DevOps Agent 没有）</a:t>
            </a:r>
          </a:p>
          <a:p>
            <a:r>
              <a:rPr sz="1300" b="0"/>
              <a:t>② 国内 IM   Quick / 企微 / 飞书（DevOps Agent 仅 Slack/ServiceNow）</a:t>
            </a:r>
          </a:p>
          <a:p>
            <a:r>
              <a:rPr sz="1300" b="0"/>
              <a:t>③ HTML 诊断书 — 面向非技术干系人的可视化</a:t>
            </a:r>
          </a:p>
          <a:p>
            <a:r>
              <a:rPr sz="1300" b="0"/>
              <a:t>④ 写操作护栏  Confirm Token + Policy + IAM 三重</a:t>
            </a:r>
          </a:p>
          <a:p>
            <a:r>
              <a:rPr sz="1300" b="0"/>
              <a:t>⑤ 客户专属 MCP — 把客户内部工具暴露给 DevOps Agent</a:t>
            </a:r>
          </a:p>
          <a:p>
            <a:endParaRPr sz="1300" b="0"/>
          </a:p>
          <a:p>
            <a:r>
              <a:rPr sz="1600" b="1"/>
              <a:t>成本（50 用户）</a:t>
            </a:r>
          </a:p>
          <a:p>
            <a:r>
              <a:rPr sz="1300" b="0"/>
              <a:t>• 月度合计 (无抵扣)         ~$1,930</a:t>
            </a:r>
          </a:p>
          <a:p>
            <a:r>
              <a:rPr sz="1300" b="0"/>
              <a:t>• Enterprise Support 抵扣后  ~$744 (~$15/用户)</a:t>
            </a:r>
          </a:p>
          <a:p>
            <a:r>
              <a:rPr sz="1300" b="0"/>
              <a:t>• Unified Operations 抵扣后  ~$370 (仅 Bedrock+Sonic)</a:t>
            </a:r>
          </a:p>
          <a:p>
            <a:endParaRPr sz="1300" b="0"/>
          </a:p>
          <a:p>
            <a:r>
              <a:rPr sz="1600" b="1"/>
              <a:t>中国区策略</a:t>
            </a:r>
          </a:p>
          <a:p>
            <a:r>
              <a:rPr sz="1300" b="0"/>
              <a:t>• v1: 全球区部署 (us-east-1)，中国客户走专线/VPN 出境</a:t>
            </a:r>
          </a:p>
          <a:p>
            <a:r>
              <a:rPr sz="1300" b="0"/>
              <a:t>• v3 路径: 待 DevOps Agent 入华，或 SageMaker 自建替代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C62828"/>
                </a:solidFill>
              </a:rPr>
              <a:t>v3 (2026-05-19) 关键修订: boto3 service=devops-agent (非 aidevops) | DOA Custom Skill API 不在 SDK→KB 沉淀路径 | Lambda 4→2 (方案B合并) | Strands 真用 SDK | LLM 默认 Nova Pro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谢谢！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50059328]}"/>
</p:tagLst>
</file>

<file path=ppt/theme/theme1.xml><?xml version="1.0" encoding="utf-8"?>
<a:theme xmlns:a="http://schemas.openxmlformats.org/drawingml/2006/main" name="地图集">
  <a:themeElements>
    <a:clrScheme name="自定义 3">
      <a:dk1>
        <a:srgbClr val="797979"/>
      </a:dk1>
      <a:lt1>
        <a:srgbClr val="FFFFFF"/>
      </a:lt1>
      <a:dk2>
        <a:srgbClr val="797979"/>
      </a:dk2>
      <a:lt2>
        <a:srgbClr val="EEECE1"/>
      </a:lt2>
      <a:accent1>
        <a:srgbClr val="EB6100"/>
      </a:accent1>
      <a:accent2>
        <a:srgbClr val="FFBD47"/>
      </a:accent2>
      <a:accent3>
        <a:srgbClr val="B64926"/>
      </a:accent3>
      <a:accent4>
        <a:srgbClr val="FF8427"/>
      </a:accent4>
      <a:accent5>
        <a:srgbClr val="F3C75B"/>
      </a:accent5>
      <a:accent6>
        <a:srgbClr val="B22600"/>
      </a:accent6>
      <a:hlink>
        <a:srgbClr val="CC9900"/>
      </a:hlink>
      <a:folHlink>
        <a:srgbClr val="666699"/>
      </a:folHlink>
    </a:clrScheme>
    <a:fontScheme name="自定义 2">
      <a:majorFont>
        <a:latin typeface="Arial Black"/>
        <a:ea typeface="黑体"/>
        <a:cs typeface=""/>
      </a:majorFont>
      <a:minorFont>
        <a:latin typeface="Arial"/>
        <a:ea typeface="黑体"/>
        <a:cs typeface=""/>
      </a:minorFont>
    </a:fontScheme>
    <a:fmtScheme name="地图集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自定义 3">
    <a:dk1>
      <a:srgbClr val="797979"/>
    </a:dk1>
    <a:lt1>
      <a:srgbClr val="FFFFFF"/>
    </a:lt1>
    <a:dk2>
      <a:srgbClr val="797979"/>
    </a:dk2>
    <a:lt2>
      <a:srgbClr val="EEECE1"/>
    </a:lt2>
    <a:accent1>
      <a:srgbClr val="EB6100"/>
    </a:accent1>
    <a:accent2>
      <a:srgbClr val="FFBD47"/>
    </a:accent2>
    <a:accent3>
      <a:srgbClr val="B64926"/>
    </a:accent3>
    <a:accent4>
      <a:srgbClr val="FF8427"/>
    </a:accent4>
    <a:accent5>
      <a:srgbClr val="F3C75B"/>
    </a:accent5>
    <a:accent6>
      <a:srgbClr val="B22600"/>
    </a:accent6>
    <a:hlink>
      <a:srgbClr val="CC9900"/>
    </a:hlink>
    <a:folHlink>
      <a:srgbClr val="666699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ma:contentTypeDescription="新建文档。" ma:contentTypeVersion="7" ct:_="" ma:_="" ma:contentTypeScope="" ma:contentTypeID="0x010100407B8FF655CFD44B9A48FC292CD07551" ma:contentTypeName="文档" ma:versionID="b8a686a88e6a4bb569981f7aa16d89c8">
  <xsd:schema xmlns:p="http://schemas.microsoft.com/office/2006/metadata/properties" xmlns:xsd="http://www.w3.org/2001/XMLSchema" xmlns:ns2="855133d1-b6bd-46d5-87d4-428d7c908dc0" xmlns:xs="http://www.w3.org/2001/XMLSchema" ns2:_="" ma:root="true" ma:fieldsID="b53007261b0e13e84f0647679aebf433" targetNamespace="http://schemas.microsoft.com/office/2006/metadata/properties">
    <xsd:import namespace="855133d1-b6bd-46d5-87d4-428d7c908dc0"/>
    <xsd:element name="properties">
      <xsd:complexType>
        <xsd:sequence>
          <xsd:element name="documentManagement">
            <xsd:complexType>
              <xsd:all>
                <xsd:element minOccurs="0" ref="ns2:MediaServiceMetadata"/>
                <xsd:element minOccurs="0" ref="ns2:MediaServiceFastMetadata"/>
                <xsd:element minOccurs="0" ref="ns2:MediaServiceSearchProperties"/>
                <xsd:element minOccurs="0" ref="ns2:MediaServiceDateTaken"/>
                <xsd:element minOccurs="0" ref="ns2:MediaServiceGenerationTime"/>
                <xsd:element minOccurs="0" ref="ns2:MediaServiceEventHashCode"/>
                <xsd:element minOccurs="0" ref="ns2:MediaLengthInSeconds"/>
              </xsd:all>
            </xsd:complexType>
          </xsd:element>
        </xsd:sequence>
      </xsd:complexType>
    </xsd:element>
  </xsd:schema>
  <xsd:schema xmlns:pc="http://schemas.microsoft.com/office/infopath/2007/PartnerControls" xmlns:xsd="http://www.w3.org/2001/XMLSchema" xmlns:dms="http://schemas.microsoft.com/office/2006/documentManagement/types" xmlns:xs="http://www.w3.org/2001/XMLSchema" elementFormDefault="qualified" targetNamespace="855133d1-b6bd-46d5-87d4-428d7c908dc0">
    <xsd:import namespace="http://schemas.microsoft.com/office/2006/documentManagement/types"/>
    <xsd:import namespace="http://schemas.microsoft.com/office/infopath/2007/PartnerControls"/>
    <xsd:element nillable="true" ma:hidden="true" name="MediaServiceMetadata" ma:index="8" ma:readOnly="true" ma:displayName="MediaServiceMetadata" ma:internalName="MediaServiceMetadata">
      <xsd:simpleType>
        <xsd:restriction base="dms:Note"/>
      </xsd:simpleType>
    </xsd:element>
    <xsd:element nillable="true" ma:hidden="true" name="MediaServiceFastMetadata" ma:index="9" ma:readOnly="true" ma:displayName="MediaServiceFastMetadata" ma:internalName="MediaServiceFastMetadata">
      <xsd:simpleType>
        <xsd:restriction base="dms:Note"/>
      </xsd:simpleType>
    </xsd:element>
    <xsd:element nillable="true" ma:hidden="true" name="MediaServiceSearchProperties" ma:index="10" ma:readOnly="true" ma:displayName="MediaServiceSearchProperties" ma:internalName="MediaServiceSearchProperties">
      <xsd:simpleType>
        <xsd:restriction base="dms:Note"/>
      </xsd:simpleType>
    </xsd:element>
    <xsd:element nillable="true" ma:hidden="true" name="MediaServiceDateTaken" ma:index="11" ma:readOnly="true" ma:indexed="true" ma:displayName="MediaServiceDateTaken" ma:internalName="MediaServiceDateTaken">
      <xsd:simpleType>
        <xsd:restriction base="dms:Text"/>
      </xsd:simpleType>
    </xsd:element>
    <xsd:element nillable="true" ma:hidden="true" name="MediaServiceGenerationTime" ma:index="12" ma:readOnly="true" ma:displayName="MediaServiceGenerationTime" ma:internalName="MediaServiceGenerationTime">
      <xsd:simpleType>
        <xsd:restriction base="dms:Text"/>
      </xsd:simpleType>
    </xsd:element>
    <xsd:element nillable="true" ma:hidden="true" name="MediaServiceEventHashCode" ma:index="13" ma:readOnly="true" ma:displayName="MediaServiceEventHashCode" ma:internalName="MediaServiceEventHashCode">
      <xsd:simpleType>
        <xsd:restriction base="dms:Text"/>
      </xsd:simpleType>
    </xsd:element>
    <xsd:element nillable="true" ma:hidden="true" name="MediaLengthInSeconds" ma:index="14" ma:readOnly="true" ma:displayName="MediaLengthInSeconds" ma:internalName="MediaLengthInSeconds">
      <xsd:simpleType>
        <xsd:restriction base="dms:Unknown"/>
      </xsd:simpleType>
    </xsd:element>
  </xsd:schema>
  <xsd:schema xmlns:dcterms="http://purl.org/dc/terms/" xmlns:xsd="http://www.w3.org/2001/XMLSchema" xmlns="http://schemas.openxmlformats.org/package/2006/metadata/core-properties" xmlns:dc="http://purl.org/dc/elements/1.1/" xmlns:odoc="http://schemas.microsoft.com/internal/obd" xmlns:xsi="http://www.w3.org/2001/XMLSchema-instance" elementFormDefault="qualified" attributeFormDefault="unqualified" blockDefault="#all" targetNamespace="http://schemas.openxmlformats.org/package/2006/metadata/core-properties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minOccurs="0" ref="dc:creator" maxOccurs="1"/>
        <xsd:element minOccurs="0" ref="dcterms:created" maxOccurs="1"/>
        <xsd:element minOccurs="0" ref="dc:identifier" maxOccurs="1"/>
        <xsd:element minOccurs="0" name="contentType" ma:index="0" type="xsd:string" maxOccurs="1" ma:displayName="内容类型"/>
        <xsd:element minOccurs="0" ref="dc:title" ma:index="4" maxOccurs="1" ma:displayName="标题"/>
        <xsd:element minOccurs="0" ref="dc:subject" maxOccurs="1"/>
        <xsd:element minOccurs="0" ref="dc:description" maxOccurs="1"/>
        <xsd:element minOccurs="0" name="keywords" type="xsd:string" maxOccurs="1"/>
        <xsd:element minOccurs="0" ref="dc:language" maxOccurs="1"/>
        <xsd:element minOccurs="0" name="category" type="xsd:string" maxOccurs="1"/>
        <xsd:element minOccurs="0" name="version" type="xsd:string" maxOccurs="1"/>
        <xsd:element minOccurs="0" name="revision" type="xsd:string" maxOccurs="1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minOccurs="0" name="lastModifiedBy" type="xsd:string" maxOccurs="1"/>
        <xsd:element minOccurs="0" ref="dcterms:modified" maxOccurs="1"/>
        <xsd:element minOccurs="0" name="contentStatus" type="xsd:string" maxOccurs="1"/>
      </xsd:all>
    </xsd:complexType>
  </xsd:schema>
  <xs:schema xmlns:pc="http://schemas.microsoft.com/office/infopath/2007/PartnerControls" xmlns:xs="http://www.w3.org/2001/XMLSchema" elementFormDefault="qualified" attributeFormDefault="unqualified" targetNamespace="http://schemas.microsoft.com/office/infopath/2007/PartnerControls">
    <xs:element name="Person">
      <xs:complexType>
        <xs:sequence>
          <xs:element minOccurs="0" ref="pc:DisplayName"/>
          <xs:element minOccurs="0" ref="pc:AccountId"/>
          <xs:element minOccurs="0" ref="pc:AccountType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minOccurs="0" ref="pc:BDCEntity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minOccurs="0" ref="pc:EntityDisplayName"/>
          <xs:element minOccurs="0" ref="pc:EntityInstanceReference"/>
          <xs:element minOccurs="0" ref="pc:EntityId1"/>
          <xs:element minOccurs="0" ref="pc:EntityId2"/>
          <xs:element minOccurs="0" ref="pc:EntityId3"/>
          <xs:element minOccurs="0" ref="pc:EntityId4"/>
          <xs:element minOccurs="0" ref="pc:EntityId5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minOccurs="0" ref="pc:TermInfo" maxOccurs="unbounded"/>
        </xs:sequence>
      </xs:complexType>
    </xs:element>
    <xs:element name="TermInfo">
      <xs:complexType>
        <xs:sequence>
          <xs:element minOccurs="0" ref="pc:TermName"/>
          <xs:element minOccurs="0" ref="pc:TermId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05B35A6-8B52-46A5-AE45-B98C6459DC10}">
  <ds:schemaRefs/>
</ds:datastoreItem>
</file>

<file path=customXml/itemProps2.xml><?xml version="1.0" encoding="utf-8"?>
<ds:datastoreItem xmlns:ds="http://schemas.openxmlformats.org/officeDocument/2006/customXml" ds:itemID="{C597C89A-FD0C-431E-81F6-90225B937683}">
  <ds:schemaRefs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terms/"/>
    <ds:schemaRef ds:uri="855133d1-b6bd-46d5-87d4-428d7c908dc0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A854933-773D-432F-AA20-17551E849917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10693</TotalTime>
  <Words>3664</Words>
  <Application>Microsoft Office PowerPoint</Application>
  <PresentationFormat>宽屏</PresentationFormat>
  <Paragraphs>698</Paragraphs>
  <Slides>17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4" baseType="lpstr">
      <vt:lpstr>等线</vt:lpstr>
      <vt:lpstr>微软雅黑</vt:lpstr>
      <vt:lpstr>微软雅黑</vt:lpstr>
      <vt:lpstr>Arial</vt:lpstr>
      <vt:lpstr>Calibri</vt:lpstr>
      <vt:lpstr>Wingdings</vt:lpstr>
      <vt:lpstr>地图集</vt:lpstr>
      <vt:lpstr>PowerPoint 演示文稿</vt:lpstr>
      <vt:lpstr>    背景介绍</vt:lpstr>
      <vt:lpstr>    需求分析</vt:lpstr>
      <vt:lpstr>    难点分析</vt:lpstr>
      <vt:lpstr>    解决方案</vt:lpstr>
      <vt:lpstr>    整体架构</vt:lpstr>
      <vt:lpstr>    核心能力：语音交互 + 移动运维</vt:lpstr>
      <vt:lpstr>    核心能力： 智能分析页</vt:lpstr>
      <vt:lpstr>    核心能力： 智能编排</vt:lpstr>
      <vt:lpstr>    核心能力： 经验闭环</vt:lpstr>
      <vt:lpstr>    方案验证：技术实现</vt:lpstr>
      <vt:lpstr>    方案验证：Demo效果</vt:lpstr>
      <vt:lpstr>    性能分析</vt:lpstr>
      <vt:lpstr>    竞品分析</vt:lpstr>
      <vt:lpstr>    成本分析</vt:lpstr>
      <vt:lpstr>AWS DevOps Agent 集成（v2 增补）</vt:lpstr>
      <vt:lpstr>谢谢！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NWCD Presentation</dc:title>
  <dc:creator>赵颖颖</dc:creator>
  <cp:lastModifiedBy>Chen, Penghui</cp:lastModifiedBy>
  <cp:revision>1659</cp:revision>
  <dcterms:created xsi:type="dcterms:W3CDTF">2026-02-01T15:24:35Z</dcterms:created>
  <dcterms:modified xsi:type="dcterms:W3CDTF">2026-05-19T16:23:40Z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0x010100407B8FF655CFD44B9A48FC292CD07551</vt:lpwstr>
  </property>
  <property fmtid="{D5CDD505-2E9C-101B-9397-08002B2CF9AE}" pid="3" name="ICV">
    <vt:lpwstr>390D43DB12F89A1C96BE7469E135699D_42</vt:lpwstr>
  </property>
  <property fmtid="{D5CDD505-2E9C-101B-9397-08002B2CF9AE}" pid="4" name="KSOProductBuildVer">
    <vt:lpwstr>2052-12.1.24031.24031</vt:lpwstr>
  </property>
</Properties>
</file>